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84" r:id="rId2"/>
    <p:sldId id="319" r:id="rId3"/>
    <p:sldId id="332" r:id="rId4"/>
    <p:sldId id="333" r:id="rId5"/>
    <p:sldId id="322" r:id="rId6"/>
    <p:sldId id="323" r:id="rId7"/>
    <p:sldId id="296" r:id="rId8"/>
    <p:sldId id="285" r:id="rId9"/>
    <p:sldId id="286" r:id="rId10"/>
    <p:sldId id="287" r:id="rId11"/>
    <p:sldId id="288" r:id="rId12"/>
    <p:sldId id="290" r:id="rId13"/>
    <p:sldId id="291" r:id="rId14"/>
    <p:sldId id="292" r:id="rId15"/>
    <p:sldId id="293" r:id="rId16"/>
    <p:sldId id="298" r:id="rId17"/>
    <p:sldId id="294" r:id="rId18"/>
    <p:sldId id="297" r:id="rId19"/>
    <p:sldId id="299" r:id="rId20"/>
    <p:sldId id="300" r:id="rId21"/>
    <p:sldId id="301" r:id="rId22"/>
    <p:sldId id="302" r:id="rId23"/>
    <p:sldId id="303" r:id="rId24"/>
    <p:sldId id="304" r:id="rId25"/>
    <p:sldId id="305" r:id="rId26"/>
    <p:sldId id="306" r:id="rId27"/>
    <p:sldId id="307" r:id="rId28"/>
    <p:sldId id="308" r:id="rId29"/>
    <p:sldId id="343" r:id="rId30"/>
    <p:sldId id="344" r:id="rId31"/>
    <p:sldId id="345" r:id="rId32"/>
    <p:sldId id="346" r:id="rId33"/>
    <p:sldId id="330" r:id="rId34"/>
    <p:sldId id="315" r:id="rId35"/>
    <p:sldId id="316" r:id="rId36"/>
    <p:sldId id="337" r:id="rId37"/>
    <p:sldId id="309" r:id="rId38"/>
    <p:sldId id="312" r:id="rId39"/>
    <p:sldId id="310" r:id="rId40"/>
    <p:sldId id="313" r:id="rId41"/>
    <p:sldId id="314" r:id="rId42"/>
    <p:sldId id="347" r:id="rId43"/>
    <p:sldId id="331"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80"/>
    <p:restoredTop sz="94726"/>
  </p:normalViewPr>
  <p:slideViewPr>
    <p:cSldViewPr snapToGrid="0" snapToObjects="1">
      <p:cViewPr varScale="1">
        <p:scale>
          <a:sx n="120" d="100"/>
          <a:sy n="120" d="100"/>
        </p:scale>
        <p:origin x="936" y="184"/>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9/14/25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9/14/25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9/14/25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9/14/25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9/14/25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em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8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w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oleObject" Target="../embeddings/oleObject1.bin"/><Relationship Id="rId4" Type="http://schemas.openxmlformats.org/officeDocument/2006/relationships/image" Target="../media/image4.wmf"/><Relationship Id="rId5" Type="http://schemas.openxmlformats.org/officeDocument/2006/relationships/oleObject" Target="../embeddings/oleObject2.bin"/><Relationship Id="rId6" Type="http://schemas.openxmlformats.org/officeDocument/2006/relationships/image" Target="../media/image5.w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w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0.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oleObject" Target="../embeddings/oleObject3.bin"/><Relationship Id="rId4" Type="http://schemas.openxmlformats.org/officeDocument/2006/relationships/image" Target="../media/image12.w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3.w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oleObject" Target="../embeddings/oleObject4.bin"/><Relationship Id="rId4" Type="http://schemas.openxmlformats.org/officeDocument/2006/relationships/image" Target="../media/image14.wmf"/><Relationship Id="rId5" Type="http://schemas.openxmlformats.org/officeDocument/2006/relationships/oleObject" Target="../embeddings/oleObject5.bin"/><Relationship Id="rId6" Type="http://schemas.openxmlformats.org/officeDocument/2006/relationships/image" Target="../media/image15.wmf"/><Relationship Id="rId7" Type="http://schemas.openxmlformats.org/officeDocument/2006/relationships/oleObject" Target="../embeddings/oleObject6.bin"/><Relationship Id="rId8" Type="http://schemas.openxmlformats.org/officeDocument/2006/relationships/image" Target="../media/image16.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7.w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oleObject" Target="../embeddings/oleObject7.bin"/><Relationship Id="rId4" Type="http://schemas.openxmlformats.org/officeDocument/2006/relationships/image" Target="../media/image18.w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9.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 Id="rId3" Type="http://schemas.openxmlformats.org/officeDocument/2006/relationships/oleObject" Target="../embeddings/oleObject8.bin"/><Relationship Id="rId4" Type="http://schemas.openxmlformats.org/officeDocument/2006/relationships/image" Target="../media/image20.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23.wmf"/><Relationship Id="rId4" Type="http://schemas.openxmlformats.org/officeDocument/2006/relationships/oleObject" Target="../embeddings/oleObject9.bin"/><Relationship Id="rId5" Type="http://schemas.openxmlformats.org/officeDocument/2006/relationships/image" Target="../media/image24.w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36.pn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 Id="rId3" Type="http://schemas.openxmlformats.org/officeDocument/2006/relationships/oleObject" Target="../embeddings/oleObject10.bin"/><Relationship Id="rId4" Type="http://schemas.openxmlformats.org/officeDocument/2006/relationships/image" Target="../media/image38.wmf"/><Relationship Id="rId6" Type="http://schemas.openxmlformats.org/officeDocument/2006/relationships/image" Target="../media/image4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 Id="rId3" Type="http://schemas.openxmlformats.org/officeDocument/2006/relationships/oleObject" Target="../embeddings/oleObject11.bin"/><Relationship Id="rId4" Type="http://schemas.openxmlformats.org/officeDocument/2006/relationships/image" Target="../media/image43.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oleObject" Target="../embeddings/oleObject12.bin"/><Relationship Id="rId4" Type="http://schemas.openxmlformats.org/officeDocument/2006/relationships/image" Target="../media/image44.wmf"/><Relationship Id="rId5" Type="http://schemas.openxmlformats.org/officeDocument/2006/relationships/oleObject" Target="../embeddings/oleObject13.bin"/><Relationship Id="rId6" Type="http://schemas.openxmlformats.org/officeDocument/2006/relationships/image" Target="../media/image45.w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oleObject" Target="../embeddings/oleObject13.bin"/><Relationship Id="rId4" Type="http://schemas.openxmlformats.org/officeDocument/2006/relationships/image" Target="../media/image45.w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xmlns:a14="http://schemas.microsoft.com/office/drawing/2010/main">
        <mc:Choice Requires="a14">
          <p:sp>
            <p:nvSpPr>
              <p:cNvPr id="2" name="Text Placeholder 1"/>
              <p:cNvSpPr>
                <a:spLocks noGrp="1"/>
              </p:cNvSpPr>
              <p:nvPr>
                <p:ph type="body" sz="half" idx="1"/>
              </p:nvPr>
            </p:nvSpPr>
            <p:spPr>
              <a:xfrm>
                <a:off x="727788" y="919062"/>
                <a:ext cx="10709469" cy="5513269"/>
              </a:xfrm>
            </p:spPr>
            <p:txBody>
              <a:bodyPr>
                <a:normAutofit fontScale="92500" lnSpcReduction="1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lvl="1">
                  <a:defRPr/>
                </a:pPr>
                <a:r>
                  <a:rPr lang="en-US" i="1" dirty="0"/>
                  <a:t> 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xmlns="">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299" b="-1770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wo shaded normal curves. Top: area under f(x) between c and d shaded, labeled P(c ≤ X ≤ d). Bottom: area left of x shaded, labeled F(x) = P(X ≤ x). Shows pdf, probability, and cdf."/>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listing properties of the CDF: F(x)=P(X≤x); 0≤F(x)≤1; non-decreasing; limit 0 at minus infinity, 1 at plus infinity; P(c&lt;X≤d)=F(d)-F(c); F'(x)=f(x)."/>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a:t>
            </a:r>
            <a:r>
              <a:rPr lang="en-US" altLang="en-US" dirty="0">
                <a:sym typeface="Symbol" charset="2"/>
              </a:rPr>
              <a:t> and standard deviation </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graphicFrame>
        <p:nvGraphicFramePr>
          <p:cNvPr id="238595" name="Object 4"/>
          <p:cNvGraphicFramePr>
            <a:graphicFrameLocks noGrp="1" noChangeAspect="1"/>
          </p:cNvGraphicFramePr>
          <p:nvPr>
            <p:ph sz="quarter" idx="2"/>
            <p:extLst>
              <p:ext uri="{D42A27DB-BD31-4B8C-83A1-F6EECF244321}">
                <p14:modId xmlns:p14="http://schemas.microsoft.com/office/powerpoint/2010/main" val="1270787266"/>
              </p:ext>
            </p:extLst>
          </p:nvPr>
        </p:nvGraphicFramePr>
        <p:xfrm>
          <a:off x="4752976" y="2058757"/>
          <a:ext cx="1598613" cy="411162"/>
        </p:xfrm>
        <a:graphic>
          <a:graphicData uri="http://schemas.openxmlformats.org/presentationml/2006/ole">
            <mc:AlternateContent xmlns:mc="http://schemas.openxmlformats.org/markup-compatibility/2006">
              <mc:Choice xmlns:v="urn:schemas-microsoft-com:vml" Requires="v">
                <p:oleObj name="Equation" r:id="rId3" imgW="889000" imgH="228600" progId="Equation.DSMT4">
                  <p:embed/>
                </p:oleObj>
              </mc:Choice>
              <mc:Fallback>
                <p:oleObj name="Equation" r:id="rId3" imgW="8890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2976" y="2058757"/>
                        <a:ext cx="1598613" cy="4111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38596" name="Object 6"/>
          <p:cNvGraphicFramePr>
            <a:graphicFrameLocks noGrp="1" noChangeAspect="1"/>
          </p:cNvGraphicFramePr>
          <p:nvPr>
            <p:ph sz="quarter" idx="3"/>
            <p:extLst>
              <p:ext uri="{D42A27DB-BD31-4B8C-83A1-F6EECF244321}">
                <p14:modId xmlns:p14="http://schemas.microsoft.com/office/powerpoint/2010/main" val="1586770807"/>
              </p:ext>
            </p:extLst>
          </p:nvPr>
        </p:nvGraphicFramePr>
        <p:xfrm>
          <a:off x="4738766" y="4245847"/>
          <a:ext cx="2687637" cy="995362"/>
        </p:xfrm>
        <a:graphic>
          <a:graphicData uri="http://schemas.openxmlformats.org/presentationml/2006/ole">
            <mc:AlternateContent xmlns:mc="http://schemas.openxmlformats.org/markup-compatibility/2006">
              <mc:Choice xmlns:v="urn:schemas-microsoft-com:vml" Requires="v">
                <p:oleObj name="Equation" r:id="rId5" imgW="1371600" imgH="508000" progId="Equation.DSMT4">
                  <p:embed/>
                </p:oleObj>
              </mc:Choice>
              <mc:Fallback>
                <p:oleObj name="Equation" r:id="rId5" imgW="1371600" imgH="5080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8766" y="4245847"/>
                        <a:ext cx="2687637" cy="9953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149238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859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Line plot of normal CDFs Φ(x), x from -5 to 5, y from 0 to 1. Four S-shaped curves for different mean and variance; all rise from 0 to 1, showing CDFs are non-decreas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rise from 0 to 1, showing CDFs are non-decreas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576388"/>
            <a:ext cx="2954215" cy="863600"/>
          </a:xfrm>
          <a:prstGeom prst="rect">
            <a:avLst/>
          </a:prstGeom>
          <a:noFill/>
        </p:spPr>
        <p:txBody>
          <a:bodyPr wrap="square" anchor="ctr" lIns="0" rIns="0" tIns="0" bIns="0">
            <a:spAutoFit/>
          </a:bodyPr>
          <a:lstStyle/>
          <a:p>
            <a:r>
              <a:rPr sz="1900" b="0">
                <a:latin typeface="Cambria"/>
              </a:rPr>
              <a:t>F</a:t>
            </a:r>
            <a:r>
              <a:rPr sz="1900" b="0" baseline="-25000">
                <a:latin typeface="Cambria"/>
              </a:rPr>
              <a:t>X</a:t>
            </a:r>
            <a:r>
              <a:rPr sz="1900" b="0">
                <a:latin typeface="Cambria"/>
              </a:rPr>
              <a:t>(x) = ∫</a:t>
            </a:r>
            <a:r>
              <a:rPr sz="1900" b="0" baseline="-25000">
                <a:latin typeface="Cambria"/>
              </a:rPr>
              <a:t>−∞</a:t>
            </a:r>
            <a:r>
              <a:rPr sz="1900" b="0" baseline="30000">
                <a:latin typeface="Cambria"/>
              </a:rPr>
              <a:t>x</a:t>
            </a:r>
            <a:r>
              <a:rPr sz="1900" b="0">
                <a:latin typeface="Cambria"/>
              </a:rPr>
              <a:t> f</a:t>
            </a:r>
            <a:r>
              <a:rPr sz="1900" b="0" baseline="-25000">
                <a:latin typeface="Cambria"/>
              </a:rPr>
              <a:t>X</a:t>
            </a:r>
            <a:r>
              <a:rPr sz="1900" b="0">
                <a:latin typeface="Cambria"/>
              </a:rPr>
              <a:t>(t) dt</a:t>
            </a:r>
          </a:p>
        </p:txBody>
      </p:sp>
    </p:spTree>
    <p:extLst>
      <p:ext uri="{BB962C8B-B14F-4D97-AF65-F5344CB8AC3E}">
        <p14:creationId xmlns:p14="http://schemas.microsoft.com/office/powerpoint/2010/main" val="17490970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a:t>
            </a:r>
            <a:r>
              <a:rPr lang="en-US" altLang="en-US" sz="2000" dirty="0">
                <a:sym typeface="Symbol" charset="2"/>
              </a:rPr>
              <a:t>- and +</a:t>
            </a:r>
            <a:r>
              <a:rPr lang="en-US" altLang="en-US" sz="2000" dirty="0"/>
              <a:t> </a:t>
            </a:r>
          </a:p>
          <a:p>
            <a:pPr eaLnBrk="1" hangingPunct="1">
              <a:defRPr/>
            </a:pPr>
            <a:r>
              <a:rPr lang="en-US" altLang="en-US" sz="2000" dirty="0"/>
              <a:t> 95% lies between </a:t>
            </a:r>
            <a:r>
              <a:rPr lang="en-US" altLang="en-US" sz="2000" dirty="0">
                <a:sym typeface="Symbol" charset="2"/>
              </a:rPr>
              <a:t>-2 and +2</a:t>
            </a:r>
          </a:p>
          <a:p>
            <a:pPr eaLnBrk="1" hangingPunct="1">
              <a:defRPr/>
            </a:pPr>
            <a:r>
              <a:rPr lang="en-US" altLang="en-US" sz="2000" dirty="0">
                <a:sym typeface="Symbol" charset="2"/>
              </a:rPr>
              <a:t> 99.7% </a:t>
            </a:r>
            <a:r>
              <a:rPr lang="en-US" altLang="en-US" sz="2000" dirty="0"/>
              <a:t>lies between </a:t>
            </a:r>
            <a:r>
              <a:rPr lang="en-US" altLang="en-US" sz="2000" dirty="0">
                <a:sym typeface="Symbol" charset="2"/>
              </a:rPr>
              <a:t>-3 and +3</a:t>
            </a:r>
            <a:endParaRPr lang="en-US" altLang="en-US" sz="2000" dirty="0"/>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endParaRPr lang="en-US" altLang="en-US" sz="2400" dirty="0"/>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a:p>
            <a:pPr eaLnBrk="1" hangingPunct="1">
              <a:defRPr/>
            </a:pPr>
            <a:r>
              <a:rPr lang="en-US" altLang="en-US" dirty="0"/>
              <a:t>Hint: we are interested in the proportion of schools greater than 10t.</a:t>
            </a:r>
          </a:p>
        </p:txBody>
      </p:sp>
      <p:pic>
        <p:nvPicPr>
          <p:cNvPr id="2" name="Picture 1" descr="Bell curve labeled with the empirical rule: 68% within ±1 SD, 95% within ±2 SD, 99.7% within ±3 SD; tail areas of 2.5% each beyond ±2 SD. Note: really 1.96 SD, but about 2.">
            <a:extLst>
              <a:ext uri="{FF2B5EF4-FFF2-40B4-BE49-F238E27FC236}">
                <a16:creationId xmlns:a16="http://schemas.microsoft.com/office/drawing/2014/main" id="{C2E27138-4EF3-F6A9-2AE6-800BFC9F1FE8}"/>
              </a:ext>
            </a:extLst>
          </p:cNvPr>
          <p:cNvPicPr>
            <a:picLocks noChangeAspect="1"/>
          </p:cNvPicPr>
          <p:nvPr/>
        </p:nvPicPr>
        <p:blipFill>
          <a:blip r:embed="rId3"/>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graphicFrame>
        <p:nvGraphicFramePr>
          <p:cNvPr id="250884" name="Object 5"/>
          <p:cNvGraphicFramePr>
            <a:graphicFrameLocks noGrp="1" noChangeAspect="1"/>
          </p:cNvGraphicFramePr>
          <p:nvPr>
            <p:ph sz="half" idx="2"/>
          </p:nvPr>
        </p:nvGraphicFramePr>
        <p:xfrm>
          <a:off x="3594100" y="3497263"/>
          <a:ext cx="4724400" cy="1077912"/>
        </p:xfrm>
        <a:graphic>
          <a:graphicData uri="http://schemas.openxmlformats.org/presentationml/2006/ole">
            <mc:AlternateContent xmlns:mc="http://schemas.openxmlformats.org/markup-compatibility/2006">
              <mc:Choice xmlns:v="urn:schemas-microsoft-com:vml" Requires="v">
                <p:oleObj name="Equation" r:id="rId3" imgW="1892300" imgH="431800" progId="Equation.DSMT4">
                  <p:embed/>
                </p:oleObj>
              </mc:Choice>
              <mc:Fallback>
                <p:oleObj name="Equation" r:id="rId3" imgW="1892300" imgH="431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4100" y="3497263"/>
                        <a:ext cx="4724400" cy="10779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a:t>
            </a:r>
            <a:r>
              <a:rPr lang="en-US" altLang="en-US" sz="2400" dirty="0">
                <a:sym typeface="Symbol" charset="2"/>
              </a:rPr>
              <a:t> + </a:t>
            </a:r>
            <a:r>
              <a:rPr lang="en-US" altLang="en-US" sz="2400" i="1" dirty="0">
                <a:sym typeface="Symbol" charset="2"/>
              </a:rPr>
              <a:t>z</a:t>
            </a:r>
            <a:endParaRPr lang="en-US" altLang="en-US" sz="2400" i="1" dirty="0"/>
          </a:p>
        </p:txBody>
      </p:sp>
    </p:spTree>
    <p:extLst>
      <p:ext uri="{BB962C8B-B14F-4D97-AF65-F5344CB8AC3E}">
        <p14:creationId xmlns:p14="http://schemas.microsoft.com/office/powerpoint/2010/main" val="549856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a:t>
            </a:r>
            <a:r>
              <a:rPr lang="en-US" altLang="en-US" dirty="0">
                <a:sym typeface="Symbol" charset="2"/>
              </a:rPr>
              <a:t> </a:t>
            </a:r>
            <a:r>
              <a:rPr lang="en-US" altLang="en-US" dirty="0"/>
              <a:t>-0.95</a:t>
            </a:r>
          </a:p>
          <a:p>
            <a:pPr lvl="1" eaLnBrk="1" hangingPunct="1">
              <a:defRPr/>
            </a:pPr>
            <a:r>
              <a:rPr lang="en-US" altLang="en-US" i="1" dirty="0"/>
              <a:t>X</a:t>
            </a:r>
            <a:r>
              <a:rPr lang="en-US" altLang="en-US" dirty="0"/>
              <a:t>  </a:t>
            </a:r>
            <a:r>
              <a:rPr lang="en-US" altLang="en-US" dirty="0">
                <a:sym typeface="Symbol" charset="2"/>
              </a:rPr>
              <a:t></a:t>
            </a:r>
            <a:r>
              <a:rPr lang="en-US" altLang="en-US" dirty="0"/>
              <a:t> 1</a:t>
            </a:r>
          </a:p>
          <a:p>
            <a:pPr lvl="1" eaLnBrk="1" hangingPunct="1">
              <a:defRPr/>
            </a:pPr>
            <a:r>
              <a:rPr lang="en-US" altLang="en-US" dirty="0"/>
              <a:t>0.1 </a:t>
            </a:r>
            <a:r>
              <a:rPr lang="en-US" altLang="en-US" dirty="0">
                <a:sym typeface="Symbol" charset="2"/>
              </a:rPr>
              <a:t></a:t>
            </a:r>
            <a:r>
              <a:rPr lang="en-US" altLang="en-US" dirty="0"/>
              <a:t> </a:t>
            </a:r>
            <a:r>
              <a:rPr lang="en-US" altLang="en-US" i="1" dirty="0"/>
              <a:t>X</a:t>
            </a:r>
            <a:r>
              <a:rPr lang="en-US" altLang="en-US" dirty="0"/>
              <a:t> </a:t>
            </a:r>
            <a:r>
              <a:rPr lang="en-US" altLang="en-US" dirty="0">
                <a:sym typeface="Symbol" charset="2"/>
              </a:rPr>
              <a:t> 0.5 OR 1.5  </a:t>
            </a:r>
            <a:r>
              <a:rPr lang="en-US" altLang="en-US" i="1" dirty="0">
                <a:sym typeface="Symbol" charset="2"/>
              </a:rPr>
              <a:t>X </a:t>
            </a:r>
            <a:r>
              <a:rPr lang="en-US" altLang="en-US" dirty="0">
                <a:sym typeface="Symbol" charset="2"/>
              </a:rPr>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graphicFrame>
        <p:nvGraphicFramePr>
          <p:cNvPr id="263171" name="Object 5"/>
          <p:cNvGraphicFramePr>
            <a:graphicFrameLocks noGrp="1" noChangeAspect="1"/>
          </p:cNvGraphicFramePr>
          <p:nvPr>
            <p:ph sz="quarter" idx="2"/>
            <p:extLst>
              <p:ext uri="{D42A27DB-BD31-4B8C-83A1-F6EECF244321}">
                <p14:modId xmlns:p14="http://schemas.microsoft.com/office/powerpoint/2010/main" val="245028359"/>
              </p:ext>
            </p:extLst>
          </p:nvPr>
        </p:nvGraphicFramePr>
        <p:xfrm>
          <a:off x="5402264" y="2347338"/>
          <a:ext cx="941387" cy="457200"/>
        </p:xfrm>
        <a:graphic>
          <a:graphicData uri="http://schemas.openxmlformats.org/presentationml/2006/ole">
            <mc:AlternateContent xmlns:mc="http://schemas.openxmlformats.org/markup-compatibility/2006">
              <mc:Choice xmlns:v="urn:schemas-microsoft-com:vml" Requires="v">
                <p:oleObj name="Equation" r:id="rId3" imgW="469900" imgH="228600" progId="Equation.DSMT4">
                  <p:embed/>
                </p:oleObj>
              </mc:Choice>
              <mc:Fallback>
                <p:oleObj name="Equation" r:id="rId3" imgW="4699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02264" y="2347338"/>
                        <a:ext cx="941387"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2" name="Object 7"/>
          <p:cNvGraphicFramePr>
            <a:graphicFrameLocks noGrp="1" noChangeAspect="1"/>
          </p:cNvGraphicFramePr>
          <p:nvPr>
            <p:ph sz="quarter" idx="3"/>
            <p:extLst>
              <p:ext uri="{D42A27DB-BD31-4B8C-83A1-F6EECF244321}">
                <p14:modId xmlns:p14="http://schemas.microsoft.com/office/powerpoint/2010/main" val="1443483951"/>
              </p:ext>
            </p:extLst>
          </p:nvPr>
        </p:nvGraphicFramePr>
        <p:xfrm>
          <a:off x="5029686" y="4162887"/>
          <a:ext cx="1508125" cy="511175"/>
        </p:xfrm>
        <a:graphic>
          <a:graphicData uri="http://schemas.openxmlformats.org/presentationml/2006/ole">
            <mc:AlternateContent xmlns:mc="http://schemas.openxmlformats.org/markup-compatibility/2006">
              <mc:Choice xmlns:v="urn:schemas-microsoft-com:vml" Requires="v">
                <p:oleObj name="Equation" r:id="rId5" imgW="748975" imgH="253890" progId="Equation.DSMT4">
                  <p:embed/>
                </p:oleObj>
              </mc:Choice>
              <mc:Fallback>
                <p:oleObj name="Equation" r:id="rId5" imgW="748975" imgH="25389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29686" y="4162887"/>
                        <a:ext cx="1508125" cy="511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3" name="Object 9"/>
          <p:cNvGraphicFramePr>
            <a:graphicFrameLocks noChangeAspect="1"/>
          </p:cNvGraphicFramePr>
          <p:nvPr>
            <p:extLst>
              <p:ext uri="{D42A27DB-BD31-4B8C-83A1-F6EECF244321}">
                <p14:modId xmlns:p14="http://schemas.microsoft.com/office/powerpoint/2010/main" val="8511365"/>
              </p:ext>
            </p:extLst>
          </p:nvPr>
        </p:nvGraphicFramePr>
        <p:xfrm>
          <a:off x="1425401" y="4988138"/>
          <a:ext cx="401637" cy="452437"/>
        </p:xfrm>
        <a:graphic>
          <a:graphicData uri="http://schemas.openxmlformats.org/presentationml/2006/ole">
            <mc:AlternateContent xmlns:mc="http://schemas.openxmlformats.org/markup-compatibility/2006">
              <mc:Choice xmlns:v="urn:schemas-microsoft-com:vml" Requires="v">
                <p:oleObj name="Equation" r:id="rId7" imgW="203112" imgH="228501" progId="Equation.DSMT4">
                  <p:embed/>
                </p:oleObj>
              </mc:Choice>
              <mc:Fallback>
                <p:oleObj name="Equation" r:id="rId7" imgW="203112" imgH="228501"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25401" y="4988138"/>
                        <a:ext cx="401637" cy="452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Tree>
    <p:extLst>
      <p:ext uri="{BB962C8B-B14F-4D97-AF65-F5344CB8AC3E}">
        <p14:creationId xmlns:p14="http://schemas.microsoft.com/office/powerpoint/2010/main" val="427335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sym typeface="Symbol" charset="2"/>
              </a:rPr>
              <a:t>~30) are drawn from </a:t>
            </a:r>
            <a:r>
              <a:rPr lang="en-US" altLang="en-US" i="1" dirty="0">
                <a:solidFill>
                  <a:schemeClr val="hlink"/>
                </a:solidFill>
                <a:sym typeface="Symbol" charset="2"/>
              </a:rPr>
              <a:t>any</a:t>
            </a:r>
            <a:r>
              <a:rPr lang="en-US" altLang="en-US" dirty="0">
                <a:sym typeface="Symbol" charset="2"/>
              </a:rPr>
              <a:t> population with a mean  and a standard deviation ,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descr="Histograms of sample means illustrating the Central Limit Theorem. Y-axis Frequency; the distribution of means is bell-shaped and centered near the population mea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a:t>
            </a:r>
            <a:r>
              <a:rPr lang="en-US" altLang="en-US" sz="2000" dirty="0">
                <a:sym typeface="Symbol" charset="2"/>
              </a:rPr>
              <a:t> 5 and </a:t>
            </a:r>
            <a:r>
              <a:rPr lang="en-US" altLang="en-US" sz="2000" i="1" dirty="0">
                <a:sym typeface="Symbol" charset="2"/>
              </a:rPr>
              <a:t>nq</a:t>
            </a:r>
            <a:r>
              <a:rPr lang="en-US" altLang="en-US" sz="2000" dirty="0">
                <a:sym typeface="Symbol" charset="2"/>
              </a:rPr>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graphicFrame>
        <p:nvGraphicFramePr>
          <p:cNvPr id="269315" name="Object 4"/>
          <p:cNvGraphicFramePr>
            <a:graphicFrameLocks noGrp="1" noChangeAspect="1"/>
          </p:cNvGraphicFramePr>
          <p:nvPr>
            <p:ph sz="half" idx="2"/>
            <p:extLst>
              <p:ext uri="{D42A27DB-BD31-4B8C-83A1-F6EECF244321}">
                <p14:modId xmlns:p14="http://schemas.microsoft.com/office/powerpoint/2010/main" val="1106756332"/>
              </p:ext>
            </p:extLst>
          </p:nvPr>
        </p:nvGraphicFramePr>
        <p:xfrm>
          <a:off x="4487831" y="3537745"/>
          <a:ext cx="2286000" cy="512762"/>
        </p:xfrm>
        <a:graphic>
          <a:graphicData uri="http://schemas.openxmlformats.org/presentationml/2006/ole">
            <mc:AlternateContent xmlns:mc="http://schemas.openxmlformats.org/markup-compatibility/2006">
              <mc:Choice xmlns:v="urn:schemas-microsoft-com:vml" Requires="v">
                <p:oleObj name="Equation" r:id="rId3" imgW="1129810" imgH="253890" progId="Equation.DSMT4">
                  <p:embed/>
                </p:oleObj>
              </mc:Choice>
              <mc:Fallback>
                <p:oleObj name="Equation" r:id="rId3" imgW="1129810"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87831" y="3537745"/>
                        <a:ext cx="2286000" cy="5127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Tree>
    <p:extLst>
      <p:ext uri="{BB962C8B-B14F-4D97-AF65-F5344CB8AC3E}">
        <p14:creationId xmlns:p14="http://schemas.microsoft.com/office/powerpoint/2010/main" val="15214814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a:t>
            </a:r>
            <a:r>
              <a:rPr lang="en-US" altLang="en-US" dirty="0">
                <a:sym typeface="Symbol" charset="2"/>
              </a:rPr>
              <a:t>&gt;10, the Poisson random variable </a:t>
            </a:r>
            <a:r>
              <a:rPr lang="en-US" altLang="en-US" i="1" dirty="0">
                <a:sym typeface="Symbol" charset="2"/>
              </a:rPr>
              <a:t>X ~P()</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graphicFrame>
        <p:nvGraphicFramePr>
          <p:cNvPr id="275459" name="Object 4"/>
          <p:cNvGraphicFramePr>
            <a:graphicFrameLocks noGrp="1" noChangeAspect="1"/>
          </p:cNvGraphicFramePr>
          <p:nvPr>
            <p:ph sz="half" idx="2"/>
          </p:nvPr>
        </p:nvGraphicFramePr>
        <p:xfrm>
          <a:off x="4564063" y="4183064"/>
          <a:ext cx="2590800" cy="700087"/>
        </p:xfrm>
        <a:graphic>
          <a:graphicData uri="http://schemas.openxmlformats.org/presentationml/2006/ole">
            <mc:AlternateContent xmlns:mc="http://schemas.openxmlformats.org/markup-compatibility/2006">
              <mc:Choice xmlns:v="urn:schemas-microsoft-com:vml" Requires="v">
                <p:oleObj name="Equation" r:id="rId3" imgW="939392" imgH="253890" progId="Equation.DSMT4">
                  <p:embed/>
                </p:oleObj>
              </mc:Choice>
              <mc:Fallback>
                <p:oleObj name="Equation" r:id="rId3" imgW="939392"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64063" y="4183064"/>
                        <a:ext cx="2590800" cy="700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a:t>
            </a:r>
            <a:r>
              <a:rPr lang="en-US" altLang="en-US"/>
              <a:t>by its </a:t>
            </a:r>
            <a:r>
              <a:rPr lang="en-US" altLang="en-US" dirty="0"/>
              <a:t>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sp>
        <p:nvSpPr>
          <p:cNvPr id="4100" name="TextBox 4099"/>
          <p:cNvSpPr txBox="1"/>
          <p:nvPr/>
        </p:nvSpPr>
        <p:spPr>
          <a:xfrm>
            <a:off x="4688917" y="3770098"/>
            <a:ext cx="1406769" cy="704695"/>
          </a:xfrm>
          <a:prstGeom prst="rect">
            <a:avLst/>
          </a:prstGeom>
          <a:noFill/>
        </p:spPr>
        <p:txBody>
          <a:bodyPr wrap="square" anchor="ctr" lIns="0" rIns="0" tIns="0" bIns="0">
            <a:spAutoFit/>
          </a:bodyPr>
          <a:lstStyle/>
          <a:p>
            <a:r>
              <a:rPr sz="1900" b="0">
                <a:latin typeface="Cambria"/>
              </a:rPr>
              <a:t>σ</a:t>
            </a:r>
            <a:r>
              <a:rPr sz="1900" b="0" baseline="-25000">
                <a:latin typeface="Cambria"/>
              </a:rPr>
              <a:t>x̄</a:t>
            </a:r>
            <a:r>
              <a:rPr sz="1900" b="0">
                <a:latin typeface="Cambria"/>
              </a:rPr>
              <a:t> ≈ s/√n</a:t>
            </a:r>
          </a:p>
        </p:txBody>
      </p:sp>
    </p:spTree>
    <p:extLst>
      <p:ext uri="{BB962C8B-B14F-4D97-AF65-F5344CB8AC3E}">
        <p14:creationId xmlns:p14="http://schemas.microsoft.com/office/powerpoint/2010/main" val="99177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9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09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descr="Student's t distribution plots. Top: PDFs for degrees of freedom 1, 2, 5, and infinity; fewer df give lower peaks and fatter tails, approaching normal as df grows. Bottom: matching CDFs."/>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graphicFrame>
        <p:nvGraphicFramePr>
          <p:cNvPr id="7172" name="Object 6"/>
          <p:cNvGraphicFramePr>
            <a:graphicFrameLocks noGrp="1" noChangeAspect="1"/>
          </p:cNvGraphicFramePr>
          <p:nvPr>
            <p:ph sz="half" idx="2"/>
          </p:nvPr>
        </p:nvGraphicFramePr>
        <p:xfrm>
          <a:off x="2362200" y="2286001"/>
          <a:ext cx="2306638" cy="1552575"/>
        </p:xfrm>
        <a:graphic>
          <a:graphicData uri="http://schemas.openxmlformats.org/presentationml/2006/ole">
            <mc:AlternateContent xmlns:mc="http://schemas.openxmlformats.org/markup-compatibility/2006">
              <mc:Choice xmlns:v="urn:schemas-microsoft-com:vml" Requires="v">
                <p:oleObj name="Equation" r:id="rId4" imgW="622030" imgH="418918" progId="Equation.DSMT4">
                  <p:embed/>
                </p:oleObj>
              </mc:Choice>
              <mc:Fallback>
                <p:oleObj name="Equation" r:id="rId4" imgW="622030" imgH="418918"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2200" y="2286001"/>
                        <a:ext cx="2306638" cy="15525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Tree>
    <p:extLst>
      <p:ext uri="{BB962C8B-B14F-4D97-AF65-F5344CB8AC3E}">
        <p14:creationId xmlns:p14="http://schemas.microsoft.com/office/powerpoint/2010/main" val="20269333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descr="Lognormal PDF plot, x from 0. Three right-skewed curves with mean 0 and sigma 0.25, 0.5, 1; smaller sigma gives a taller, narrower peak. All are zero at x=0 and positive only."/>
          <p:cNvPicPr>
            <a:picLocks noChangeAspect="1"/>
          </p:cNvPicPr>
          <p:nvPr/>
        </p:nvPicPr>
        <p:blipFill>
          <a:blip r:embed="rId2"/>
          <a:stretch>
            <a:fillRect/>
          </a:stretch>
        </p:blipFill>
        <p:spPr>
          <a:xfrm>
            <a:off x="647700" y="799322"/>
            <a:ext cx="4826000" cy="4697963"/>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sym typeface="Symbol" charset="2"/>
              </a:rPr>
              <a:t>,</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sym typeface="Symbol" charset="2"/>
              </a:rPr>
              <a:t>,</a:t>
            </a:r>
            <a:r>
              <a:rPr lang="el-GR" sz="2400" dirty="0"/>
              <a:t> σ</a:t>
            </a:r>
            <a:r>
              <a:rPr lang="el-GR" sz="2400" baseline="30000" dirty="0"/>
              <a:t>2</a:t>
            </a:r>
            <a:r>
              <a:rPr lang="en-US" sz="2400" dirty="0"/>
              <a:t>)</a:t>
            </a:r>
          </a:p>
        </p:txBody>
      </p:sp>
      <p:sp>
        <p:nvSpPr>
          <p:cNvPr id="13" name="TextBox 12"/>
          <p:cNvSpPr txBox="1"/>
          <p:nvPr/>
        </p:nvSpPr>
        <p:spPr>
          <a:xfrm>
            <a:off x="6083300" y="799322"/>
            <a:ext cx="4724400" cy="2276690"/>
          </a:xfrm>
          <a:prstGeom prst="rect">
            <a:avLst/>
          </a:prstGeom>
          <a:noFill/>
        </p:spPr>
        <p:txBody>
          <a:bodyPr wrap="square" anchor="ctr" lIns="0" rIns="0" tIns="0" bIns="0">
            <a:spAutoFit/>
          </a:bodyPr>
          <a:lstStyle/>
          <a:p>
            <a:r>
              <a:rPr sz="1200" b="0">
                <a:latin typeface="Cambria"/>
              </a:rPr>
              <a:t>Lognormal(μ, σ²)</a:t>
            </a:r>
          </a:p>
          <a:p>
            <a:r>
              <a:rPr sz="1200" b="0">
                <a:latin typeface="Cambria"/>
              </a:rPr>
              <a:t>Parameters:  μ ∈ (−∞, +∞),  σ &gt; 0</a:t>
            </a:r>
          </a:p>
          <a:p>
            <a:r>
              <a:rPr sz="1200" b="0">
                <a:latin typeface="Cambria"/>
              </a:rPr>
              <a:t>Support:  x ∈ (0, +∞)</a:t>
            </a:r>
          </a:p>
          <a:p>
            <a:r>
              <a:rPr sz="1200" b="0">
                <a:latin typeface="Cambria"/>
              </a:rPr>
              <a:t>PDF:  f(x) = 1/(x σ √(2π)) · exp( −(ln x − μ)² / (2σ²) )</a:t>
            </a:r>
          </a:p>
        </p:txBody>
      </p:sp>
      <p:sp>
        <p:nvSpPr>
          <p:cNvPr id="14" name="TextBox 13"/>
          <p:cNvSpPr txBox="1"/>
          <p:nvPr/>
        </p:nvSpPr>
        <p:spPr>
          <a:xfrm>
            <a:off x="6083300" y="3448050"/>
            <a:ext cx="4591051" cy="1975751"/>
          </a:xfrm>
          <a:prstGeom prst="rect">
            <a:avLst/>
          </a:prstGeom>
          <a:noFill/>
        </p:spPr>
        <p:txBody>
          <a:bodyPr wrap="square" anchor="ctr" lIns="0" rIns="0" tIns="0" bIns="0">
            <a:spAutoFit/>
          </a:bodyPr>
          <a:lstStyle/>
          <a:p>
            <a:r>
              <a:rPr sz="1600" b="0">
                <a:latin typeface="Cambria"/>
              </a:rPr>
              <a:t>Mean:  exp(μ + σ²/2)</a:t>
            </a:r>
          </a:p>
          <a:p>
            <a:r>
              <a:rPr sz="1600" b="0">
                <a:latin typeface="Cambria"/>
              </a:rPr>
              <a:t>Median:  exp(μ)</a:t>
            </a:r>
          </a:p>
          <a:p>
            <a:r>
              <a:rPr sz="1600" b="0">
                <a:latin typeface="Cambria"/>
              </a:rPr>
              <a:t>Mode:  exp(μ − σ²)</a:t>
            </a:r>
          </a:p>
          <a:p>
            <a:r>
              <a:rPr sz="1600" b="0">
                <a:latin typeface="Cambria"/>
              </a:rPr>
              <a:t>Variance:  [exp(σ²) − 1] · exp(2μ + σ²)</a:t>
            </a:r>
          </a:p>
        </p:txBody>
      </p:sp>
    </p:spTree>
    <p:extLst>
      <p:ext uri="{BB962C8B-B14F-4D97-AF65-F5344CB8AC3E}">
        <p14:creationId xmlns:p14="http://schemas.microsoft.com/office/powerpoint/2010/main" val="19865897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Gamma PDF plot, x from 0 to 20, for several shape k and scale theta values. Small k gives a decreasing curve; larger k gives right-skewed humps that shift right and flatte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800" name="Picture 9" descr="Text: A gamma with shape alpha=1 is an exponential(beta) distribution. A gamma with alpha = v/2 and beta = 1/2 is a chi-squared random variable with v degrees of freedom."/>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77984" y="1374711"/>
            <a:ext cx="1434047" cy="369332"/>
          </a:xfrm>
          <a:prstGeom prst="rect">
            <a:avLst/>
          </a:prstGeom>
          <a:noFill/>
        </p:spPr>
        <p:txBody>
          <a:bodyPr wrap="none" rtlCol="0">
            <a:spAutoFit/>
          </a:bodyPr>
          <a:lstStyle/>
          <a:p>
            <a:r>
              <a:rPr lang="en-US"/>
              <a:t>Standard in R</a:t>
            </a:r>
          </a:p>
        </p:txBody>
      </p:sp>
      <p:sp>
        <p:nvSpPr>
          <p:cNvPr id="289801" name="TextBox 289800"/>
          <p:cNvSpPr txBox="1"/>
          <p:nvPr/>
        </p:nvSpPr>
        <p:spPr>
          <a:xfrm>
            <a:off x="6488114" y="3456134"/>
            <a:ext cx="5475286" cy="544564"/>
          </a:xfrm>
          <a:prstGeom prst="rect">
            <a:avLst/>
          </a:prstGeom>
          <a:noFill/>
        </p:spPr>
        <p:txBody>
          <a:bodyPr wrap="square" anchor="ctr" lIns="0" rIns="0" tIns="0" bIns="0">
            <a:spAutoFit/>
          </a:bodyPr>
          <a:lstStyle/>
          <a:p>
            <a:r>
              <a:rPr sz="1400" b="0">
                <a:latin typeface="Cambria"/>
              </a:rPr>
              <a:t>E[X] = kθ  (shape-scale)  ;  E[X] = α/β  (shape-rate)</a:t>
            </a:r>
          </a:p>
        </p:txBody>
      </p:sp>
      <p:sp>
        <p:nvSpPr>
          <p:cNvPr id="289802" name="TextBox 289801"/>
          <p:cNvSpPr txBox="1"/>
          <p:nvPr/>
        </p:nvSpPr>
        <p:spPr>
          <a:xfrm>
            <a:off x="6488114" y="1677607"/>
            <a:ext cx="4986168" cy="1600195"/>
          </a:xfrm>
          <a:prstGeom prst="rect">
            <a:avLst/>
          </a:prstGeom>
          <a:noFill/>
        </p:spPr>
        <p:txBody>
          <a:bodyPr wrap="square" anchor="ctr" lIns="0" rIns="0" tIns="0" bIns="0">
            <a:spAutoFit/>
          </a:bodyPr>
          <a:lstStyle/>
          <a:p>
            <a:r>
              <a:rPr sz="1200" b="0">
                <a:latin typeface="Cambria"/>
              </a:rPr>
              <a:t>Params — shape-scale: k &gt; 0, θ &gt; 0;  shape-rate: α &gt; 0, β &gt; 0 (std in R)</a:t>
            </a:r>
          </a:p>
          <a:p>
            <a:r>
              <a:rPr sz="1200" b="0">
                <a:latin typeface="Cambria"/>
              </a:rPr>
              <a:t>Support:  x ∈ (0, ∞)</a:t>
            </a:r>
          </a:p>
          <a:p>
            <a:r>
              <a:rPr sz="1200" b="0">
                <a:latin typeface="Cambria"/>
              </a:rPr>
              <a:t>PDF (shape-scale):  f(x) = 1/(Γ(k) θ</a:t>
            </a:r>
            <a:r>
              <a:rPr sz="1200" b="0" baseline="30000">
                <a:latin typeface="Cambria"/>
              </a:rPr>
              <a:t>k</a:t>
            </a:r>
            <a:r>
              <a:rPr sz="1200" b="0">
                <a:latin typeface="Cambria"/>
              </a:rPr>
              <a:t>) · x</a:t>
            </a:r>
            <a:r>
              <a:rPr sz="1200" b="0" baseline="30000">
                <a:latin typeface="Cambria"/>
              </a:rPr>
              <a:t>k−1</a:t>
            </a:r>
            <a:r>
              <a:rPr sz="1200" b="0">
                <a:latin typeface="Cambria"/>
              </a:rPr>
              <a:t> · e</a:t>
            </a:r>
            <a:r>
              <a:rPr sz="1200" b="0" baseline="30000">
                <a:latin typeface="Cambria"/>
              </a:rPr>
              <a:t>−x/θ</a:t>
            </a:r>
          </a:p>
          <a:p>
            <a:r>
              <a:rPr sz="1200" b="0">
                <a:latin typeface="Cambria"/>
              </a:rPr>
              <a:t>PDF (shape-rate):  f(x) = β</a:t>
            </a:r>
            <a:r>
              <a:rPr sz="1200" b="0" baseline="30000">
                <a:latin typeface="Cambria"/>
              </a:rPr>
              <a:t>α</a:t>
            </a:r>
            <a:r>
              <a:rPr sz="1200" b="0">
                <a:latin typeface="Cambria"/>
              </a:rPr>
              <a:t>/Γ(α) · x</a:t>
            </a:r>
            <a:r>
              <a:rPr sz="1200" b="0" baseline="30000">
                <a:latin typeface="Cambria"/>
              </a:rPr>
              <a:t>α−1</a:t>
            </a:r>
            <a:r>
              <a:rPr sz="1200" b="0">
                <a:latin typeface="Cambria"/>
              </a:rPr>
              <a:t> · e</a:t>
            </a:r>
            <a:r>
              <a:rPr sz="1200" b="0" baseline="30000">
                <a:latin typeface="Cambria"/>
              </a:rPr>
              <a:t>−βx</a:t>
            </a:r>
          </a:p>
        </p:txBody>
      </p:sp>
      <p:sp>
        <p:nvSpPr>
          <p:cNvPr id="289803" name="TextBox 289802"/>
          <p:cNvSpPr txBox="1"/>
          <p:nvPr/>
        </p:nvSpPr>
        <p:spPr>
          <a:xfrm>
            <a:off x="6477000" y="4035425"/>
            <a:ext cx="5486400" cy="559454"/>
          </a:xfrm>
          <a:prstGeom prst="rect">
            <a:avLst/>
          </a:prstGeom>
          <a:noFill/>
        </p:spPr>
        <p:txBody>
          <a:bodyPr wrap="square" anchor="ctr" lIns="0" rIns="0" tIns="0" bIns="0">
            <a:spAutoFit/>
          </a:bodyPr>
          <a:lstStyle/>
          <a:p>
            <a:r>
              <a:rPr sz="1300" b="0">
                <a:latin typeface="Cambria"/>
              </a:rPr>
              <a:t>Var(X) = kθ²  (shape-scale)  ;  Var(X) = α/β²  (shape-rate)</a:t>
            </a:r>
          </a:p>
        </p:txBody>
      </p:sp>
    </p:spTree>
    <p:extLst>
      <p:ext uri="{BB962C8B-B14F-4D97-AF65-F5344CB8AC3E}">
        <p14:creationId xmlns:p14="http://schemas.microsoft.com/office/powerpoint/2010/main" val="19793996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Beta PDF plot on x from 0 to 1 for several alpha, beta pairs. Shapes range from U-shaped (0.5,0.5) to J-shaped, to a symmetric hump (2,2), showing the Beta's flexibility on [0,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528"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
        <p:nvSpPr>
          <p:cNvPr id="290823" name="TextBox 290822"/>
          <p:cNvSpPr txBox="1"/>
          <p:nvPr/>
        </p:nvSpPr>
        <p:spPr>
          <a:xfrm>
            <a:off x="7027864" y="4313517"/>
            <a:ext cx="4280838" cy="876220"/>
          </a:xfrm>
          <a:prstGeom prst="rect">
            <a:avLst/>
          </a:prstGeom>
          <a:noFill/>
        </p:spPr>
        <p:txBody>
          <a:bodyPr wrap="square" anchor="ctr" lIns="0" rIns="0" tIns="0" bIns="0">
            <a:spAutoFit/>
          </a:bodyPr>
          <a:lstStyle/>
          <a:p>
            <a:r>
              <a:rPr sz="2600" b="0">
                <a:latin typeface="Cambria"/>
              </a:rPr>
              <a:t>E[X] = α / (α + β)</a:t>
            </a:r>
          </a:p>
        </p:txBody>
      </p:sp>
      <p:sp>
        <p:nvSpPr>
          <p:cNvPr id="290824" name="TextBox 290823"/>
          <p:cNvSpPr txBox="1"/>
          <p:nvPr/>
        </p:nvSpPr>
        <p:spPr>
          <a:xfrm>
            <a:off x="7027864" y="1200945"/>
            <a:ext cx="4280838" cy="2837519"/>
          </a:xfrm>
          <a:prstGeom prst="rect">
            <a:avLst/>
          </a:prstGeom>
          <a:noFill/>
        </p:spPr>
        <p:txBody>
          <a:bodyPr wrap="square" anchor="ctr" lIns="0" rIns="0" tIns="0" bIns="0">
            <a:spAutoFit/>
          </a:bodyPr>
          <a:lstStyle/>
          <a:p>
            <a:r>
              <a:rPr sz="1200" b="0">
                <a:latin typeface="Cambria"/>
              </a:rPr>
              <a:t>Notation:  Beta(α, β)</a:t>
            </a:r>
          </a:p>
          <a:p>
            <a:r>
              <a:rPr sz="1200" b="0">
                <a:latin typeface="Cambria"/>
              </a:rPr>
              <a:t>Parameters:  α &gt; 0 shape (real),  β &gt; 0 shape (real)</a:t>
            </a:r>
          </a:p>
          <a:p>
            <a:r>
              <a:rPr sz="1200" b="0">
                <a:latin typeface="Cambria"/>
              </a:rPr>
              <a:t>Support:  x ∈ [0, 1]  or  x ∈ (0, 1)</a:t>
            </a:r>
          </a:p>
          <a:p>
            <a:r>
              <a:rPr sz="1200" b="0">
                <a:latin typeface="Cambria"/>
              </a:rPr>
              <a:t>PDF:  f(x) = x</a:t>
            </a:r>
            <a:r>
              <a:rPr sz="1200" b="0" baseline="30000">
                <a:latin typeface="Cambria"/>
              </a:rPr>
              <a:t>α−1</a:t>
            </a:r>
            <a:r>
              <a:rPr sz="1200" b="0">
                <a:latin typeface="Cambria"/>
              </a:rPr>
              <a:t> (1−x)</a:t>
            </a:r>
            <a:r>
              <a:rPr sz="1200" b="0" baseline="30000">
                <a:latin typeface="Cambria"/>
              </a:rPr>
              <a:t>β−1</a:t>
            </a:r>
            <a:r>
              <a:rPr sz="1200" b="0">
                <a:latin typeface="Cambria"/>
              </a:rPr>
              <a:t> / B(α, β)</a:t>
            </a:r>
          </a:p>
          <a:p>
            <a:r>
              <a:rPr sz="1200" b="0">
                <a:latin typeface="Cambria"/>
              </a:rPr>
              <a:t>where B(α, β) = Γ(α) Γ(β) / Γ(α + β)</a:t>
            </a:r>
          </a:p>
        </p:txBody>
      </p:sp>
    </p:spTree>
    <p:extLst>
      <p:ext uri="{BB962C8B-B14F-4D97-AF65-F5344CB8AC3E}">
        <p14:creationId xmlns:p14="http://schemas.microsoft.com/office/powerpoint/2010/main" val="2815444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descr="Exponential PDF plot P(x), x from 0 to 5, for rate lambda 0.5, 1, and 1.5. Each curve starts at lambda and decays exponentially; larger lambda starts higher and drops faste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sp>
        <p:nvSpPr>
          <p:cNvPr id="12291" name="TextBox 12290"/>
          <p:cNvSpPr txBox="1"/>
          <p:nvPr/>
        </p:nvSpPr>
        <p:spPr>
          <a:xfrm>
            <a:off x="6972300" y="1570419"/>
            <a:ext cx="4787900" cy="4102360"/>
          </a:xfrm>
          <a:prstGeom prst="rect">
            <a:avLst/>
          </a:prstGeom>
          <a:noFill/>
        </p:spPr>
        <p:txBody>
          <a:bodyPr wrap="square" anchor="ctr" lIns="0" rIns="0" tIns="0" bIns="0">
            <a:spAutoFit/>
          </a:bodyPr>
          <a:lstStyle/>
          <a:p>
            <a:r>
              <a:rPr sz="1500" b="0">
                <a:latin typeface="Cambria"/>
              </a:rPr>
              <a:t>Parameters:  λ &gt; 0, rate (or inverse scale)</a:t>
            </a:r>
          </a:p>
          <a:p>
            <a:r>
              <a:rPr sz="1500" b="0">
                <a:latin typeface="Cambria"/>
              </a:rPr>
              <a:t>Support:  x ∈ [0, ∞)</a:t>
            </a:r>
          </a:p>
          <a:p>
            <a:r>
              <a:rPr sz="1500" b="0">
                <a:latin typeface="Cambria"/>
              </a:rPr>
              <a:t>PDF:  f(x) = λ e</a:t>
            </a:r>
            <a:r>
              <a:rPr sz="1500" b="0" baseline="30000">
                <a:latin typeface="Cambria"/>
              </a:rPr>
              <a:t>−λx</a:t>
            </a:r>
          </a:p>
          <a:p>
            <a:r>
              <a:rPr sz="1500" b="0">
                <a:latin typeface="Cambria"/>
              </a:rPr>
              <a:t>CDF:  F(x) = 1 − e</a:t>
            </a:r>
            <a:r>
              <a:rPr sz="1500" b="0" baseline="30000">
                <a:latin typeface="Cambria"/>
              </a:rPr>
              <a:t>−λx</a:t>
            </a:r>
          </a:p>
          <a:p>
            <a:r>
              <a:rPr sz="1500" b="0">
                <a:latin typeface="Cambria"/>
              </a:rPr>
              <a:t>Quantile:  −ln(1−p) / λ</a:t>
            </a:r>
          </a:p>
          <a:p>
            <a:r>
              <a:rPr sz="1500" b="0">
                <a:latin typeface="Cambria"/>
              </a:rPr>
              <a:t>Mean:  1/λ</a:t>
            </a:r>
          </a:p>
          <a:p>
            <a:r>
              <a:rPr sz="1500" b="0">
                <a:latin typeface="Cambria"/>
              </a:rPr>
              <a:t>Median:  ln 2 / λ</a:t>
            </a:r>
          </a:p>
          <a:p>
            <a:r>
              <a:rPr sz="1500" b="0">
                <a:latin typeface="Cambria"/>
              </a:rPr>
              <a:t>Mode:  0</a:t>
            </a:r>
          </a:p>
          <a:p>
            <a:r>
              <a:rPr sz="1500" b="0">
                <a:latin typeface="Cambria"/>
              </a:rPr>
              <a:t>Variance:  1/λ²</a:t>
            </a:r>
          </a:p>
        </p:txBody>
      </p:sp>
    </p:spTree>
    <p:extLst>
      <p:ext uri="{BB962C8B-B14F-4D97-AF65-F5344CB8AC3E}">
        <p14:creationId xmlns:p14="http://schemas.microsoft.com/office/powerpoint/2010/main" val="13268643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a:t>
            </a:r>
            <a:r>
              <a:rPr lang="en-US" altLang="en-US" sz="2600" dirty="0">
                <a:sym typeface="Symbol" charset="2"/>
              </a:rPr>
              <a:t>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graphicFrame>
        <p:nvGraphicFramePr>
          <p:cNvPr id="277507" name="Object 4"/>
          <p:cNvGraphicFramePr>
            <a:graphicFrameLocks noGrp="1" noChangeAspect="1"/>
          </p:cNvGraphicFramePr>
          <p:nvPr>
            <p:ph sz="half" idx="2"/>
            <p:extLst>
              <p:ext uri="{D42A27DB-BD31-4B8C-83A1-F6EECF244321}">
                <p14:modId xmlns:p14="http://schemas.microsoft.com/office/powerpoint/2010/main" val="1203704957"/>
              </p:ext>
            </p:extLst>
          </p:nvPr>
        </p:nvGraphicFramePr>
        <p:xfrm>
          <a:off x="4904630" y="4794907"/>
          <a:ext cx="2209800" cy="622300"/>
        </p:xfrm>
        <a:graphic>
          <a:graphicData uri="http://schemas.openxmlformats.org/presentationml/2006/ole">
            <mc:AlternateContent xmlns:mc="http://schemas.openxmlformats.org/markup-compatibility/2006">
              <mc:Choice xmlns:v="urn:schemas-microsoft-com:vml" Requires="v">
                <p:oleObj name="Equation" r:id="rId3" imgW="812447" imgH="228501" progId="Equation.DSMT4">
                  <p:embed/>
                </p:oleObj>
              </mc:Choice>
              <mc:Fallback>
                <p:oleObj name="Equation" r:id="rId3" imgW="812447" imgH="228501"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4630" y="4794907"/>
                        <a:ext cx="2209800"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458040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descr="Journal masthead from Ecosphere (ESA): article title &quot;Three novel methods to estimate abundance of unmarked animals using remote cameras&quot; by Anna K. Moeller, Paul M. Lukacs, and Jon S. Horne."/>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
        <p:nvSpPr>
          <p:cNvPr id="283651" name="TextBox 283650"/>
          <p:cNvSpPr txBox="1"/>
          <p:nvPr/>
        </p:nvSpPr>
        <p:spPr>
          <a:xfrm>
            <a:off x="7550150" y="4497388"/>
            <a:ext cx="1406769" cy="474662"/>
          </a:xfrm>
          <a:prstGeom prst="rect">
            <a:avLst/>
          </a:prstGeom>
          <a:noFill/>
        </p:spPr>
        <p:txBody>
          <a:bodyPr wrap="square" anchor="ctr" lIns="0" rIns="0" tIns="0" bIns="0">
            <a:spAutoFit/>
          </a:bodyPr>
          <a:lstStyle/>
          <a:p>
            <a:r>
              <a:rPr sz="1900" b="0">
                <a:latin typeface="Cambria"/>
              </a:rPr>
              <a:t>T ~ Exp(λ)</a:t>
            </a:r>
          </a:p>
        </p:txBody>
      </p:sp>
      <p:sp>
        <p:nvSpPr>
          <p:cNvPr id="283652" name="TextBox 283651"/>
          <p:cNvSpPr txBox="1"/>
          <p:nvPr/>
        </p:nvSpPr>
        <p:spPr>
          <a:xfrm>
            <a:off x="5367339" y="5791200"/>
            <a:ext cx="1547446" cy="838200"/>
          </a:xfrm>
          <a:prstGeom prst="rect">
            <a:avLst/>
          </a:prstGeom>
          <a:noFill/>
        </p:spPr>
        <p:txBody>
          <a:bodyPr wrap="square" anchor="ctr" lIns="0" rIns="0" tIns="0" bIns="0">
            <a:spAutoFit/>
          </a:bodyPr>
          <a:lstStyle/>
          <a:p>
            <a:r>
              <a:rPr sz="1900" b="0">
                <a:latin typeface="Cambria"/>
              </a:rPr>
              <a:t>Dˆ = λˆ / ā</a:t>
            </a:r>
          </a:p>
        </p:txBody>
      </p:sp>
      <p:sp>
        <p:nvSpPr>
          <p:cNvPr id="283653" name="TextBox 283652"/>
          <p:cNvSpPr txBox="1"/>
          <p:nvPr/>
        </p:nvSpPr>
        <p:spPr>
          <a:xfrm>
            <a:off x="2667001" y="4510089"/>
            <a:ext cx="1969476" cy="460375"/>
          </a:xfrm>
          <a:prstGeom prst="rect">
            <a:avLst/>
          </a:prstGeom>
          <a:noFill/>
        </p:spPr>
        <p:txBody>
          <a:bodyPr wrap="square" anchor="ctr" lIns="0" rIns="0" tIns="0" bIns="0">
            <a:spAutoFit/>
          </a:bodyPr>
          <a:lstStyle/>
          <a:p>
            <a:r>
              <a:rPr sz="1900" b="0">
                <a:latin typeface="Cambria"/>
              </a:rPr>
              <a:t>N</a:t>
            </a:r>
            <a:r>
              <a:rPr sz="1900" b="0" baseline="-25000">
                <a:latin typeface="Cambria"/>
              </a:rPr>
              <a:t>ijk</a:t>
            </a:r>
            <a:r>
              <a:rPr sz="1900" b="0">
                <a:latin typeface="Cambria"/>
              </a:rPr>
              <a:t> ~ Pois(λ)</a:t>
            </a:r>
          </a:p>
        </p:txBody>
      </p:sp>
    </p:spTree>
    <p:extLst>
      <p:ext uri="{BB962C8B-B14F-4D97-AF65-F5344CB8AC3E}">
        <p14:creationId xmlns:p14="http://schemas.microsoft.com/office/powerpoint/2010/main" val="8347972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P spid="14"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graphicFrame>
        <p:nvGraphicFramePr>
          <p:cNvPr id="285699" name="Object 4"/>
          <p:cNvGraphicFramePr>
            <a:graphicFrameLocks noGrp="1" noChangeAspect="1"/>
          </p:cNvGraphicFramePr>
          <p:nvPr>
            <p:ph sz="quarter" idx="2"/>
            <p:extLst>
              <p:ext uri="{D42A27DB-BD31-4B8C-83A1-F6EECF244321}">
                <p14:modId xmlns:p14="http://schemas.microsoft.com/office/powerpoint/2010/main" val="1533184933"/>
              </p:ext>
            </p:extLst>
          </p:nvPr>
        </p:nvGraphicFramePr>
        <p:xfrm>
          <a:off x="5181601" y="2761264"/>
          <a:ext cx="1571625" cy="412750"/>
        </p:xfrm>
        <a:graphic>
          <a:graphicData uri="http://schemas.openxmlformats.org/presentationml/2006/ole">
            <mc:AlternateContent xmlns:mc="http://schemas.openxmlformats.org/markup-compatibility/2006">
              <mc:Choice xmlns:v="urn:schemas-microsoft-com:vml" Requires="v">
                <p:oleObj name="Equation" r:id="rId3" imgW="774364" imgH="203112" progId="Equation.DSMT4">
                  <p:embed/>
                </p:oleObj>
              </mc:Choice>
              <mc:Fallback>
                <p:oleObj name="Equation" r:id="rId3" imgW="774364" imgH="203112"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1601" y="2761264"/>
                        <a:ext cx="1571625" cy="412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85700" name="Object 6"/>
          <p:cNvGraphicFramePr>
            <a:graphicFrameLocks noGrp="1" noChangeAspect="1"/>
          </p:cNvGraphicFramePr>
          <p:nvPr>
            <p:ph sz="quarter" idx="3"/>
            <p:extLst>
              <p:ext uri="{D42A27DB-BD31-4B8C-83A1-F6EECF244321}">
                <p14:modId xmlns:p14="http://schemas.microsoft.com/office/powerpoint/2010/main" val="841090861"/>
              </p:ext>
            </p:extLst>
          </p:nvPr>
        </p:nvGraphicFramePr>
        <p:xfrm>
          <a:off x="5155069" y="4324092"/>
          <a:ext cx="1600200" cy="787400"/>
        </p:xfrm>
        <a:graphic>
          <a:graphicData uri="http://schemas.openxmlformats.org/presentationml/2006/ole">
            <mc:AlternateContent xmlns:mc="http://schemas.openxmlformats.org/markup-compatibility/2006">
              <mc:Choice xmlns:v="urn:schemas-microsoft-com:vml" Requires="v">
                <p:oleObj name="Equation" r:id="rId5" imgW="799753" imgH="393529" progId="Equation.DSMT4">
                  <p:embed/>
                </p:oleObj>
              </mc:Choice>
              <mc:Fallback>
                <p:oleObj name="Equation" r:id="rId5" imgW="799753" imgH="393529"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55069" y="4324092"/>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4439707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graphicFrame>
        <p:nvGraphicFramePr>
          <p:cNvPr id="5" name="Object 6">
            <a:extLst>
              <a:ext uri="{FF2B5EF4-FFF2-40B4-BE49-F238E27FC236}">
                <a16:creationId xmlns:a16="http://schemas.microsoft.com/office/drawing/2014/main" id="{B06D115A-8E44-E087-E6DD-61D636020508}"/>
              </a:ext>
            </a:extLst>
          </p:cNvPr>
          <p:cNvGraphicFramePr>
            <a:graphicFrameLocks noChangeAspect="1"/>
          </p:cNvGraphicFramePr>
          <p:nvPr>
            <p:extLst>
              <p:ext uri="{D42A27DB-BD31-4B8C-83A1-F6EECF244321}">
                <p14:modId xmlns:p14="http://schemas.microsoft.com/office/powerpoint/2010/main" val="4063655564"/>
              </p:ext>
            </p:extLst>
          </p:nvPr>
        </p:nvGraphicFramePr>
        <p:xfrm>
          <a:off x="5494401" y="1275443"/>
          <a:ext cx="1600200" cy="787400"/>
        </p:xfrm>
        <a:graphic>
          <a:graphicData uri="http://schemas.openxmlformats.org/presentationml/2006/ole">
            <mc:AlternateContent xmlns:mc="http://schemas.openxmlformats.org/markup-compatibility/2006">
              <mc:Choice xmlns:v="urn:schemas-microsoft-com:vml" Requires="v">
                <p:oleObj name="Equation" r:id="rId3" imgW="799753" imgH="393529" progId="Equation.DSMT4">
                  <p:embed/>
                </p:oleObj>
              </mc:Choice>
              <mc:Fallback>
                <p:oleObj name="Equation" r:id="rId3" imgW="799753" imgH="393529" progId="Equation.DSMT4">
                  <p:embed/>
                  <p:pic>
                    <p:nvPicPr>
                      <p:cNvPr id="28570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94401" y="1275443"/>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Tree>
    <p:extLst>
      <p:ext uri="{BB962C8B-B14F-4D97-AF65-F5344CB8AC3E}">
        <p14:creationId xmlns:p14="http://schemas.microsoft.com/office/powerpoint/2010/main" val="4574045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Relationship diagram linking many probability distributions with arrows labeled by the transformations or limits connecting them (e.g. sums, limits, ratios) among Normal, Poisson, Binomial, Gamma, Beta, Exponential, t, Chi-squared, Uniform and other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9615</TotalTime>
  <Words>2035</Words>
  <Application>Microsoft Macintosh PowerPoint</Application>
  <PresentationFormat>Widescreen</PresentationFormat>
  <Paragraphs>225</Paragraphs>
  <Slides>43</Slides>
  <Notes>36</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43</vt:i4>
      </vt:variant>
    </vt:vector>
  </HeadingPairs>
  <TitlesOfParts>
    <vt:vector size="55" baseType="lpstr">
      <vt:lpstr>Arial</vt:lpstr>
      <vt:lpstr>Calibri</vt:lpstr>
      <vt:lpstr>Calibri Light</vt:lpstr>
      <vt:lpstr>Cambria Math</vt:lpstr>
      <vt:lpstr>Roboto</vt:lpstr>
      <vt:lpstr>Symbol</vt:lpstr>
      <vt:lpstr>Tahoma</vt:lpstr>
      <vt:lpstr>Times New Roman</vt:lpstr>
      <vt:lpstr>Wingdings</vt:lpstr>
      <vt:lpstr>Office Theme</vt:lpstr>
      <vt:lpstr>Equation</vt:lpstr>
      <vt:lpstr>Chart</vt:lpstr>
      <vt:lpstr>Continuous Probability Distributions</vt:lpstr>
      <vt:lpstr>Continuous Distributions</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Uniform Distribution</vt:lpstr>
      <vt:lpstr>The Uniform Distribution (Example)</vt:lpstr>
      <vt:lpstr>Which distribution and why?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88</cp:revision>
  <dcterms:created xsi:type="dcterms:W3CDTF">2018-10-08T21:50:20Z</dcterms:created>
  <dcterms:modified xsi:type="dcterms:W3CDTF">2025-09-14T19:12:45Z</dcterms:modified>
</cp:coreProperties>
</file>