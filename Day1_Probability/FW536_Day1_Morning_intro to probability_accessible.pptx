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54"/>
  </p:normalViewPr>
  <p:slideViewPr>
    <p:cSldViewPr snapToGrid="0" snapToObjects="1">
      <p:cViewPr varScale="1">
        <p:scale>
          <a:sx n="69" d="100"/>
          <a:sy n="69" d="100"/>
        </p:scale>
        <p:origin x="224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2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3.w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6.w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7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8.w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7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3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4.wmf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eg"/><Relationship Id="rId3" Type="http://schemas.openxmlformats.org/officeDocument/2006/relationships/image" Target="../media/image28.jpeg"/><Relationship Id="rId4" Type="http://schemas.openxmlformats.org/officeDocument/2006/relationships/image" Target="../media/image29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1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2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5.w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6.w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7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6.w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emf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Fall 2025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 title="Book cover: The Ecological Detective, Confronting Models with Data, by Ray Hilb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 title="Book cover: Ecological Models and Data in R by Benjamin M. Bolker, showing a f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 title="Book cover: The Theoretical Biologist's Toolbox, Quantitative Methods for Ecolo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 title="Book cover: Applied Hierarchical Modeling in Ecology, Volume 1, by Marc Kery a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 title="Book cover: Applied Hierarchical Modeling in Ecology, Volume 2, by Marc Kery a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 title="Book cover: Bayesian Models, A Statistical Primer for Ecologists, by N. Thomps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 title="Book cover: The French Chef Cookbook by Julia Child; used as a joke about learn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 title="Reference chart titled 'Common statistical tests are linear models', tabulating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 title="Diagram of statistical model relationships: general linear models at top branch 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 title="Diagram: a large outer region labeled S (sample space) containing two small ov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 title="Equation: Pr{A} = (Area of A) divided by (Area of S); probability of event A is 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 by Marc Mangel." title="Book cover: The Theoretical Biologist's Toolbox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  <p:sp>
        <p:nvSpPr>
          <p:cNvPr id="55302" name="TextBox 55301"/>
          <p:cNvSpPr txBox="1"/>
          <p:nvPr/>
        </p:nvSpPr>
        <p:spPr>
          <a:xfrm>
            <a:off x="4953000" y="2362200"/>
            <a:ext cx="2185988" cy="565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>
                <a:latin typeface="Cambria"/>
              </a:rPr>
              <a:t>0 ≤ P(E) ≤ 1</a:t>
            </a:r>
          </a:p>
        </p:txBody>
      </p:sp>
      <p:sp>
        <p:nvSpPr>
          <p:cNvPr id="55303" name="TextBox 55302"/>
          <p:cNvSpPr txBox="1"/>
          <p:nvPr/>
        </p:nvSpPr>
        <p:spPr>
          <a:xfrm>
            <a:off x="4453759" y="4750676"/>
            <a:ext cx="2971800" cy="573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P(E') = 1 − P(E)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Photo: a red-bodied spawning Chinook salmon swimming over a gravel streambed, with other salmon behind." title="Photo: a red-bodied spawning Chinook salmon swimming over a gravel streambed, w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sample space S containing two overlapping events A and B with the overlap shaded, used to illustrate conditional probability." title="Diagram: sample space S containing two overlapping events A and B with the over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 title="Equation: Pr{A given B} = (Area common to A and B) divided by (Area of B); cond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sp>
        <p:nvSpPr>
          <p:cNvPr id="4100" name="TextBox 4099"/>
          <p:cNvSpPr txBox="1"/>
          <p:nvPr/>
        </p:nvSpPr>
        <p:spPr>
          <a:xfrm>
            <a:off x="2393950" y="4096924"/>
            <a:ext cx="6172200" cy="4984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>
                <a:latin typeface="Cambria"/>
              </a:rPr>
              <a:t>P(A) = P(A | B);        P(B) = P(B | A)</a:t>
            </a:r>
          </a:p>
        </p:txBody>
      </p:sp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sp>
        <p:nvSpPr>
          <p:cNvPr id="6150" name="TextBox 6149"/>
          <p:cNvSpPr txBox="1"/>
          <p:nvPr/>
        </p:nvSpPr>
        <p:spPr>
          <a:xfrm>
            <a:off x="2779713" y="2743995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  <p:sp>
        <p:nvSpPr>
          <p:cNvPr id="6151" name="TextBox 6150"/>
          <p:cNvSpPr txBox="1"/>
          <p:nvPr/>
        </p:nvSpPr>
        <p:spPr>
          <a:xfrm>
            <a:off x="4018756" y="4658158"/>
            <a:ext cx="4154487" cy="554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>
                <a:latin typeface="Cambria"/>
              </a:rPr>
              <a:t>P(A and B) = P(A) · P(B)</a:t>
            </a:r>
          </a:p>
        </p:txBody>
      </p:sp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sample space S with two overlapping events A and B, their overlap shaded, illustrating the joint probability of A and B." title="Diagram: sample space S with two overlapping events A and B, their overlap shade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Pr{A, B} = (Area common to A and B) / (Area of S)</a:t>
            </a:r>
          </a:p>
        </p:txBody>
      </p:sp>
      <p:sp>
        <p:nvSpPr>
          <p:cNvPr id="73735" name="TextBox 73734"/>
          <p:cNvSpPr txBox="1"/>
          <p:nvPr/>
        </p:nvSpPr>
        <p:spPr>
          <a:xfrm>
            <a:off x="3086100" y="5715000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 title="Screenshot of a presentation slide titled 'So what?' from a Bayes' Theorem lectu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and matching hierarchical Bayesian model: response y_ij depends on group intercept alpha_j, slope beta, and variance sigma-squared; alpha_j depends on hyperparameters mu_alpha and zeta-squared, with normal and inverse-gamma priors." title="Directed acyclic graph and matching hierarchical Bayesian model: response y_ij d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5784" name="TextBox 75783"/>
          <p:cNvSpPr txBox="1"/>
          <p:nvPr/>
        </p:nvSpPr>
        <p:spPr>
          <a:xfrm>
            <a:off x="3019425" y="28575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  <p:sp>
        <p:nvSpPr>
          <p:cNvPr id="75785" name="TextBox 75784"/>
          <p:cNvSpPr txBox="1"/>
          <p:nvPr/>
        </p:nvSpPr>
        <p:spPr>
          <a:xfrm>
            <a:off x="4695825" y="4551363"/>
            <a:ext cx="3235569" cy="393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P(A or B) = P(A) + P(B)</a:t>
            </a:r>
          </a:p>
        </p:txBody>
      </p: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pic>
        <p:nvPicPr>
          <p:cNvPr id="77828" name="Picture 1" descr="Diagram: sample space S with two overlapping events A and B, overlap shaded, illustrating why the overlap is subtracted in the additive (OR) rule to avoid double counting." title="Diagram: sample space S with two overlapping events A and B, overlap shaded, ill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7829" name="TextBox 77828"/>
          <p:cNvSpPr txBox="1"/>
          <p:nvPr/>
        </p:nvSpPr>
        <p:spPr>
          <a:xfrm>
            <a:off x="3324225" y="24003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sp>
        <p:nvSpPr>
          <p:cNvPr id="11267" name="TextBox 11266"/>
          <p:cNvSpPr txBox="1"/>
          <p:nvPr/>
        </p:nvSpPr>
        <p:spPr>
          <a:xfrm>
            <a:off x="1828800" y="1820863"/>
            <a:ext cx="8686800" cy="3714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P(A) : probability of event A</a:t>
            </a:r>
          </a:p>
          <a:p>
            <a:r>
              <a:rPr sz="1600">
                <a:latin typeface="Cambria"/>
              </a:rPr>
              <a:t>P(A') = 1 − P(A) : probability of the complement of the event A</a:t>
            </a:r>
          </a:p>
          <a:p>
            <a:r>
              <a:rPr sz="1600">
                <a:latin typeface="Cambria"/>
              </a:rPr>
              <a:t>P(A) = P(A and B) + P(A and B') : decomposition of the probability of event A</a:t>
            </a:r>
          </a:p>
          <a:p>
            <a:r>
              <a:rPr sz="1600">
                <a:latin typeface="Cambria"/>
              </a:rPr>
              <a:t>P(B | A) = P(A and B) / P(A) : conditional events</a:t>
            </a:r>
          </a:p>
          <a:p>
            <a:r>
              <a:rPr sz="1600">
                <a:latin typeface="Cambria"/>
              </a:rPr>
              <a:t>P(B | A) = P(B) : independent events</a:t>
            </a:r>
          </a:p>
          <a:p>
            <a:r>
              <a:rPr sz="1600">
                <a:latin typeface="Cambria"/>
              </a:rPr>
              <a:t>P(A and B) = P(B | A) · P(A) : multiplication rule</a:t>
            </a:r>
          </a:p>
          <a:p>
            <a:r>
              <a:rPr sz="1600">
                <a:latin typeface="Cambria"/>
              </a:rPr>
              <a:t>P(A and B) = P(A) · P(B) : independent events</a:t>
            </a:r>
          </a:p>
          <a:p>
            <a:r>
              <a:rPr sz="1600">
                <a:latin typeface="Cambria"/>
              </a:rPr>
              <a:t>P(A or B) = P(A) + P(B) − P(A ∩ B) : addition rule</a:t>
            </a:r>
          </a:p>
          <a:p>
            <a:r>
              <a:rPr sz="1600">
                <a:latin typeface="Cambria"/>
              </a:rPr>
              <a:t>P(A or B) = P(A) + P(B) : mutually exclusive events</a:t>
            </a:r>
          </a:p>
        </p:txBody>
      </p:sp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1676400"/>
            <a:ext cx="6991350" cy="281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| B) = ( P(B | A) ·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Photo: a salmonid fish with the row of scales along its side labeled 'lateral line'." title="Photo: a salmonid fish with the row of scales along its side labeled 'lateral l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 title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 title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  <p:sp>
        <p:nvSpPr>
          <p:cNvPr id="122888" name="TextBox 122887"/>
          <p:cNvSpPr txBox="1"/>
          <p:nvPr/>
        </p:nvSpPr>
        <p:spPr>
          <a:xfrm>
            <a:off x="9015412" y="2115006"/>
            <a:ext cx="2532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: i = 1, …, N}</a:t>
            </a:r>
          </a:p>
        </p:txBody>
      </p:sp>
      <p:sp>
        <p:nvSpPr>
          <p:cNvPr id="122889" name="TextBox 122888"/>
          <p:cNvSpPr txBox="1"/>
          <p:nvPr/>
        </p:nvSpPr>
        <p:spPr>
          <a:xfrm>
            <a:off x="3237707" y="2973387"/>
            <a:ext cx="2422525" cy="7032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0 ≤ P(x</a:t>
            </a:r>
            <a:r>
              <a:rPr sz="2600" baseline="-25000">
                <a:latin typeface="Cambria"/>
              </a:rPr>
              <a:t>i</a:t>
            </a:r>
            <a:r>
              <a:rPr sz="2600">
                <a:latin typeface="Cambria"/>
              </a:rPr>
              <a:t>) ≤ 1</a:t>
            </a:r>
          </a:p>
        </p:txBody>
      </p:sp>
      <p:sp>
        <p:nvSpPr>
          <p:cNvPr id="122890" name="TextBox 122889"/>
          <p:cNvSpPr txBox="1"/>
          <p:nvPr/>
        </p:nvSpPr>
        <p:spPr>
          <a:xfrm>
            <a:off x="4543426" y="4945064"/>
            <a:ext cx="2286000" cy="1317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 = 1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2841168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576514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29037" name="TextBox 129036"/>
          <p:cNvSpPr txBox="1"/>
          <p:nvPr/>
        </p:nvSpPr>
        <p:spPr>
          <a:xfrm>
            <a:off x="5105400" y="2971800"/>
            <a:ext cx="2362200" cy="1085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μ = Σ</a:t>
            </a:r>
            <a:r>
              <a:rPr sz="1800" baseline="-25000">
                <a:latin typeface="Cambria"/>
              </a:rPr>
              <a:t>i=1</a:t>
            </a:r>
            <a:r>
              <a:rPr sz="1800" baseline="30000">
                <a:latin typeface="Cambria"/>
              </a:rPr>
              <a:t>N</a:t>
            </a:r>
            <a:r>
              <a:rPr sz="1800">
                <a:latin typeface="Cambria"/>
              </a:rPr>
              <a:t> 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 P(x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31078" name="TextBox 131077"/>
          <p:cNvSpPr txBox="1"/>
          <p:nvPr/>
        </p:nvSpPr>
        <p:spPr>
          <a:xfrm>
            <a:off x="3802063" y="2617391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133126" name="TextBox 133125"/>
          <p:cNvSpPr txBox="1"/>
          <p:nvPr/>
        </p:nvSpPr>
        <p:spPr>
          <a:xfrm>
            <a:off x="4881076" y="2434774"/>
            <a:ext cx="2855913" cy="882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>
                <a:latin typeface="Cambria"/>
              </a:rPr>
              <a:t>σ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= Σ</a:t>
            </a:r>
            <a:r>
              <a:rPr sz="1500" baseline="-25000">
                <a:latin typeface="Cambria"/>
              </a:rPr>
              <a:t>i=1</a:t>
            </a:r>
            <a:r>
              <a:rPr sz="1500" baseline="30000">
                <a:latin typeface="Cambria"/>
              </a:rPr>
              <a:t>N</a:t>
            </a:r>
            <a:r>
              <a:rPr sz="1500">
                <a:latin typeface="Cambria"/>
              </a:rPr>
              <a:t> 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 − μ)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P(x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)</a:t>
            </a:r>
          </a:p>
        </p:txBody>
      </p:sp>
      <p:sp>
        <p:nvSpPr>
          <p:cNvPr id="133127" name="TextBox 133126"/>
          <p:cNvSpPr txBox="1"/>
          <p:nvPr/>
        </p:nvSpPr>
        <p:spPr>
          <a:xfrm>
            <a:off x="4985267" y="5561043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 title="Concept-question slide showing three pmf bar charts over x = 1 to 5: (A) uniform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 title="Example slide: table giving a pmf for X with values 1 to 5 and probabilities 1/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 title="Worked solution: mean mu = 3; a row for (X - mu)^2 is added (4,1,0,1,4); varianc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2803</Words>
  <Application>Microsoft Macintosh PowerPoint</Application>
  <PresentationFormat>Widescreen</PresentationFormat>
  <Paragraphs>395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80</cp:revision>
  <dcterms:created xsi:type="dcterms:W3CDTF">2020-12-09T20:59:16Z</dcterms:created>
  <dcterms:modified xsi:type="dcterms:W3CDTF">2025-09-19T15:43:40Z</dcterms:modified>
</cp:coreProperties>
</file>