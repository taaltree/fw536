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754"/>
  </p:normalViewPr>
  <p:slideViewPr>
    <p:cSldViewPr snapToGrid="0" snapToObjects="1">
      <p:cViewPr varScale="1">
        <p:scale>
          <a:sx n="69" d="100"/>
          <a:sy n="69" d="100"/>
        </p:scale>
        <p:origin x="224" y="1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374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858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2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3.w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6.w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7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8.w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7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em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3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4.wmf"/><Relationship Id="rId5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eg"/><Relationship Id="rId3" Type="http://schemas.openxmlformats.org/officeDocument/2006/relationships/image" Target="../media/image28.jpeg"/><Relationship Id="rId4" Type="http://schemas.openxmlformats.org/officeDocument/2006/relationships/image" Target="../media/image29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0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1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2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5.w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6.w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7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6.w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emf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Fall 2025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 title="Book cover: The Ecological Detective, Confronting Models with Data, by Ray Hilb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 title="Book cover: Ecological Models and Data in R by Benjamin M. Bolker, showing a f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 title="Book cover: The Theoretical Biologist's Toolbox, Quantitative Methods for Ecolo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 title="Book cover: Applied Hierarchical Modeling in Ecology, Volume 1, by Marc Kery a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 title="Book cover: Applied Hierarchical Modeling in Ecology, Volume 2, by Marc Kery and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 title="Book cover: Bayesian Models, A Statistical Primer for Ecologists, by N. Thomps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 title="Book cover: The French Chef Cookbook by Julia Child; used as a joke about learn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 title="Reference chart titled 'Common statistical tests are linear models', tabulating 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 title="Diagram of statistical model relationships: general linear models at top branch 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 title="Diagram: a large outer region labeled S (sample space) containing two small over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 descr="Equation: Pr{A} = (Area of A) divided by (Area of S); probability of event A is its area relative to the whole sample space S." title="Equation: Pr{A} = (Area of A) divided by (Area of S); probability of event A is 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 by Marc Mangel." title="Book cover: The Theoretical Biologist's Toolbox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  <a:p>
            <a:pPr marL="609600" indent="-609600">
              <a:defRPr/>
            </a:pPr>
            <a:r>
              <a:rPr lang="en-US" altLang="en-US" sz="2400" dirty="0"/>
              <a:t>Solution:</a:t>
            </a:r>
          </a:p>
          <a:p>
            <a:pPr marL="990600" lvl="1" indent="-533400">
              <a:defRPr/>
            </a:pPr>
            <a:r>
              <a:rPr lang="en-US" altLang="en-US" sz="2000" dirty="0"/>
              <a:t>We can assume that the population is “large” (not 100!)</a:t>
            </a:r>
          </a:p>
          <a:p>
            <a:pPr marL="990600" lvl="1" indent="-533400">
              <a:defRPr/>
            </a:pPr>
            <a:r>
              <a:rPr lang="en-US" altLang="en-US" sz="2000" dirty="0"/>
              <a:t>P(male) * P(male) = 0.55*0.55</a:t>
            </a:r>
          </a:p>
          <a:p>
            <a:pPr marL="990600" lvl="1" indent="-533400">
              <a:defRPr/>
            </a:pPr>
            <a:r>
              <a:rPr lang="en-US" altLang="en-US" sz="2000" dirty="0"/>
              <a:t>P(at least one male) = 1-P(both female) = 1 - 0.45*0.45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Photo: a red-bodied spawning Chinook salmon swimming over a gravel streambed, with other salmon behind." title="Photo: a red-bodied spawning Chinook salmon swimming over a gravel streambed, wi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445377" y="305308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Probability-III</a:t>
            </a:r>
          </a:p>
        </p:txBody>
      </p:sp>
      <p:graphicFrame>
        <p:nvGraphicFramePr>
          <p:cNvPr id="449539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91224413"/>
              </p:ext>
            </p:extLst>
          </p:nvPr>
        </p:nvGraphicFramePr>
        <p:xfrm>
          <a:off x="3200400" y="1915034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5" name="Text Box 36"/>
          <p:cNvSpPr txBox="1">
            <a:spLocks noChangeArrowheads="1"/>
          </p:cNvSpPr>
          <p:nvPr/>
        </p:nvSpPr>
        <p:spPr bwMode="auto">
          <a:xfrm>
            <a:off x="1684339" y="4777296"/>
            <a:ext cx="83454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This question says nothing about the other factor (gene) </a:t>
            </a:r>
          </a:p>
          <a:p>
            <a:pPr lvl="1" eaLnBrk="1" hangingPunct="1">
              <a:defRPr/>
            </a:pPr>
            <a:r>
              <a:rPr lang="en-US" altLang="en-US" sz="2000" dirty="0"/>
              <a:t>  so we look at the last column (total); =52/102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769216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Probability-IV</a:t>
            </a:r>
          </a:p>
        </p:txBody>
      </p:sp>
      <p:graphicFrame>
        <p:nvGraphicFramePr>
          <p:cNvPr id="450563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986685233"/>
              </p:ext>
            </p:extLst>
          </p:nvPr>
        </p:nvGraphicFramePr>
        <p:xfrm>
          <a:off x="3205472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59" name="Text Box 36"/>
          <p:cNvSpPr txBox="1">
            <a:spLocks noChangeArrowheads="1"/>
          </p:cNvSpPr>
          <p:nvPr/>
        </p:nvSpPr>
        <p:spPr bwMode="auto">
          <a:xfrm>
            <a:off x="1498522" y="4728118"/>
            <a:ext cx="103344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What is the probability of being a spring run fish if you have the gene?</a:t>
            </a:r>
          </a:p>
          <a:p>
            <a:pPr eaLnBrk="1" hangingPunct="1">
              <a:buFontTx/>
              <a:buChar char="•"/>
              <a:defRPr/>
            </a:pPr>
            <a:endParaRPr lang="en-US" altLang="en-US" sz="2000" dirty="0"/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The question relates only to having the gene so we are dealing with a </a:t>
            </a:r>
            <a:r>
              <a:rPr lang="en-US" altLang="en-US" sz="2000" b="1" dirty="0"/>
              <a:t>conditional probability</a:t>
            </a:r>
            <a:r>
              <a:rPr lang="en-US" altLang="en-US" sz="2000" dirty="0"/>
              <a:t>. We focus on the “Gene present” column and find the probability of being a spring run fish GIVEN having the gene = 33/72.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862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sample space S containing two overlapping events A and B with the overlap shaded, used to illustrate conditional probability." title="Diagram: sample space S containing two overlapping events A and B with the overl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 descr="Equation: Pr{A given B} = (Area common to A and B) divided by (Area of B); conditioning on B restricts the sample space to B." title="Equation: Pr{A given B} = (Area common to A and B) divided by (Area of B); cond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1" name="Picture 5" descr="Diagram: sample space S with two overlapping events A and B, their overlap shaded, illustrating the joint probability of A and B." title="Diagram: sample space S with two overlapping events A and B, their overlap shade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  <p:sp>
        <p:nvSpPr>
          <p:cNvPr id="73734" name="TextBox 73733"/>
          <p:cNvSpPr txBox="1"/>
          <p:nvPr/>
        </p:nvSpPr>
        <p:spPr>
          <a:xfrm>
            <a:off x="2309813" y="1258888"/>
            <a:ext cx="78232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Pr{A, B} = (Area common to A and B) / (Area of S)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 title="Screenshot of a presentation slide titled 'So what?' from a Bayes' Theorem lectu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and matching hierarchical Bayesian model: response y_ij depends on group intercept alpha_j, slope beta, and variance sigma-squared; alpha_j depends on hyperparameters mu_alpha and zeta-squared, with normal and inverse-gamma priors." title="Directed acyclic graph and matching hierarchical Bayesian model: response y_ij d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 descr="Diagram: sample space S with two overlapping events A and B, overlap shaded, illustrating why the overlap is subtracted in the additive (OR) rule to avoid double counting." title="Diagram: sample space S with two overlapping events A and B, overlap shaded, ill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The word 'complement' rendered as an image, labeling the complement rule in the review of probability concepts." title="The word 'complement' rendered as an image, labeling the complement rule in the 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sp>
        <p:nvSpPr>
          <p:cNvPr id="3075" name="TextBox 3074"/>
          <p:cNvSpPr txBox="1"/>
          <p:nvPr/>
        </p:nvSpPr>
        <p:spPr>
          <a:xfrm>
            <a:off x="2514600" y="1676400"/>
            <a:ext cx="6991350" cy="281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 | B) = ( P(B | A) · P(A) ) / P(B)</a:t>
            </a:r>
          </a:p>
        </p:txBody>
      </p:sp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r>
              <a:rPr lang="en-US" i="1" dirty="0"/>
              <a:t>Continuous random variable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</p:txBody>
      </p:sp>
      <p:pic>
        <p:nvPicPr>
          <p:cNvPr id="119810" name="Picture 2" descr="Photo: a salmonid fish with the row of scales along its side labeled 'lateral line'." title="Photo: a salmonid fish with the row of scales along its side labeled 'lateral l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 title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 title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sp>
        <p:nvSpPr>
          <p:cNvPr id="9219" name="TextBox 9218"/>
          <p:cNvSpPr txBox="1"/>
          <p:nvPr/>
        </p:nvSpPr>
        <p:spPr>
          <a:xfrm>
            <a:off x="2293257" y="2841168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sp>
        <p:nvSpPr>
          <p:cNvPr id="126981" name="TextBox 126980"/>
          <p:cNvSpPr txBox="1"/>
          <p:nvPr/>
        </p:nvSpPr>
        <p:spPr>
          <a:xfrm>
            <a:off x="2235200" y="2576514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∑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  <p:sp>
        <p:nvSpPr>
          <p:cNvPr id="126982" name="TextBox 126981"/>
          <p:cNvSpPr txBox="1"/>
          <p:nvPr/>
        </p:nvSpPr>
        <p:spPr>
          <a:xfrm>
            <a:off x="3080656" y="4394200"/>
            <a:ext cx="54483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 &lt; X ≤ b) =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(b) −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 title="Concept-question slide showing three pmf bar charts over x = 1 to 5: (A) uniform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ample slide: table giving a pmf for X with values 1 to 5 and probabilities 1/10, 2/10, 4/10, 2/10, 1/10. Asks to compute the variance and standard deviation." title="Example slide: table giving a pmf for X with values 1 to 5 and probabilities 1/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: mean mu = 3; a row for (X - mu)^2 is added (4,1,0,1,4); variance E[(X-mu)^2] = 1.2 and standard deviation = square root of 1.2." title="Worked solution: mean mu = 3; a row for (X - mu)^2 is added (4,1,0,1,4); varianc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175" y="412264"/>
            <a:ext cx="11925301" cy="1143000"/>
          </a:xfrm>
        </p:spPr>
        <p:txBody>
          <a:bodyPr>
            <a:normAutofit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10179655" cy="4114800"/>
          </a:xfrm>
        </p:spPr>
        <p:txBody>
          <a:bodyPr/>
          <a:lstStyle/>
          <a:p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E{a} +b*E{X} = a + b*E{X}</a:t>
            </a:r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</a:t>
            </a:r>
            <a:r>
              <a:rPr lang="en-US" i="1" dirty="0"/>
              <a:t>E</a:t>
            </a:r>
            <a:r>
              <a:rPr lang="en-US" dirty="0"/>
              <a:t>{(a + </a:t>
            </a:r>
            <a:r>
              <a:rPr lang="en-US" dirty="0" err="1"/>
              <a:t>bX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en-US" altLang="en-US" dirty="0"/>
              <a:t>- (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})</a:t>
            </a:r>
            <a:r>
              <a:rPr lang="en-US" baseline="30000" dirty="0"/>
              <a:t>2</a:t>
            </a:r>
            <a:r>
              <a:rPr lang="en-US" dirty="0"/>
              <a:t> = E{a</a:t>
            </a:r>
            <a:r>
              <a:rPr lang="en-US" baseline="30000" dirty="0"/>
              <a:t>2 </a:t>
            </a:r>
            <a:r>
              <a:rPr lang="en-US" dirty="0"/>
              <a:t>+ 2abX + b</a:t>
            </a:r>
            <a:r>
              <a:rPr lang="en-US" baseline="30000" dirty="0"/>
              <a:t>2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 + b*E{X})</a:t>
            </a:r>
            <a:r>
              <a:rPr lang="en-US" baseline="30000" dirty="0"/>
              <a:t>2</a:t>
            </a:r>
          </a:p>
          <a:p>
            <a:r>
              <a:rPr lang="en-US" dirty="0"/>
              <a:t>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(E{X</a:t>
            </a:r>
            <a:r>
              <a:rPr lang="en-US" baseline="30000" dirty="0"/>
              <a:t>2</a:t>
            </a:r>
            <a:r>
              <a:rPr lang="en-US" dirty="0"/>
              <a:t>} - 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Var{X}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7337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0304" y="294786"/>
            <a:ext cx="10390716" cy="1143000"/>
          </a:xfrm>
        </p:spPr>
        <p:txBody>
          <a:bodyPr>
            <a:normAutofit fontScale="90000"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1681815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{X +Y} = E{X</a:t>
            </a:r>
            <a:r>
              <a:rPr lang="en-US" baseline="30000" dirty="0"/>
              <a:t>2 </a:t>
            </a:r>
            <a:r>
              <a:rPr lang="en-US" dirty="0"/>
              <a:t>+ 2XY + 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 + E{Y})</a:t>
            </a:r>
            <a:r>
              <a:rPr lang="en-US" baseline="30000" dirty="0"/>
              <a:t>2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en-US" baseline="30000" dirty="0"/>
              <a:t> </a:t>
            </a:r>
            <a:r>
              <a:rPr lang="en-US" dirty="0"/>
              <a:t>+ 2E{XY} + E{Y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</a:t>
            </a:r>
            <a:r>
              <a:rPr lang="en-US" baseline="30000" dirty="0"/>
              <a:t>2</a:t>
            </a:r>
            <a:r>
              <a:rPr lang="en-US" dirty="0"/>
              <a:t> + 2E{X}E{Y} + E{Y}</a:t>
            </a:r>
            <a:r>
              <a:rPr lang="en-US" baseline="30000" dirty="0"/>
              <a:t> 2</a:t>
            </a:r>
            <a:r>
              <a:rPr lang="en-US" dirty="0"/>
              <a:t>)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E{X}</a:t>
            </a:r>
            <a:r>
              <a:rPr lang="en-US" baseline="30000" dirty="0"/>
              <a:t>2</a:t>
            </a:r>
            <a:r>
              <a:rPr lang="en-US" dirty="0"/>
              <a:t> + E{Y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E{Y}</a:t>
            </a:r>
            <a:r>
              <a:rPr lang="en-US" baseline="30000" dirty="0"/>
              <a:t>2</a:t>
            </a:r>
          </a:p>
          <a:p>
            <a:r>
              <a:rPr lang="en-US" dirty="0"/>
              <a:t> </a:t>
            </a:r>
            <a:r>
              <a:rPr lang="en-US" i="1" dirty="0" err="1"/>
              <a:t>Var</a:t>
            </a:r>
            <a:r>
              <a:rPr lang="en-US" dirty="0"/>
              <a:t>{X +Y} = </a:t>
            </a:r>
            <a:r>
              <a:rPr lang="en-US" altLang="en-US" i="1" dirty="0" err="1"/>
              <a:t>Var</a:t>
            </a:r>
            <a:r>
              <a:rPr lang="en-US" altLang="en-US" dirty="0"/>
              <a:t>{X} +</a:t>
            </a:r>
            <a:r>
              <a:rPr lang="en-US" altLang="en-US" i="1" dirty="0"/>
              <a:t> </a:t>
            </a:r>
            <a:r>
              <a:rPr lang="en-US" altLang="en-US" i="1" dirty="0" err="1"/>
              <a:t>Var</a:t>
            </a:r>
            <a:r>
              <a:rPr lang="en-US" altLang="en-US" dirty="0"/>
              <a:t>{Y}</a:t>
            </a:r>
            <a:endParaRPr lang="en-US" dirty="0"/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449786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2073433" y="5979811"/>
            <a:ext cx="902445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So, variances of independent random variables add!</a:t>
            </a:r>
          </a:p>
        </p:txBody>
      </p:sp>
    </p:spTree>
    <p:extLst>
      <p:ext uri="{BB962C8B-B14F-4D97-AF65-F5344CB8AC3E}">
        <p14:creationId xmlns:p14="http://schemas.microsoft.com/office/powerpoint/2010/main" val="1667776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6300</TotalTime>
  <Words>2803</Words>
  <Application>Microsoft Macintosh PowerPoint</Application>
  <PresentationFormat>Widescreen</PresentationFormat>
  <Paragraphs>395</Paragraphs>
  <Slides>56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2025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Answer: 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80</cp:revision>
  <dcterms:created xsi:type="dcterms:W3CDTF">2020-12-09T20:59:16Z</dcterms:created>
  <dcterms:modified xsi:type="dcterms:W3CDTF">2025-09-19T15:43:40Z</dcterms:modified>
</cp:coreProperties>
</file>