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7" r:id="rId2"/>
    <p:sldId id="336" r:id="rId3"/>
    <p:sldId id="259" r:id="rId4"/>
    <p:sldId id="341" r:id="rId5"/>
    <p:sldId id="307" r:id="rId6"/>
    <p:sldId id="262" r:id="rId7"/>
    <p:sldId id="263" r:id="rId8"/>
    <p:sldId id="265" r:id="rId9"/>
    <p:sldId id="264" r:id="rId10"/>
    <p:sldId id="266" r:id="rId11"/>
    <p:sldId id="338" r:id="rId12"/>
    <p:sldId id="267" r:id="rId13"/>
    <p:sldId id="268" r:id="rId14"/>
    <p:sldId id="269" r:id="rId15"/>
    <p:sldId id="271" r:id="rId16"/>
    <p:sldId id="272" r:id="rId17"/>
    <p:sldId id="315" r:id="rId18"/>
    <p:sldId id="316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313" r:id="rId30"/>
    <p:sldId id="314" r:id="rId31"/>
    <p:sldId id="317" r:id="rId32"/>
    <p:sldId id="283" r:id="rId33"/>
    <p:sldId id="284" r:id="rId34"/>
    <p:sldId id="285" r:id="rId35"/>
    <p:sldId id="286" r:id="rId36"/>
    <p:sldId id="287" r:id="rId37"/>
    <p:sldId id="318" r:id="rId38"/>
    <p:sldId id="258" r:id="rId39"/>
    <p:sldId id="340" r:id="rId40"/>
    <p:sldId id="339" r:id="rId41"/>
    <p:sldId id="321" r:id="rId42"/>
    <p:sldId id="322" r:id="rId43"/>
    <p:sldId id="323" r:id="rId44"/>
    <p:sldId id="324" r:id="rId45"/>
    <p:sldId id="325" r:id="rId46"/>
    <p:sldId id="326" r:id="rId47"/>
    <p:sldId id="327" r:id="rId48"/>
    <p:sldId id="328" r:id="rId49"/>
    <p:sldId id="329" r:id="rId50"/>
    <p:sldId id="312" r:id="rId51"/>
    <p:sldId id="330" r:id="rId52"/>
    <p:sldId id="331" r:id="rId53"/>
    <p:sldId id="332" r:id="rId54"/>
    <p:sldId id="333" r:id="rId55"/>
    <p:sldId id="334" r:id="rId56"/>
    <p:sldId id="33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44"/>
    <p:restoredTop sz="94754"/>
  </p:normalViewPr>
  <p:slideViewPr>
    <p:cSldViewPr snapToGrid="0" snapToObjects="1">
      <p:cViewPr varScale="1">
        <p:scale>
          <a:sx n="69" d="100"/>
          <a:sy n="69" d="100"/>
        </p:scale>
        <p:origin x="224" y="1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FFA9F-E4FE-2949-B991-E9E1D16A3A2F}" type="datetimeFigureOut">
              <a:rPr lang="en-US" smtClean="0"/>
              <a:t>9/19/25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0412F-5F96-B744-9A4D-B829948529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024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7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820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180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901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Paired - Count macroinvertebrates in a stream before and after a restoration intervention.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751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72244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46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506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957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8789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8982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27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61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964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4374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88582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17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6036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603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8254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3736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012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0956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1344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22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8750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46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0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67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5845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87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3097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5598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739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093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765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18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118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5846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228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12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0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6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39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0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1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8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9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3441E6-8D1F-A143-9351-CE1EA8F40A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056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1093E5-1CB7-9246-9732-7969A55B11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546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74496D-90B9-BC44-898C-3D243456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4737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959C97-01B5-694B-9820-37B576367CF4}" type="datetimeFigureOut">
              <a:rPr lang="en-US" smtClean="0"/>
              <a:t>9/19/25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2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13.wmf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6.wm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7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8.w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Relationship Id="rId4" Type="http://schemas.openxmlformats.org/officeDocument/2006/relationships/image" Target="../media/image10.png"/><Relationship Id="rId5" Type="http://schemas.openxmlformats.org/officeDocument/2006/relationships/oleObject" Target="../embeddings/oleObject4.bin"/><Relationship Id="rId6" Type="http://schemas.openxmlformats.org/officeDocument/2006/relationships/image" Target="../media/image17.w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em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2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3.wm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2.wmf"/><Relationship Id="rId5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24.wmf"/><Relationship Id="rId5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eg"/><Relationship Id="rId3" Type="http://schemas.openxmlformats.org/officeDocument/2006/relationships/image" Target="../media/image28.jpeg"/><Relationship Id="rId4" Type="http://schemas.openxmlformats.org/officeDocument/2006/relationships/image" Target="../media/image29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30.wmf"/><Relationship Id="rId5" Type="http://schemas.openxmlformats.org/officeDocument/2006/relationships/oleObject" Target="../embeddings/oleObject10.bin"/><Relationship Id="rId6" Type="http://schemas.openxmlformats.org/officeDocument/2006/relationships/image" Target="../media/image31.wmf"/><Relationship Id="rId7" Type="http://schemas.openxmlformats.org/officeDocument/2006/relationships/oleObject" Target="../embeddings/oleObject11.bin"/><Relationship Id="rId8" Type="http://schemas.openxmlformats.org/officeDocument/2006/relationships/image" Target="../media/image32.wmf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35.wmf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36.wmf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37.wmf"/><Relationship Id="rId5" Type="http://schemas.openxmlformats.org/officeDocument/2006/relationships/oleObject" Target="../embeddings/oleObject13.bin"/><Relationship Id="rId6" Type="http://schemas.openxmlformats.org/officeDocument/2006/relationships/image" Target="../media/image36.wmf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emf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emf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emf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FW599 - Fall 2025</a:t>
            </a: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Get your data on!</a:t>
            </a:r>
            <a:endParaRPr lang="en-AU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26511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What is this course?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524000" y="1905001"/>
            <a:ext cx="9086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b="1" dirty="0">
                <a:solidFill>
                  <a:srgbClr val="000000"/>
                </a:solidFill>
              </a:rPr>
              <a:t>Goal</a:t>
            </a:r>
            <a:r>
              <a:rPr lang="en-US" altLang="en-US" sz="2400" dirty="0">
                <a:solidFill>
                  <a:srgbClr val="000000"/>
                </a:solidFill>
              </a:rPr>
              <a:t>: Provide a strong statistical foundation and transferable skills to help you (1) understand and analyze data, and (2) conduct more complex statistical modeling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37226-3991-D4C1-4468-D3805F3F66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54" y="4511687"/>
            <a:ext cx="978029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We are going for </a:t>
            </a:r>
            <a:r>
              <a:rPr lang="en-US" altLang="en-US" sz="2400" b="1" dirty="0">
                <a:solidFill>
                  <a:srgbClr val="000000"/>
                </a:solidFill>
              </a:rPr>
              <a:t>deep understanding </a:t>
            </a:r>
            <a:r>
              <a:rPr lang="en-US" altLang="en-US" sz="2400" dirty="0">
                <a:solidFill>
                  <a:srgbClr val="000000"/>
                </a:solidFill>
              </a:rPr>
              <a:t>not just implementing R code.</a:t>
            </a:r>
          </a:p>
        </p:txBody>
      </p:sp>
    </p:spTree>
    <p:extLst>
      <p:ext uri="{BB962C8B-B14F-4D97-AF65-F5344CB8AC3E}">
        <p14:creationId xmlns:p14="http://schemas.microsoft.com/office/powerpoint/2010/main" val="121291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Course oath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133803" y="2115208"/>
            <a:ext cx="1015299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“I agree to ask questions when something is not clear or I am confused.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 dirty="0">
              <a:solidFill>
                <a:srgbClr val="000000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strive to work together to help one another.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not be afraid to look stupid because we’re all just apes in a room”</a:t>
            </a:r>
          </a:p>
        </p:txBody>
      </p:sp>
    </p:spTree>
    <p:extLst>
      <p:ext uri="{BB962C8B-B14F-4D97-AF65-F5344CB8AC3E}">
        <p14:creationId xmlns:p14="http://schemas.microsoft.com/office/powerpoint/2010/main" val="179736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80297" y="-11049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Grading</a:t>
            </a:r>
            <a:endParaRPr lang="en-AU" altLang="en-US" sz="3200" b="1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514035" y="1822409"/>
            <a:ext cx="10895525" cy="1606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Participation and group work (100 points)</a:t>
            </a:r>
          </a:p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cs typeface="Arial" charset="0"/>
              </a:rPr>
              <a:t>Labs (200 points)</a:t>
            </a:r>
            <a:endParaRPr lang="en-AU" altLang="en-US" sz="3200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14" y="0"/>
            <a:ext cx="10515600" cy="1325563"/>
          </a:xfrm>
        </p:spPr>
        <p:txBody>
          <a:bodyPr/>
          <a:lstStyle/>
          <a:p>
            <a:r>
              <a:rPr lang="en-US"/>
              <a:t>This course is just a </a:t>
            </a:r>
            <a:r>
              <a:rPr lang="en-US" dirty="0"/>
              <a:t>jumping off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4" y="1453184"/>
            <a:ext cx="10515600" cy="4351338"/>
          </a:xfrm>
        </p:spPr>
        <p:txBody>
          <a:bodyPr/>
          <a:lstStyle/>
          <a:p>
            <a:r>
              <a:rPr lang="en-US" dirty="0"/>
              <a:t>Train yourself by reading books.</a:t>
            </a:r>
          </a:p>
          <a:p>
            <a:r>
              <a:rPr lang="en-US" dirty="0"/>
              <a:t>Consider pursuing side project using methods you want to learn</a:t>
            </a:r>
          </a:p>
          <a:p>
            <a:r>
              <a:rPr lang="en-US" dirty="0"/>
              <a:t>Consider attending weekly math/stats seminars</a:t>
            </a:r>
          </a:p>
        </p:txBody>
      </p:sp>
      <p:pic>
        <p:nvPicPr>
          <p:cNvPr id="1026" name="Picture 2" descr="Book cover: The Ecological Detective, Confronting Models with Data, by Ray Hilborn and Marc Mangel." title="Book cover: The Ecological Detective, Confronting Models with Data, by Ray Hilb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60" y="3228073"/>
            <a:ext cx="2137647" cy="329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ook cover: Ecological Models and Data in R by Benjamin M. Bolker, showing a fish over coral." title="Book cover: Ecological Models and Data in R by Benjamin M. Bolker, showing a f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164" y="3309711"/>
            <a:ext cx="2219745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ook cover: The Theoretical Biologist's Toolbox, Quantitative Methods for Ecology and Evolutionary Biology, by Marc Mangel." title="Book cover: The Theoretical Biologist's Toolbox, Quantitative Methods for Ecolo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497" y="3309711"/>
            <a:ext cx="2305910" cy="32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Book cover: Applied Hierarchical Modeling in Ecology, Volume 1, by Marc Kery and J. Andrew Royle, with a green dragonfly." title="Book cover: Applied Hierarchical Modeling in Ecology, Volume 1, by Marc Kery and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7280" y="168436"/>
            <a:ext cx="2284385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Book cover: Applied Hierarchical Modeling in Ecology, Volume 2, by Marc Kery and J. Andrew Royle, with a red dragonfly." title="Book cover: Applied Hierarchical Modeling in Ecology, Volume 2, by Marc Kery and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653" y="3479908"/>
            <a:ext cx="2290012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Book cover: Bayesian Models, A Statistical Primer for Ecologists, by N. Thompson Hobbs and Mevin B. Hooten." title="Book cover: Bayesian Models, A Statistical Primer for Ecologists, by N. Thompson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403" y="3326099"/>
            <a:ext cx="2036350" cy="323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06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4953001" y="985839"/>
            <a:ext cx="5573713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 err="1">
                <a:solidFill>
                  <a:srgbClr val="000000"/>
                </a:solidFill>
              </a:rPr>
              <a:t>Chi.sq</a:t>
            </a:r>
            <a:r>
              <a:rPr lang="en-US" altLang="en-US" sz="2133" dirty="0">
                <a:solidFill>
                  <a:srgbClr val="000000"/>
                </a:solidFill>
              </a:rPr>
              <a:t> 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all stuff you learned</a:t>
            </a:r>
          </a:p>
        </p:txBody>
      </p:sp>
      <p:pic>
        <p:nvPicPr>
          <p:cNvPr id="129026" name="Picture 2" descr="Book cover: The French Chef Cookbook by Julia Child; used as a joke about learning recipes versus understanding." title="Book cover: The French Chef Cookbook by Julia Child; used as a joke about learni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9075" y="2365376"/>
            <a:ext cx="299085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2895600" y="5553075"/>
            <a:ext cx="8796338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Useful to get started. </a:t>
            </a:r>
          </a:p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But a </a:t>
            </a:r>
            <a:r>
              <a:rPr lang="en-US" altLang="en-US" sz="2844" b="0" i="1" dirty="0">
                <a:solidFill>
                  <a:srgbClr val="000000"/>
                </a:solidFill>
              </a:rPr>
              <a:t>really </a:t>
            </a:r>
            <a:r>
              <a:rPr lang="en-US" altLang="en-US" sz="2844" b="0" dirty="0">
                <a:solidFill>
                  <a:srgbClr val="000000"/>
                </a:solidFill>
              </a:rPr>
              <a:t>stupid way to </a:t>
            </a:r>
            <a:r>
              <a:rPr lang="en-US" altLang="en-US" sz="2844" u="sng" dirty="0">
                <a:solidFill>
                  <a:srgbClr val="000000"/>
                </a:solidFill>
              </a:rPr>
              <a:t>learn</a:t>
            </a:r>
            <a:r>
              <a:rPr lang="en-US" altLang="en-US" sz="2844" b="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41989" name="TextBox 1"/>
          <p:cNvSpPr txBox="1">
            <a:spLocks noChangeArrowheads="1"/>
          </p:cNvSpPr>
          <p:nvPr/>
        </p:nvSpPr>
        <p:spPr bwMode="auto">
          <a:xfrm>
            <a:off x="1676401" y="942976"/>
            <a:ext cx="36734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dirty="0"/>
              <a:t>General linear model vs.</a:t>
            </a:r>
          </a:p>
          <a:p>
            <a:r>
              <a:rPr lang="en-US" altLang="en-US" dirty="0"/>
              <a:t>Generalized linear model?</a:t>
            </a:r>
          </a:p>
        </p:txBody>
      </p:sp>
    </p:spTree>
    <p:extLst>
      <p:ext uri="{BB962C8B-B14F-4D97-AF65-F5344CB8AC3E}">
        <p14:creationId xmlns:p14="http://schemas.microsoft.com/office/powerpoint/2010/main" val="15883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682625" y="1219200"/>
            <a:ext cx="5575300" cy="455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almost all stuff you learned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5094287" y="1176576"/>
            <a:ext cx="6451949" cy="4783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Is mean of one measured continuous thing different from what you expect?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different from each other?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collected in a paired treatment (e.g. same subject at two times) different?</a:t>
            </a:r>
            <a:endParaRPr lang="en-US" altLang="en-US" u="sng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X=factor,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X=both factor and 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X1, X2</a:t>
            </a:r>
            <a:r>
              <a:rPr lang="mr-IN" altLang="en-US" dirty="0">
                <a:solidFill>
                  <a:srgbClr val="000000"/>
                </a:solidFill>
              </a:rPr>
              <a:t>…</a:t>
            </a:r>
            <a:r>
              <a:rPr lang="en-US" altLang="en-US" dirty="0">
                <a:solidFill>
                  <a:srgbClr val="000000"/>
                </a:solidFill>
              </a:rPr>
              <a:t>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Y=binary  (mostly taught this way) </a:t>
            </a:r>
            <a:r>
              <a:rPr lang="mr-IN" altLang="en-US" dirty="0">
                <a:solidFill>
                  <a:srgbClr val="000000"/>
                </a:solidFill>
              </a:rPr>
              <a:t>–</a:t>
            </a:r>
            <a:r>
              <a:rPr lang="en-US" altLang="en-US" dirty="0">
                <a:solidFill>
                  <a:srgbClr val="000000"/>
                </a:solidFill>
              </a:rPr>
              <a:t> Note that is a “generalized” linear model because the errors are not Normal</a:t>
            </a:r>
          </a:p>
        </p:txBody>
      </p:sp>
    </p:spTree>
    <p:extLst>
      <p:ext uri="{BB962C8B-B14F-4D97-AF65-F5344CB8AC3E}">
        <p14:creationId xmlns:p14="http://schemas.microsoft.com/office/powerpoint/2010/main" val="115244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 descr="Reference chart titled 'Common statistical tests are linear models', tabulating each test (t-tests, ANOVA, ANCOVA, correlation, chi-square) with its R function and equivalent lm() linear-model formula. Takeaway: familiar tests are special cases of linear models." title="Reference chart titled 'Common statistical tests are linear models', tabulating 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78" y="-151284"/>
            <a:ext cx="10415382" cy="7359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4345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extBox 1"/>
          <p:cNvSpPr txBox="1">
            <a:spLocks noChangeArrowheads="1"/>
          </p:cNvSpPr>
          <p:nvPr/>
        </p:nvSpPr>
        <p:spPr bwMode="auto">
          <a:xfrm>
            <a:off x="3657600" y="1"/>
            <a:ext cx="44005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/>
              <a:t>This can be generalized further</a:t>
            </a:r>
          </a:p>
        </p:txBody>
      </p:sp>
      <p:pic>
        <p:nvPicPr>
          <p:cNvPr id="44034" name="Picture 2" descr="Diagram of statistical model relationships: general linear models at top branch via nonlinearity, random effects, and non-normal errors into mixed models, GLMs, GLMMs, GAMs, and nonlinear time series. Shows how model families connect." title="Diagram of statistical model relationships: general linear models at top branch 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609600"/>
            <a:ext cx="9144000" cy="616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1793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851" y="457200"/>
            <a:ext cx="1126901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rgbClr val="3333B2"/>
                </a:solidFill>
                <a:latin typeface="CMSS12" charset="0"/>
              </a:rPr>
              <a:t>Probability vs. Statistics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dirty="0">
                <a:latin typeface="CMSS12" charset="0"/>
              </a:rPr>
              <a:t>Different subjects: both about random processes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Probability</a:t>
            </a:r>
            <a:endParaRPr lang="en-US" sz="2400" dirty="0">
              <a:latin typeface="CMSS12" charset="0"/>
            </a:endParaRP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Logically self-contained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A few rules for computing probabilities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One correct answer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Statistics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Messier and more of an art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Get experimental data and try to draw probabilistic conclusions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No single correct answer 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But built on probability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2188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22FD44-86CB-3B24-E40B-926ADA96ECE2}"/>
              </a:ext>
            </a:extLst>
          </p:cNvPr>
          <p:cNvSpPr txBox="1"/>
          <p:nvPr/>
        </p:nvSpPr>
        <p:spPr>
          <a:xfrm>
            <a:off x="1225826" y="1656523"/>
            <a:ext cx="97403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probability experiment</a:t>
            </a:r>
            <a:r>
              <a:rPr lang="en-US" sz="2800" dirty="0"/>
              <a:t> is a process or action that can be repeated under the same conditions and results in well-defined outcomes, but the outcome is uncertain or random. Each possible outcome of the experiment has an associated probability, which is a measure of how likely that outcome is to occur.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7155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3979" name="Group 43"/>
          <p:cNvGraphicFramePr>
            <a:graphicFrameLocks noGrp="1"/>
          </p:cNvGraphicFramePr>
          <p:nvPr>
            <p:ph type="tbl" idx="1"/>
          </p:nvPr>
        </p:nvGraphicFramePr>
        <p:xfrm>
          <a:off x="2286000" y="1400175"/>
          <a:ext cx="7772400" cy="4972139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17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Count of the number of trees in a stand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15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(all possible outcomes)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{0, 1, 2, ….}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(subset of interest from sample space)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&gt;10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(the actual result in the probability experiment)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831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7011" name="Group 3"/>
          <p:cNvGraphicFramePr>
            <a:graphicFrameLocks noGrp="1"/>
          </p:cNvGraphicFramePr>
          <p:nvPr>
            <p:ph type="tbl" idx="1"/>
          </p:nvPr>
        </p:nvGraphicFramePr>
        <p:xfrm>
          <a:off x="2317750" y="1476375"/>
          <a:ext cx="7772400" cy="41148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Determine the maturity state of a baleen whale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Mature, Calf, Juvenile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Immature = {Juvenile OR Calf}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Calf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1372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-31660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Classical Probability</a:t>
            </a:r>
          </a:p>
        </p:txBody>
      </p:sp>
      <p:pic>
        <p:nvPicPr>
          <p:cNvPr id="50178" name="Picture 7" descr="Diagram: a large outer region labeled S (sample space) containing two small overlapping regions A and B, with their overlap shaded. Illustrates events as subsets of the sample space." title="Diagram: a large outer region labeled S (sample space) containing two small over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1" y="3695008"/>
            <a:ext cx="2163763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79" name="Picture 3" descr="Equation: Pr{A} = (Area of A) divided by (Area of S); probability of event A is its area relative to the whole sample space S." title="Equation: Pr{A} = (Area of A) divided by (Area of S); probability of event A is 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02596"/>
            <a:ext cx="91440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0" descr="Book cover: The Theoretical Biologist's Toolbox by Marc Mangel." title="Book cover: The Theoretical Biologist's Toolbox by Marc Mangel.">
            <a:extLst>
              <a:ext uri="{FF2B5EF4-FFF2-40B4-BE49-F238E27FC236}">
                <a16:creationId xmlns:a16="http://schemas.microsoft.com/office/drawing/2014/main" id="{6672C688-9D98-AEBE-FC9C-A03409D04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9418" y="4146698"/>
            <a:ext cx="1912582" cy="271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2951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617538"/>
            <a:ext cx="863917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Classical Probability-II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9258" y="2028223"/>
            <a:ext cx="963826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What is the (classical) probability of selecting the King of Clubs from a pack of 52 cards?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you drew a card from a pack and it was the King of Clubs, what is the probability of then randomly drawing another club?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2163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B6830-1FBA-1225-06C6-9FFA45A9C0AB}"/>
              </a:ext>
            </a:extLst>
          </p:cNvPr>
          <p:cNvSpPr/>
          <p:nvPr/>
        </p:nvSpPr>
        <p:spPr>
          <a:xfrm>
            <a:off x="1435100" y="3594538"/>
            <a:ext cx="8969376" cy="2827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9505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7E5CC-113D-B6CF-E031-860D0D61A517}"/>
              </a:ext>
            </a:extLst>
          </p:cNvPr>
          <p:cNvSpPr/>
          <p:nvPr/>
        </p:nvSpPr>
        <p:spPr>
          <a:xfrm>
            <a:off x="1435100" y="5163015"/>
            <a:ext cx="8969376" cy="1258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014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</p:spTree>
    <p:extLst>
      <p:ext uri="{BB962C8B-B14F-4D97-AF65-F5344CB8AC3E}">
        <p14:creationId xmlns:p14="http://schemas.microsoft.com/office/powerpoint/2010/main" val="1878629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Probabilities Formalized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133601" y="1447801"/>
            <a:ext cx="8303172" cy="4506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A probability cannot be negative and cannot exceed 1, i.e.:</a:t>
            </a:r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r>
              <a:rPr lang="en-US" altLang="en-US" sz="2400" dirty="0"/>
              <a:t>The complement of the event </a:t>
            </a:r>
            <a:r>
              <a:rPr lang="en-US" altLang="en-US" sz="2400" i="1" dirty="0"/>
              <a:t>E</a:t>
            </a:r>
            <a:r>
              <a:rPr lang="en-US" altLang="en-US" sz="2400" dirty="0"/>
              <a:t> is the set of outcomes not part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. The probability of the complement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 (denoted </a:t>
            </a:r>
            <a:r>
              <a:rPr lang="en-US" altLang="en-US" sz="2400" i="1" dirty="0"/>
              <a:t>E </a:t>
            </a:r>
            <a:r>
              <a:rPr lang="en-US" altLang="en-US" sz="2400" dirty="0"/>
              <a:t>’) is:</a:t>
            </a:r>
          </a:p>
          <a:p>
            <a:pPr eaLnBrk="1" hangingPunct="1">
              <a:defRPr/>
            </a:pPr>
            <a:endParaRPr lang="en-US" altLang="en-US" sz="2400" dirty="0"/>
          </a:p>
        </p:txBody>
      </p:sp>
      <p:graphicFrame>
        <p:nvGraphicFramePr>
          <p:cNvPr id="55299" name="Object 7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953000" y="2362200"/>
          <a:ext cx="2185988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87058" imgH="203112" progId="Equation.DSMT4">
                  <p:embed/>
                </p:oleObj>
              </mc:Choice>
              <mc:Fallback>
                <p:oleObj name="Equation" r:id="rId3" imgW="787058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0" y="2362200"/>
                        <a:ext cx="2185988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300" name="Object 9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3763483402"/>
              </p:ext>
            </p:extLst>
          </p:nvPr>
        </p:nvGraphicFramePr>
        <p:xfrm>
          <a:off x="4453759" y="4750676"/>
          <a:ext cx="2971800" cy="573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54100" imgH="203200" progId="Equation.DSMT4">
                  <p:embed/>
                </p:oleObj>
              </mc:Choice>
              <mc:Fallback>
                <p:oleObj name="Equation" r:id="rId5" imgW="10541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53759" y="4750676"/>
                        <a:ext cx="2971800" cy="573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301" name="TextBox 1"/>
          <p:cNvSpPr txBox="1">
            <a:spLocks noChangeArrowheads="1"/>
          </p:cNvSpPr>
          <p:nvPr/>
        </p:nvSpPr>
        <p:spPr bwMode="auto">
          <a:xfrm>
            <a:off x="4943476" y="6019801"/>
            <a:ext cx="21431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Why “1” here?</a:t>
            </a:r>
          </a:p>
        </p:txBody>
      </p:sp>
    </p:spTree>
    <p:extLst>
      <p:ext uri="{BB962C8B-B14F-4D97-AF65-F5344CB8AC3E}">
        <p14:creationId xmlns:p14="http://schemas.microsoft.com/office/powerpoint/2010/main" val="2155903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62130" y="1744664"/>
            <a:ext cx="10496281" cy="4114800"/>
          </a:xfrm>
        </p:spPr>
        <p:txBody>
          <a:bodyPr/>
          <a:lstStyle/>
          <a:p>
            <a:pPr marL="609600" indent="-609600">
              <a:defRPr/>
            </a:pPr>
            <a:r>
              <a:rPr lang="en-US" altLang="en-US" sz="2400" dirty="0"/>
              <a:t>The sex ratio at birth for a particular pinniped is 55:45 </a:t>
            </a:r>
            <a:r>
              <a:rPr lang="en-US" altLang="en-US" sz="2400" dirty="0" err="1"/>
              <a:t>male:female</a:t>
            </a:r>
            <a:r>
              <a:rPr lang="en-US" altLang="en-US" sz="2400" dirty="0"/>
              <a:t>. You select two pups at random from the (large) population. What is the probability that:</a:t>
            </a:r>
          </a:p>
          <a:p>
            <a:pPr marL="990600" lvl="1" indent="-533400">
              <a:defRPr/>
            </a:pPr>
            <a:r>
              <a:rPr lang="en-US" altLang="en-US" sz="2000" dirty="0"/>
              <a:t>a. they are both male?</a:t>
            </a:r>
          </a:p>
          <a:p>
            <a:pPr marL="990600" lvl="1" indent="-533400">
              <a:defRPr/>
            </a:pPr>
            <a:r>
              <a:rPr lang="en-US" altLang="en-US" sz="2000" dirty="0"/>
              <a:t>b. at least one of them is male?</a:t>
            </a:r>
          </a:p>
          <a:p>
            <a:pPr marL="609600" indent="-609600">
              <a:defRPr/>
            </a:pPr>
            <a:r>
              <a:rPr lang="en-US" altLang="en-US" sz="2400" dirty="0"/>
              <a:t>Solution:</a:t>
            </a:r>
          </a:p>
          <a:p>
            <a:pPr marL="990600" lvl="1" indent="-533400">
              <a:defRPr/>
            </a:pPr>
            <a:r>
              <a:rPr lang="en-US" altLang="en-US" sz="2000" dirty="0"/>
              <a:t>We can assume that the population is “large” (not 100!)</a:t>
            </a:r>
          </a:p>
          <a:p>
            <a:pPr marL="990600" lvl="1" indent="-533400">
              <a:defRPr/>
            </a:pPr>
            <a:r>
              <a:rPr lang="en-US" altLang="en-US" sz="2000" dirty="0"/>
              <a:t>P(male) * P(male) = 0.55*0.55</a:t>
            </a:r>
          </a:p>
          <a:p>
            <a:pPr marL="990600" lvl="1" indent="-533400">
              <a:defRPr/>
            </a:pPr>
            <a:r>
              <a:rPr lang="en-US" altLang="en-US" sz="2000" dirty="0"/>
              <a:t>P(at least one male) = 1-P(both female) = 1 - 0.45*0.45</a:t>
            </a:r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905000" y="5397501"/>
            <a:ext cx="81343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How would this be different if the population wasn’t large?</a:t>
            </a:r>
          </a:p>
        </p:txBody>
      </p:sp>
    </p:spTree>
    <p:extLst>
      <p:ext uri="{BB962C8B-B14F-4D97-AF65-F5344CB8AC3E}">
        <p14:creationId xmlns:p14="http://schemas.microsoft.com/office/powerpoint/2010/main" val="10900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70841" y="1704975"/>
            <a:ext cx="8622457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70C0"/>
                </a:solidFill>
              </a:rPr>
              <a:t>conditional probability </a:t>
            </a:r>
            <a:r>
              <a:rPr lang="en-US" altLang="en-US" dirty="0"/>
              <a:t>is the probability of an event occurring given that another event has </a:t>
            </a:r>
            <a:r>
              <a:rPr lang="en-US" altLang="en-US" i="1" dirty="0">
                <a:solidFill>
                  <a:schemeClr val="hlink"/>
                </a:solidFill>
              </a:rPr>
              <a:t>already</a:t>
            </a:r>
            <a:r>
              <a:rPr lang="en-US" altLang="en-US" dirty="0"/>
              <a:t> occurred.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conditional probability of event </a:t>
            </a:r>
            <a:r>
              <a:rPr lang="en-US" altLang="en-US" i="1" dirty="0"/>
              <a:t>B</a:t>
            </a:r>
            <a:r>
              <a:rPr lang="en-US" altLang="en-US" dirty="0"/>
              <a:t> occurring given that event </a:t>
            </a:r>
            <a:r>
              <a:rPr lang="en-US" altLang="en-US" i="1" dirty="0"/>
              <a:t>A</a:t>
            </a:r>
            <a:r>
              <a:rPr lang="en-US" altLang="en-US" dirty="0"/>
              <a:t> has already occurred is denoted </a:t>
            </a:r>
            <a:r>
              <a:rPr lang="en-US" altLang="en-US" i="1" dirty="0"/>
              <a:t>P</a:t>
            </a:r>
            <a:r>
              <a:rPr lang="en-US" altLang="en-US" dirty="0"/>
              <a:t>(</a:t>
            </a:r>
            <a:r>
              <a:rPr lang="en-US" altLang="en-US" i="1" dirty="0"/>
              <a:t>B</a:t>
            </a:r>
            <a:r>
              <a:rPr lang="en-US" altLang="en-US" dirty="0"/>
              <a:t>|</a:t>
            </a:r>
            <a:r>
              <a:rPr lang="en-US" altLang="en-US" i="1" dirty="0"/>
              <a:t>A</a:t>
            </a:r>
            <a:r>
              <a:rPr lang="en-US" altLang="en-US" dirty="0"/>
              <a:t>) and is read as “probability of </a:t>
            </a:r>
            <a:r>
              <a:rPr lang="en-US" altLang="en-US" i="1" dirty="0"/>
              <a:t>B</a:t>
            </a:r>
            <a:r>
              <a:rPr lang="en-US" altLang="en-US" dirty="0"/>
              <a:t> given </a:t>
            </a:r>
            <a:r>
              <a:rPr lang="en-US" altLang="en-US" i="1" dirty="0"/>
              <a:t>A</a:t>
            </a:r>
            <a:r>
              <a:rPr lang="en-US" alt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16207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Probability-II</a:t>
            </a:r>
          </a:p>
        </p:txBody>
      </p:sp>
      <p:graphicFrame>
        <p:nvGraphicFramePr>
          <p:cNvPr id="448515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892409800"/>
              </p:ext>
            </p:extLst>
          </p:nvPr>
        </p:nvGraphicFramePr>
        <p:xfrm>
          <a:off x="3200400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511" name="Text Box 36"/>
          <p:cNvSpPr txBox="1">
            <a:spLocks noChangeArrowheads="1"/>
          </p:cNvSpPr>
          <p:nvPr/>
        </p:nvSpPr>
        <p:spPr bwMode="auto">
          <a:xfrm>
            <a:off x="2090738" y="4792664"/>
            <a:ext cx="838248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eaLnBrk="1" hangingPunct="1">
              <a:defRPr/>
            </a:pPr>
            <a:r>
              <a:rPr lang="en-US" altLang="en-US" sz="2000" dirty="0"/>
              <a:t> 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 if you have the gene?</a:t>
            </a:r>
          </a:p>
        </p:txBody>
      </p:sp>
      <p:pic>
        <p:nvPicPr>
          <p:cNvPr id="1028" name="Picture 4" descr="Photo: a red-bodied spawning Chinook salmon swimming over a gravel streambed, with other salmon behind." title="Photo: a red-bodied spawning Chinook salmon swimming over a gravel streambed, wi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8845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1445377" y="305308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Probability-III</a:t>
            </a:r>
          </a:p>
        </p:txBody>
      </p:sp>
      <p:graphicFrame>
        <p:nvGraphicFramePr>
          <p:cNvPr id="449539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291224413"/>
              </p:ext>
            </p:extLst>
          </p:nvPr>
        </p:nvGraphicFramePr>
        <p:xfrm>
          <a:off x="3200400" y="1915034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535" name="Text Box 36"/>
          <p:cNvSpPr txBox="1">
            <a:spLocks noChangeArrowheads="1"/>
          </p:cNvSpPr>
          <p:nvPr/>
        </p:nvSpPr>
        <p:spPr bwMode="auto">
          <a:xfrm>
            <a:off x="1684339" y="4777296"/>
            <a:ext cx="8345487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This question says nothing about the other factor (gene) </a:t>
            </a:r>
          </a:p>
          <a:p>
            <a:pPr lvl="1" eaLnBrk="1" hangingPunct="1">
              <a:defRPr/>
            </a:pPr>
            <a:r>
              <a:rPr lang="en-US" altLang="en-US" sz="2000" dirty="0"/>
              <a:t>  so we look at the last column (total); =52/102</a:t>
            </a:r>
          </a:p>
        </p:txBody>
      </p:sp>
      <p:pic>
        <p:nvPicPr>
          <p:cNvPr id="5" name="Picture 4" descr="Photo: a red-bodied spawning Chinook salmon over a gravel streambed." title="Photo: a red-bodied spawning Chinook salmon over a gravel streambed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65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769216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Conditional Probability-IV</a:t>
            </a:r>
          </a:p>
        </p:txBody>
      </p:sp>
      <p:graphicFrame>
        <p:nvGraphicFramePr>
          <p:cNvPr id="450563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986685233"/>
              </p:ext>
            </p:extLst>
          </p:nvPr>
        </p:nvGraphicFramePr>
        <p:xfrm>
          <a:off x="3205472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D32128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559" name="Text Box 36"/>
          <p:cNvSpPr txBox="1">
            <a:spLocks noChangeArrowheads="1"/>
          </p:cNvSpPr>
          <p:nvPr/>
        </p:nvSpPr>
        <p:spPr bwMode="auto">
          <a:xfrm>
            <a:off x="1498522" y="4728118"/>
            <a:ext cx="10334425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What is the probability of being a spring run fish if you have the gene?</a:t>
            </a:r>
          </a:p>
          <a:p>
            <a:pPr eaLnBrk="1" hangingPunct="1">
              <a:buFontTx/>
              <a:buChar char="•"/>
              <a:defRPr/>
            </a:pPr>
            <a:endParaRPr lang="en-US" altLang="en-US" sz="2000" dirty="0"/>
          </a:p>
          <a:p>
            <a:pPr lvl="1" eaLnBrk="1" hangingPunct="1">
              <a:buFontTx/>
              <a:buChar char="•"/>
              <a:defRPr/>
            </a:pPr>
            <a:r>
              <a:rPr lang="en-US" altLang="en-US" sz="2000" dirty="0"/>
              <a:t> Solution: The question relates only to having the gene so we are dealing with a </a:t>
            </a:r>
            <a:r>
              <a:rPr lang="en-US" altLang="en-US" sz="2000" b="1" dirty="0"/>
              <a:t>conditional probability</a:t>
            </a:r>
            <a:r>
              <a:rPr lang="en-US" altLang="en-US" sz="2000" dirty="0"/>
              <a:t>. We focus on the “Gene present” column and find the probability of being a spring run fish GIVEN having the gene = 33/72.</a:t>
            </a:r>
          </a:p>
        </p:txBody>
      </p:sp>
      <p:pic>
        <p:nvPicPr>
          <p:cNvPr id="5" name="Picture 4" descr="Photo: a red-bodied spawning Chinook salmon over a gravel streambed." title="Photo: a red-bodied spawning Chinook salmon over a gravel streambed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38628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-314094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Probability-V</a:t>
            </a:r>
          </a:p>
        </p:txBody>
      </p:sp>
      <p:pic>
        <p:nvPicPr>
          <p:cNvPr id="67586" name="Picture 5" descr="Diagram: sample space S containing two overlapping events A and B with the overlap shaded, used to illustrate conditional probability." title="Diagram: sample space S containing two overlapping events A and B with the overl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886200"/>
            <a:ext cx="1898650" cy="2725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7587" name="Picture 2" descr="Equation: Pr{A given B} = (Area common to A and B) divided by (Area of B); conditioning on B restricts the sample space to B." title="Equation: Pr{A given B} = (Area common to A and B) divided by (Area of B); condi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914401"/>
            <a:ext cx="8382000" cy="310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946888" y="6488668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Mangel’s</a:t>
            </a:r>
            <a:r>
              <a:rPr lang="en-US" dirty="0"/>
              <a:t> Toolbox</a:t>
            </a:r>
          </a:p>
        </p:txBody>
      </p:sp>
    </p:spTree>
    <p:extLst>
      <p:ext uri="{BB962C8B-B14F-4D97-AF65-F5344CB8AC3E}">
        <p14:creationId xmlns:p14="http://schemas.microsoft.com/office/powerpoint/2010/main" val="1056572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9395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Independent Events-I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321837" y="1716157"/>
            <a:ext cx="886515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Two events are said to be </a:t>
            </a:r>
            <a:r>
              <a:rPr lang="en-US" altLang="en-US" b="1" dirty="0">
                <a:solidFill>
                  <a:srgbClr val="0070C0"/>
                </a:solidFill>
              </a:rPr>
              <a:t>independent </a:t>
            </a:r>
            <a:r>
              <a:rPr lang="en-US" altLang="en-US" dirty="0"/>
              <a:t>if the occurrence of one does not affect the probability of the other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Two events are independent therefore if:</a:t>
            </a:r>
          </a:p>
        </p:txBody>
      </p:sp>
      <p:graphicFrame>
        <p:nvGraphicFramePr>
          <p:cNvPr id="69636" name="Object 5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05766225"/>
              </p:ext>
            </p:extLst>
          </p:nvPr>
        </p:nvGraphicFramePr>
        <p:xfrm>
          <a:off x="2393950" y="4096924"/>
          <a:ext cx="6172200" cy="498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514600" imgH="203200" progId="Equation.DSMT4">
                  <p:embed/>
                </p:oleObj>
              </mc:Choice>
              <mc:Fallback>
                <p:oleObj name="Equation" r:id="rId3" imgW="25146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3950" y="4096924"/>
                        <a:ext cx="6172200" cy="4984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100247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336550"/>
            <a:ext cx="868680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37062" y="1981200"/>
            <a:ext cx="101587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two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in sequence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independent, then the multiplication rule becomes:</a:t>
            </a:r>
          </a:p>
        </p:txBody>
      </p:sp>
      <p:graphicFrame>
        <p:nvGraphicFramePr>
          <p:cNvPr id="7168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1668018776"/>
              </p:ext>
            </p:extLst>
          </p:nvPr>
        </p:nvGraphicFramePr>
        <p:xfrm>
          <a:off x="2779713" y="2743995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438400" imgH="203200" progId="Equation.DSMT4">
                  <p:embed/>
                </p:oleObj>
              </mc:Choice>
              <mc:Fallback>
                <p:oleObj name="Equation" r:id="rId3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9713" y="2743995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49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138061314"/>
              </p:ext>
            </p:extLst>
          </p:nvPr>
        </p:nvGraphicFramePr>
        <p:xfrm>
          <a:off x="4018756" y="4658158"/>
          <a:ext cx="4154487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000" imgH="203200" progId="Equation.DSMT4">
                  <p:embed/>
                </p:oleObj>
              </mc:Choice>
              <mc:Fallback>
                <p:oleObj name="Equation" r:id="rId5" imgW="15240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18756" y="4658158"/>
                        <a:ext cx="4154487" cy="554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5370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12713"/>
            <a:ext cx="8610600" cy="1143000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pic>
        <p:nvPicPr>
          <p:cNvPr id="73730" name="Picture 4" descr="Equation: Pr{A, B} = (Area common to A and B) divided by (Area of S); the joint probability of A and B." title="Equation: Pr{A, B} = (Area common to A and B) divided by (Area of S); the joint 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9813" y="1258888"/>
            <a:ext cx="7823200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3731" name="Picture 5" descr="Diagram: sample space S with two overlapping events A and B, their overlap shaded, illustrating the joint probability of A and B." title="Diagram: sample space S with two overlapping events A and B, their overlap shade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730" y="2482394"/>
            <a:ext cx="2174875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73732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2023378143"/>
              </p:ext>
            </p:extLst>
          </p:nvPr>
        </p:nvGraphicFramePr>
        <p:xfrm>
          <a:off x="3086100" y="5715000"/>
          <a:ext cx="59436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38400" imgH="203200" progId="Equation.DSMT4">
                  <p:embed/>
                </p:oleObj>
              </mc:Choice>
              <mc:Fallback>
                <p:oleObj name="Equation" r:id="rId5" imgW="2438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6100" y="5715000"/>
                        <a:ext cx="59436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733" name="TextBox 1"/>
          <p:cNvSpPr txBox="1">
            <a:spLocks noChangeArrowheads="1"/>
          </p:cNvSpPr>
          <p:nvPr/>
        </p:nvSpPr>
        <p:spPr bwMode="auto">
          <a:xfrm>
            <a:off x="4605132" y="6210300"/>
            <a:ext cx="733963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 dirty="0"/>
              <a:t>Note the multiplication. What’s another way to write this?</a:t>
            </a:r>
          </a:p>
        </p:txBody>
      </p:sp>
    </p:spTree>
    <p:extLst>
      <p:ext uri="{BB962C8B-B14F-4D97-AF65-F5344CB8AC3E}">
        <p14:creationId xmlns:p14="http://schemas.microsoft.com/office/powerpoint/2010/main" val="7685909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36710" y="54470"/>
            <a:ext cx="10189028" cy="1116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en-US" dirty="0"/>
              <a:t>Factoring joint distributions into conditionals “the chain rule”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2581609" y="3010228"/>
            <a:ext cx="75815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800" dirty="0"/>
              <a:t>P(A, B, C, D) = P(A|B,C,D)P(B|C,D)P(C|D)P(D)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-60022" y="1636127"/>
            <a:ext cx="123824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/>
            <a:r>
              <a:rPr lang="en-US" altLang="en-US" sz="2200" dirty="0"/>
              <a:t>The probability of multiple events (or random variables) is called the </a:t>
            </a:r>
            <a:r>
              <a:rPr lang="en-US" altLang="en-US" sz="2200" b="1" dirty="0"/>
              <a:t>joint </a:t>
            </a:r>
            <a:r>
              <a:rPr lang="en-US" altLang="en-US" sz="2200" dirty="0"/>
              <a:t>distribution of A and B.</a:t>
            </a:r>
          </a:p>
          <a:p>
            <a:pPr algn="ctr"/>
            <a:r>
              <a:rPr lang="en-US" altLang="en-US" sz="2200" dirty="0"/>
              <a:t>The joint distribution can be factored into conditional distributions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603" y="4272104"/>
            <a:ext cx="121204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The conditional distributions can further be simplified if variables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224904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eenshot of a presentation slide titled 'So what?' from a Bayes' Theorem lecture (Che-Castaldo, Collins, Hobbs); the Connections section tab is highlighted. No figure content." title="Screenshot of a presentation slide titled 'So what?' from a Bayes' Theorem lectu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97" t="17674" r="21317" b="10697"/>
          <a:stretch/>
        </p:blipFill>
        <p:spPr>
          <a:xfrm>
            <a:off x="737811" y="1097509"/>
            <a:ext cx="6041035" cy="5760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094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conditional distributions can be represented by a Directed Acyclic Graph (DAG) based on the dependencies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88927" y="2734838"/>
            <a:ext cx="60885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Variables with arrowheads: LHS of conditionality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They depend on tails of arrows, which go on RHS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Variables without arrow pointing to them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580147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Directed acyclic graph and matching hierarchical Bayesian model: response y_ij depends on group intercept alpha_j, slope beta, and variance sigma-squared; alpha_j depends on hyperparameters mu_alpha and zeta-squared, with normal and inverse-gamma priors." title="Directed acyclic graph and matching hierarchical Bayesian model: response y_ij d">
            <a:extLst>
              <a:ext uri="{FF2B5EF4-FFF2-40B4-BE49-F238E27FC236}">
                <a16:creationId xmlns:a16="http://schemas.microsoft.com/office/drawing/2014/main" id="{39D16852-C2FE-61B8-AA0A-27F0793212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2" b="1"/>
          <a:stretch/>
        </p:blipFill>
        <p:spPr>
          <a:xfrm>
            <a:off x="1807778" y="1360840"/>
            <a:ext cx="9396250" cy="52844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36AAA-C401-A374-488F-3554F6CA8A2A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Bayesian models are often represented by DAGs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D28001-BA08-A8EA-DE2C-F4FED3BA58AA}"/>
              </a:ext>
            </a:extLst>
          </p:cNvPr>
          <p:cNvSpPr/>
          <p:nvPr/>
        </p:nvSpPr>
        <p:spPr>
          <a:xfrm>
            <a:off x="1686910" y="4445876"/>
            <a:ext cx="7961587" cy="13243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756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164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20913" y="16287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events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mutually exclusive, then:</a:t>
            </a:r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75779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019425" y="28575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9425" y="28575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80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695825" y="4551363"/>
          <a:ext cx="2971800" cy="393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36033" imgH="203112" progId="Equation.DSMT4">
                  <p:embed/>
                </p:oleObj>
              </mc:Choice>
              <mc:Fallback>
                <p:oleObj name="Equation" r:id="rId5" imgW="1536033" imgH="203112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5825" y="4551363"/>
                        <a:ext cx="2971800" cy="393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781" name="TextBox 5"/>
          <p:cNvSpPr txBox="1">
            <a:spLocks noChangeArrowheads="1"/>
          </p:cNvSpPr>
          <p:nvPr/>
        </p:nvSpPr>
        <p:spPr bwMode="auto">
          <a:xfrm>
            <a:off x="4916489" y="4986338"/>
            <a:ext cx="233838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Note the addition</a:t>
            </a:r>
          </a:p>
        </p:txBody>
      </p:sp>
      <p:sp>
        <p:nvSpPr>
          <p:cNvPr id="75782" name="TextBox 6"/>
          <p:cNvSpPr txBox="1">
            <a:spLocks noChangeArrowheads="1"/>
          </p:cNvSpPr>
          <p:nvPr/>
        </p:nvSpPr>
        <p:spPr bwMode="auto">
          <a:xfrm>
            <a:off x="9113838" y="2178051"/>
            <a:ext cx="868362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Why?</a:t>
            </a:r>
          </a:p>
        </p:txBody>
      </p:sp>
      <p:cxnSp>
        <p:nvCxnSpPr>
          <p:cNvPr id="75783" name="Straight Arrow Connector 2"/>
          <p:cNvCxnSpPr>
            <a:cxnSpLocks noChangeShapeType="1"/>
            <a:stCxn id="75782" idx="1"/>
          </p:cNvCxnSpPr>
          <p:nvPr/>
        </p:nvCxnSpPr>
        <p:spPr bwMode="auto">
          <a:xfrm flipH="1">
            <a:off x="8839200" y="2393950"/>
            <a:ext cx="274638" cy="4635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411709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525713" y="11715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</a:t>
            </a:r>
          </a:p>
        </p:txBody>
      </p:sp>
      <p:graphicFrame>
        <p:nvGraphicFramePr>
          <p:cNvPr id="77827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3324225" y="2400301"/>
          <a:ext cx="6224588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073400" imgH="203200" progId="Equation.DSMT4">
                  <p:embed/>
                </p:oleObj>
              </mc:Choice>
              <mc:Fallback>
                <p:oleObj name="Equation" r:id="rId3" imgW="30734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24225" y="2400301"/>
                        <a:ext cx="6224588" cy="411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7828" name="Picture 1" descr="Diagram: sample space S with two overlapping events A and B, overlap shaded, illustrating why the overlap is subtracted in the additive (OR) rule to avoid double counting." title="Diagram: sample space S with two overlapping events A and B, overlap shaded, ill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847976"/>
            <a:ext cx="2647950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7115176" y="3854451"/>
            <a:ext cx="31718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To avoid double count</a:t>
            </a:r>
          </a:p>
        </p:txBody>
      </p:sp>
      <p:cxnSp>
        <p:nvCxnSpPr>
          <p:cNvPr id="6" name="Straight Arrow Connector 5"/>
          <p:cNvCxnSpPr>
            <a:cxnSpLocks noChangeShapeType="1"/>
          </p:cNvCxnSpPr>
          <p:nvPr/>
        </p:nvCxnSpPr>
        <p:spPr bwMode="auto">
          <a:xfrm flipV="1">
            <a:off x="8701088" y="2971800"/>
            <a:ext cx="0" cy="8826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527445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5334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Using the Rules of Probability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graphicFrame>
        <p:nvGraphicFramePr>
          <p:cNvPr id="473177" name="Group 89"/>
          <p:cNvGraphicFramePr>
            <a:graphicFrameLocks noGrp="1"/>
          </p:cNvGraphicFramePr>
          <p:nvPr>
            <p:ph idx="1"/>
          </p:nvPr>
        </p:nvGraphicFramePr>
        <p:xfrm>
          <a:off x="2630488" y="1933575"/>
          <a:ext cx="7580312" cy="2154238"/>
        </p:xfrm>
        <a:graphic>
          <a:graphicData uri="http://schemas.openxmlformats.org/drawingml/2006/table">
            <a:tbl>
              <a:tblPr/>
              <a:tblGrid>
                <a:gridCol w="874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5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Blood Type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 rowSpan="3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Rh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factor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Positive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139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37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12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344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65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184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287" name="Text Box 90"/>
          <p:cNvSpPr txBox="1">
            <a:spLocks noChangeArrowheads="1"/>
          </p:cNvSpPr>
          <p:nvPr/>
        </p:nvSpPr>
        <p:spPr bwMode="auto">
          <a:xfrm>
            <a:off x="1676400" y="4259264"/>
            <a:ext cx="8763000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US" altLang="en-US" sz="2000" dirty="0"/>
              <a:t>The above table is based on data for 409 randomly selected blood donors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O or type A blood?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B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A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is Rh-positive given he / she has</a:t>
            </a:r>
          </a:p>
          <a:p>
            <a:pPr eaLnBrk="1" hangingPunct="1">
              <a:defRPr/>
            </a:pPr>
            <a:r>
              <a:rPr lang="en-US" altLang="en-US" sz="2000" dirty="0"/>
              <a:t>   blood type O?</a:t>
            </a:r>
          </a:p>
        </p:txBody>
      </p:sp>
    </p:spTree>
    <p:extLst>
      <p:ext uri="{BB962C8B-B14F-4D97-AF65-F5344CB8AC3E}">
        <p14:creationId xmlns:p14="http://schemas.microsoft.com/office/powerpoint/2010/main" val="19208842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600"/>
              <a:t>Review of Concepts and Formulae</a:t>
            </a:r>
          </a:p>
        </p:txBody>
      </p:sp>
      <p:graphicFrame>
        <p:nvGraphicFramePr>
          <p:cNvPr id="81922" name="Object 4"/>
          <p:cNvGraphicFramePr>
            <a:graphicFrameLocks noGrp="1" noChangeAspect="1"/>
          </p:cNvGraphicFramePr>
          <p:nvPr>
            <p:ph idx="1"/>
          </p:nvPr>
        </p:nvGraphicFramePr>
        <p:xfrm>
          <a:off x="1828800" y="1820863"/>
          <a:ext cx="8686800" cy="3714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4749800" imgH="2032000" progId="Equation.DSMT4">
                  <p:embed/>
                </p:oleObj>
              </mc:Choice>
              <mc:Fallback>
                <p:oleObj name="Equation" r:id="rId3" imgW="4749800" imgH="20320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800" y="1820863"/>
                        <a:ext cx="8686800" cy="3714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The word 'complement' rendered as an image, labeling the complement rule in the review of probability concepts." title="The word 'complement' rendered as an image, labeling the complement rule in the 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066" y="2313263"/>
            <a:ext cx="1318548" cy="261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8828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228600"/>
            <a:ext cx="8763000" cy="12954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2400" b="1" dirty="0">
                <a:latin typeface="Arial" charset="0"/>
                <a:cs typeface="Arial" charset="0"/>
              </a:rPr>
              <a:t>QUESTION: Prove the equality in Bayes rule using simple probability rules</a:t>
            </a:r>
            <a:endParaRPr lang="en-AU" sz="2400" b="1" dirty="0"/>
          </a:p>
        </p:txBody>
      </p:sp>
      <p:pic>
        <p:nvPicPr>
          <p:cNvPr id="83970" name="Picture 2" descr="Equation: P(A given B) = P(B given A) times P(A), divided by P(B). This is Bayes' rule." title="Equation: P(A given B) = P(B given A) times P(A), divided by P(B). This is Bay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676400"/>
            <a:ext cx="6991350" cy="2819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3644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F9C1-7E75-3561-9974-64A3417E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324" y="2103437"/>
            <a:ext cx="10515600" cy="1325563"/>
          </a:xfrm>
        </p:spPr>
        <p:txBody>
          <a:bodyPr/>
          <a:lstStyle/>
          <a:p>
            <a:r>
              <a:rPr lang="en-US" dirty="0"/>
              <a:t>BREAK: Up Next - Operationalizing Probability</a:t>
            </a:r>
          </a:p>
        </p:txBody>
      </p:sp>
    </p:spTree>
    <p:extLst>
      <p:ext uri="{BB962C8B-B14F-4D97-AF65-F5344CB8AC3E}">
        <p14:creationId xmlns:p14="http://schemas.microsoft.com/office/powerpoint/2010/main" val="1818930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random variable </a:t>
            </a:r>
            <a:r>
              <a:rPr lang="en-US" i="1" dirty="0"/>
              <a:t>X</a:t>
            </a:r>
            <a:r>
              <a:rPr lang="en-US" dirty="0"/>
              <a:t>  represents a </a:t>
            </a:r>
            <a:r>
              <a:rPr lang="en-US" dirty="0">
                <a:solidFill>
                  <a:schemeClr val="hlink"/>
                </a:solidFill>
              </a:rPr>
              <a:t>numerical</a:t>
            </a:r>
            <a:r>
              <a:rPr lang="en-US" dirty="0"/>
              <a:t> value associated with each outcome of a probability experiment.</a:t>
            </a:r>
          </a:p>
          <a:p>
            <a:pPr eaLnBrk="1" hangingPunct="1">
              <a:defRPr/>
            </a:pPr>
            <a:r>
              <a:rPr lang="en-US" dirty="0"/>
              <a:t>“Random” implies that there is an element of chance involved. Typical random variables:</a:t>
            </a:r>
          </a:p>
          <a:p>
            <a:pPr lvl="1" eaLnBrk="1" hangingPunct="1">
              <a:defRPr/>
            </a:pPr>
            <a:r>
              <a:rPr lang="en-US" dirty="0"/>
              <a:t>Time that a tagged animal is at large.</a:t>
            </a:r>
          </a:p>
          <a:p>
            <a:pPr lvl="1" eaLnBrk="1" hangingPunct="1">
              <a:defRPr/>
            </a:pPr>
            <a:r>
              <a:rPr lang="en-US" dirty="0"/>
              <a:t>Number of offspring produced by a female Panda bear in one year / over her lifespan.</a:t>
            </a:r>
          </a:p>
          <a:p>
            <a:pPr lvl="1" eaLnBrk="1" hangingPunct="1">
              <a:defRPr/>
            </a:pPr>
            <a:r>
              <a:rPr lang="en-US" dirty="0"/>
              <a:t>Length / weight of a sampled fish</a:t>
            </a:r>
          </a:p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9914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457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Random Variables - 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545" y="1610139"/>
            <a:ext cx="10991947" cy="48006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Notation:</a:t>
            </a:r>
          </a:p>
          <a:p>
            <a:pPr lvl="1" eaLnBrk="1" hangingPunct="1">
              <a:defRPr/>
            </a:pPr>
            <a:r>
              <a:rPr lang="en-US" sz="2600" dirty="0"/>
              <a:t>Convention is to use upper case letters to denote random variables and lower case letters to denote particular values of random variables.</a:t>
            </a:r>
          </a:p>
          <a:p>
            <a:pPr lvl="1" eaLnBrk="1" hangingPunct="1">
              <a:defRPr/>
            </a:pPr>
            <a:endParaRPr lang="en-US" sz="2600" dirty="0"/>
          </a:p>
          <a:p>
            <a:pPr lvl="1" eaLnBrk="1" hangingPunct="1">
              <a:defRPr/>
            </a:pPr>
            <a:r>
              <a:rPr lang="en-US" sz="2600" dirty="0"/>
              <a:t>The probability that the random variable </a:t>
            </a:r>
            <a:r>
              <a:rPr lang="en-US" sz="2600" i="1" dirty="0"/>
              <a:t>X</a:t>
            </a:r>
            <a:r>
              <a:rPr lang="en-US" sz="2600" dirty="0"/>
              <a:t> has value </a:t>
            </a:r>
            <a:r>
              <a:rPr lang="en-US" sz="2600" i="1" dirty="0"/>
              <a:t>x</a:t>
            </a:r>
            <a:r>
              <a:rPr lang="en-US" sz="2600" dirty="0"/>
              <a:t> is written as </a:t>
            </a:r>
            <a:r>
              <a:rPr lang="en-US" sz="2600" i="1" dirty="0"/>
              <a:t>P </a:t>
            </a:r>
            <a:r>
              <a:rPr lang="en-US" sz="2600" dirty="0"/>
              <a:t>(</a:t>
            </a:r>
            <a:r>
              <a:rPr lang="en-US" sz="2600" i="1" dirty="0"/>
              <a:t>X</a:t>
            </a:r>
            <a:r>
              <a:rPr lang="en-US" sz="2600" dirty="0"/>
              <a:t>=</a:t>
            </a:r>
            <a:r>
              <a:rPr lang="en-US" sz="2600" i="1" dirty="0"/>
              <a:t>x</a:t>
            </a:r>
            <a:r>
              <a:rPr lang="en-US" sz="2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63112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 - III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3425" y="1552575"/>
            <a:ext cx="10429461" cy="4687888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A random variable is:</a:t>
            </a:r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Discrete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 countable number of possible outcomes that can be listed.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Continuous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an uncountable number of possible outcomes  (or the number of outcomes cannot be listed). Continuous random variables can (at least conceptually) be measured to any degree of accuracy.</a:t>
            </a:r>
          </a:p>
          <a:p>
            <a:pPr lvl="1"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2703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400175"/>
            <a:ext cx="6897688" cy="4114800"/>
          </a:xfrm>
        </p:spPr>
        <p:txBody>
          <a:bodyPr/>
          <a:lstStyle/>
          <a:p>
            <a:pPr>
              <a:defRPr/>
            </a:pPr>
            <a:r>
              <a:rPr lang="en-US" dirty="0"/>
              <a:t>The number of scales forming the lateral line of a fish?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  <a:p>
            <a:pPr>
              <a:defRPr/>
            </a:pPr>
            <a:r>
              <a:rPr lang="en-US" dirty="0"/>
              <a:t>Max swimming speed of a blue whale?</a:t>
            </a:r>
          </a:p>
          <a:p>
            <a:pPr lvl="1">
              <a:defRPr/>
            </a:pPr>
            <a:r>
              <a:rPr lang="en-US" i="1" dirty="0"/>
              <a:t>Continuous random variable</a:t>
            </a:r>
          </a:p>
          <a:p>
            <a:pPr>
              <a:defRPr/>
            </a:pPr>
            <a:r>
              <a:rPr lang="en-US" dirty="0"/>
              <a:t>Number of reproductive events of a Fathead minnow each year?</a:t>
            </a:r>
          </a:p>
          <a:p>
            <a:pPr lvl="1">
              <a:defRPr/>
            </a:pPr>
            <a:r>
              <a:rPr lang="en-US" i="1" dirty="0"/>
              <a:t>Discrete random variable</a:t>
            </a:r>
          </a:p>
        </p:txBody>
      </p:sp>
      <p:pic>
        <p:nvPicPr>
          <p:cNvPr id="119810" name="Picture 2" descr="Photo: a salmonid fish with the row of scales along its side labeled 'lateral line'." title="Photo: a salmonid fish with the row of scales along its side labeled 'lateral li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668463"/>
            <a:ext cx="1938337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1" name="Picture 4" descr="Photo: a blue whale swimming in deep blue water." title="Photo: a blue whale swimming in deep blue water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3268664"/>
            <a:ext cx="2057400" cy="140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2" name="Picture 6" descr="Photo: a fathead minnow, a small silvery fish, in vegetation." title="Photo: a fathead minnow, a small silvery fish, in vegetation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868863"/>
            <a:ext cx="203041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827339" y="152400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 eaLnBrk="1" hangingPunct="1">
              <a:defRPr/>
            </a:pPr>
            <a:r>
              <a:rPr lang="en-US" sz="44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Random Variables - III</a:t>
            </a:r>
            <a:endParaRPr lang="en-US" sz="4400" kern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643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4572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5085" y="1820863"/>
            <a:ext cx="10755085" cy="46482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discrete probability distribution </a:t>
            </a:r>
            <a:r>
              <a:rPr lang="en-US" dirty="0"/>
              <a:t>lists each possible value the random variable can take, together with its probability.</a:t>
            </a:r>
          </a:p>
          <a:p>
            <a:pPr lvl="1" eaLnBrk="1" hangingPunct="1">
              <a:defRPr/>
            </a:pPr>
            <a:r>
              <a:rPr lang="en-US" dirty="0"/>
              <a:t>typically called a </a:t>
            </a:r>
            <a:r>
              <a:rPr lang="en-US" b="1" u="sng" dirty="0">
                <a:solidFill>
                  <a:srgbClr val="0070C0"/>
                </a:solidFill>
              </a:rPr>
              <a:t>probability mass function </a:t>
            </a:r>
            <a:r>
              <a:rPr lang="en-US" b="1" dirty="0">
                <a:solidFill>
                  <a:srgbClr val="0070C0"/>
                </a:solidFill>
              </a:rPr>
              <a:t>(PMF)</a:t>
            </a:r>
          </a:p>
          <a:p>
            <a:pPr lvl="1"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From our earlier discussion of probability, it must be true that:</a:t>
            </a:r>
          </a:p>
          <a:p>
            <a:pPr lvl="1" eaLnBrk="1" hangingPunct="1">
              <a:defRPr/>
            </a:pPr>
            <a:r>
              <a:rPr lang="en-US" dirty="0"/>
              <a:t>The probability of each value of the discrete random variable must lie between 0 and 1.</a:t>
            </a:r>
          </a:p>
          <a:p>
            <a:pPr lvl="1" eaLnBrk="1" hangingPunct="1">
              <a:defRPr/>
            </a:pPr>
            <a:r>
              <a:rPr lang="en-US" dirty="0"/>
              <a:t>The sum of all the probabilities must equal 1.</a:t>
            </a:r>
          </a:p>
        </p:txBody>
      </p:sp>
    </p:spTree>
    <p:extLst>
      <p:ext uri="{BB962C8B-B14F-4D97-AF65-F5344CB8AC3E}">
        <p14:creationId xmlns:p14="http://schemas.microsoft.com/office/powerpoint/2010/main" val="8079855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3048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(Discrete-II)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16114" y="1704975"/>
            <a:ext cx="831645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Mathematically:</a:t>
            </a:r>
          </a:p>
          <a:p>
            <a:pPr lvl="1" eaLnBrk="1" hangingPunct="1">
              <a:defRPr/>
            </a:pPr>
            <a:r>
              <a:rPr lang="en-US" dirty="0"/>
              <a:t>Let the possible values for the random variable be: </a:t>
            </a:r>
          </a:p>
          <a:p>
            <a:pPr lvl="1" eaLnBrk="1" hangingPunct="1">
              <a:defRPr/>
            </a:pPr>
            <a:r>
              <a:rPr lang="en-US" dirty="0"/>
              <a:t>By the first condition:</a:t>
            </a:r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r>
              <a:rPr lang="en-US" dirty="0"/>
              <a:t>By the second condition:</a:t>
            </a:r>
          </a:p>
        </p:txBody>
      </p:sp>
      <p:graphicFrame>
        <p:nvGraphicFramePr>
          <p:cNvPr id="12288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9015412" y="2115006"/>
          <a:ext cx="188277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228738" progId="">
                  <p:embed/>
                </p:oleObj>
              </mc:Choice>
              <mc:Fallback>
                <p:oleObj name="Equation" r:id="rId3" imgW="939754" imgH="228738" progId="">
                  <p:embed/>
                  <p:pic>
                    <p:nvPicPr>
                      <p:cNvPr id="12288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15412" y="2115006"/>
                        <a:ext cx="1882775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4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3237707" y="2973387"/>
          <a:ext cx="2422525" cy="703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87078" imgH="228738" progId="">
                  <p:embed/>
                </p:oleObj>
              </mc:Choice>
              <mc:Fallback>
                <p:oleObj name="Equation" r:id="rId5" imgW="787078" imgH="228738" progId="">
                  <p:embed/>
                  <p:pic>
                    <p:nvPicPr>
                      <p:cNvPr id="122884" name="Object 6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7707" y="2973387"/>
                        <a:ext cx="2422525" cy="703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885" name="Object 8"/>
          <p:cNvGraphicFramePr>
            <a:graphicFrameLocks noChangeAspect="1"/>
          </p:cNvGraphicFramePr>
          <p:nvPr/>
        </p:nvGraphicFramePr>
        <p:xfrm>
          <a:off x="4543426" y="4945064"/>
          <a:ext cx="2286000" cy="1317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49047" imgH="431570" progId="">
                  <p:embed/>
                </p:oleObj>
              </mc:Choice>
              <mc:Fallback>
                <p:oleObj name="Equation" r:id="rId7" imgW="749047" imgH="431570" progId="">
                  <p:embed/>
                  <p:pic>
                    <p:nvPicPr>
                      <p:cNvPr id="122885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43426" y="4945064"/>
                        <a:ext cx="2286000" cy="1317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886" name="TextBox 6"/>
          <p:cNvSpPr txBox="1">
            <a:spLocks noChangeArrowheads="1"/>
          </p:cNvSpPr>
          <p:nvPr/>
        </p:nvSpPr>
        <p:spPr bwMode="auto">
          <a:xfrm>
            <a:off x="6660924" y="2829381"/>
            <a:ext cx="29749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probability of each value of the discrete random variable is between 0 and 1, inclusive.</a:t>
            </a:r>
          </a:p>
        </p:txBody>
      </p:sp>
      <p:sp>
        <p:nvSpPr>
          <p:cNvPr id="122887" name="TextBox 7"/>
          <p:cNvSpPr txBox="1">
            <a:spLocks noChangeArrowheads="1"/>
          </p:cNvSpPr>
          <p:nvPr/>
        </p:nvSpPr>
        <p:spPr bwMode="auto">
          <a:xfrm>
            <a:off x="7426099" y="5211763"/>
            <a:ext cx="22098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sum of all the probabilities is 1.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4543426" y="49450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4543426" y="58594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96855" y="5021263"/>
            <a:ext cx="235949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Upper summation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751" y="5935663"/>
            <a:ext cx="23505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Lower summation limit</a:t>
            </a:r>
          </a:p>
        </p:txBody>
      </p:sp>
    </p:spTree>
    <p:extLst>
      <p:ext uri="{BB962C8B-B14F-4D97-AF65-F5344CB8AC3E}">
        <p14:creationId xmlns:p14="http://schemas.microsoft.com/office/powerpoint/2010/main" val="55930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843315" y="174172"/>
            <a:ext cx="848723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290637" y="1607682"/>
            <a:ext cx="10146620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It is common for f(x), or here p(x), to refer to the probability mass function (what people usually mean when they say “distribution”) and F(x) to refer to the cumulative distribution function</a:t>
            </a:r>
          </a:p>
        </p:txBody>
      </p:sp>
      <p:pic>
        <p:nvPicPr>
          <p:cNvPr id="124931" name="Picture 4" descr="Equation: F(x) = P(X &lt;= x) = sum over x_i &lt;= x of P(X = x_i) = sum over x_i &lt;= x of p(x_i). The discrete cumulative distribution function sums the pmf up to x." title="Equation: F(x) = P(X &lt;= x) = sum over x_i &lt;= x of P(X = x_i) = sum over x_i &lt;= x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257" y="2841168"/>
            <a:ext cx="6769100" cy="96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430488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35200" y="290514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493838" y="1433514"/>
            <a:ext cx="9021763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The probability that </a:t>
            </a:r>
            <a:r>
              <a:rPr lang="en-US" i="1" dirty="0"/>
              <a:t>X </a:t>
            </a:r>
            <a:r>
              <a:rPr lang="en-US" dirty="0"/>
              <a:t>is between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a</a:t>
            </a:r>
            <a:r>
              <a:rPr lang="en-US" dirty="0"/>
              <a:t> and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b</a:t>
            </a:r>
            <a:r>
              <a:rPr lang="en-US" dirty="0"/>
              <a:t> is</a:t>
            </a: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 lvl="1">
              <a:defRPr/>
            </a:pPr>
            <a:r>
              <a:rPr lang="en-US" dirty="0"/>
              <a:t>Notice the inequalities are not the same. Why?</a:t>
            </a:r>
          </a:p>
        </p:txBody>
      </p:sp>
      <p:pic>
        <p:nvPicPr>
          <p:cNvPr id="126979" name="Picture 4" descr="Equation: F(x) = P(X &lt;= x) = sum over x_i &lt;= x of P(X = x_i) = sum over x_i &lt;= x of p(x_i). The discrete cumulative distribution function." title="Equation: F(x) = P(X &lt;= x) = sum over x_i &lt;= x of P(X = x_i) = sum over x_i &lt;= x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5200" y="2576514"/>
            <a:ext cx="6769100" cy="96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6980" name="Picture 2" descr="Equation: P(a &lt; X &lt;= b) = F_X(b) minus F_X(a); the probability X falls in an interval is a difference of CDF values." title="Equation: P(a &lt; X &lt;= b) = F_X(b) minus F_X(a); the probability X falls in an int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0656" y="4394200"/>
            <a:ext cx="54483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32930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653143" y="617538"/>
            <a:ext cx="11272158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4000" dirty="0"/>
              <a:t>Means, Variances and Standard Deviations-I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0469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The</a:t>
            </a:r>
            <a:r>
              <a:rPr lang="en-US" sz="2400" b="1" dirty="0">
                <a:solidFill>
                  <a:srgbClr val="0070C0"/>
                </a:solidFill>
              </a:rPr>
              <a:t> mean </a:t>
            </a:r>
            <a:r>
              <a:rPr lang="en-US" sz="2400" dirty="0"/>
              <a:t>of a discrete random variable is given by:</a:t>
            </a:r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</p:txBody>
      </p:sp>
      <p:graphicFrame>
        <p:nvGraphicFramePr>
          <p:cNvPr id="12902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5105400" y="2971800"/>
          <a:ext cx="2362200" cy="1085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939754" imgH="431570" progId="">
                  <p:embed/>
                </p:oleObj>
              </mc:Choice>
              <mc:Fallback>
                <p:oleObj name="Equation" r:id="rId3" imgW="939754" imgH="431570" progId="">
                  <p:embed/>
                  <p:pic>
                    <p:nvPicPr>
                      <p:cNvPr id="12902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2971800"/>
                        <a:ext cx="2362200" cy="1085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9029" name="TextBox 5"/>
          <p:cNvSpPr txBox="1">
            <a:spLocks noChangeArrowheads="1"/>
          </p:cNvSpPr>
          <p:nvPr/>
        </p:nvSpPr>
        <p:spPr bwMode="auto">
          <a:xfrm>
            <a:off x="7620001" y="2819401"/>
            <a:ext cx="2360613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Each value of </a:t>
            </a:r>
            <a:r>
              <a:rPr lang="en-US" altLang="en-US" sz="1800" i="1" dirty="0"/>
              <a:t>x</a:t>
            </a:r>
            <a:r>
              <a:rPr lang="en-US" altLang="en-US" sz="1800" dirty="0"/>
              <a:t> is multiplied by its corresponding probability and the products are added.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9144000" y="28194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172200" y="33528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72400" y="3429000"/>
            <a:ext cx="1752600" cy="5334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6553200" y="3352800"/>
            <a:ext cx="9144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7696200" y="3962400"/>
            <a:ext cx="22098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715000" y="2971800"/>
            <a:ext cx="609600" cy="1143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9036" name="TextBox 12"/>
          <p:cNvSpPr txBox="1">
            <a:spLocks noChangeArrowheads="1"/>
          </p:cNvSpPr>
          <p:nvPr/>
        </p:nvSpPr>
        <p:spPr bwMode="auto">
          <a:xfrm>
            <a:off x="3802063" y="4725988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125267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43025" y="15441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Expected Value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422401" y="1476375"/>
            <a:ext cx="94342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expected value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 discrete random variable (jargon for the mean) is:</a:t>
            </a:r>
          </a:p>
        </p:txBody>
      </p:sp>
      <p:graphicFrame>
        <p:nvGraphicFramePr>
          <p:cNvPr id="131076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3802063" y="2617391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24368" imgH="431831" progId="">
                  <p:embed/>
                </p:oleObj>
              </mc:Choice>
              <mc:Fallback>
                <p:oleObj name="Equation" r:id="rId3" imgW="1524368" imgH="431831" progId="">
                  <p:embed/>
                  <p:pic>
                    <p:nvPicPr>
                      <p:cNvPr id="131076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02063" y="2617391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1077" name="TextBox 1"/>
          <p:cNvSpPr txBox="1">
            <a:spLocks noChangeArrowheads="1"/>
          </p:cNvSpPr>
          <p:nvPr/>
        </p:nvSpPr>
        <p:spPr bwMode="auto">
          <a:xfrm>
            <a:off x="3481388" y="4389041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</p:spTree>
    <p:extLst>
      <p:ext uri="{BB962C8B-B14F-4D97-AF65-F5344CB8AC3E}">
        <p14:creationId xmlns:p14="http://schemas.microsoft.com/office/powerpoint/2010/main" val="3569943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691" y="237738"/>
            <a:ext cx="103907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Means, Variances and </a:t>
            </a:r>
            <a:br>
              <a:rPr lang="en-US" sz="4000"/>
            </a:br>
            <a:r>
              <a:rPr lang="en-US" sz="4000"/>
              <a:t>Standard Deviations-II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1905747"/>
            <a:ext cx="85238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of a discrete random variable is given by: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	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                     Which is the same as </a:t>
            </a:r>
            <a:r>
              <a:rPr lang="en-US" i="1" dirty="0"/>
              <a:t>E</a:t>
            </a:r>
            <a:r>
              <a:rPr lang="en-US" dirty="0"/>
              <a:t>{(X</a:t>
            </a:r>
            <a:r>
              <a:rPr lang="en-US" i="1" dirty="0"/>
              <a:t> - µ</a:t>
            </a:r>
            <a:r>
              <a:rPr lang="en-US" dirty="0"/>
              <a:t> )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  <a:p>
            <a:pPr>
              <a:buNone/>
              <a:defRPr/>
            </a:pPr>
            <a:r>
              <a:rPr lang="en-US" dirty="0"/>
              <a:t> 	</a:t>
            </a:r>
            <a:r>
              <a:rPr lang="en-US" b="1" dirty="0"/>
              <a:t>Question</a:t>
            </a:r>
            <a:r>
              <a:rPr lang="en-US" dirty="0"/>
              <a:t>: show that  an equivalent definition is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</p:txBody>
      </p:sp>
      <p:graphicFrame>
        <p:nvGraphicFramePr>
          <p:cNvPr id="13312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881076" y="2434774"/>
          <a:ext cx="2855913" cy="882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96678" imgH="431570" progId="">
                  <p:embed/>
                </p:oleObj>
              </mc:Choice>
              <mc:Fallback>
                <p:oleObj name="Equation" r:id="rId3" imgW="1396678" imgH="431570" progId="">
                  <p:embed/>
                  <p:pic>
                    <p:nvPicPr>
                      <p:cNvPr id="133123" name="Object 4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1076" y="2434774"/>
                        <a:ext cx="2855913" cy="882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25" name="Rectangle 1"/>
          <p:cNvSpPr>
            <a:spLocks noChangeArrowheads="1"/>
          </p:cNvSpPr>
          <p:nvPr/>
        </p:nvSpPr>
        <p:spPr bwMode="auto">
          <a:xfrm>
            <a:off x="3392621" y="2658612"/>
            <a:ext cx="14211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r>
              <a:rPr lang="en-US" altLang="en-US" sz="2400" i="1" dirty="0" err="1"/>
              <a:t>Var</a:t>
            </a:r>
            <a:r>
              <a:rPr lang="en-US" altLang="en-US" sz="2400" dirty="0"/>
              <a:t>{X} =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31231" y="5785566"/>
            <a:ext cx="216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Recall that </a:t>
            </a:r>
          </a:p>
        </p:txBody>
      </p:sp>
      <p:graphicFrame>
        <p:nvGraphicFramePr>
          <p:cNvPr id="8" name="Object 5"/>
          <p:cNvGraphicFramePr>
            <a:graphicFrameLocks noGrp="1" noChangeAspect="1"/>
          </p:cNvGraphicFramePr>
          <p:nvPr>
            <p:ph sz="half" idx="2"/>
          </p:nvPr>
        </p:nvGraphicFramePr>
        <p:xfrm>
          <a:off x="4985267" y="5561043"/>
          <a:ext cx="3865562" cy="1095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4368" imgH="431831" progId="">
                  <p:embed/>
                </p:oleObj>
              </mc:Choice>
              <mc:Fallback>
                <p:oleObj name="Equation" r:id="rId5" imgW="1524368" imgH="431831" progId="">
                  <p:embed/>
                  <p:pic>
                    <p:nvPicPr>
                      <p:cNvPr id="8" name="Object 5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85267" y="5561043"/>
                        <a:ext cx="3865562" cy="1095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380931" y="483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74145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ncept-question slide showing three pmf bar charts over x = 1 to 5: (A) uniform flat, (B) triangular peaked at 3, (C) U-shaped with mass at the ends. Students order them by standard deviation." title="Concept-question slide showing three pmf bar charts over x = 1 to 5: (A) uniform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80"/>
          <a:stretch/>
        </p:blipFill>
        <p:spPr>
          <a:xfrm>
            <a:off x="1306285" y="0"/>
            <a:ext cx="10151707" cy="691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971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xample slide: table giving a pmf for X with values 1 to 5 and probabilities 1/10, 2/10, 4/10, 2/10, 1/10. Asks to compute the variance and standard deviation." title="Example slide: table giving a pmf for X with values 1 to 5 and probabilities 1/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440"/>
          <a:stretch/>
        </p:blipFill>
        <p:spPr>
          <a:xfrm>
            <a:off x="668175" y="227563"/>
            <a:ext cx="10472576" cy="490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553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orked solution: mean mu = 3; a row for (X - mu)^2 is added (4,1,0,1,4); variance E[(X-mu)^2] = 1.2 and standard deviation = square root of 1.2." title="Worked solution: mean mu = 3; a row for (X - mu)^2 is added (4,1,0,1,4); varianc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73"/>
          <a:stretch/>
        </p:blipFill>
        <p:spPr>
          <a:xfrm>
            <a:off x="1399591" y="0"/>
            <a:ext cx="9927772" cy="676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96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Expectation is a linear operator that can be distributed across a function of a random variable, X, but variance is not </a:t>
            </a:r>
          </a:p>
          <a:p>
            <a:endParaRPr lang="en-US" dirty="0"/>
          </a:p>
          <a:p>
            <a:r>
              <a:rPr lang="en-US" dirty="0"/>
              <a:t>What is 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 What is </a:t>
            </a:r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76916" y="5435581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05111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175" y="412264"/>
            <a:ext cx="11925301" cy="1143000"/>
          </a:xfrm>
        </p:spPr>
        <p:txBody>
          <a:bodyPr>
            <a:normAutofit/>
          </a:bodyPr>
          <a:lstStyle/>
          <a:p>
            <a:r>
              <a:rPr lang="en-US"/>
              <a:t>Answer: Algebra </a:t>
            </a:r>
            <a:r>
              <a:rPr lang="en-US" dirty="0"/>
              <a:t>with Expectation and Variance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10179655" cy="4114800"/>
          </a:xfrm>
        </p:spPr>
        <p:txBody>
          <a:bodyPr/>
          <a:lstStyle/>
          <a:p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 = E{a} +b*E{X} = a + b*E{X}</a:t>
            </a:r>
          </a:p>
          <a:p>
            <a:endParaRPr lang="en-US" dirty="0"/>
          </a:p>
          <a:p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 = </a:t>
            </a:r>
            <a:r>
              <a:rPr lang="en-US" i="1" dirty="0"/>
              <a:t>E</a:t>
            </a:r>
            <a:r>
              <a:rPr lang="en-US" dirty="0"/>
              <a:t>{(a + </a:t>
            </a:r>
            <a:r>
              <a:rPr lang="en-US" dirty="0" err="1"/>
              <a:t>bX</a:t>
            </a:r>
            <a:r>
              <a:rPr lang="en-US" dirty="0"/>
              <a:t>)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en-US" altLang="en-US" dirty="0"/>
              <a:t>- (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})</a:t>
            </a:r>
            <a:r>
              <a:rPr lang="en-US" baseline="30000" dirty="0"/>
              <a:t>2</a:t>
            </a:r>
            <a:r>
              <a:rPr lang="en-US" dirty="0"/>
              <a:t> = E{a</a:t>
            </a:r>
            <a:r>
              <a:rPr lang="en-US" baseline="30000" dirty="0"/>
              <a:t>2 </a:t>
            </a:r>
            <a:r>
              <a:rPr lang="en-US" dirty="0"/>
              <a:t>+ 2abX + b</a:t>
            </a:r>
            <a:r>
              <a:rPr lang="en-US" baseline="30000" dirty="0"/>
              <a:t>2</a:t>
            </a:r>
            <a:r>
              <a:rPr lang="en-US" dirty="0"/>
              <a:t>X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(a + b*E{X})</a:t>
            </a:r>
            <a:r>
              <a:rPr lang="en-US" baseline="30000" dirty="0"/>
              <a:t>2</a:t>
            </a:r>
          </a:p>
          <a:p>
            <a:r>
              <a:rPr lang="en-US" dirty="0"/>
              <a:t>a</a:t>
            </a:r>
            <a:r>
              <a:rPr lang="en-US" baseline="30000" dirty="0"/>
              <a:t>2</a:t>
            </a:r>
            <a:r>
              <a:rPr lang="en-US" dirty="0"/>
              <a:t>+2abE{X}+b</a:t>
            </a:r>
            <a:r>
              <a:rPr lang="en-US" baseline="30000" dirty="0"/>
              <a:t>2 </a:t>
            </a:r>
            <a:r>
              <a:rPr lang="en-US" dirty="0"/>
              <a:t>E{X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(a</a:t>
            </a:r>
            <a:r>
              <a:rPr lang="en-US" baseline="30000" dirty="0"/>
              <a:t>2</a:t>
            </a:r>
            <a:r>
              <a:rPr lang="en-US" dirty="0"/>
              <a:t>+2abE{X}+b</a:t>
            </a:r>
            <a:r>
              <a:rPr lang="en-US" baseline="30000" dirty="0"/>
              <a:t>2 </a:t>
            </a:r>
            <a:r>
              <a:rPr lang="en-US" dirty="0"/>
              <a:t>E{X}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b</a:t>
            </a:r>
            <a:r>
              <a:rPr lang="en-US" baseline="30000" dirty="0"/>
              <a:t>2</a:t>
            </a:r>
            <a:r>
              <a:rPr lang="en-US" dirty="0"/>
              <a:t>(E{X</a:t>
            </a:r>
            <a:r>
              <a:rPr lang="en-US" baseline="30000" dirty="0"/>
              <a:t>2</a:t>
            </a:r>
            <a:r>
              <a:rPr lang="en-US" dirty="0"/>
              <a:t>} - E{X}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dirty="0"/>
              <a:t>b</a:t>
            </a:r>
            <a:r>
              <a:rPr lang="en-US" baseline="30000" dirty="0"/>
              <a:t>2</a:t>
            </a:r>
            <a:r>
              <a:rPr lang="en-US" dirty="0"/>
              <a:t>Var{X}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7337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804348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218476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0304" y="294786"/>
            <a:ext cx="10390716" cy="1143000"/>
          </a:xfrm>
        </p:spPr>
        <p:txBody>
          <a:bodyPr>
            <a:normAutofit fontScale="90000"/>
          </a:bodyPr>
          <a:lstStyle/>
          <a:p>
            <a:r>
              <a:rPr lang="en-US"/>
              <a:t>Answer: Algebra </a:t>
            </a:r>
            <a:r>
              <a:rPr lang="en-US" dirty="0"/>
              <a:t>with Expectation and Variance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1681815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i="1" dirty="0" err="1"/>
              <a:t>Var</a:t>
            </a:r>
            <a:r>
              <a:rPr lang="en-US" dirty="0"/>
              <a:t>{X +Y} = E{X</a:t>
            </a:r>
            <a:r>
              <a:rPr lang="en-US" baseline="30000" dirty="0"/>
              <a:t>2 </a:t>
            </a:r>
            <a:r>
              <a:rPr lang="en-US" dirty="0"/>
              <a:t>+ 2XY + 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 + E{Y})</a:t>
            </a:r>
            <a:r>
              <a:rPr lang="en-US" baseline="30000" dirty="0"/>
              <a:t>2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en-US" baseline="30000" dirty="0"/>
              <a:t> </a:t>
            </a:r>
            <a:r>
              <a:rPr lang="en-US" dirty="0"/>
              <a:t>+ 2E{XY} + E{Y</a:t>
            </a:r>
            <a:r>
              <a:rPr lang="en-US" baseline="30000" dirty="0"/>
              <a:t>2</a:t>
            </a:r>
            <a:r>
              <a:rPr lang="en-US" dirty="0"/>
              <a:t>} </a:t>
            </a:r>
            <a:r>
              <a:rPr lang="mr-IN" dirty="0"/>
              <a:t>–</a:t>
            </a:r>
            <a:r>
              <a:rPr lang="en-US" dirty="0"/>
              <a:t> (E{X}</a:t>
            </a:r>
            <a:r>
              <a:rPr lang="en-US" baseline="30000" dirty="0"/>
              <a:t>2</a:t>
            </a:r>
            <a:r>
              <a:rPr lang="en-US" dirty="0"/>
              <a:t> + 2E{X}E{Y} + E{Y}</a:t>
            </a:r>
            <a:r>
              <a:rPr lang="en-US" baseline="30000" dirty="0"/>
              <a:t> 2</a:t>
            </a:r>
            <a:r>
              <a:rPr lang="en-US" dirty="0"/>
              <a:t>)</a:t>
            </a:r>
          </a:p>
          <a:p>
            <a:r>
              <a:rPr lang="en-US" dirty="0"/>
              <a:t>= E{X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E{X}</a:t>
            </a:r>
            <a:r>
              <a:rPr lang="en-US" baseline="30000" dirty="0"/>
              <a:t>2</a:t>
            </a:r>
            <a:r>
              <a:rPr lang="en-US" dirty="0"/>
              <a:t> + E{Y</a:t>
            </a:r>
            <a:r>
              <a:rPr lang="en-US" baseline="30000" dirty="0"/>
              <a:t>2</a:t>
            </a:r>
            <a:r>
              <a:rPr lang="en-US" dirty="0"/>
              <a:t>}</a:t>
            </a:r>
            <a:r>
              <a:rPr lang="mr-IN" dirty="0"/>
              <a:t> –</a:t>
            </a:r>
            <a:r>
              <a:rPr lang="en-US" dirty="0"/>
              <a:t> E{Y}</a:t>
            </a:r>
            <a:r>
              <a:rPr lang="en-US" baseline="30000" dirty="0"/>
              <a:t>2</a:t>
            </a:r>
          </a:p>
          <a:p>
            <a:r>
              <a:rPr lang="en-US" dirty="0"/>
              <a:t> </a:t>
            </a:r>
            <a:r>
              <a:rPr lang="en-US" i="1" dirty="0" err="1"/>
              <a:t>Var</a:t>
            </a:r>
            <a:r>
              <a:rPr lang="en-US" dirty="0"/>
              <a:t>{X +Y} = </a:t>
            </a:r>
            <a:r>
              <a:rPr lang="en-US" altLang="en-US" i="1" dirty="0" err="1"/>
              <a:t>Var</a:t>
            </a:r>
            <a:r>
              <a:rPr lang="en-US" altLang="en-US" dirty="0"/>
              <a:t>{X} +</a:t>
            </a:r>
            <a:r>
              <a:rPr lang="en-US" altLang="en-US" i="1" dirty="0"/>
              <a:t> </a:t>
            </a:r>
            <a:r>
              <a:rPr lang="en-US" altLang="en-US" i="1" dirty="0" err="1"/>
              <a:t>Var</a:t>
            </a:r>
            <a:r>
              <a:rPr lang="en-US" altLang="en-US" dirty="0"/>
              <a:t>{Y}</a:t>
            </a:r>
            <a:endParaRPr lang="en-US" dirty="0"/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449786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  <p:sp>
        <p:nvSpPr>
          <p:cNvPr id="4" name="Rectangle 3"/>
          <p:cNvSpPr/>
          <p:nvPr/>
        </p:nvSpPr>
        <p:spPr>
          <a:xfrm>
            <a:off x="2073433" y="5979811"/>
            <a:ext cx="902445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So, variances of independent random variables add!</a:t>
            </a:r>
          </a:p>
        </p:txBody>
      </p:sp>
    </p:spTree>
    <p:extLst>
      <p:ext uri="{BB962C8B-B14F-4D97-AF65-F5344CB8AC3E}">
        <p14:creationId xmlns:p14="http://schemas.microsoft.com/office/powerpoint/2010/main" val="16677764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89" y="114300"/>
            <a:ext cx="7793037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Key terms moving forward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2989" y="1436914"/>
            <a:ext cx="8342570" cy="444413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sz="3200" dirty="0"/>
              <a:t>Probability mass function, PMF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Cumulative distribution function, CDF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Expectation/Expected value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Variance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Random variable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004428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6300</TotalTime>
  <Words>2803</Words>
  <Application>Microsoft Macintosh PowerPoint</Application>
  <PresentationFormat>Widescreen</PresentationFormat>
  <Paragraphs>395</Paragraphs>
  <Slides>56</Slides>
  <Notes>38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CMSS12</vt:lpstr>
      <vt:lpstr>Tahoma</vt:lpstr>
      <vt:lpstr>Times New Roman</vt:lpstr>
      <vt:lpstr>Wingdings</vt:lpstr>
      <vt:lpstr>Office Theme</vt:lpstr>
      <vt:lpstr>Equation</vt:lpstr>
      <vt:lpstr>FW599 - Fall 2025  Get your data on!</vt:lpstr>
      <vt:lpstr>What is this course?</vt:lpstr>
      <vt:lpstr>Course oath</vt:lpstr>
      <vt:lpstr>Grading</vt:lpstr>
      <vt:lpstr>This course is just a jumping off point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Probability Experiments</vt:lpstr>
      <vt:lpstr>Probability Experiments</vt:lpstr>
      <vt:lpstr>Probability Experiments</vt:lpstr>
      <vt:lpstr>Classical Probability</vt:lpstr>
      <vt:lpstr>Classical Probability-II (Example)</vt:lpstr>
      <vt:lpstr>DNA Example  </vt:lpstr>
      <vt:lpstr>DNA Example  </vt:lpstr>
      <vt:lpstr>DNA Example  </vt:lpstr>
      <vt:lpstr>Probabilities Formalized</vt:lpstr>
      <vt:lpstr>Example</vt:lpstr>
      <vt:lpstr>Conditional Probability-I</vt:lpstr>
      <vt:lpstr>Conditional Probability-II</vt:lpstr>
      <vt:lpstr>Conditional Probability-III</vt:lpstr>
      <vt:lpstr>Conditional Probability-IV</vt:lpstr>
      <vt:lpstr>Conditional Probability-V</vt:lpstr>
      <vt:lpstr>Independent Events-I</vt:lpstr>
      <vt:lpstr>“AND” - The Multiplication Rule The “joint distribution” of A and B</vt:lpstr>
      <vt:lpstr>“AND” - The Multiplication Rule The “joint distribution” of A and B</vt:lpstr>
      <vt:lpstr>PowerPoint Presentation</vt:lpstr>
      <vt:lpstr>PowerPoint Presentation</vt:lpstr>
      <vt:lpstr>PowerPoint Presentation</vt:lpstr>
      <vt:lpstr>“OR” - The Additive Rule</vt:lpstr>
      <vt:lpstr>“OR” - The Additive Rule</vt:lpstr>
      <vt:lpstr>Using the Rules of Probability (Example)</vt:lpstr>
      <vt:lpstr>Review of Concepts and Formulae</vt:lpstr>
      <vt:lpstr>QUESTION: Prove the equality in Bayes rule using simple probability rules</vt:lpstr>
      <vt:lpstr>BREAK: Up Next - Operationalizing Probability</vt:lpstr>
      <vt:lpstr>Random Variables-I</vt:lpstr>
      <vt:lpstr>Random Variables - II</vt:lpstr>
      <vt:lpstr>Random Variables - III</vt:lpstr>
      <vt:lpstr>PowerPoint Presentation</vt:lpstr>
      <vt:lpstr>Probability Distributions  (Discrete-I)</vt:lpstr>
      <vt:lpstr>Probability Distributions  (Discrete-II)</vt:lpstr>
      <vt:lpstr>Discrete Cumulative Distribution Function</vt:lpstr>
      <vt:lpstr>Discrete Cumulative Distribution Function</vt:lpstr>
      <vt:lpstr>Means, Variances and Standard Deviations-I</vt:lpstr>
      <vt:lpstr>Expected Value</vt:lpstr>
      <vt:lpstr>Means, Variances and  Standard Deviations-II</vt:lpstr>
      <vt:lpstr>PowerPoint Presentation</vt:lpstr>
      <vt:lpstr>PowerPoint Presentation</vt:lpstr>
      <vt:lpstr>PowerPoint Presentation</vt:lpstr>
      <vt:lpstr>Algebra with Expectation and Variance</vt:lpstr>
      <vt:lpstr>Answer: Algebra with Expectation and Variance</vt:lpstr>
      <vt:lpstr>Algebra with Expectation and Variance</vt:lpstr>
      <vt:lpstr>Answer: Algebra with Expectation and Variance</vt:lpstr>
      <vt:lpstr>Key terms moving forward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FW599- Winter 2021 Seminar in Quantitative and Computational Biology</dc:title>
  <dc:creator>Levi, Taal</dc:creator>
  <cp:lastModifiedBy>Levi, Taal</cp:lastModifiedBy>
  <cp:revision>80</cp:revision>
  <dcterms:created xsi:type="dcterms:W3CDTF">2020-12-09T20:59:16Z</dcterms:created>
  <dcterms:modified xsi:type="dcterms:W3CDTF">2025-09-19T15:43:40Z</dcterms:modified>
</cp:coreProperties>
</file>