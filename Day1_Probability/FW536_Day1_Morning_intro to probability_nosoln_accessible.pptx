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4" r:id="rId9"/>
    <p:sldId id="266" r:id="rId10"/>
    <p:sldId id="338" r:id="rId11"/>
    <p:sldId id="267" r:id="rId12"/>
    <p:sldId id="268" r:id="rId13"/>
    <p:sldId id="269" r:id="rId14"/>
    <p:sldId id="271" r:id="rId15"/>
    <p:sldId id="272" r:id="rId16"/>
    <p:sldId id="315" r:id="rId17"/>
    <p:sldId id="316" r:id="rId18"/>
    <p:sldId id="273" r:id="rId19"/>
    <p:sldId id="274" r:id="rId20"/>
    <p:sldId id="275" r:id="rId21"/>
    <p:sldId id="276" r:id="rId22"/>
    <p:sldId id="279" r:id="rId23"/>
    <p:sldId id="280" r:id="rId24"/>
    <p:sldId id="281" r:id="rId25"/>
    <p:sldId id="282" r:id="rId26"/>
    <p:sldId id="313" r:id="rId27"/>
    <p:sldId id="314" r:id="rId28"/>
    <p:sldId id="317" r:id="rId29"/>
    <p:sldId id="283" r:id="rId30"/>
    <p:sldId id="284" r:id="rId31"/>
    <p:sldId id="285" r:id="rId32"/>
    <p:sldId id="286" r:id="rId33"/>
    <p:sldId id="287" r:id="rId34"/>
    <p:sldId id="318" r:id="rId35"/>
    <p:sldId id="258" r:id="rId36"/>
    <p:sldId id="340" r:id="rId37"/>
    <p:sldId id="339" r:id="rId38"/>
    <p:sldId id="321" r:id="rId39"/>
    <p:sldId id="322" r:id="rId40"/>
    <p:sldId id="323" r:id="rId41"/>
    <p:sldId id="324" r:id="rId42"/>
    <p:sldId id="325" r:id="rId43"/>
    <p:sldId id="326" r:id="rId44"/>
    <p:sldId id="327" r:id="rId45"/>
    <p:sldId id="328" r:id="rId46"/>
    <p:sldId id="329" r:id="rId47"/>
    <p:sldId id="312" r:id="rId48"/>
    <p:sldId id="330" r:id="rId49"/>
    <p:sldId id="331" r:id="rId50"/>
    <p:sldId id="333" r:id="rId51"/>
    <p:sldId id="335" r:id="rId52"/>
    <p:sldId id="265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12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15.w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7.wm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oleObject" Target="../embeddings/oleObject4.bin"/><Relationship Id="rId6" Type="http://schemas.openxmlformats.org/officeDocument/2006/relationships/image" Target="../media/image16.wm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e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2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21.wmf"/><Relationship Id="rId5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23.wmf"/><Relationship Id="rId5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image" Target="../media/image28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29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30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31.wmf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oleObject" Target="../embeddings/oleObject12.bin"/><Relationship Id="rId4" Type="http://schemas.openxmlformats.org/officeDocument/2006/relationships/image" Target="../media/image34.wm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35.wmf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4.bin"/><Relationship Id="rId4" Type="http://schemas.openxmlformats.org/officeDocument/2006/relationships/image" Target="../media/image36.wmf"/><Relationship Id="rId5" Type="http://schemas.openxmlformats.org/officeDocument/2006/relationships/oleObject" Target="../embeddings/oleObject13.bin"/><Relationship Id="rId6" Type="http://schemas.openxmlformats.org/officeDocument/2006/relationships/image" Target="../media/image35.wmf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emf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emf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emf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FW599 - </a:t>
            </a:r>
            <a:r>
              <a:rPr lang="en-US" altLang="en-US" sz="4000" b="1">
                <a:latin typeface="Arial" charset="0"/>
                <a:ea typeface="Arial" charset="0"/>
                <a:cs typeface="Arial" charset="0"/>
              </a:rPr>
              <a:t>Fall 2024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Participation and group work (100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(200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0179" name="Picture 3" descr="Equation: Pr{A} = (Area of A) divided by (Area of S); probability of event A is its area relative to the whole sample space S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02596"/>
            <a:ext cx="9144000" cy="282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, Quantitative Methods for Ecology and Evolutionary Biology,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  <p:sp>
        <p:nvSpPr>
          <p:cNvPr id="55302" name="TextBox 55301"/>
          <p:cNvSpPr txBox="1"/>
          <p:nvPr/>
        </p:nvSpPr>
        <p:spPr>
          <a:xfrm>
            <a:off x="4953000" y="2362200"/>
            <a:ext cx="2185988" cy="5651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>
                <a:latin typeface="Cambria"/>
              </a:rPr>
              <a:t>0 ≤ P(E) ≤ 1</a:t>
            </a:r>
          </a:p>
        </p:txBody>
      </p:sp>
      <p:sp>
        <p:nvSpPr>
          <p:cNvPr id="55303" name="TextBox 55302"/>
          <p:cNvSpPr txBox="1"/>
          <p:nvPr/>
        </p:nvSpPr>
        <p:spPr>
          <a:xfrm>
            <a:off x="4453759" y="4750676"/>
            <a:ext cx="2971800" cy="573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P(E') = 1 − P(E)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ll king salmon fishing to close in Kenai drainage - Alaska Public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7587" name="Picture 2" descr="Equation: Pr{A given B} = (Area common to A and B) divided by (Area of B); conditioning on B restricts the sample space to B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914401"/>
            <a:ext cx="8382000" cy="31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sp>
        <p:nvSpPr>
          <p:cNvPr id="4100" name="TextBox 4099"/>
          <p:cNvSpPr txBox="1"/>
          <p:nvPr/>
        </p:nvSpPr>
        <p:spPr>
          <a:xfrm>
            <a:off x="2393950" y="4096924"/>
            <a:ext cx="6172200" cy="4984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>
                <a:latin typeface="Cambria"/>
              </a:rPr>
              <a:t>P(A) = P(A | B);        P(B) = P(B | A)</a:t>
            </a:r>
          </a:p>
        </p:txBody>
      </p:sp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sp>
        <p:nvSpPr>
          <p:cNvPr id="6150" name="TextBox 6149"/>
          <p:cNvSpPr txBox="1"/>
          <p:nvPr/>
        </p:nvSpPr>
        <p:spPr>
          <a:xfrm>
            <a:off x="2779713" y="2743995"/>
            <a:ext cx="59436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  <p:sp>
        <p:nvSpPr>
          <p:cNvPr id="6151" name="TextBox 6150"/>
          <p:cNvSpPr txBox="1"/>
          <p:nvPr/>
        </p:nvSpPr>
        <p:spPr>
          <a:xfrm>
            <a:off x="4018756" y="4658158"/>
            <a:ext cx="4154487" cy="554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>
                <a:latin typeface="Cambria"/>
              </a:rPr>
              <a:t>P(A and B) = P(A) · P(B)</a:t>
            </a:r>
          </a:p>
        </p:txBody>
      </p:sp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Pr{A, B} = (Area common to A and B) / (Area of S)</a:t>
            </a:r>
          </a:p>
        </p:txBody>
      </p:sp>
      <p:sp>
        <p:nvSpPr>
          <p:cNvPr id="73735" name="TextBox 73734"/>
          <p:cNvSpPr txBox="1"/>
          <p:nvPr/>
        </p:nvSpPr>
        <p:spPr>
          <a:xfrm>
            <a:off x="3086100" y="5715000"/>
            <a:ext cx="5943600" cy="495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(DAG) and joint distribution of a Bayesian hierarchical regression. In the DAG, x_ij has a dashed arrow to y_ij; alpha_j, beta, and sigma^2 each point to y_ij; and mu_alpha, varsigma^2 point to alpha_j. The joint distribution is: [beta, alpha, sigma^2, mu_alpha, varsigma^2 | y] is proportional to the product over i=1..n_j and j=1..J of normal(y_ij | alpha_j + beta*x_ij, sigma^2), times normal(alpha_j | mu_alpha, varsigma^2), times normal(beta | 0, 10000), times normal(mu_alpha | 0, 1000), times inverse-gamma(sigma^2 | .001, .001), times inverse-gamma(varsigma^2 | .001, .001).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9" y="4986338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5784" name="TextBox 75783"/>
          <p:cNvSpPr txBox="1"/>
          <p:nvPr/>
        </p:nvSpPr>
        <p:spPr>
          <a:xfrm>
            <a:off x="3019425" y="2857501"/>
            <a:ext cx="6224588" cy="411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  <p:sp>
        <p:nvSpPr>
          <p:cNvPr id="75785" name="TextBox 75784"/>
          <p:cNvSpPr txBox="1"/>
          <p:nvPr/>
        </p:nvSpPr>
        <p:spPr>
          <a:xfrm>
            <a:off x="4695825" y="4551363"/>
            <a:ext cx="3235569" cy="393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P(A or B) = P(A) + P(B)</a:t>
            </a:r>
          </a:p>
        </p:txBody>
      </p: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pic>
        <p:nvPicPr>
          <p:cNvPr id="77828" name="Picture 1" descr="Diagram: a large outer region labeled S (sample space) containing two small overlapping regions A and B, with their overlap shaded. Illustrates events as subsets of the sample space.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7829" name="TextBox 77828"/>
          <p:cNvSpPr txBox="1"/>
          <p:nvPr/>
        </p:nvSpPr>
        <p:spPr>
          <a:xfrm>
            <a:off x="3324225" y="2400301"/>
            <a:ext cx="6224588" cy="411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sp>
        <p:nvSpPr>
          <p:cNvPr id="11267" name="TextBox 11266"/>
          <p:cNvSpPr txBox="1"/>
          <p:nvPr/>
        </p:nvSpPr>
        <p:spPr>
          <a:xfrm>
            <a:off x="1828800" y="1820863"/>
            <a:ext cx="8686800" cy="3714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>
                <a:latin typeface="Cambria"/>
              </a:rPr>
              <a:t>P(A) : probability of event A</a:t>
            </a:r>
          </a:p>
          <a:p>
            <a:r>
              <a:rPr sz="1600">
                <a:latin typeface="Cambria"/>
              </a:rPr>
              <a:t>P(A') = 1 − P(A) : probability of the complement of the event A</a:t>
            </a:r>
          </a:p>
          <a:p>
            <a:r>
              <a:rPr sz="1600">
                <a:latin typeface="Cambria"/>
              </a:rPr>
              <a:t>P(A) = P(A and B) + P(A and B') : decomposition of the probability of event A</a:t>
            </a:r>
          </a:p>
          <a:p>
            <a:r>
              <a:rPr sz="1600">
                <a:latin typeface="Cambria"/>
              </a:rPr>
              <a:t>P(B | A) = P(A and B) / P(A) : conditional events</a:t>
            </a:r>
          </a:p>
          <a:p>
            <a:r>
              <a:rPr sz="1600">
                <a:latin typeface="Cambria"/>
              </a:rPr>
              <a:t>P(B | A) = P(B) : independent events</a:t>
            </a:r>
          </a:p>
          <a:p>
            <a:r>
              <a:rPr sz="1600">
                <a:latin typeface="Cambria"/>
              </a:rPr>
              <a:t>P(A and B) = P(B | A) · P(A) : multiplication rule</a:t>
            </a:r>
          </a:p>
          <a:p>
            <a:r>
              <a:rPr sz="1600">
                <a:latin typeface="Cambria"/>
              </a:rPr>
              <a:t>P(A and B) = P(A) · P(B) : independent events</a:t>
            </a:r>
          </a:p>
          <a:p>
            <a:r>
              <a:rPr sz="1600">
                <a:latin typeface="Cambria"/>
              </a:rPr>
              <a:t>P(A or B) = P(A) + P(B) − P(A ∩ B) : addition rule</a:t>
            </a:r>
          </a:p>
          <a:p>
            <a:r>
              <a:rPr sz="1600">
                <a:latin typeface="Cambria"/>
              </a:rPr>
              <a:t>P(A or B) = P(A) + P(B) : mutually exclusive events</a:t>
            </a:r>
          </a:p>
        </p:txBody>
      </p:sp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1676400"/>
            <a:ext cx="6991350" cy="2819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P(A|B) = ( P(B|A)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 lvl="1"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  <a:p>
            <a:pPr lvl="1">
              <a:defRPr/>
            </a:pPr>
            <a:endParaRPr lang="en-US" i="1" dirty="0"/>
          </a:p>
        </p:txBody>
      </p:sp>
      <p:pic>
        <p:nvPicPr>
          <p:cNvPr id="119810" name="Picture 2" descr="Photo: a salmonid fish with the row of scales along its side labeled 'lateral line'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426099" y="5211763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9" name="Oval 8"/>
          <p:cNvSpPr/>
          <p:nvPr/>
        </p:nvSpPr>
        <p:spPr bwMode="auto">
          <a:xfrm>
            <a:off x="4543426" y="49450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4543426" y="5859463"/>
            <a:ext cx="685800" cy="457200"/>
          </a:xfrm>
          <a:prstGeom prst="ellipse">
            <a:avLst/>
          </a:prstGeom>
          <a:noFill/>
          <a:ln w="57150" cap="flat" cmpd="sng" algn="ctr">
            <a:solidFill>
              <a:schemeClr val="accent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 sz="3200">
              <a:latin typeface="Tahoma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096855" y="5021263"/>
            <a:ext cx="235949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Upper summation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751" y="5935663"/>
            <a:ext cx="23505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Lower summation limit</a:t>
            </a:r>
          </a:p>
        </p:txBody>
      </p:sp>
      <p:sp>
        <p:nvSpPr>
          <p:cNvPr id="122888" name="TextBox 122887"/>
          <p:cNvSpPr txBox="1"/>
          <p:nvPr/>
        </p:nvSpPr>
        <p:spPr>
          <a:xfrm>
            <a:off x="9015412" y="2115006"/>
            <a:ext cx="25321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: i = 1, …, N}</a:t>
            </a:r>
          </a:p>
        </p:txBody>
      </p:sp>
      <p:sp>
        <p:nvSpPr>
          <p:cNvPr id="122889" name="TextBox 122888"/>
          <p:cNvSpPr txBox="1"/>
          <p:nvPr/>
        </p:nvSpPr>
        <p:spPr>
          <a:xfrm>
            <a:off x="3237707" y="2973387"/>
            <a:ext cx="2422525" cy="7032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0 ≤ P(x</a:t>
            </a:r>
            <a:r>
              <a:rPr sz="2600" baseline="-25000">
                <a:latin typeface="Cambria"/>
              </a:rPr>
              <a:t>i</a:t>
            </a:r>
            <a:r>
              <a:rPr sz="2600">
                <a:latin typeface="Cambria"/>
              </a:rPr>
              <a:t>) ≤ 1</a:t>
            </a:r>
          </a:p>
        </p:txBody>
      </p:sp>
      <p:sp>
        <p:nvSpPr>
          <p:cNvPr id="122890" name="TextBox 122889"/>
          <p:cNvSpPr txBox="1"/>
          <p:nvPr/>
        </p:nvSpPr>
        <p:spPr>
          <a:xfrm>
            <a:off x="4543426" y="4945064"/>
            <a:ext cx="2286000" cy="1317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 = 1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2841168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576514"/>
            <a:ext cx="7455876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F(x) = P(X ≤ x)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 = 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 = Σ</a:t>
            </a:r>
            <a:r>
              <a:rPr sz="1900" b="0" baseline="-25000">
                <a:latin typeface="Cambria"/>
              </a:rPr>
              <a:t>x_i ≤ x</a:t>
            </a:r>
            <a:r>
              <a:rPr sz="1900" b="0">
                <a:latin typeface="Cambria"/>
              </a:rPr>
              <a:t> p(x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9144000" y="28194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6172200" y="3352800"/>
            <a:ext cx="4572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7772400" y="3429000"/>
            <a:ext cx="1752600" cy="5334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6553200" y="3352800"/>
            <a:ext cx="9144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7696200" y="3962400"/>
            <a:ext cx="2209800" cy="381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5715000" y="2971800"/>
            <a:ext cx="609600" cy="1143000"/>
          </a:xfrm>
          <a:prstGeom prst="rect">
            <a:avLst/>
          </a:prstGeom>
          <a:noFill/>
          <a:ln w="57150">
            <a:solidFill>
              <a:srgbClr val="D32128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802063" y="4725988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29037" name="TextBox 129036"/>
          <p:cNvSpPr txBox="1"/>
          <p:nvPr/>
        </p:nvSpPr>
        <p:spPr>
          <a:xfrm>
            <a:off x="5105400" y="2971800"/>
            <a:ext cx="2362200" cy="1085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μ = Σ</a:t>
            </a:r>
            <a:r>
              <a:rPr sz="1800" baseline="-25000">
                <a:latin typeface="Cambria"/>
              </a:rPr>
              <a:t>i=1</a:t>
            </a:r>
            <a:r>
              <a:rPr sz="1800" baseline="30000">
                <a:latin typeface="Cambria"/>
              </a:rPr>
              <a:t>N</a:t>
            </a:r>
            <a:r>
              <a:rPr sz="1800">
                <a:latin typeface="Cambria"/>
              </a:rPr>
              <a:t> x</a:t>
            </a:r>
            <a:r>
              <a:rPr sz="1800" baseline="-25000">
                <a:latin typeface="Cambria"/>
              </a:rPr>
              <a:t>i</a:t>
            </a:r>
            <a:r>
              <a:rPr sz="1800">
                <a:latin typeface="Cambria"/>
              </a:rPr>
              <a:t> P(x</a:t>
            </a:r>
            <a:r>
              <a:rPr sz="1800" baseline="-25000">
                <a:latin typeface="Cambria"/>
              </a:rPr>
              <a:t>i</a:t>
            </a:r>
            <a:r>
              <a:rPr sz="18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422401" y="1476375"/>
            <a:ext cx="94342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31078" name="TextBox 131077"/>
          <p:cNvSpPr txBox="1"/>
          <p:nvPr/>
        </p:nvSpPr>
        <p:spPr>
          <a:xfrm>
            <a:off x="3802063" y="2617391"/>
            <a:ext cx="3865562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E(X) = μ</a:t>
            </a:r>
            <a:r>
              <a:rPr sz="2100" baseline="-25000">
                <a:latin typeface="Cambria"/>
              </a:rPr>
              <a:t>X</a:t>
            </a:r>
            <a:r>
              <a:rPr sz="2100">
                <a:latin typeface="Cambria"/>
              </a:rPr>
              <a:t> = 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133126" name="TextBox 133125"/>
          <p:cNvSpPr txBox="1"/>
          <p:nvPr/>
        </p:nvSpPr>
        <p:spPr>
          <a:xfrm>
            <a:off x="4881076" y="2434774"/>
            <a:ext cx="2855913" cy="8826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>
                <a:latin typeface="Cambria"/>
              </a:rPr>
              <a:t>σ</a:t>
            </a:r>
            <a:r>
              <a:rPr sz="1500" baseline="30000">
                <a:latin typeface="Cambria"/>
              </a:rPr>
              <a:t>2</a:t>
            </a:r>
            <a:r>
              <a:rPr sz="1500">
                <a:latin typeface="Cambria"/>
              </a:rPr>
              <a:t> = Σ</a:t>
            </a:r>
            <a:r>
              <a:rPr sz="1500" baseline="-25000">
                <a:latin typeface="Cambria"/>
              </a:rPr>
              <a:t>i=1</a:t>
            </a:r>
            <a:r>
              <a:rPr sz="1500" baseline="30000">
                <a:latin typeface="Cambria"/>
              </a:rPr>
              <a:t>N</a:t>
            </a:r>
            <a:r>
              <a:rPr sz="1500">
                <a:latin typeface="Cambria"/>
              </a:rPr>
              <a:t> (x</a:t>
            </a:r>
            <a:r>
              <a:rPr sz="1500" baseline="-25000">
                <a:latin typeface="Cambria"/>
              </a:rPr>
              <a:t>i</a:t>
            </a:r>
            <a:r>
              <a:rPr sz="1500">
                <a:latin typeface="Cambria"/>
              </a:rPr>
              <a:t> − μ)</a:t>
            </a:r>
            <a:r>
              <a:rPr sz="1500" baseline="30000">
                <a:latin typeface="Cambria"/>
              </a:rPr>
              <a:t>2</a:t>
            </a:r>
            <a:r>
              <a:rPr sz="1500">
                <a:latin typeface="Cambria"/>
              </a:rPr>
              <a:t> P(x</a:t>
            </a:r>
            <a:r>
              <a:rPr sz="1500" baseline="-25000">
                <a:latin typeface="Cambria"/>
              </a:rPr>
              <a:t>i</a:t>
            </a:r>
            <a:r>
              <a:rPr sz="1500">
                <a:latin typeface="Cambria"/>
              </a:rPr>
              <a:t>)</a:t>
            </a:r>
          </a:p>
        </p:txBody>
      </p:sp>
      <p:sp>
        <p:nvSpPr>
          <p:cNvPr id="133127" name="TextBox 133126"/>
          <p:cNvSpPr txBox="1"/>
          <p:nvPr/>
        </p:nvSpPr>
        <p:spPr>
          <a:xfrm>
            <a:off x="4985267" y="5561043"/>
            <a:ext cx="3865562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100">
                <a:latin typeface="Cambria"/>
              </a:rPr>
              <a:t>E(X) = μ</a:t>
            </a:r>
            <a:r>
              <a:rPr sz="2100" baseline="-25000">
                <a:latin typeface="Cambria"/>
              </a:rPr>
              <a:t>X</a:t>
            </a:r>
            <a:r>
              <a:rPr sz="2100">
                <a:latin typeface="Cambria"/>
              </a:rPr>
              <a:t> = Σ</a:t>
            </a:r>
            <a:r>
              <a:rPr sz="2100" baseline="-25000">
                <a:latin typeface="Cambria"/>
              </a:rPr>
              <a:t>i=1</a:t>
            </a:r>
            <a:r>
              <a:rPr sz="2100" baseline="30000">
                <a:latin typeface="Cambria"/>
              </a:rPr>
              <a:t>N</a:t>
            </a:r>
            <a:r>
              <a:rPr sz="2100">
                <a:latin typeface="Cambria"/>
              </a:rPr>
              <a:t> 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 P(x</a:t>
            </a:r>
            <a:r>
              <a:rPr sz="2100" baseline="-25000">
                <a:latin typeface="Cambria"/>
              </a:rPr>
              <a:t>i</a:t>
            </a:r>
            <a:r>
              <a:rPr sz="21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306285" y="0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Example slide: table giving a pmf for X with values 1 to 5 and probabilities 1/10, 2/10, 4/10, 2/10, 1/10. Asks to compute the variance and standard deviation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440"/>
          <a:stretch/>
        </p:blipFill>
        <p:spPr>
          <a:xfrm>
            <a:off x="668175" y="227563"/>
            <a:ext cx="10472576" cy="4909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: mean mu = 3; a row for (X - mu)^2 is added (4,1,0,1,4); variance E[(X-mu)^2] = 1.2 and standard deviation = square root of 1.2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73"/>
          <a:stretch/>
        </p:blipFill>
        <p:spPr>
          <a:xfrm>
            <a:off x="1399591" y="0"/>
            <a:ext cx="9927772" cy="6764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76916" y="5435581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 err="1"/>
              <a:t>Var</a:t>
            </a:r>
            <a:r>
              <a:rPr lang="en-US" dirty="0"/>
              <a:t>{X + Y}?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2804348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93857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6184</TotalTime>
  <Words>2320</Words>
  <Application>Microsoft Macintosh PowerPoint</Application>
  <PresentationFormat>Widescreen</PresentationFormat>
  <Paragraphs>329</Paragraphs>
  <Slides>52</Slides>
  <Notes>35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CMSS12</vt:lpstr>
      <vt:lpstr>Tahoma</vt:lpstr>
      <vt:lpstr>Times New Roman</vt:lpstr>
      <vt:lpstr>Wingdings</vt:lpstr>
      <vt:lpstr>Office Theme</vt:lpstr>
      <vt:lpstr>Equation</vt:lpstr>
      <vt:lpstr>FW599 - Fall 2024 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Key terms moving forward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78</cp:revision>
  <dcterms:created xsi:type="dcterms:W3CDTF">2020-12-09T20:59:16Z</dcterms:created>
  <dcterms:modified xsi:type="dcterms:W3CDTF">2025-09-19T04:16:28Z</dcterms:modified>
</cp:coreProperties>
</file>