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7" r:id="rId2"/>
    <p:sldId id="336" r:id="rId3"/>
    <p:sldId id="259" r:id="rId4"/>
    <p:sldId id="341" r:id="rId5"/>
    <p:sldId id="307" r:id="rId6"/>
    <p:sldId id="262" r:id="rId7"/>
    <p:sldId id="263" r:id="rId8"/>
    <p:sldId id="264" r:id="rId9"/>
    <p:sldId id="266" r:id="rId10"/>
    <p:sldId id="338" r:id="rId11"/>
    <p:sldId id="267" r:id="rId12"/>
    <p:sldId id="268" r:id="rId13"/>
    <p:sldId id="269" r:id="rId14"/>
    <p:sldId id="271" r:id="rId15"/>
    <p:sldId id="272" r:id="rId16"/>
    <p:sldId id="315" r:id="rId17"/>
    <p:sldId id="316" r:id="rId18"/>
    <p:sldId id="273" r:id="rId19"/>
    <p:sldId id="274" r:id="rId20"/>
    <p:sldId id="275" r:id="rId21"/>
    <p:sldId id="276" r:id="rId22"/>
    <p:sldId id="279" r:id="rId23"/>
    <p:sldId id="280" r:id="rId24"/>
    <p:sldId id="281" r:id="rId25"/>
    <p:sldId id="282" r:id="rId26"/>
    <p:sldId id="313" r:id="rId27"/>
    <p:sldId id="314" r:id="rId28"/>
    <p:sldId id="317" r:id="rId29"/>
    <p:sldId id="283" r:id="rId30"/>
    <p:sldId id="284" r:id="rId31"/>
    <p:sldId id="285" r:id="rId32"/>
    <p:sldId id="286" r:id="rId33"/>
    <p:sldId id="287" r:id="rId34"/>
    <p:sldId id="318" r:id="rId35"/>
    <p:sldId id="258" r:id="rId36"/>
    <p:sldId id="340" r:id="rId37"/>
    <p:sldId id="339" r:id="rId38"/>
    <p:sldId id="321" r:id="rId39"/>
    <p:sldId id="322" r:id="rId40"/>
    <p:sldId id="323" r:id="rId41"/>
    <p:sldId id="324" r:id="rId42"/>
    <p:sldId id="325" r:id="rId43"/>
    <p:sldId id="326" r:id="rId44"/>
    <p:sldId id="327" r:id="rId45"/>
    <p:sldId id="328" r:id="rId46"/>
    <p:sldId id="329" r:id="rId47"/>
    <p:sldId id="312" r:id="rId48"/>
    <p:sldId id="330" r:id="rId49"/>
    <p:sldId id="331" r:id="rId50"/>
    <p:sldId id="333" r:id="rId51"/>
    <p:sldId id="335" r:id="rId52"/>
    <p:sldId id="265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8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1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12.w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5.w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6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7.wm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Relationship Id="rId4" Type="http://schemas.openxmlformats.org/officeDocument/2006/relationships/image" Target="../media/image9.png"/><Relationship Id="rId5" Type="http://schemas.openxmlformats.org/officeDocument/2006/relationships/oleObject" Target="../embeddings/oleObject4.bin"/><Relationship Id="rId6" Type="http://schemas.openxmlformats.org/officeDocument/2006/relationships/image" Target="../media/image16.wmf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e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1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2.wm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1.wmf"/><Relationship Id="rId5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23.wmf"/><Relationship Id="rId5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eg"/><Relationship Id="rId3" Type="http://schemas.openxmlformats.org/officeDocument/2006/relationships/image" Target="../media/image27.jpeg"/><Relationship Id="rId4" Type="http://schemas.openxmlformats.org/officeDocument/2006/relationships/image" Target="../media/image28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29.wmf"/><Relationship Id="rId5" Type="http://schemas.openxmlformats.org/officeDocument/2006/relationships/oleObject" Target="../embeddings/oleObject10.bin"/><Relationship Id="rId6" Type="http://schemas.openxmlformats.org/officeDocument/2006/relationships/image" Target="../media/image30.wmf"/><Relationship Id="rId7" Type="http://schemas.openxmlformats.org/officeDocument/2006/relationships/oleObject" Target="../embeddings/oleObject11.bin"/><Relationship Id="rId8" Type="http://schemas.openxmlformats.org/officeDocument/2006/relationships/image" Target="../media/image31.wmf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34.wmf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35.wmf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36.wmf"/><Relationship Id="rId5" Type="http://schemas.openxmlformats.org/officeDocument/2006/relationships/oleObject" Target="../embeddings/oleObject13.bin"/><Relationship Id="rId6" Type="http://schemas.openxmlformats.org/officeDocument/2006/relationships/image" Target="../media/image35.wmf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emf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emf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emf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FW599 - </a:t>
            </a:r>
            <a:r>
              <a:rPr lang="en-US" altLang="en-US" sz="4000" b="1">
                <a:latin typeface="Arial" charset="0"/>
                <a:ea typeface="Arial" charset="0"/>
                <a:cs typeface="Arial" charset="0"/>
              </a:rPr>
              <a:t>Fall 2024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Participation and group work (100 points)</a:t>
            </a:r>
          </a:p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Labs (200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Book cover: The Ecological Detective, Confronting Models with Data, by Ray Hilborn and Marc Mangel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ok cover: Ecological Models and Data in R by Benjamin M. Bolker, showing a fish over coral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ook cover: The Theoretical Biologist's Toolbox, Quantitative Methods for Ecology and Evolutionary Biology, by Marc Mangel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Book cover: Applied Hierarchical Modeling in Ecology, Volume 1, by Marc Kery and J. Andrew Royle, with a green dragonfly.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Book cover: Applied Hierarchical Modeling in Ecology, Volume 2, by Marc Kery and J. Andrew Royle, with a red dragonfly.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Book cover: Bayesian Models, A Statistical Primer for Ecologists, by N. Thompson Hobbs and Mevin B. Hooten.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Book cover: The French Chef Cookbook by Julia Child; used as a joke about learning recipes versus understanding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 descr="Diagram of statistical model relationships: general linear models at top branch via nonlinearity, random effects, and non-normal errors into mixed models, GLMs, GLMMs, GAMs, and nonlinear time series. Shows how model families conn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 descr="Diagram: a large outer region labeled S (sample space) containing two small overlapping regions A and B, with their overlap shaded. Illustrates events as subsets of the sample space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79" name="Picture 3" descr="Equation: Pr{A} = (Area of A) divided by (Area of S); probability of event A is its area relative to the whole sample space S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02596"/>
            <a:ext cx="91440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Book cover: The Theoretical Biologist's Toolbox, Quantitative Methods for Ecology and Evolutionary Biology, by Marc Mangel.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graphicFrame>
        <p:nvGraphicFramePr>
          <p:cNvPr id="55299" name="Object 7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953000" y="2362200"/>
          <a:ext cx="218598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058" imgH="203112" progId="Equation.DSMT4">
                  <p:embed/>
                </p:oleObj>
              </mc:Choice>
              <mc:Fallback>
                <p:oleObj name="Equation" r:id="rId3" imgW="787058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0" y="2362200"/>
                        <a:ext cx="2185988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300" name="Object 9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3763483402"/>
              </p:ext>
            </p:extLst>
          </p:nvPr>
        </p:nvGraphicFramePr>
        <p:xfrm>
          <a:off x="4453759" y="4750676"/>
          <a:ext cx="2971800" cy="573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54100" imgH="203200" progId="Equation.DSMT4">
                  <p:embed/>
                </p:oleObj>
              </mc:Choice>
              <mc:Fallback>
                <p:oleObj name="Equation" r:id="rId5" imgW="10541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3759" y="4750676"/>
                        <a:ext cx="2971800" cy="573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 descr="Diagram: a large outer region labeled S (sample space) containing two small overlapping regions A and B, with their overlap shaded. Illustrates events as subsets of the sample space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587" name="Picture 2" descr="Equation: Pr{A given B} = (Area common to A and B) divided by (Area of B); conditioning on B restricts the sample space to B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914401"/>
            <a:ext cx="8382000" cy="310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graphicFrame>
        <p:nvGraphicFramePr>
          <p:cNvPr id="69636" name="Object 5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05766225"/>
              </p:ext>
            </p:extLst>
          </p:nvPr>
        </p:nvGraphicFramePr>
        <p:xfrm>
          <a:off x="2393950" y="4096924"/>
          <a:ext cx="6172200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14600" imgH="203200" progId="Equation.DSMT4">
                  <p:embed/>
                </p:oleObj>
              </mc:Choice>
              <mc:Fallback>
                <p:oleObj name="Equation" r:id="rId3" imgW="25146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3950" y="4096924"/>
                        <a:ext cx="6172200" cy="498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graphicFrame>
        <p:nvGraphicFramePr>
          <p:cNvPr id="7168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1668018776"/>
              </p:ext>
            </p:extLst>
          </p:nvPr>
        </p:nvGraphicFramePr>
        <p:xfrm>
          <a:off x="2779713" y="2743995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38400" imgH="203200" progId="Equation.DSMT4">
                  <p:embed/>
                </p:oleObj>
              </mc:Choice>
              <mc:Fallback>
                <p:oleObj name="Equation" r:id="rId3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9713" y="2743995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49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138061314"/>
              </p:ext>
            </p:extLst>
          </p:nvPr>
        </p:nvGraphicFramePr>
        <p:xfrm>
          <a:off x="4018756" y="4658158"/>
          <a:ext cx="4154487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000" imgH="203200" progId="Equation.DSMT4">
                  <p:embed/>
                </p:oleObj>
              </mc:Choice>
              <mc:Fallback>
                <p:oleObj name="Equation" r:id="rId5" imgW="15240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18756" y="4658158"/>
                        <a:ext cx="4154487" cy="554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1" name="Picture 5" descr="Diagram: a large outer region labeled S (sample space) containing two small overlapping regions A and B, with their overlap shaded. Illustrates events as subsets of the sample space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73732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2023378143"/>
              </p:ext>
            </p:extLst>
          </p:nvPr>
        </p:nvGraphicFramePr>
        <p:xfrm>
          <a:off x="3086100" y="5715000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38400" imgH="203200" progId="Equation.DSMT4">
                  <p:embed/>
                </p:oleObj>
              </mc:Choice>
              <mc:Fallback>
                <p:oleObj name="Equation" r:id="rId5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6100" y="5715000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  <p:sp>
        <p:nvSpPr>
          <p:cNvPr id="73734" name="TextBox 73733"/>
          <p:cNvSpPr txBox="1"/>
          <p:nvPr/>
        </p:nvSpPr>
        <p:spPr>
          <a:xfrm>
            <a:off x="2309813" y="1258888"/>
            <a:ext cx="7823200" cy="179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0">
                <a:latin typeface="Cambria"/>
              </a:rPr>
              <a:t>Pr{A, B} = (Area common to A and B) / (Area of S)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eenshot of a presentation slide titled 'So what?' from a Bayes' Theorem lecture (Che-Castaldo, Collins, Hobbs); the Connections section tab is highlighted. No figure content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Directed acyclic graph (DAG) and joint distribution of a Bayesian hierarchical regression. In the DAG, x_ij has a dashed arrow to y_ij; alpha_j, beta, and sigma^2 each point to y_ij; and mu_alpha, varsigma^2 point to alpha_j. The joint distribution is: [beta, alpha, sigma^2, mu_alpha, varsigma^2 | y] is proportional to the product over i=1..n_j and j=1..J of normal(y_ij | alpha_j + beta*x_ij, sigma^2), times normal(alpha_j | mu_alpha, varsigma^2), times normal(beta | 0, 10000), times normal(mu_alpha | 0, 1000), times inverse-gamma(sigma^2 | .001, .001), times inverse-gamma(varsigma^2 | .001, .001).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75779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019425" y="28575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9425" y="28575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80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695825" y="4551363"/>
          <a:ext cx="297180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36033" imgH="203112" progId="Equation.DSMT4">
                  <p:embed/>
                </p:oleObj>
              </mc:Choice>
              <mc:Fallback>
                <p:oleObj name="Equation" r:id="rId5" imgW="1536033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5825" y="4551363"/>
                        <a:ext cx="2971800" cy="393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9" y="4986338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graphicFrame>
        <p:nvGraphicFramePr>
          <p:cNvPr id="7782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324225" y="24003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24225" y="24003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7828" name="Picture 1" descr="Diagram: a large outer region labeled S (sample space) containing two small overlapping regions A and B, with their overlap shaded. Illustrates events as subsets of the sample space.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graphicFrame>
        <p:nvGraphicFramePr>
          <p:cNvPr id="81922" name="Object 4"/>
          <p:cNvGraphicFramePr>
            <a:graphicFrameLocks noGrp="1" noChangeAspect="1"/>
          </p:cNvGraphicFramePr>
          <p:nvPr>
            <p:ph idx="1"/>
          </p:nvPr>
        </p:nvGraphicFramePr>
        <p:xfrm>
          <a:off x="1828800" y="1820863"/>
          <a:ext cx="8686800" cy="3714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4749800" imgH="2032000" progId="Equation.DSMT4">
                  <p:embed/>
                </p:oleObj>
              </mc:Choice>
              <mc:Fallback>
                <p:oleObj name="Equation" r:id="rId3" imgW="4749800" imgH="2032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00" y="1820863"/>
                        <a:ext cx="8686800" cy="3714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The word 'complement' rendered as an image, labeling the complement rule in the review of probability concepts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066" y="2313263"/>
            <a:ext cx="1318548" cy="261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sp>
        <p:nvSpPr>
          <p:cNvPr id="3075" name="TextBox 3074"/>
          <p:cNvSpPr txBox="1"/>
          <p:nvPr/>
        </p:nvSpPr>
        <p:spPr>
          <a:xfrm>
            <a:off x="2514600" y="1676400"/>
            <a:ext cx="6991350" cy="281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P(A|B) = ( P(B|A) P(A) ) / P(B)</a:t>
            </a:r>
          </a:p>
        </p:txBody>
      </p:sp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 lvl="1"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  <a:p>
            <a:pPr lvl="1">
              <a:defRPr/>
            </a:pPr>
            <a:endParaRPr lang="en-US" i="1" dirty="0"/>
          </a:p>
        </p:txBody>
      </p:sp>
      <p:pic>
        <p:nvPicPr>
          <p:cNvPr id="119810" name="Picture 2" descr="Photo: a salmonid fish with the row of scales along its side labeled 'lateral line'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Photo: a blue whale swimming in deep blue water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Photo: a fathead minnow, a small silvery fish, in vegetation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graphicFrame>
        <p:nvGraphicFramePr>
          <p:cNvPr id="12288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9015412" y="2115006"/>
          <a:ext cx="18827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228738" progId="">
                  <p:embed/>
                </p:oleObj>
              </mc:Choice>
              <mc:Fallback>
                <p:oleObj name="Equation" r:id="rId3" imgW="939754" imgH="228738" progId="">
                  <p:embed/>
                  <p:pic>
                    <p:nvPicPr>
                      <p:cNvPr id="12288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15412" y="2115006"/>
                        <a:ext cx="1882775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4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3237707" y="2973387"/>
          <a:ext cx="2422525" cy="703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87078" imgH="228738" progId="">
                  <p:embed/>
                </p:oleObj>
              </mc:Choice>
              <mc:Fallback>
                <p:oleObj name="Equation" r:id="rId5" imgW="787078" imgH="228738" progId="">
                  <p:embed/>
                  <p:pic>
                    <p:nvPicPr>
                      <p:cNvPr id="122884" name="Object 6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7707" y="2973387"/>
                        <a:ext cx="2422525" cy="703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5" name="Object 8"/>
          <p:cNvGraphicFramePr>
            <a:graphicFrameLocks noChangeAspect="1"/>
          </p:cNvGraphicFramePr>
          <p:nvPr/>
        </p:nvGraphicFramePr>
        <p:xfrm>
          <a:off x="4543426" y="4945064"/>
          <a:ext cx="2286000" cy="1317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49047" imgH="431570" progId="">
                  <p:embed/>
                </p:oleObj>
              </mc:Choice>
              <mc:Fallback>
                <p:oleObj name="Equation" r:id="rId7" imgW="749047" imgH="431570" progId="">
                  <p:embed/>
                  <p:pic>
                    <p:nvPicPr>
                      <p:cNvPr id="12288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43426" y="4945064"/>
                        <a:ext cx="2286000" cy="1317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426099" y="5211763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4543426" y="49450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4543426" y="58594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96855" y="5021263"/>
            <a:ext cx="235949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Upper summation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751" y="5935663"/>
            <a:ext cx="23505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Lower summation limit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sp>
        <p:nvSpPr>
          <p:cNvPr id="9219" name="TextBox 9218"/>
          <p:cNvSpPr txBox="1"/>
          <p:nvPr/>
        </p:nvSpPr>
        <p:spPr>
          <a:xfrm>
            <a:off x="2293257" y="2841168"/>
            <a:ext cx="7455876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F(x) = P(X ≤ x) = Σ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 = 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 = Σ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sp>
        <p:nvSpPr>
          <p:cNvPr id="126981" name="TextBox 126980"/>
          <p:cNvSpPr txBox="1"/>
          <p:nvPr/>
        </p:nvSpPr>
        <p:spPr>
          <a:xfrm>
            <a:off x="2235200" y="2576514"/>
            <a:ext cx="7455876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F(x) = P(X ≤ x) = Σ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 = 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 = Σ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</a:t>
            </a:r>
          </a:p>
        </p:txBody>
      </p:sp>
      <p:sp>
        <p:nvSpPr>
          <p:cNvPr id="126982" name="TextBox 126981"/>
          <p:cNvSpPr txBox="1"/>
          <p:nvPr/>
        </p:nvSpPr>
        <p:spPr>
          <a:xfrm>
            <a:off x="3080656" y="4394200"/>
            <a:ext cx="54483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P(a &lt; X ≤ b) =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(b) −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graphicFrame>
        <p:nvGraphicFramePr>
          <p:cNvPr id="12902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5105400" y="2971800"/>
          <a:ext cx="2362200" cy="1085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431570" progId="">
                  <p:embed/>
                </p:oleObj>
              </mc:Choice>
              <mc:Fallback>
                <p:oleObj name="Equation" r:id="rId3" imgW="939754" imgH="431570" progId="">
                  <p:embed/>
                  <p:pic>
                    <p:nvPicPr>
                      <p:cNvPr id="12902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2971800"/>
                        <a:ext cx="2362200" cy="1085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9144000" y="28194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172200" y="33528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72400" y="3429000"/>
            <a:ext cx="1752600" cy="5334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6553200" y="3352800"/>
            <a:ext cx="9144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7696200" y="3962400"/>
            <a:ext cx="22098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715000" y="2971800"/>
            <a:ext cx="609600" cy="1143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802063" y="4725988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422401" y="1476375"/>
            <a:ext cx="94342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graphicFrame>
        <p:nvGraphicFramePr>
          <p:cNvPr id="131076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3802063" y="2617391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24368" imgH="431831" progId="">
                  <p:embed/>
                </p:oleObj>
              </mc:Choice>
              <mc:Fallback>
                <p:oleObj name="Equation" r:id="rId3" imgW="1524368" imgH="431831" progId="">
                  <p:embed/>
                  <p:pic>
                    <p:nvPicPr>
                      <p:cNvPr id="131076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02063" y="2617391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graphicFrame>
        <p:nvGraphicFramePr>
          <p:cNvPr id="13312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881076" y="2434774"/>
          <a:ext cx="2855913" cy="882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96678" imgH="431570" progId="">
                  <p:embed/>
                </p:oleObj>
              </mc:Choice>
              <mc:Fallback>
                <p:oleObj name="Equation" r:id="rId3" imgW="1396678" imgH="431570" progId="">
                  <p:embed/>
                  <p:pic>
                    <p:nvPicPr>
                      <p:cNvPr id="13312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1076" y="2434774"/>
                        <a:ext cx="2855913" cy="882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graphicFrame>
        <p:nvGraphicFramePr>
          <p:cNvPr id="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4985267" y="5561043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368" imgH="431831" progId="">
                  <p:embed/>
                </p:oleObj>
              </mc:Choice>
              <mc:Fallback>
                <p:oleObj name="Equation" r:id="rId5" imgW="1524368" imgH="431831" progId="">
                  <p:embed/>
                  <p:pic>
                    <p:nvPicPr>
                      <p:cNvPr id="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85267" y="5561043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 showing three pmf bar charts over x = 1 to 5: (A) uniform flat, (B) triangular peaked at 3, (C) U-shaped with mass at the ends. Students order them by standard deviation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306285" y="0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xample slide: table giving a pmf for X with values 1 to 5 and probabilities 1/10, 2/10, 4/10, 2/10, 1/10. Asks to compute the variance and standard deviation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440"/>
          <a:stretch/>
        </p:blipFill>
        <p:spPr>
          <a:xfrm>
            <a:off x="668175" y="227563"/>
            <a:ext cx="10472576" cy="490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orked solution: mean mu = 3; a row for (X - mu)^2 is added (4,1,0,1,4); variance E[(X-mu)^2] = 1.2 and standard deviation = square root of 1.2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73"/>
          <a:stretch/>
        </p:blipFill>
        <p:spPr>
          <a:xfrm>
            <a:off x="1399591" y="0"/>
            <a:ext cx="9927772" cy="676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76916" y="5435581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804348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 descr="Reference chart titled 'Common statistical tests are linear models', tabulating each test (t-tests, ANOVA, ANCOVA, correlation, chi-square) with its R function and equivalent lm() linear-model formula. Takeaway: familiar tests are special cases of linear models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93857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6184</TotalTime>
  <Words>2320</Words>
  <Application>Microsoft Macintosh PowerPoint</Application>
  <PresentationFormat>Widescreen</PresentationFormat>
  <Paragraphs>329</Paragraphs>
  <Slides>52</Slides>
  <Notes>35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1" baseType="lpstr">
      <vt:lpstr>Arial</vt:lpstr>
      <vt:lpstr>Calibri</vt:lpstr>
      <vt:lpstr>Calibri Light</vt:lpstr>
      <vt:lpstr>CMSS12</vt:lpstr>
      <vt:lpstr>Tahoma</vt:lpstr>
      <vt:lpstr>Times New Roman</vt:lpstr>
      <vt:lpstr>Wingdings</vt:lpstr>
      <vt:lpstr>Office Theme</vt:lpstr>
      <vt:lpstr>Equation</vt:lpstr>
      <vt:lpstr>FW599 - Fall 2024 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Algebra with Expectation and Variance</vt:lpstr>
      <vt:lpstr>Key terms moving forward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78</cp:revision>
  <dcterms:created xsi:type="dcterms:W3CDTF">2020-12-09T20:59:16Z</dcterms:created>
  <dcterms:modified xsi:type="dcterms:W3CDTF">2025-09-19T04:16:28Z</dcterms:modified>
</cp:coreProperties>
</file>