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7" r:id="rId2"/>
    <p:sldId id="336" r:id="rId3"/>
    <p:sldId id="259" r:id="rId4"/>
    <p:sldId id="341" r:id="rId5"/>
    <p:sldId id="307" r:id="rId6"/>
    <p:sldId id="262" r:id="rId7"/>
    <p:sldId id="263" r:id="rId8"/>
    <p:sldId id="264" r:id="rId9"/>
    <p:sldId id="266" r:id="rId10"/>
    <p:sldId id="338" r:id="rId11"/>
    <p:sldId id="267" r:id="rId12"/>
    <p:sldId id="268" r:id="rId13"/>
    <p:sldId id="269" r:id="rId14"/>
    <p:sldId id="271" r:id="rId15"/>
    <p:sldId id="272" r:id="rId16"/>
    <p:sldId id="315" r:id="rId17"/>
    <p:sldId id="316" r:id="rId18"/>
    <p:sldId id="273" r:id="rId19"/>
    <p:sldId id="274" r:id="rId20"/>
    <p:sldId id="275" r:id="rId21"/>
    <p:sldId id="276" r:id="rId22"/>
    <p:sldId id="279" r:id="rId23"/>
    <p:sldId id="280" r:id="rId24"/>
    <p:sldId id="281" r:id="rId25"/>
    <p:sldId id="282" r:id="rId26"/>
    <p:sldId id="313" r:id="rId27"/>
    <p:sldId id="314" r:id="rId28"/>
    <p:sldId id="317" r:id="rId29"/>
    <p:sldId id="283" r:id="rId30"/>
    <p:sldId id="284" r:id="rId31"/>
    <p:sldId id="285" r:id="rId32"/>
    <p:sldId id="286" r:id="rId33"/>
    <p:sldId id="287" r:id="rId34"/>
    <p:sldId id="318" r:id="rId35"/>
    <p:sldId id="258" r:id="rId36"/>
    <p:sldId id="340" r:id="rId37"/>
    <p:sldId id="339" r:id="rId38"/>
    <p:sldId id="321" r:id="rId39"/>
    <p:sldId id="322" r:id="rId40"/>
    <p:sldId id="323" r:id="rId41"/>
    <p:sldId id="324" r:id="rId42"/>
    <p:sldId id="325" r:id="rId43"/>
    <p:sldId id="326" r:id="rId44"/>
    <p:sldId id="327" r:id="rId45"/>
    <p:sldId id="328" r:id="rId46"/>
    <p:sldId id="329" r:id="rId47"/>
    <p:sldId id="312" r:id="rId48"/>
    <p:sldId id="330" r:id="rId49"/>
    <p:sldId id="331" r:id="rId50"/>
    <p:sldId id="333" r:id="rId51"/>
    <p:sldId id="335" r:id="rId52"/>
    <p:sldId id="265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8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FFA9F-E4FE-2949-B991-E9E1D16A3A2F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0412F-5F96-B744-9A4D-B829948529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024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7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820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180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901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7224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46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5066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9573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8789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8982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277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619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964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17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6036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603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8254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3736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012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0956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1344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22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8750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46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0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67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5845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87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3097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5598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739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093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765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18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118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58463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228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12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0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6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39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0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1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8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9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3441E6-8D1F-A143-9351-CE1EA8F40A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056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1093E5-1CB7-9246-9732-7969A55B11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546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74496D-90B9-BC44-898C-3D243456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4737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1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12.w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5.w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6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7.wm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Relationship Id="rId4" Type="http://schemas.openxmlformats.org/officeDocument/2006/relationships/image" Target="../media/image9.png"/><Relationship Id="rId5" Type="http://schemas.openxmlformats.org/officeDocument/2006/relationships/oleObject" Target="../embeddings/oleObject4.bin"/><Relationship Id="rId6" Type="http://schemas.openxmlformats.org/officeDocument/2006/relationships/image" Target="../media/image16.wmf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e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1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2.wm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1.wmf"/><Relationship Id="rId5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23.wmf"/><Relationship Id="rId5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jpeg"/><Relationship Id="rId3" Type="http://schemas.openxmlformats.org/officeDocument/2006/relationships/image" Target="../media/image27.jpeg"/><Relationship Id="rId4" Type="http://schemas.openxmlformats.org/officeDocument/2006/relationships/image" Target="../media/image28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29.wmf"/><Relationship Id="rId5" Type="http://schemas.openxmlformats.org/officeDocument/2006/relationships/oleObject" Target="../embeddings/oleObject10.bin"/><Relationship Id="rId6" Type="http://schemas.openxmlformats.org/officeDocument/2006/relationships/image" Target="../media/image30.wmf"/><Relationship Id="rId7" Type="http://schemas.openxmlformats.org/officeDocument/2006/relationships/oleObject" Target="../embeddings/oleObject11.bin"/><Relationship Id="rId8" Type="http://schemas.openxmlformats.org/officeDocument/2006/relationships/image" Target="../media/image31.wmf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34.wmf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35.wmf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36.wmf"/><Relationship Id="rId5" Type="http://schemas.openxmlformats.org/officeDocument/2006/relationships/oleObject" Target="../embeddings/oleObject13.bin"/><Relationship Id="rId6" Type="http://schemas.openxmlformats.org/officeDocument/2006/relationships/image" Target="../media/image35.wmf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emf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emf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emf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FW536 – Statistical modeling for ecology and conservation </a:t>
            </a: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AKA Get your data on!</a:t>
            </a:r>
            <a:endParaRPr lang="en-AU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26511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What is this course?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524000" y="1905001"/>
            <a:ext cx="9086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b="1" dirty="0">
                <a:solidFill>
                  <a:srgbClr val="000000"/>
                </a:solidFill>
              </a:rPr>
              <a:t>Goal</a:t>
            </a:r>
            <a:r>
              <a:rPr lang="en-US" altLang="en-US" sz="2400" dirty="0">
                <a:solidFill>
                  <a:srgbClr val="000000"/>
                </a:solidFill>
              </a:rPr>
              <a:t>: Provide a strong statistical foundation and transferable skills to help you (1) understand and analyze data, and (2) conduct more complex statistical modeling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37226-3991-D4C1-4468-D3805F3F66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54" y="4511687"/>
            <a:ext cx="978029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We are going for </a:t>
            </a:r>
            <a:r>
              <a:rPr lang="en-US" altLang="en-US" sz="2400" b="1" dirty="0">
                <a:solidFill>
                  <a:srgbClr val="000000"/>
                </a:solidFill>
              </a:rPr>
              <a:t>deep understanding </a:t>
            </a:r>
            <a:r>
              <a:rPr lang="en-US" altLang="en-US" sz="2400" dirty="0">
                <a:solidFill>
                  <a:srgbClr val="000000"/>
                </a:solidFill>
              </a:rPr>
              <a:t>not just implementing R code.</a:t>
            </a:r>
          </a:p>
        </p:txBody>
      </p:sp>
    </p:spTree>
    <p:extLst>
      <p:ext uri="{BB962C8B-B14F-4D97-AF65-F5344CB8AC3E}">
        <p14:creationId xmlns:p14="http://schemas.microsoft.com/office/powerpoint/2010/main" val="121291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Course oath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133803" y="2115208"/>
            <a:ext cx="1015299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“I agree to ask questions when something is not clear or I am confused.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 dirty="0">
              <a:solidFill>
                <a:srgbClr val="000000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strive to work together to help one another.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not be afraid to look stupid because we’re all just apes in a room”</a:t>
            </a:r>
          </a:p>
        </p:txBody>
      </p:sp>
    </p:spTree>
    <p:extLst>
      <p:ext uri="{BB962C8B-B14F-4D97-AF65-F5344CB8AC3E}">
        <p14:creationId xmlns:p14="http://schemas.microsoft.com/office/powerpoint/2010/main" val="179736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80297" y="-11049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Grading</a:t>
            </a:r>
            <a:endParaRPr lang="en-AU" altLang="en-US" sz="3200" b="1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514035" y="1822409"/>
            <a:ext cx="10895525" cy="1606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Participation and group work (100 points)</a:t>
            </a:r>
          </a:p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cs typeface="Arial" charset="0"/>
              </a:rPr>
              <a:t>Labs (200 points)</a:t>
            </a:r>
            <a:endParaRPr lang="en-AU" altLang="en-US" sz="3200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14" y="0"/>
            <a:ext cx="10515600" cy="1325563"/>
          </a:xfrm>
        </p:spPr>
        <p:txBody>
          <a:bodyPr/>
          <a:lstStyle/>
          <a:p>
            <a:r>
              <a:rPr lang="en-US"/>
              <a:t>This course is just a </a:t>
            </a:r>
            <a:r>
              <a:rPr lang="en-US" dirty="0"/>
              <a:t>jumping off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4" y="1453184"/>
            <a:ext cx="10515600" cy="4351338"/>
          </a:xfrm>
        </p:spPr>
        <p:txBody>
          <a:bodyPr/>
          <a:lstStyle/>
          <a:p>
            <a:r>
              <a:rPr lang="en-US" dirty="0"/>
              <a:t>Train yourself by reading books.</a:t>
            </a:r>
          </a:p>
          <a:p>
            <a:r>
              <a:rPr lang="en-US" dirty="0"/>
              <a:t>Consider pursuing side project using methods you want to learn</a:t>
            </a:r>
          </a:p>
          <a:p>
            <a:r>
              <a:rPr lang="en-US" dirty="0"/>
              <a:t>Consider attending weekly math/stats seminars</a:t>
            </a:r>
          </a:p>
        </p:txBody>
      </p:sp>
      <p:pic>
        <p:nvPicPr>
          <p:cNvPr id="1026" name="Picture 2" descr="Book cover: The Ecological Detective, Confronting Models with Data, by Ray Hilborn and Marc Mangel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60" y="3228073"/>
            <a:ext cx="2137647" cy="329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ook cover: Ecological Models and Data in R by Benjamin M. Bolker, showing a fish over coral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164" y="3309711"/>
            <a:ext cx="2219745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ook cover: The Theoretical Biologist's Toolbox, Quantitative Methods for Ecology and Evolutionary Biology, by Marc Mangel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497" y="3309711"/>
            <a:ext cx="2305910" cy="32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Book cover: Applied Hierarchical Modeling in Ecology, Volume 1, by Marc Kery and J. Andrew Royle, with a green dragonfly.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7280" y="168436"/>
            <a:ext cx="2284385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Book cover: Applied Hierarchical Modeling in Ecology, Volume 2, by Marc Kery and J. Andrew Royle, with a red dragonfly.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653" y="3479908"/>
            <a:ext cx="2290012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Book cover: Bayesian Models, A Statistical Primer for Ecologists, by N. Thompson Hobbs and Mevin B. Hooten.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403" y="3326099"/>
            <a:ext cx="2036350" cy="323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06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4953001" y="985839"/>
            <a:ext cx="5573713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 err="1">
                <a:solidFill>
                  <a:srgbClr val="000000"/>
                </a:solidFill>
              </a:rPr>
              <a:t>Chi.sq</a:t>
            </a:r>
            <a:r>
              <a:rPr lang="en-US" altLang="en-US" sz="2133" dirty="0">
                <a:solidFill>
                  <a:srgbClr val="000000"/>
                </a:solidFill>
              </a:rPr>
              <a:t> 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all stuff you learned</a:t>
            </a:r>
          </a:p>
        </p:txBody>
      </p:sp>
      <p:pic>
        <p:nvPicPr>
          <p:cNvPr id="129026" name="Picture 2" descr="Book cover: The French Chef Cookbook by Julia Child; used as a joke about learning recipes versus understanding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9075" y="2365376"/>
            <a:ext cx="299085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2895600" y="5553075"/>
            <a:ext cx="8796338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Useful to get started. </a:t>
            </a:r>
          </a:p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But a </a:t>
            </a:r>
            <a:r>
              <a:rPr lang="en-US" altLang="en-US" sz="2844" b="0" i="1" dirty="0">
                <a:solidFill>
                  <a:srgbClr val="000000"/>
                </a:solidFill>
              </a:rPr>
              <a:t>really </a:t>
            </a:r>
            <a:r>
              <a:rPr lang="en-US" altLang="en-US" sz="2844" b="0" dirty="0">
                <a:solidFill>
                  <a:srgbClr val="000000"/>
                </a:solidFill>
              </a:rPr>
              <a:t>stupid way to </a:t>
            </a:r>
            <a:r>
              <a:rPr lang="en-US" altLang="en-US" sz="2844" u="sng" dirty="0">
                <a:solidFill>
                  <a:srgbClr val="000000"/>
                </a:solidFill>
              </a:rPr>
              <a:t>learn</a:t>
            </a:r>
            <a:r>
              <a:rPr lang="en-US" altLang="en-US" sz="2844" b="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41989" name="TextBox 1"/>
          <p:cNvSpPr txBox="1">
            <a:spLocks noChangeArrowheads="1"/>
          </p:cNvSpPr>
          <p:nvPr/>
        </p:nvSpPr>
        <p:spPr bwMode="auto">
          <a:xfrm>
            <a:off x="1676401" y="942976"/>
            <a:ext cx="36734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dirty="0"/>
              <a:t>General linear model vs.</a:t>
            </a:r>
          </a:p>
          <a:p>
            <a:r>
              <a:rPr lang="en-US" altLang="en-US" dirty="0"/>
              <a:t>Generalized linear model?</a:t>
            </a:r>
          </a:p>
        </p:txBody>
      </p:sp>
    </p:spTree>
    <p:extLst>
      <p:ext uri="{BB962C8B-B14F-4D97-AF65-F5344CB8AC3E}">
        <p14:creationId xmlns:p14="http://schemas.microsoft.com/office/powerpoint/2010/main" val="15883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682625" y="1219200"/>
            <a:ext cx="5575300" cy="455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almost all stuff you learned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5094287" y="1176576"/>
            <a:ext cx="6451949" cy="4783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Is mean of one measured continuous thing different from what you expect?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different from each other?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collected in a paired treatment (e.g. same subject at two times) different?</a:t>
            </a:r>
            <a:endParaRPr lang="en-US" altLang="en-US" u="sng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X=factor,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X=both factor and 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X1, X2</a:t>
            </a:r>
            <a:r>
              <a:rPr lang="mr-IN" altLang="en-US" dirty="0">
                <a:solidFill>
                  <a:srgbClr val="000000"/>
                </a:solidFill>
              </a:rPr>
              <a:t>…</a:t>
            </a:r>
            <a:r>
              <a:rPr lang="en-US" altLang="en-US" dirty="0">
                <a:solidFill>
                  <a:srgbClr val="000000"/>
                </a:solidFill>
              </a:rPr>
              <a:t>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Y=binary  (mostly taught this way) </a:t>
            </a:r>
            <a:r>
              <a:rPr lang="mr-IN" altLang="en-US" dirty="0">
                <a:solidFill>
                  <a:srgbClr val="000000"/>
                </a:solidFill>
              </a:rPr>
              <a:t>–</a:t>
            </a:r>
            <a:r>
              <a:rPr lang="en-US" altLang="en-US" dirty="0">
                <a:solidFill>
                  <a:srgbClr val="000000"/>
                </a:solidFill>
              </a:rPr>
              <a:t> Note that is a “generalized” linear model because the errors are not Normal</a:t>
            </a:r>
          </a:p>
        </p:txBody>
      </p:sp>
    </p:spTree>
    <p:extLst>
      <p:ext uri="{BB962C8B-B14F-4D97-AF65-F5344CB8AC3E}">
        <p14:creationId xmlns:p14="http://schemas.microsoft.com/office/powerpoint/2010/main" val="115244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extBox 1"/>
          <p:cNvSpPr txBox="1">
            <a:spLocks noChangeArrowheads="1"/>
          </p:cNvSpPr>
          <p:nvPr/>
        </p:nvSpPr>
        <p:spPr bwMode="auto">
          <a:xfrm>
            <a:off x="3657600" y="1"/>
            <a:ext cx="44005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/>
              <a:t>This can be generalized further</a:t>
            </a:r>
          </a:p>
        </p:txBody>
      </p:sp>
      <p:pic>
        <p:nvPicPr>
          <p:cNvPr id="44034" name="Picture 2" descr="Diagram of statistical model relationships: general linear models at top branch via nonlinearity, random effects, and non-normal errors into mixed models, GLMs, GLMMs, GAMs, and nonlinear time series. Shows how model families conn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609600"/>
            <a:ext cx="9144000" cy="616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1793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851" y="457200"/>
            <a:ext cx="1126901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rgbClr val="3333B2"/>
                </a:solidFill>
                <a:latin typeface="CMSS12" charset="0"/>
              </a:rPr>
              <a:t>Probability vs. Statistics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dirty="0">
                <a:latin typeface="CMSS12" charset="0"/>
              </a:rPr>
              <a:t>Different subjects: both about random processes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Probability</a:t>
            </a:r>
            <a:endParaRPr lang="en-US" sz="2400" dirty="0">
              <a:latin typeface="CMSS12" charset="0"/>
            </a:endParaRP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Logically self-contained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A few rules for computing probabilities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One correct answer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Statistics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Messier and more of an art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Get experimental data and try to draw probabilistic conclusions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No single correct answer 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But built on probability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2188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22FD44-86CB-3B24-E40B-926ADA96ECE2}"/>
              </a:ext>
            </a:extLst>
          </p:cNvPr>
          <p:cNvSpPr txBox="1"/>
          <p:nvPr/>
        </p:nvSpPr>
        <p:spPr>
          <a:xfrm>
            <a:off x="1225826" y="1656523"/>
            <a:ext cx="97403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probability experiment</a:t>
            </a:r>
            <a:r>
              <a:rPr lang="en-US" sz="2800" dirty="0"/>
              <a:t> is a process or action that can be repeated under the same conditions and results in well-defined outcomes, but the outcome is uncertain or random. Each possible outcome of the experiment has an associated probability, which is a measure of how likely that outcome is to occur.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7155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3979" name="Group 43"/>
          <p:cNvGraphicFramePr>
            <a:graphicFrameLocks noGrp="1"/>
          </p:cNvGraphicFramePr>
          <p:nvPr>
            <p:ph type="tbl" idx="1"/>
          </p:nvPr>
        </p:nvGraphicFramePr>
        <p:xfrm>
          <a:off x="2286000" y="1400175"/>
          <a:ext cx="7772400" cy="4972139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17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Count of the number of trees in a stand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15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(all possible outcomes)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{0, 1, 2, ….}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(subset of interest from sample space)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&gt;10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(the actual result in the probability experiment)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831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7011" name="Group 3"/>
          <p:cNvGraphicFramePr>
            <a:graphicFrameLocks noGrp="1"/>
          </p:cNvGraphicFramePr>
          <p:nvPr>
            <p:ph type="tbl" idx="1"/>
          </p:nvPr>
        </p:nvGraphicFramePr>
        <p:xfrm>
          <a:off x="2317750" y="1476375"/>
          <a:ext cx="7772400" cy="41148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Determine the maturity state of a baleen whale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Mature, Calf, Juvenile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Immature = {Juvenile OR Calf}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Calf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1372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-31660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Classical Probability</a:t>
            </a:r>
          </a:p>
        </p:txBody>
      </p:sp>
      <p:pic>
        <p:nvPicPr>
          <p:cNvPr id="50178" name="Picture 7" descr="Diagram: a large outer region labeled S (sample space) containing two small overlapping regions A and B, with their overlap shaded. Illustrates events as subsets of the sample space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1" y="3695008"/>
            <a:ext cx="2163763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79" name="Picture 3" descr="Equation: Pr{A} = (Area of A) divided by (Area of S); probability of event A is its area relative to the whole sample space S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02596"/>
            <a:ext cx="91440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0" descr="Book cover: The Theoretical Biologist's Toolbox, Quantitative Methods for Ecology and Evolutionary Biology, by Marc Mangel.">
            <a:extLst>
              <a:ext uri="{FF2B5EF4-FFF2-40B4-BE49-F238E27FC236}">
                <a16:creationId xmlns:a16="http://schemas.microsoft.com/office/drawing/2014/main" id="{6672C688-9D98-AEBE-FC9C-A03409D04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9418" y="4146698"/>
            <a:ext cx="1912582" cy="271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2951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617538"/>
            <a:ext cx="863917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Classical Probability-II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9258" y="2028223"/>
            <a:ext cx="963826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What is the (classical) probability of selecting the King of Clubs from a pack of 52 cards?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you drew a card from a pack and it was the King of Clubs, what is the probability of then randomly drawing another club?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21638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B6830-1FBA-1225-06C6-9FFA45A9C0AB}"/>
              </a:ext>
            </a:extLst>
          </p:cNvPr>
          <p:cNvSpPr/>
          <p:nvPr/>
        </p:nvSpPr>
        <p:spPr>
          <a:xfrm>
            <a:off x="1435100" y="3594538"/>
            <a:ext cx="8969376" cy="2827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950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7E5CC-113D-B6CF-E031-860D0D61A517}"/>
              </a:ext>
            </a:extLst>
          </p:cNvPr>
          <p:cNvSpPr/>
          <p:nvPr/>
        </p:nvSpPr>
        <p:spPr>
          <a:xfrm>
            <a:off x="1435100" y="5163015"/>
            <a:ext cx="8969376" cy="1258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014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</p:spTree>
    <p:extLst>
      <p:ext uri="{BB962C8B-B14F-4D97-AF65-F5344CB8AC3E}">
        <p14:creationId xmlns:p14="http://schemas.microsoft.com/office/powerpoint/2010/main" val="1878629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Probabilities Formalized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133601" y="1447801"/>
            <a:ext cx="8303172" cy="4506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A probability cannot be negative and cannot exceed 1, i.e.:</a:t>
            </a:r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r>
              <a:rPr lang="en-US" altLang="en-US" sz="2400" dirty="0"/>
              <a:t>The complement of the event </a:t>
            </a:r>
            <a:r>
              <a:rPr lang="en-US" altLang="en-US" sz="2400" i="1" dirty="0"/>
              <a:t>E</a:t>
            </a:r>
            <a:r>
              <a:rPr lang="en-US" altLang="en-US" sz="2400" dirty="0"/>
              <a:t> is the set of outcomes not part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. The probability of the complement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 (denoted </a:t>
            </a:r>
            <a:r>
              <a:rPr lang="en-US" altLang="en-US" sz="2400" i="1" dirty="0"/>
              <a:t>E </a:t>
            </a:r>
            <a:r>
              <a:rPr lang="en-US" altLang="en-US" sz="2400" dirty="0"/>
              <a:t>’) is:</a:t>
            </a:r>
          </a:p>
          <a:p>
            <a:pPr eaLnBrk="1" hangingPunct="1">
              <a:defRPr/>
            </a:pPr>
            <a:endParaRPr lang="en-US" altLang="en-US" sz="2400" dirty="0"/>
          </a:p>
        </p:txBody>
      </p:sp>
      <p:sp>
        <p:nvSpPr>
          <p:cNvPr id="55301" name="TextBox 1"/>
          <p:cNvSpPr txBox="1">
            <a:spLocks noChangeArrowheads="1"/>
          </p:cNvSpPr>
          <p:nvPr/>
        </p:nvSpPr>
        <p:spPr bwMode="auto">
          <a:xfrm>
            <a:off x="4943476" y="6019801"/>
            <a:ext cx="21431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Why “1” here?</a:t>
            </a:r>
          </a:p>
        </p:txBody>
      </p:sp>
      <p:sp>
        <p:nvSpPr>
          <p:cNvPr id="55302" name="TextBox 55301"/>
          <p:cNvSpPr txBox="1"/>
          <p:nvPr/>
        </p:nvSpPr>
        <p:spPr>
          <a:xfrm>
            <a:off x="4953000" y="2362200"/>
            <a:ext cx="2185988" cy="565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>
                <a:latin typeface="Cambria"/>
              </a:rPr>
              <a:t>0 ≤ P(E) ≤ 1</a:t>
            </a:r>
          </a:p>
        </p:txBody>
      </p:sp>
      <p:sp>
        <p:nvSpPr>
          <p:cNvPr id="55303" name="TextBox 55302"/>
          <p:cNvSpPr txBox="1"/>
          <p:nvPr/>
        </p:nvSpPr>
        <p:spPr>
          <a:xfrm>
            <a:off x="4453759" y="4750676"/>
            <a:ext cx="2971800" cy="573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>
                <a:latin typeface="Cambria"/>
              </a:rPr>
              <a:t>P(E') = 1 − P(E)</a:t>
            </a:r>
          </a:p>
        </p:txBody>
      </p:sp>
    </p:spTree>
    <p:extLst>
      <p:ext uri="{BB962C8B-B14F-4D97-AF65-F5344CB8AC3E}">
        <p14:creationId xmlns:p14="http://schemas.microsoft.com/office/powerpoint/2010/main" val="2155903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62130" y="1744664"/>
            <a:ext cx="10496281" cy="4114800"/>
          </a:xfrm>
        </p:spPr>
        <p:txBody>
          <a:bodyPr/>
          <a:lstStyle/>
          <a:p>
            <a:pPr marL="609600" indent="-609600">
              <a:defRPr/>
            </a:pPr>
            <a:r>
              <a:rPr lang="en-US" altLang="en-US" sz="2400" dirty="0"/>
              <a:t>The sex ratio at birth for a particular pinniped is 55:45 </a:t>
            </a:r>
            <a:r>
              <a:rPr lang="en-US" altLang="en-US" sz="2400" dirty="0" err="1"/>
              <a:t>male:female</a:t>
            </a:r>
            <a:r>
              <a:rPr lang="en-US" altLang="en-US" sz="2400" dirty="0"/>
              <a:t>. You select two pups at random from the (large) population. What is the probability that:</a:t>
            </a:r>
          </a:p>
          <a:p>
            <a:pPr marL="990600" lvl="1" indent="-533400">
              <a:defRPr/>
            </a:pPr>
            <a:r>
              <a:rPr lang="en-US" altLang="en-US" sz="2000" dirty="0"/>
              <a:t>a. they are both male?</a:t>
            </a:r>
          </a:p>
          <a:p>
            <a:pPr marL="990600" lvl="1" indent="-533400">
              <a:defRPr/>
            </a:pPr>
            <a:r>
              <a:rPr lang="en-US" altLang="en-US" sz="2000" dirty="0"/>
              <a:t>b. at least one of them is male?</a:t>
            </a:r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905000" y="5397501"/>
            <a:ext cx="81343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How would this be different if the population wasn’t large?</a:t>
            </a:r>
          </a:p>
        </p:txBody>
      </p:sp>
    </p:spTree>
    <p:extLst>
      <p:ext uri="{BB962C8B-B14F-4D97-AF65-F5344CB8AC3E}">
        <p14:creationId xmlns:p14="http://schemas.microsoft.com/office/powerpoint/2010/main" val="10900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70841" y="1704975"/>
            <a:ext cx="8622457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70C0"/>
                </a:solidFill>
              </a:rPr>
              <a:t>conditional probability </a:t>
            </a:r>
            <a:r>
              <a:rPr lang="en-US" altLang="en-US" dirty="0"/>
              <a:t>is the probability of an event occurring given that another event has </a:t>
            </a:r>
            <a:r>
              <a:rPr lang="en-US" altLang="en-US" i="1" dirty="0">
                <a:solidFill>
                  <a:schemeClr val="hlink"/>
                </a:solidFill>
              </a:rPr>
              <a:t>already</a:t>
            </a:r>
            <a:r>
              <a:rPr lang="en-US" altLang="en-US" dirty="0"/>
              <a:t> occurred.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conditional probability of event </a:t>
            </a:r>
            <a:r>
              <a:rPr lang="en-US" altLang="en-US" i="1" dirty="0"/>
              <a:t>B</a:t>
            </a:r>
            <a:r>
              <a:rPr lang="en-US" altLang="en-US" dirty="0"/>
              <a:t> occurring given that event </a:t>
            </a:r>
            <a:r>
              <a:rPr lang="en-US" altLang="en-US" i="1" dirty="0"/>
              <a:t>A</a:t>
            </a:r>
            <a:r>
              <a:rPr lang="en-US" altLang="en-US" dirty="0"/>
              <a:t> has already occurred is denoted </a:t>
            </a:r>
            <a:r>
              <a:rPr lang="en-US" altLang="en-US" i="1" dirty="0"/>
              <a:t>P</a:t>
            </a:r>
            <a:r>
              <a:rPr lang="en-US" altLang="en-US" dirty="0"/>
              <a:t>(</a:t>
            </a:r>
            <a:r>
              <a:rPr lang="en-US" altLang="en-US" i="1" dirty="0"/>
              <a:t>B</a:t>
            </a:r>
            <a:r>
              <a:rPr lang="en-US" altLang="en-US" dirty="0"/>
              <a:t>|</a:t>
            </a:r>
            <a:r>
              <a:rPr lang="en-US" altLang="en-US" i="1" dirty="0"/>
              <a:t>A</a:t>
            </a:r>
            <a:r>
              <a:rPr lang="en-US" altLang="en-US" dirty="0"/>
              <a:t>) and is read as “probability of </a:t>
            </a:r>
            <a:r>
              <a:rPr lang="en-US" altLang="en-US" i="1" dirty="0"/>
              <a:t>B</a:t>
            </a:r>
            <a:r>
              <a:rPr lang="en-US" altLang="en-US" dirty="0"/>
              <a:t> given </a:t>
            </a:r>
            <a:r>
              <a:rPr lang="en-US" altLang="en-US" i="1" dirty="0"/>
              <a:t>A</a:t>
            </a:r>
            <a:r>
              <a:rPr lang="en-US" alt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16207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Probability-II</a:t>
            </a:r>
          </a:p>
        </p:txBody>
      </p:sp>
      <p:graphicFrame>
        <p:nvGraphicFramePr>
          <p:cNvPr id="448515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892409800"/>
              </p:ext>
            </p:extLst>
          </p:nvPr>
        </p:nvGraphicFramePr>
        <p:xfrm>
          <a:off x="3200400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511" name="Text Box 36"/>
          <p:cNvSpPr txBox="1">
            <a:spLocks noChangeArrowheads="1"/>
          </p:cNvSpPr>
          <p:nvPr/>
        </p:nvSpPr>
        <p:spPr bwMode="auto">
          <a:xfrm>
            <a:off x="2090738" y="4792664"/>
            <a:ext cx="838248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eaLnBrk="1" hangingPunct="1">
              <a:defRPr/>
            </a:pPr>
            <a:r>
              <a:rPr lang="en-US" altLang="en-US" sz="2000" dirty="0"/>
              <a:t> 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 if you have the gene?</a:t>
            </a:r>
          </a:p>
        </p:txBody>
      </p:sp>
      <p:pic>
        <p:nvPicPr>
          <p:cNvPr id="1028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884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-314094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Probability-V</a:t>
            </a:r>
          </a:p>
        </p:txBody>
      </p:sp>
      <p:pic>
        <p:nvPicPr>
          <p:cNvPr id="67586" name="Picture 5" descr="Diagram: a large outer region labeled S (sample space) containing two small overlapping regions A and B, with their overlap shaded. Illustrates events as subsets of the sample space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886200"/>
            <a:ext cx="1898650" cy="2725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7587" name="Picture 2" descr="Equation: Pr{A given B} = (Area common to A and B) divided by (Area of B); conditioning on B restricts the sample space to B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914401"/>
            <a:ext cx="8382000" cy="310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946888" y="6488668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Mangel’s</a:t>
            </a:r>
            <a:r>
              <a:rPr lang="en-US" dirty="0"/>
              <a:t> Toolbox</a:t>
            </a:r>
          </a:p>
        </p:txBody>
      </p:sp>
    </p:spTree>
    <p:extLst>
      <p:ext uri="{BB962C8B-B14F-4D97-AF65-F5344CB8AC3E}">
        <p14:creationId xmlns:p14="http://schemas.microsoft.com/office/powerpoint/2010/main" val="1056572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9395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Independent Events-I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321837" y="1716157"/>
            <a:ext cx="886515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Two events are said to be </a:t>
            </a:r>
            <a:r>
              <a:rPr lang="en-US" altLang="en-US" b="1" dirty="0">
                <a:solidFill>
                  <a:srgbClr val="0070C0"/>
                </a:solidFill>
              </a:rPr>
              <a:t>independent </a:t>
            </a:r>
            <a:r>
              <a:rPr lang="en-US" altLang="en-US" dirty="0"/>
              <a:t>if the occurrence of one does not affect the probability of the other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Two events are independent therefore if:</a:t>
            </a:r>
          </a:p>
        </p:txBody>
      </p:sp>
      <p:sp>
        <p:nvSpPr>
          <p:cNvPr id="4100" name="TextBox 4099"/>
          <p:cNvSpPr txBox="1"/>
          <p:nvPr/>
        </p:nvSpPr>
        <p:spPr>
          <a:xfrm>
            <a:off x="2393950" y="4096924"/>
            <a:ext cx="6172200" cy="4984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>
                <a:latin typeface="Cambria"/>
              </a:rPr>
              <a:t>P(A) = P(A | B);        P(B) = P(B | A)</a:t>
            </a:r>
          </a:p>
        </p:txBody>
      </p:sp>
    </p:spTree>
    <p:extLst>
      <p:ext uri="{BB962C8B-B14F-4D97-AF65-F5344CB8AC3E}">
        <p14:creationId xmlns:p14="http://schemas.microsoft.com/office/powerpoint/2010/main" val="5100247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336550"/>
            <a:ext cx="868680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37062" y="1981200"/>
            <a:ext cx="101587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two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in sequence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independent, then the multiplication rule becomes:</a:t>
            </a:r>
          </a:p>
        </p:txBody>
      </p:sp>
      <p:sp>
        <p:nvSpPr>
          <p:cNvPr id="6150" name="TextBox 6149"/>
          <p:cNvSpPr txBox="1"/>
          <p:nvPr/>
        </p:nvSpPr>
        <p:spPr>
          <a:xfrm>
            <a:off x="2779713" y="2743995"/>
            <a:ext cx="59436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P(A and B) = P(A ∩ B) = P(A) · P(B | A)</a:t>
            </a:r>
          </a:p>
        </p:txBody>
      </p:sp>
      <p:sp>
        <p:nvSpPr>
          <p:cNvPr id="6151" name="TextBox 6150"/>
          <p:cNvSpPr txBox="1"/>
          <p:nvPr/>
        </p:nvSpPr>
        <p:spPr>
          <a:xfrm>
            <a:off x="4018756" y="4658158"/>
            <a:ext cx="4154487" cy="5540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400">
                <a:latin typeface="Cambria"/>
              </a:rPr>
              <a:t>P(A and B) = P(A) · P(B)</a:t>
            </a:r>
          </a:p>
        </p:txBody>
      </p:sp>
    </p:spTree>
    <p:extLst>
      <p:ext uri="{BB962C8B-B14F-4D97-AF65-F5344CB8AC3E}">
        <p14:creationId xmlns:p14="http://schemas.microsoft.com/office/powerpoint/2010/main" val="275370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12713"/>
            <a:ext cx="8610600" cy="1143000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pic>
        <p:nvPicPr>
          <p:cNvPr id="73731" name="Picture 5" descr="Diagram: a large outer region labeled S (sample space) containing two small overlapping regions A and B, with their overlap shaded. Illustrates events as subsets of the sample space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730" y="2482394"/>
            <a:ext cx="2174875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733" name="TextBox 1"/>
          <p:cNvSpPr txBox="1">
            <a:spLocks noChangeArrowheads="1"/>
          </p:cNvSpPr>
          <p:nvPr/>
        </p:nvSpPr>
        <p:spPr bwMode="auto">
          <a:xfrm>
            <a:off x="4605132" y="6210300"/>
            <a:ext cx="733963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 dirty="0"/>
              <a:t>Note the multiplication. What’s another way to write this?</a:t>
            </a:r>
          </a:p>
        </p:txBody>
      </p:sp>
      <p:sp>
        <p:nvSpPr>
          <p:cNvPr id="73734" name="TextBox 73733"/>
          <p:cNvSpPr txBox="1"/>
          <p:nvPr/>
        </p:nvSpPr>
        <p:spPr>
          <a:xfrm>
            <a:off x="2309813" y="1258888"/>
            <a:ext cx="7823200" cy="179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0">
                <a:latin typeface="Cambria"/>
              </a:rPr>
              <a:t>Pr{A, B} = (Area common to A and B) / (Area of S)</a:t>
            </a:r>
          </a:p>
        </p:txBody>
      </p:sp>
      <p:sp>
        <p:nvSpPr>
          <p:cNvPr id="73735" name="TextBox 73734"/>
          <p:cNvSpPr txBox="1"/>
          <p:nvPr/>
        </p:nvSpPr>
        <p:spPr>
          <a:xfrm>
            <a:off x="3086100" y="5715000"/>
            <a:ext cx="59436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P(A and B) = P(A ∩ B) = P(A) · P(B | A)</a:t>
            </a:r>
          </a:p>
        </p:txBody>
      </p:sp>
    </p:spTree>
    <p:extLst>
      <p:ext uri="{BB962C8B-B14F-4D97-AF65-F5344CB8AC3E}">
        <p14:creationId xmlns:p14="http://schemas.microsoft.com/office/powerpoint/2010/main" val="7685909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36710" y="54470"/>
            <a:ext cx="10189028" cy="1116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en-US" dirty="0"/>
              <a:t>Factoring joint distributions into conditionals “the chain rule”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2581609" y="3010228"/>
            <a:ext cx="75815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800" dirty="0"/>
              <a:t>P(A, B, C, D) = P(A|B,C,D)P(B|C,D)P(C|D)P(D)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-60022" y="1636127"/>
            <a:ext cx="123824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/>
            <a:r>
              <a:rPr lang="en-US" altLang="en-US" sz="2200" dirty="0"/>
              <a:t>The probability of multiple events (or random variables) is called the </a:t>
            </a:r>
            <a:r>
              <a:rPr lang="en-US" altLang="en-US" sz="2200" b="1" dirty="0"/>
              <a:t>joint </a:t>
            </a:r>
            <a:r>
              <a:rPr lang="en-US" altLang="en-US" sz="2200" dirty="0"/>
              <a:t>distribution of A and B.</a:t>
            </a:r>
          </a:p>
          <a:p>
            <a:pPr algn="ctr"/>
            <a:r>
              <a:rPr lang="en-US" altLang="en-US" sz="2200" dirty="0"/>
              <a:t>The joint distribution can be factored into conditional distributions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603" y="4272104"/>
            <a:ext cx="121204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The conditional distributions can further be simplified if variables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224904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eenshot of a presentation slide titled 'So what?' from a Bayes' Theorem lecture (Che-Castaldo, Collins, Hobbs); the Connections section tab is highlighted. No figure content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97" t="17674" r="21317" b="10697"/>
          <a:stretch/>
        </p:blipFill>
        <p:spPr>
          <a:xfrm>
            <a:off x="737811" y="1097509"/>
            <a:ext cx="6041035" cy="5760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094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conditional distributions can be represented by a Directed Acyclic Graph (DAG) based on the dependencies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88927" y="2734838"/>
            <a:ext cx="60885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Variables with arrowheads: LHS of conditionality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They depend on tails of arrows, which go on RHS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Variables without arrow pointing to them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5801473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Directed acyclic graph (DAG) and joint distribution of a Bayesian hierarchical regression. In the DAG, x_ij has a dashed arrow to y_ij; alpha_j, beta, and sigma^2 each point to y_ij; and mu_alpha, varsigma^2 point to alpha_j. The joint distribution is: [beta, alpha, sigma^2, mu_alpha, varsigma^2 | y] is proportional to the product over i=1..n_j and j=1..J of normal(y_ij | alpha_j + beta*x_ij, sigma^2), times normal(alpha_j | mu_alpha, varsigma^2), times normal(beta | 0, 10000), times normal(mu_alpha | 0, 1000), times inverse-gamma(sigma^2 | .001, .001), times inverse-gamma(varsigma^2 | .001, .001).">
            <a:extLst>
              <a:ext uri="{FF2B5EF4-FFF2-40B4-BE49-F238E27FC236}">
                <a16:creationId xmlns:a16="http://schemas.microsoft.com/office/drawing/2014/main" id="{39D16852-C2FE-61B8-AA0A-27F0793212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2" b="1"/>
          <a:stretch/>
        </p:blipFill>
        <p:spPr>
          <a:xfrm>
            <a:off x="1807778" y="1360840"/>
            <a:ext cx="9396250" cy="52844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36AAA-C401-A374-488F-3554F6CA8A2A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Bayesian models are often represented by DAGs</a:t>
            </a:r>
          </a:p>
        </p:txBody>
      </p:sp>
    </p:spTree>
    <p:extLst>
      <p:ext uri="{BB962C8B-B14F-4D97-AF65-F5344CB8AC3E}">
        <p14:creationId xmlns:p14="http://schemas.microsoft.com/office/powerpoint/2010/main" val="21897565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164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20913" y="16287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events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mutually exclusive, then:</a:t>
            </a:r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75781" name="TextBox 5"/>
          <p:cNvSpPr txBox="1">
            <a:spLocks noChangeArrowheads="1"/>
          </p:cNvSpPr>
          <p:nvPr/>
        </p:nvSpPr>
        <p:spPr bwMode="auto">
          <a:xfrm>
            <a:off x="4916489" y="4986338"/>
            <a:ext cx="233838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Note the addition</a:t>
            </a:r>
          </a:p>
        </p:txBody>
      </p:sp>
      <p:sp>
        <p:nvSpPr>
          <p:cNvPr id="75782" name="TextBox 6"/>
          <p:cNvSpPr txBox="1">
            <a:spLocks noChangeArrowheads="1"/>
          </p:cNvSpPr>
          <p:nvPr/>
        </p:nvSpPr>
        <p:spPr bwMode="auto">
          <a:xfrm>
            <a:off x="9113838" y="2178051"/>
            <a:ext cx="868362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Why?</a:t>
            </a:r>
          </a:p>
        </p:txBody>
      </p:sp>
      <p:cxnSp>
        <p:nvCxnSpPr>
          <p:cNvPr id="75783" name="Straight Arrow Connector 2"/>
          <p:cNvCxnSpPr>
            <a:cxnSpLocks noChangeShapeType="1"/>
            <a:stCxn id="75782" idx="1"/>
          </p:cNvCxnSpPr>
          <p:nvPr/>
        </p:nvCxnSpPr>
        <p:spPr bwMode="auto">
          <a:xfrm flipH="1">
            <a:off x="8839200" y="2393950"/>
            <a:ext cx="274638" cy="4635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5784" name="TextBox 75783"/>
          <p:cNvSpPr txBox="1"/>
          <p:nvPr/>
        </p:nvSpPr>
        <p:spPr>
          <a:xfrm>
            <a:off x="3019425" y="2857501"/>
            <a:ext cx="6224588" cy="4111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P(A or B) = P(A ∪ B) = P(A) + P(B) − P(A and B)</a:t>
            </a:r>
          </a:p>
        </p:txBody>
      </p:sp>
      <p:sp>
        <p:nvSpPr>
          <p:cNvPr id="75785" name="TextBox 75784"/>
          <p:cNvSpPr txBox="1"/>
          <p:nvPr/>
        </p:nvSpPr>
        <p:spPr>
          <a:xfrm>
            <a:off x="4695825" y="4551363"/>
            <a:ext cx="3235569" cy="393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P(A or B) = P(A) + P(B)</a:t>
            </a:r>
          </a:p>
        </p:txBody>
      </p:sp>
    </p:spTree>
    <p:extLst>
      <p:ext uri="{BB962C8B-B14F-4D97-AF65-F5344CB8AC3E}">
        <p14:creationId xmlns:p14="http://schemas.microsoft.com/office/powerpoint/2010/main" val="4117095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525713" y="11715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</a:t>
            </a:r>
          </a:p>
        </p:txBody>
      </p:sp>
      <p:pic>
        <p:nvPicPr>
          <p:cNvPr id="77828" name="Picture 1" descr="Diagram: a large outer region labeled S (sample space) containing two small overlapping regions A and B, with their overlap shaded. Illustrates events as subsets of the sample space.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847976"/>
            <a:ext cx="2647950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7115176" y="3854451"/>
            <a:ext cx="31718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To avoid double count</a:t>
            </a:r>
          </a:p>
        </p:txBody>
      </p:sp>
      <p:cxnSp>
        <p:nvCxnSpPr>
          <p:cNvPr id="6" name="Straight Arrow Connector 5"/>
          <p:cNvCxnSpPr>
            <a:cxnSpLocks noChangeShapeType="1"/>
          </p:cNvCxnSpPr>
          <p:nvPr/>
        </p:nvCxnSpPr>
        <p:spPr bwMode="auto">
          <a:xfrm flipV="1">
            <a:off x="8701088" y="2971800"/>
            <a:ext cx="0" cy="8826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7829" name="TextBox 77828"/>
          <p:cNvSpPr txBox="1"/>
          <p:nvPr/>
        </p:nvSpPr>
        <p:spPr>
          <a:xfrm>
            <a:off x="3324225" y="2400301"/>
            <a:ext cx="6224588" cy="4111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P(A or B) = P(A ∪ B) = P(A) + P(B) − P(A and B)</a:t>
            </a:r>
          </a:p>
        </p:txBody>
      </p:sp>
    </p:spTree>
    <p:extLst>
      <p:ext uri="{BB962C8B-B14F-4D97-AF65-F5344CB8AC3E}">
        <p14:creationId xmlns:p14="http://schemas.microsoft.com/office/powerpoint/2010/main" val="527445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5334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Using the Rules of Probability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graphicFrame>
        <p:nvGraphicFramePr>
          <p:cNvPr id="473177" name="Group 89"/>
          <p:cNvGraphicFramePr>
            <a:graphicFrameLocks noGrp="1"/>
          </p:cNvGraphicFramePr>
          <p:nvPr>
            <p:ph idx="1"/>
          </p:nvPr>
        </p:nvGraphicFramePr>
        <p:xfrm>
          <a:off x="2630488" y="1933575"/>
          <a:ext cx="7580312" cy="2154238"/>
        </p:xfrm>
        <a:graphic>
          <a:graphicData uri="http://schemas.openxmlformats.org/drawingml/2006/table">
            <a:tbl>
              <a:tblPr/>
              <a:tblGrid>
                <a:gridCol w="874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5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Blood Type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 rowSpan="3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Rh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factor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Positive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139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37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12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344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65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184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287" name="Text Box 90"/>
          <p:cNvSpPr txBox="1">
            <a:spLocks noChangeArrowheads="1"/>
          </p:cNvSpPr>
          <p:nvPr/>
        </p:nvSpPr>
        <p:spPr bwMode="auto">
          <a:xfrm>
            <a:off x="1676400" y="4259264"/>
            <a:ext cx="8763000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US" altLang="en-US" sz="2000" dirty="0"/>
              <a:t>The above table is based on data for 409 randomly selected blood donors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O or type A blood?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B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A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is Rh-positive given he / she has</a:t>
            </a:r>
          </a:p>
          <a:p>
            <a:pPr eaLnBrk="1" hangingPunct="1">
              <a:defRPr/>
            </a:pPr>
            <a:r>
              <a:rPr lang="en-US" altLang="en-US" sz="2000" dirty="0"/>
              <a:t>   blood type O?</a:t>
            </a:r>
          </a:p>
        </p:txBody>
      </p:sp>
    </p:spTree>
    <p:extLst>
      <p:ext uri="{BB962C8B-B14F-4D97-AF65-F5344CB8AC3E}">
        <p14:creationId xmlns:p14="http://schemas.microsoft.com/office/powerpoint/2010/main" val="1920884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600"/>
              <a:t>Review of Concepts and Formulae</a:t>
            </a:r>
          </a:p>
        </p:txBody>
      </p:sp>
      <p:sp>
        <p:nvSpPr>
          <p:cNvPr id="11267" name="TextBox 11266"/>
          <p:cNvSpPr txBox="1"/>
          <p:nvPr/>
        </p:nvSpPr>
        <p:spPr>
          <a:xfrm>
            <a:off x="1828800" y="1820863"/>
            <a:ext cx="8686800" cy="3714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>
                <a:latin typeface="Cambria"/>
              </a:rPr>
              <a:t>P(A) : probability of event A</a:t>
            </a:r>
          </a:p>
          <a:p>
            <a:r>
              <a:rPr sz="1600">
                <a:latin typeface="Cambria"/>
              </a:rPr>
              <a:t>P(A') = 1 − P(A) : probability of the complement of the event A</a:t>
            </a:r>
          </a:p>
          <a:p>
            <a:r>
              <a:rPr sz="1600">
                <a:latin typeface="Cambria"/>
              </a:rPr>
              <a:t>P(A) = P(A and B) + P(A and B') : decomposition of the probability of event A</a:t>
            </a:r>
          </a:p>
          <a:p>
            <a:r>
              <a:rPr sz="1600">
                <a:latin typeface="Cambria"/>
              </a:rPr>
              <a:t>P(B | A) = P(A and B) / P(A) : conditional events</a:t>
            </a:r>
          </a:p>
          <a:p>
            <a:r>
              <a:rPr sz="1600">
                <a:latin typeface="Cambria"/>
              </a:rPr>
              <a:t>P(B | A) = P(B) : independent events</a:t>
            </a:r>
          </a:p>
          <a:p>
            <a:r>
              <a:rPr sz="1600">
                <a:latin typeface="Cambria"/>
              </a:rPr>
              <a:t>P(A and B) = P(B | A) · P(A) : multiplication rule</a:t>
            </a:r>
          </a:p>
          <a:p>
            <a:r>
              <a:rPr sz="1600">
                <a:latin typeface="Cambria"/>
              </a:rPr>
              <a:t>P(A and B) = P(A) · P(B) : independent events</a:t>
            </a:r>
          </a:p>
          <a:p>
            <a:r>
              <a:rPr sz="1600">
                <a:latin typeface="Cambria"/>
              </a:rPr>
              <a:t>P(A or B) = P(A) + P(B) − P(A ∩ B) : addition rule</a:t>
            </a:r>
          </a:p>
          <a:p>
            <a:r>
              <a:rPr sz="1600">
                <a:latin typeface="Cambria"/>
              </a:rPr>
              <a:t>P(A or B) = P(A) + P(B) : mutually exclusive events</a:t>
            </a:r>
          </a:p>
        </p:txBody>
      </p:sp>
    </p:spTree>
    <p:extLst>
      <p:ext uri="{BB962C8B-B14F-4D97-AF65-F5344CB8AC3E}">
        <p14:creationId xmlns:p14="http://schemas.microsoft.com/office/powerpoint/2010/main" val="1510882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228600"/>
            <a:ext cx="8763000" cy="12954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2400" b="1" dirty="0">
                <a:latin typeface="Arial" charset="0"/>
                <a:cs typeface="Arial" charset="0"/>
              </a:rPr>
              <a:t>QUESTION: Prove the equality in Bayes rule using simple probability rules</a:t>
            </a:r>
            <a:endParaRPr lang="en-AU" sz="2400" b="1" dirty="0"/>
          </a:p>
        </p:txBody>
      </p:sp>
      <p:sp>
        <p:nvSpPr>
          <p:cNvPr id="3075" name="TextBox 3074"/>
          <p:cNvSpPr txBox="1"/>
          <p:nvPr/>
        </p:nvSpPr>
        <p:spPr>
          <a:xfrm>
            <a:off x="2514600" y="1676400"/>
            <a:ext cx="6991350" cy="281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P(A|B) = ( P(B|A) P(A) ) / P(B)</a:t>
            </a:r>
          </a:p>
        </p:txBody>
      </p:sp>
    </p:spTree>
    <p:extLst>
      <p:ext uri="{BB962C8B-B14F-4D97-AF65-F5344CB8AC3E}">
        <p14:creationId xmlns:p14="http://schemas.microsoft.com/office/powerpoint/2010/main" val="345364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F9C1-7E75-3561-9974-64A3417E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324" y="2103437"/>
            <a:ext cx="10515600" cy="1325563"/>
          </a:xfrm>
        </p:spPr>
        <p:txBody>
          <a:bodyPr/>
          <a:lstStyle/>
          <a:p>
            <a:r>
              <a:rPr lang="en-US" dirty="0"/>
              <a:t>BREAK: Up Next - Operationalizing Probability</a:t>
            </a:r>
          </a:p>
        </p:txBody>
      </p:sp>
    </p:spTree>
    <p:extLst>
      <p:ext uri="{BB962C8B-B14F-4D97-AF65-F5344CB8AC3E}">
        <p14:creationId xmlns:p14="http://schemas.microsoft.com/office/powerpoint/2010/main" val="1818930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random variable </a:t>
            </a:r>
            <a:r>
              <a:rPr lang="en-US" i="1" dirty="0"/>
              <a:t>X</a:t>
            </a:r>
            <a:r>
              <a:rPr lang="en-US" dirty="0"/>
              <a:t>  represents a </a:t>
            </a:r>
            <a:r>
              <a:rPr lang="en-US" dirty="0">
                <a:solidFill>
                  <a:schemeClr val="hlink"/>
                </a:solidFill>
              </a:rPr>
              <a:t>numerical</a:t>
            </a:r>
            <a:r>
              <a:rPr lang="en-US" dirty="0"/>
              <a:t> value associated with each outcome of a probability experiment.</a:t>
            </a:r>
          </a:p>
          <a:p>
            <a:pPr eaLnBrk="1" hangingPunct="1">
              <a:defRPr/>
            </a:pPr>
            <a:r>
              <a:rPr lang="en-US" dirty="0"/>
              <a:t>“Random” implies that there is an element of chance involved. Typical random variables:</a:t>
            </a:r>
          </a:p>
          <a:p>
            <a:pPr lvl="1" eaLnBrk="1" hangingPunct="1">
              <a:defRPr/>
            </a:pPr>
            <a:r>
              <a:rPr lang="en-US" dirty="0"/>
              <a:t>Time that a tagged animal is at large.</a:t>
            </a:r>
          </a:p>
          <a:p>
            <a:pPr lvl="1" eaLnBrk="1" hangingPunct="1">
              <a:defRPr/>
            </a:pPr>
            <a:r>
              <a:rPr lang="en-US" dirty="0"/>
              <a:t>Number of offspring produced by a female Panda bear in one year / over her lifespan.</a:t>
            </a:r>
          </a:p>
          <a:p>
            <a:pPr lvl="1" eaLnBrk="1" hangingPunct="1">
              <a:defRPr/>
            </a:pPr>
            <a:r>
              <a:rPr lang="en-US" dirty="0"/>
              <a:t>Length / weight of a sampled fish</a:t>
            </a:r>
          </a:p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9914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457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Random Variables - 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545" y="1610139"/>
            <a:ext cx="10991947" cy="48006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Notation:</a:t>
            </a:r>
          </a:p>
          <a:p>
            <a:pPr lvl="1" eaLnBrk="1" hangingPunct="1">
              <a:defRPr/>
            </a:pPr>
            <a:r>
              <a:rPr lang="en-US" sz="2600" dirty="0"/>
              <a:t>Convention is to use upper case letters to denote random variables and lower case letters to denote particular values of random variables.</a:t>
            </a:r>
          </a:p>
          <a:p>
            <a:pPr lvl="1" eaLnBrk="1" hangingPunct="1">
              <a:defRPr/>
            </a:pPr>
            <a:endParaRPr lang="en-US" sz="2600" dirty="0"/>
          </a:p>
          <a:p>
            <a:pPr lvl="1" eaLnBrk="1" hangingPunct="1">
              <a:defRPr/>
            </a:pPr>
            <a:r>
              <a:rPr lang="en-US" sz="2600" dirty="0"/>
              <a:t>The probability that the random variable </a:t>
            </a:r>
            <a:r>
              <a:rPr lang="en-US" sz="2600" i="1" dirty="0"/>
              <a:t>X</a:t>
            </a:r>
            <a:r>
              <a:rPr lang="en-US" sz="2600" dirty="0"/>
              <a:t> has value </a:t>
            </a:r>
            <a:r>
              <a:rPr lang="en-US" sz="2600" i="1" dirty="0"/>
              <a:t>x</a:t>
            </a:r>
            <a:r>
              <a:rPr lang="en-US" sz="2600" dirty="0"/>
              <a:t> is written as </a:t>
            </a:r>
            <a:r>
              <a:rPr lang="en-US" sz="2600" i="1" dirty="0"/>
              <a:t>P </a:t>
            </a:r>
            <a:r>
              <a:rPr lang="en-US" sz="2600" dirty="0"/>
              <a:t>(</a:t>
            </a:r>
            <a:r>
              <a:rPr lang="en-US" sz="2600" i="1" dirty="0"/>
              <a:t>X</a:t>
            </a:r>
            <a:r>
              <a:rPr lang="en-US" sz="2600" dirty="0"/>
              <a:t>=</a:t>
            </a:r>
            <a:r>
              <a:rPr lang="en-US" sz="2600" i="1" dirty="0"/>
              <a:t>x</a:t>
            </a:r>
            <a:r>
              <a:rPr lang="en-US" sz="2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631123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 - III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3425" y="1552575"/>
            <a:ext cx="10429461" cy="4687888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A random variable is:</a:t>
            </a:r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Discrete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 countable number of possible outcomes that can be listed.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Continuous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an uncountable number of possible outcomes  (or the number of outcomes cannot be listed). Continuous random variables can (at least conceptually) be measured to any degree of accuracy.</a:t>
            </a:r>
          </a:p>
          <a:p>
            <a:pPr lvl="1"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2703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400175"/>
            <a:ext cx="6897688" cy="4114800"/>
          </a:xfrm>
        </p:spPr>
        <p:txBody>
          <a:bodyPr/>
          <a:lstStyle/>
          <a:p>
            <a:pPr>
              <a:defRPr/>
            </a:pPr>
            <a:r>
              <a:rPr lang="en-US" dirty="0"/>
              <a:t>The number of scales forming the lateral line of a fish?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Max swimming speed of a blue whale?</a:t>
            </a:r>
          </a:p>
          <a:p>
            <a:pPr lvl="1"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Number of reproductive events of a Fathead minnow each year?</a:t>
            </a:r>
          </a:p>
          <a:p>
            <a:pPr lvl="1">
              <a:defRPr/>
            </a:pPr>
            <a:endParaRPr lang="en-US" i="1" dirty="0"/>
          </a:p>
        </p:txBody>
      </p:sp>
      <p:pic>
        <p:nvPicPr>
          <p:cNvPr id="119810" name="Picture 2" descr="Photo: a salmonid fish with the row of scales along its side labeled 'lateral line'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668463"/>
            <a:ext cx="1938337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1" name="Picture 4" descr="Photo: a blue whale swimming in deep blue water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3268664"/>
            <a:ext cx="2057400" cy="140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2" name="Picture 6" descr="Photo: a fathead minnow, a small silvery fish, in vegetation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868863"/>
            <a:ext cx="203041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827339" y="152400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 eaLnBrk="1" hangingPunct="1">
              <a:defRPr/>
            </a:pPr>
            <a:r>
              <a:rPr lang="en-US" sz="44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Random Variables - III</a:t>
            </a:r>
            <a:endParaRPr lang="en-US" sz="4400" kern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6436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4572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5085" y="1820863"/>
            <a:ext cx="10755085" cy="46482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discrete probability distribution </a:t>
            </a:r>
            <a:r>
              <a:rPr lang="en-US" dirty="0"/>
              <a:t>lists each possible value the random variable can take, together with its probability.</a:t>
            </a:r>
          </a:p>
          <a:p>
            <a:pPr lvl="1" eaLnBrk="1" hangingPunct="1">
              <a:defRPr/>
            </a:pPr>
            <a:r>
              <a:rPr lang="en-US" dirty="0"/>
              <a:t>typically called a </a:t>
            </a:r>
            <a:r>
              <a:rPr lang="en-US" b="1" u="sng" dirty="0">
                <a:solidFill>
                  <a:srgbClr val="0070C0"/>
                </a:solidFill>
              </a:rPr>
              <a:t>probability mass function </a:t>
            </a:r>
            <a:r>
              <a:rPr lang="en-US" b="1" dirty="0">
                <a:solidFill>
                  <a:srgbClr val="0070C0"/>
                </a:solidFill>
              </a:rPr>
              <a:t>(PMF)</a:t>
            </a:r>
          </a:p>
          <a:p>
            <a:pPr lvl="1"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From our earlier discussion of probability, it must be true that:</a:t>
            </a:r>
          </a:p>
          <a:p>
            <a:pPr lvl="1" eaLnBrk="1" hangingPunct="1">
              <a:defRPr/>
            </a:pPr>
            <a:r>
              <a:rPr lang="en-US" dirty="0"/>
              <a:t>The probability of each value of the discrete random variable must lie between 0 and 1.</a:t>
            </a:r>
          </a:p>
          <a:p>
            <a:pPr lvl="1" eaLnBrk="1" hangingPunct="1">
              <a:defRPr/>
            </a:pPr>
            <a:r>
              <a:rPr lang="en-US" dirty="0"/>
              <a:t>The sum of all the probabilities must equal 1.</a:t>
            </a:r>
          </a:p>
        </p:txBody>
      </p:sp>
    </p:spTree>
    <p:extLst>
      <p:ext uri="{BB962C8B-B14F-4D97-AF65-F5344CB8AC3E}">
        <p14:creationId xmlns:p14="http://schemas.microsoft.com/office/powerpoint/2010/main" val="80798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3048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(Discrete-II)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16114" y="1704975"/>
            <a:ext cx="831645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Mathematically:</a:t>
            </a:r>
          </a:p>
          <a:p>
            <a:pPr lvl="1" eaLnBrk="1" hangingPunct="1">
              <a:defRPr/>
            </a:pPr>
            <a:r>
              <a:rPr lang="en-US" dirty="0"/>
              <a:t>Let the possible values for the random variable be: </a:t>
            </a:r>
          </a:p>
          <a:p>
            <a:pPr lvl="1" eaLnBrk="1" hangingPunct="1">
              <a:defRPr/>
            </a:pPr>
            <a:r>
              <a:rPr lang="en-US" dirty="0"/>
              <a:t>By the first condition:</a:t>
            </a:r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r>
              <a:rPr lang="en-US" dirty="0"/>
              <a:t>By the second condition:</a:t>
            </a:r>
          </a:p>
        </p:txBody>
      </p:sp>
      <p:sp>
        <p:nvSpPr>
          <p:cNvPr id="122886" name="TextBox 6"/>
          <p:cNvSpPr txBox="1">
            <a:spLocks noChangeArrowheads="1"/>
          </p:cNvSpPr>
          <p:nvPr/>
        </p:nvSpPr>
        <p:spPr bwMode="auto">
          <a:xfrm>
            <a:off x="6660924" y="2829381"/>
            <a:ext cx="29749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probability of each value of the discrete random variable is between 0 and 1, inclusive.</a:t>
            </a:r>
          </a:p>
        </p:txBody>
      </p:sp>
      <p:sp>
        <p:nvSpPr>
          <p:cNvPr id="122887" name="TextBox 7"/>
          <p:cNvSpPr txBox="1">
            <a:spLocks noChangeArrowheads="1"/>
          </p:cNvSpPr>
          <p:nvPr/>
        </p:nvSpPr>
        <p:spPr bwMode="auto">
          <a:xfrm>
            <a:off x="7426099" y="5211763"/>
            <a:ext cx="22098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sum of all the probabilities is 1.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4543426" y="49450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4543426" y="58594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96855" y="5021263"/>
            <a:ext cx="235949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Upper summation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751" y="5935663"/>
            <a:ext cx="23505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Lower summation limit</a:t>
            </a:r>
          </a:p>
        </p:txBody>
      </p:sp>
      <p:sp>
        <p:nvSpPr>
          <p:cNvPr id="122888" name="TextBox 122887"/>
          <p:cNvSpPr txBox="1"/>
          <p:nvPr/>
        </p:nvSpPr>
        <p:spPr>
          <a:xfrm>
            <a:off x="9015412" y="2115006"/>
            <a:ext cx="2532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{x</a:t>
            </a:r>
            <a:r>
              <a:rPr sz="1900" baseline="-25000">
                <a:latin typeface="Cambria"/>
              </a:rPr>
              <a:t>i</a:t>
            </a:r>
            <a:r>
              <a:rPr sz="1900">
                <a:latin typeface="Cambria"/>
              </a:rPr>
              <a:t> : i = 1, …, N}</a:t>
            </a:r>
          </a:p>
        </p:txBody>
      </p:sp>
      <p:sp>
        <p:nvSpPr>
          <p:cNvPr id="122889" name="TextBox 122888"/>
          <p:cNvSpPr txBox="1"/>
          <p:nvPr/>
        </p:nvSpPr>
        <p:spPr>
          <a:xfrm>
            <a:off x="3237707" y="2973387"/>
            <a:ext cx="2422525" cy="7032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>
                <a:latin typeface="Cambria"/>
              </a:rPr>
              <a:t>0 ≤ P(x</a:t>
            </a:r>
            <a:r>
              <a:rPr sz="2600" baseline="-25000">
                <a:latin typeface="Cambria"/>
              </a:rPr>
              <a:t>i</a:t>
            </a:r>
            <a:r>
              <a:rPr sz="2600">
                <a:latin typeface="Cambria"/>
              </a:rPr>
              <a:t>) ≤ 1</a:t>
            </a:r>
          </a:p>
        </p:txBody>
      </p:sp>
      <p:sp>
        <p:nvSpPr>
          <p:cNvPr id="122890" name="TextBox 122889"/>
          <p:cNvSpPr txBox="1"/>
          <p:nvPr/>
        </p:nvSpPr>
        <p:spPr>
          <a:xfrm>
            <a:off x="4543426" y="4945064"/>
            <a:ext cx="2286000" cy="1317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Σ</a:t>
            </a:r>
            <a:r>
              <a:rPr sz="2100" baseline="-25000">
                <a:latin typeface="Cambria"/>
              </a:rPr>
              <a:t>i=1</a:t>
            </a:r>
            <a:r>
              <a:rPr sz="2100" baseline="30000">
                <a:latin typeface="Cambria"/>
              </a:rPr>
              <a:t>N</a:t>
            </a:r>
            <a:r>
              <a:rPr sz="2100">
                <a:latin typeface="Cambria"/>
              </a:rPr>
              <a:t> P(x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) = 1</a:t>
            </a:r>
          </a:p>
        </p:txBody>
      </p:sp>
    </p:spTree>
    <p:extLst>
      <p:ext uri="{BB962C8B-B14F-4D97-AF65-F5344CB8AC3E}">
        <p14:creationId xmlns:p14="http://schemas.microsoft.com/office/powerpoint/2010/main" val="55930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843315" y="174172"/>
            <a:ext cx="848723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290637" y="1607682"/>
            <a:ext cx="10146620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It is common for f(x), or here p(x), to refer to the probability mass function (what people usually mean when they say “distribution”) and F(x) to refer to the cumulative distribution function</a:t>
            </a:r>
          </a:p>
        </p:txBody>
      </p:sp>
      <p:sp>
        <p:nvSpPr>
          <p:cNvPr id="9219" name="TextBox 9218"/>
          <p:cNvSpPr txBox="1"/>
          <p:nvPr/>
        </p:nvSpPr>
        <p:spPr>
          <a:xfrm>
            <a:off x="2293257" y="2841168"/>
            <a:ext cx="7455876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F(x) = P(X ≤ x) = Σ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 = 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 = Σ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0488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35200" y="290514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493838" y="1433514"/>
            <a:ext cx="9021763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The probability that </a:t>
            </a:r>
            <a:r>
              <a:rPr lang="en-US" i="1" dirty="0"/>
              <a:t>X </a:t>
            </a:r>
            <a:r>
              <a:rPr lang="en-US" dirty="0"/>
              <a:t>is between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a</a:t>
            </a:r>
            <a:r>
              <a:rPr lang="en-US" dirty="0"/>
              <a:t> and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b</a:t>
            </a:r>
            <a:r>
              <a:rPr lang="en-US" dirty="0"/>
              <a:t> is</a:t>
            </a: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 lvl="1">
              <a:defRPr/>
            </a:pPr>
            <a:r>
              <a:rPr lang="en-US" dirty="0"/>
              <a:t>Notice the inequalities are not the same. Why?</a:t>
            </a:r>
          </a:p>
        </p:txBody>
      </p:sp>
      <p:sp>
        <p:nvSpPr>
          <p:cNvPr id="126981" name="TextBox 126980"/>
          <p:cNvSpPr txBox="1"/>
          <p:nvPr/>
        </p:nvSpPr>
        <p:spPr>
          <a:xfrm>
            <a:off x="2235200" y="2576514"/>
            <a:ext cx="7455876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F(x) = P(X ≤ x) = Σ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 = 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 = Σ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</a:t>
            </a:r>
          </a:p>
        </p:txBody>
      </p:sp>
      <p:sp>
        <p:nvSpPr>
          <p:cNvPr id="126982" name="TextBox 126981"/>
          <p:cNvSpPr txBox="1"/>
          <p:nvPr/>
        </p:nvSpPr>
        <p:spPr>
          <a:xfrm>
            <a:off x="3080656" y="4394200"/>
            <a:ext cx="54483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P(a &lt; X ≤ b) =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(b) −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12132930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653143" y="617538"/>
            <a:ext cx="11272158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4000" dirty="0"/>
              <a:t>Means, Variances and Standard Deviations-I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0469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The</a:t>
            </a:r>
            <a:r>
              <a:rPr lang="en-US" sz="2400" b="1" dirty="0">
                <a:solidFill>
                  <a:srgbClr val="0070C0"/>
                </a:solidFill>
              </a:rPr>
              <a:t> mean </a:t>
            </a:r>
            <a:r>
              <a:rPr lang="en-US" sz="2400" dirty="0"/>
              <a:t>of a discrete random variable is given by:</a:t>
            </a:r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</p:txBody>
      </p:sp>
      <p:sp>
        <p:nvSpPr>
          <p:cNvPr id="129029" name="TextBox 5"/>
          <p:cNvSpPr txBox="1">
            <a:spLocks noChangeArrowheads="1"/>
          </p:cNvSpPr>
          <p:nvPr/>
        </p:nvSpPr>
        <p:spPr bwMode="auto">
          <a:xfrm>
            <a:off x="7620001" y="2819401"/>
            <a:ext cx="2360613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Each value of </a:t>
            </a:r>
            <a:r>
              <a:rPr lang="en-US" altLang="en-US" sz="1800" i="1" dirty="0"/>
              <a:t>x</a:t>
            </a:r>
            <a:r>
              <a:rPr lang="en-US" altLang="en-US" sz="1800" dirty="0"/>
              <a:t> is multiplied by its corresponding probability and the products are added.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9144000" y="28194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172200" y="33528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72400" y="3429000"/>
            <a:ext cx="1752600" cy="5334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6553200" y="3352800"/>
            <a:ext cx="9144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7696200" y="3962400"/>
            <a:ext cx="22098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715000" y="2971800"/>
            <a:ext cx="609600" cy="1143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9036" name="TextBox 12"/>
          <p:cNvSpPr txBox="1">
            <a:spLocks noChangeArrowheads="1"/>
          </p:cNvSpPr>
          <p:nvPr/>
        </p:nvSpPr>
        <p:spPr bwMode="auto">
          <a:xfrm>
            <a:off x="3802063" y="4725988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  <p:sp>
        <p:nvSpPr>
          <p:cNvPr id="129037" name="TextBox 129036"/>
          <p:cNvSpPr txBox="1"/>
          <p:nvPr/>
        </p:nvSpPr>
        <p:spPr>
          <a:xfrm>
            <a:off x="5105400" y="2971800"/>
            <a:ext cx="2362200" cy="1085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μ = Σ</a:t>
            </a:r>
            <a:r>
              <a:rPr sz="1800" baseline="-25000">
                <a:latin typeface="Cambria"/>
              </a:rPr>
              <a:t>i=1</a:t>
            </a:r>
            <a:r>
              <a:rPr sz="1800" baseline="30000">
                <a:latin typeface="Cambria"/>
              </a:rPr>
              <a:t>N</a:t>
            </a:r>
            <a:r>
              <a:rPr sz="1800">
                <a:latin typeface="Cambria"/>
              </a:rPr>
              <a:t> x</a:t>
            </a:r>
            <a:r>
              <a:rPr sz="1800" baseline="-25000">
                <a:latin typeface="Cambria"/>
              </a:rPr>
              <a:t>i</a:t>
            </a:r>
            <a:r>
              <a:rPr sz="1800">
                <a:latin typeface="Cambria"/>
              </a:rPr>
              <a:t> P(x</a:t>
            </a:r>
            <a:r>
              <a:rPr sz="1800" baseline="-25000">
                <a:latin typeface="Cambria"/>
              </a:rPr>
              <a:t>i</a:t>
            </a:r>
            <a:r>
              <a:rPr sz="18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5267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43025" y="15441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Expected Value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422401" y="1476375"/>
            <a:ext cx="94342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expected value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 discrete random variable (jargon for the mean) is:</a:t>
            </a:r>
          </a:p>
        </p:txBody>
      </p:sp>
      <p:sp>
        <p:nvSpPr>
          <p:cNvPr id="131077" name="TextBox 1"/>
          <p:cNvSpPr txBox="1">
            <a:spLocks noChangeArrowheads="1"/>
          </p:cNvSpPr>
          <p:nvPr/>
        </p:nvSpPr>
        <p:spPr bwMode="auto">
          <a:xfrm>
            <a:off x="3481388" y="4389041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  <p:sp>
        <p:nvSpPr>
          <p:cNvPr id="131078" name="TextBox 131077"/>
          <p:cNvSpPr txBox="1"/>
          <p:nvPr/>
        </p:nvSpPr>
        <p:spPr>
          <a:xfrm>
            <a:off x="3802063" y="2617391"/>
            <a:ext cx="3865562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E(X) = μ</a:t>
            </a:r>
            <a:r>
              <a:rPr sz="2100" baseline="-25000">
                <a:latin typeface="Cambria"/>
              </a:rPr>
              <a:t>X</a:t>
            </a:r>
            <a:r>
              <a:rPr sz="2100">
                <a:latin typeface="Cambria"/>
              </a:rPr>
              <a:t> = Σ</a:t>
            </a:r>
            <a:r>
              <a:rPr sz="2100" baseline="-25000">
                <a:latin typeface="Cambria"/>
              </a:rPr>
              <a:t>i=1</a:t>
            </a:r>
            <a:r>
              <a:rPr sz="2100" baseline="30000">
                <a:latin typeface="Cambria"/>
              </a:rPr>
              <a:t>N</a:t>
            </a:r>
            <a:r>
              <a:rPr sz="2100">
                <a:latin typeface="Cambria"/>
              </a:rPr>
              <a:t> 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 P(x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69943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691" y="237738"/>
            <a:ext cx="103907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Means, Variances and </a:t>
            </a:r>
            <a:br>
              <a:rPr lang="en-US" sz="4000"/>
            </a:br>
            <a:r>
              <a:rPr lang="en-US" sz="4000"/>
              <a:t>Standard Deviations-II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1905747"/>
            <a:ext cx="85238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of a discrete random variable is given by: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	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                     Which is the same as </a:t>
            </a:r>
            <a:r>
              <a:rPr lang="en-US" i="1" dirty="0"/>
              <a:t>E</a:t>
            </a:r>
            <a:r>
              <a:rPr lang="en-US" dirty="0"/>
              <a:t>{(X</a:t>
            </a:r>
            <a:r>
              <a:rPr lang="en-US" i="1" dirty="0"/>
              <a:t> - µ</a:t>
            </a:r>
            <a:r>
              <a:rPr lang="en-US" dirty="0"/>
              <a:t> )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  <a:p>
            <a:pPr>
              <a:buNone/>
              <a:defRPr/>
            </a:pPr>
            <a:r>
              <a:rPr lang="en-US" dirty="0"/>
              <a:t> 	</a:t>
            </a:r>
            <a:r>
              <a:rPr lang="en-US" b="1" dirty="0"/>
              <a:t>Question</a:t>
            </a:r>
            <a:r>
              <a:rPr lang="en-US" dirty="0"/>
              <a:t>: show that  an equivalent definition is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</p:txBody>
      </p:sp>
      <p:sp>
        <p:nvSpPr>
          <p:cNvPr id="133125" name="Rectangle 1"/>
          <p:cNvSpPr>
            <a:spLocks noChangeArrowheads="1"/>
          </p:cNvSpPr>
          <p:nvPr/>
        </p:nvSpPr>
        <p:spPr bwMode="auto">
          <a:xfrm>
            <a:off x="3392621" y="2658612"/>
            <a:ext cx="14211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r>
              <a:rPr lang="en-US" altLang="en-US" sz="2400" i="1" dirty="0" err="1"/>
              <a:t>Var</a:t>
            </a:r>
            <a:r>
              <a:rPr lang="en-US" altLang="en-US" sz="2400" dirty="0"/>
              <a:t>{X} =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31231" y="5785566"/>
            <a:ext cx="216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Recall that </a:t>
            </a: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380931" y="483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  <p:sp>
        <p:nvSpPr>
          <p:cNvPr id="133126" name="TextBox 133125"/>
          <p:cNvSpPr txBox="1"/>
          <p:nvPr/>
        </p:nvSpPr>
        <p:spPr>
          <a:xfrm>
            <a:off x="4881076" y="2434774"/>
            <a:ext cx="2855913" cy="882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>
                <a:latin typeface="Cambria"/>
              </a:rPr>
              <a:t>σ</a:t>
            </a:r>
            <a:r>
              <a:rPr sz="1500" baseline="30000">
                <a:latin typeface="Cambria"/>
              </a:rPr>
              <a:t>2</a:t>
            </a:r>
            <a:r>
              <a:rPr sz="1500">
                <a:latin typeface="Cambria"/>
              </a:rPr>
              <a:t> = Σ</a:t>
            </a:r>
            <a:r>
              <a:rPr sz="1500" baseline="-25000">
                <a:latin typeface="Cambria"/>
              </a:rPr>
              <a:t>i=1</a:t>
            </a:r>
            <a:r>
              <a:rPr sz="1500" baseline="30000">
                <a:latin typeface="Cambria"/>
              </a:rPr>
              <a:t>N</a:t>
            </a:r>
            <a:r>
              <a:rPr sz="1500">
                <a:latin typeface="Cambria"/>
              </a:rPr>
              <a:t> (x</a:t>
            </a:r>
            <a:r>
              <a:rPr sz="1500" baseline="-25000">
                <a:latin typeface="Cambria"/>
              </a:rPr>
              <a:t>i</a:t>
            </a:r>
            <a:r>
              <a:rPr sz="1500">
                <a:latin typeface="Cambria"/>
              </a:rPr>
              <a:t> − μ)</a:t>
            </a:r>
            <a:r>
              <a:rPr sz="1500" baseline="30000">
                <a:latin typeface="Cambria"/>
              </a:rPr>
              <a:t>2</a:t>
            </a:r>
            <a:r>
              <a:rPr sz="1500">
                <a:latin typeface="Cambria"/>
              </a:rPr>
              <a:t> P(x</a:t>
            </a:r>
            <a:r>
              <a:rPr sz="1500" baseline="-25000">
                <a:latin typeface="Cambria"/>
              </a:rPr>
              <a:t>i</a:t>
            </a:r>
            <a:r>
              <a:rPr sz="1500">
                <a:latin typeface="Cambria"/>
              </a:rPr>
              <a:t>)</a:t>
            </a:r>
          </a:p>
        </p:txBody>
      </p:sp>
      <p:sp>
        <p:nvSpPr>
          <p:cNvPr id="133127" name="TextBox 133126"/>
          <p:cNvSpPr txBox="1"/>
          <p:nvPr/>
        </p:nvSpPr>
        <p:spPr>
          <a:xfrm>
            <a:off x="4985267" y="5561043"/>
            <a:ext cx="3865562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E(X) = μ</a:t>
            </a:r>
            <a:r>
              <a:rPr sz="2100" baseline="-25000">
                <a:latin typeface="Cambria"/>
              </a:rPr>
              <a:t>X</a:t>
            </a:r>
            <a:r>
              <a:rPr sz="2100">
                <a:latin typeface="Cambria"/>
              </a:rPr>
              <a:t> = Σ</a:t>
            </a:r>
            <a:r>
              <a:rPr sz="2100" baseline="-25000">
                <a:latin typeface="Cambria"/>
              </a:rPr>
              <a:t>i=1</a:t>
            </a:r>
            <a:r>
              <a:rPr sz="2100" baseline="30000">
                <a:latin typeface="Cambria"/>
              </a:rPr>
              <a:t>N</a:t>
            </a:r>
            <a:r>
              <a:rPr sz="2100">
                <a:latin typeface="Cambria"/>
              </a:rPr>
              <a:t> 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 P(x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4145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ncept-question slide showing three pmf bar charts over x = 1 to 5: (A) uniform flat, (B) triangular peaked at 3, (C) U-shaped with mass at the ends. Students order them by standard deviation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80"/>
          <a:stretch/>
        </p:blipFill>
        <p:spPr>
          <a:xfrm>
            <a:off x="1306285" y="0"/>
            <a:ext cx="10151707" cy="691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971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xample slide: table giving a pmf for X with values 1 to 5 and probabilities 1/10, 2/10, 4/10, 2/10, 1/10. Asks to compute the variance and standard deviation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440"/>
          <a:stretch/>
        </p:blipFill>
        <p:spPr>
          <a:xfrm>
            <a:off x="668175" y="227563"/>
            <a:ext cx="10472576" cy="490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553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orked solution: mean mu = 3; a row for (X - mu)^2 is added (4,1,0,1,4); variance E[(X-mu)^2] = 1.2 and standard deviation = square root of 1.2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73"/>
          <a:stretch/>
        </p:blipFill>
        <p:spPr>
          <a:xfrm>
            <a:off x="1399591" y="0"/>
            <a:ext cx="9927772" cy="676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96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Expectation is a linear operator that can be distributed across a function of a random variable, X, but variance is not </a:t>
            </a:r>
          </a:p>
          <a:p>
            <a:endParaRPr lang="en-US" dirty="0"/>
          </a:p>
          <a:p>
            <a:r>
              <a:rPr lang="en-US" dirty="0"/>
              <a:t>What is 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 What is </a:t>
            </a:r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76916" y="5435581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051118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804348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218476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89" y="114300"/>
            <a:ext cx="7793037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Key terms moving forward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2989" y="1436914"/>
            <a:ext cx="8342570" cy="444413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sz="3200" dirty="0"/>
              <a:t>Probability mass function, PMF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Cumulative distribution function, CDF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Expectation/Expected value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Variance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Random variable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0044288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 descr="Reference chart titled 'Common statistical tests are linear models', tabulating each test (t-tests, ANOVA, ANCOVA, correlation, chi-square) with its R function and equivalent lm() linear-model formula. Takeaway: familiar tests are special cases of linear models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78" y="-151284"/>
            <a:ext cx="10415382" cy="7359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93857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6184</TotalTime>
  <Words>2320</Words>
  <Application>Microsoft Macintosh PowerPoint</Application>
  <PresentationFormat>Widescreen</PresentationFormat>
  <Paragraphs>329</Paragraphs>
  <Slides>52</Slides>
  <Notes>35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1" baseType="lpstr">
      <vt:lpstr>Arial</vt:lpstr>
      <vt:lpstr>Calibri</vt:lpstr>
      <vt:lpstr>Calibri Light</vt:lpstr>
      <vt:lpstr>CMSS12</vt:lpstr>
      <vt:lpstr>Tahoma</vt:lpstr>
      <vt:lpstr>Times New Roman</vt:lpstr>
      <vt:lpstr>Wingdings</vt:lpstr>
      <vt:lpstr>Office Theme</vt:lpstr>
      <vt:lpstr>Equation</vt:lpstr>
      <vt:lpstr>FW599 - Fall 2024  Get your data on!</vt:lpstr>
      <vt:lpstr>What is this course?</vt:lpstr>
      <vt:lpstr>Course oath</vt:lpstr>
      <vt:lpstr>Grading</vt:lpstr>
      <vt:lpstr>This course is just a jumping off point</vt:lpstr>
      <vt:lpstr>PowerPoint Presentation</vt:lpstr>
      <vt:lpstr>PowerPoint Presentation</vt:lpstr>
      <vt:lpstr>PowerPoint Presentation</vt:lpstr>
      <vt:lpstr>PowerPoint Presentation</vt:lpstr>
      <vt:lpstr>Probability Experiments</vt:lpstr>
      <vt:lpstr>Probability Experiments</vt:lpstr>
      <vt:lpstr>Probability Experiments</vt:lpstr>
      <vt:lpstr>Classical Probability</vt:lpstr>
      <vt:lpstr>Classical Probability-II (Example)</vt:lpstr>
      <vt:lpstr>DNA Example  </vt:lpstr>
      <vt:lpstr>DNA Example  </vt:lpstr>
      <vt:lpstr>DNA Example  </vt:lpstr>
      <vt:lpstr>Probabilities Formalized</vt:lpstr>
      <vt:lpstr>Example</vt:lpstr>
      <vt:lpstr>Conditional Probability-I</vt:lpstr>
      <vt:lpstr>Conditional Probability-II</vt:lpstr>
      <vt:lpstr>Conditional Probability-V</vt:lpstr>
      <vt:lpstr>Independent Events-I</vt:lpstr>
      <vt:lpstr>“AND” - The Multiplication Rule The “joint distribution” of A and B</vt:lpstr>
      <vt:lpstr>“AND” - The Multiplication Rule The “joint distribution” of A and B</vt:lpstr>
      <vt:lpstr>PowerPoint Presentation</vt:lpstr>
      <vt:lpstr>PowerPoint Presentation</vt:lpstr>
      <vt:lpstr>PowerPoint Presentation</vt:lpstr>
      <vt:lpstr>“OR” - The Additive Rule</vt:lpstr>
      <vt:lpstr>“OR” - The Additive Rule</vt:lpstr>
      <vt:lpstr>Using the Rules of Probability (Example)</vt:lpstr>
      <vt:lpstr>Review of Concepts and Formulae</vt:lpstr>
      <vt:lpstr>QUESTION: Prove the equality in Bayes rule using simple probability rules</vt:lpstr>
      <vt:lpstr>BREAK: Up Next - Operationalizing Probability</vt:lpstr>
      <vt:lpstr>Random Variables-I</vt:lpstr>
      <vt:lpstr>Random Variables - II</vt:lpstr>
      <vt:lpstr>Random Variables - III</vt:lpstr>
      <vt:lpstr>PowerPoint Presentation</vt:lpstr>
      <vt:lpstr>Probability Distributions  (Discrete-I)</vt:lpstr>
      <vt:lpstr>Probability Distributions  (Discrete-II)</vt:lpstr>
      <vt:lpstr>Discrete Cumulative Distribution Function</vt:lpstr>
      <vt:lpstr>Discrete Cumulative Distribution Function</vt:lpstr>
      <vt:lpstr>Means, Variances and Standard Deviations-I</vt:lpstr>
      <vt:lpstr>Expected Value</vt:lpstr>
      <vt:lpstr>Means, Variances and  Standard Deviations-II</vt:lpstr>
      <vt:lpstr>PowerPoint Presentation</vt:lpstr>
      <vt:lpstr>PowerPoint Presentation</vt:lpstr>
      <vt:lpstr>PowerPoint Presentation</vt:lpstr>
      <vt:lpstr>Algebra with Expectation and Variance</vt:lpstr>
      <vt:lpstr>Algebra with Expectation and Variance</vt:lpstr>
      <vt:lpstr>Key terms moving forward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FW599- Winter 2021 Seminar in Quantitative and Computational Biology</dc:title>
  <dc:creator>Levi, Taal</dc:creator>
  <cp:lastModifiedBy>Levi, Taal</cp:lastModifiedBy>
  <cp:revision>78</cp:revision>
  <dcterms:created xsi:type="dcterms:W3CDTF">2020-12-09T20:59:16Z</dcterms:created>
  <dcterms:modified xsi:type="dcterms:W3CDTF">2025-09-19T04:16:28Z</dcterms:modified>
</cp:coreProperties>
</file>