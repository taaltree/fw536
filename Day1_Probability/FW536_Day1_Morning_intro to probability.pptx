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8"/>
  </p:notesMasterIdLst>
  <p:sldIdLst>
    <p:sldId id="257" r:id="rId2"/>
    <p:sldId id="336" r:id="rId3"/>
    <p:sldId id="259" r:id="rId4"/>
    <p:sldId id="341" r:id="rId5"/>
    <p:sldId id="307" r:id="rId6"/>
    <p:sldId id="262" r:id="rId7"/>
    <p:sldId id="263" r:id="rId8"/>
    <p:sldId id="265" r:id="rId9"/>
    <p:sldId id="264" r:id="rId10"/>
    <p:sldId id="266" r:id="rId11"/>
    <p:sldId id="338" r:id="rId12"/>
    <p:sldId id="267" r:id="rId13"/>
    <p:sldId id="268" r:id="rId14"/>
    <p:sldId id="269" r:id="rId15"/>
    <p:sldId id="271" r:id="rId16"/>
    <p:sldId id="272" r:id="rId17"/>
    <p:sldId id="315" r:id="rId18"/>
    <p:sldId id="316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313" r:id="rId30"/>
    <p:sldId id="314" r:id="rId31"/>
    <p:sldId id="317" r:id="rId32"/>
    <p:sldId id="283" r:id="rId33"/>
    <p:sldId id="284" r:id="rId34"/>
    <p:sldId id="285" r:id="rId35"/>
    <p:sldId id="286" r:id="rId36"/>
    <p:sldId id="287" r:id="rId37"/>
    <p:sldId id="318" r:id="rId38"/>
    <p:sldId id="258" r:id="rId39"/>
    <p:sldId id="340" r:id="rId40"/>
    <p:sldId id="339" r:id="rId41"/>
    <p:sldId id="321" r:id="rId42"/>
    <p:sldId id="322" r:id="rId43"/>
    <p:sldId id="323" r:id="rId44"/>
    <p:sldId id="324" r:id="rId45"/>
    <p:sldId id="325" r:id="rId46"/>
    <p:sldId id="326" r:id="rId47"/>
    <p:sldId id="327" r:id="rId48"/>
    <p:sldId id="328" r:id="rId49"/>
    <p:sldId id="329" r:id="rId50"/>
    <p:sldId id="312" r:id="rId51"/>
    <p:sldId id="330" r:id="rId52"/>
    <p:sldId id="331" r:id="rId53"/>
    <p:sldId id="332" r:id="rId54"/>
    <p:sldId id="333" r:id="rId55"/>
    <p:sldId id="334" r:id="rId56"/>
    <p:sldId id="335" r:id="rId5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944"/>
    <p:restoredTop sz="94754"/>
  </p:normalViewPr>
  <p:slideViewPr>
    <p:cSldViewPr snapToGrid="0" snapToObjects="1">
      <p:cViewPr varScale="1">
        <p:scale>
          <a:sx n="69" d="100"/>
          <a:sy n="69" d="100"/>
        </p:scale>
        <p:origin x="224" y="1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8FFA9F-E4FE-2949-B991-E9E1D16A3A2F}" type="datetimeFigureOut">
              <a:rPr lang="en-US" smtClean="0"/>
              <a:t>9/19/25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80412F-5F96-B744-9A4D-B829948529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024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3273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18205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91801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79014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Paired - Count macroinvertebrates in a stream before and after a restoration intervention.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0412F-5F96-B744-9A4D-B8299485295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97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0412F-5F96-B744-9A4D-B8299485295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7517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867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 dirty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72244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867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5460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75066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174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89573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277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18789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789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18982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993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87277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096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90619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198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27964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301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43740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40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88582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40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09175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38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860361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86038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382548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737360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70126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609564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913447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355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55227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499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887509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469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09407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673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758452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878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930977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185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455988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390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267392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595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730937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800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867652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005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275188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209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1185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414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258463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619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52281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120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0305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461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739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835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400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671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048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2841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4260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094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1576917" y="2017713"/>
            <a:ext cx="10363200" cy="4114800"/>
          </a:xfrm>
        </p:spPr>
        <p:txBody>
          <a:bodyPr/>
          <a:lstStyle/>
          <a:p>
            <a:pPr lvl="0"/>
            <a:endParaRPr lang="en-AU" noProof="0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F3441E6-8D1F-A143-9351-CE1EA8F40A3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83056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601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91093E5-1CB7-9246-9732-7969A55B11A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554683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860117" y="20177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60117" y="41513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74496D-90B9-BC44-898C-3D243456469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947374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127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jpeg"/><Relationship Id="rId5" Type="http://schemas.openxmlformats.org/officeDocument/2006/relationships/image" Target="../media/image4.jpeg"/><Relationship Id="rId6" Type="http://schemas.openxmlformats.org/officeDocument/2006/relationships/image" Target="../media/image5.jpeg"/><Relationship Id="rId7" Type="http://schemas.openxmlformats.org/officeDocument/2006/relationships/image" Target="../media/image6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em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3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12.wmf"/><Relationship Id="rId5" Type="http://schemas.openxmlformats.org/officeDocument/2006/relationships/oleObject" Target="../embeddings/oleObject2.bin"/><Relationship Id="rId6" Type="http://schemas.openxmlformats.org/officeDocument/2006/relationships/image" Target="../media/image13.wmf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jpe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4.jpe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jpe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16.wmf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17.wmf"/><Relationship Id="rId5" Type="http://schemas.openxmlformats.org/officeDocument/2006/relationships/oleObject" Target="../embeddings/oleObject5.bin"/><Relationship Id="rId6" Type="http://schemas.openxmlformats.org/officeDocument/2006/relationships/image" Target="../media/image18.wmf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9.png"/><Relationship Id="rId4" Type="http://schemas.openxmlformats.org/officeDocument/2006/relationships/image" Target="../media/image10.png"/><Relationship Id="rId5" Type="http://schemas.openxmlformats.org/officeDocument/2006/relationships/oleObject" Target="../embeddings/oleObject4.bin"/><Relationship Id="rId6" Type="http://schemas.openxmlformats.org/officeDocument/2006/relationships/image" Target="../media/image17.wmf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emf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22.wmf"/><Relationship Id="rId5" Type="http://schemas.openxmlformats.org/officeDocument/2006/relationships/oleObject" Target="../embeddings/oleObject7.bin"/><Relationship Id="rId6" Type="http://schemas.openxmlformats.org/officeDocument/2006/relationships/image" Target="../media/image23.wmf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22.wmf"/><Relationship Id="rId5" Type="http://schemas.openxmlformats.org/officeDocument/2006/relationships/image" Target="../media/image1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oleObject" Target="../embeddings/oleObject8.bin"/><Relationship Id="rId4" Type="http://schemas.openxmlformats.org/officeDocument/2006/relationships/image" Target="../media/image24.wmf"/><Relationship Id="rId5" Type="http://schemas.openxmlformats.org/officeDocument/2006/relationships/image" Target="../media/image2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7.jpeg"/><Relationship Id="rId3" Type="http://schemas.openxmlformats.org/officeDocument/2006/relationships/image" Target="../media/image28.jpeg"/><Relationship Id="rId4" Type="http://schemas.openxmlformats.org/officeDocument/2006/relationships/image" Target="../media/image29.jpe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30.wmf"/><Relationship Id="rId5" Type="http://schemas.openxmlformats.org/officeDocument/2006/relationships/oleObject" Target="../embeddings/oleObject10.bin"/><Relationship Id="rId6" Type="http://schemas.openxmlformats.org/officeDocument/2006/relationships/image" Target="../media/image31.wmf"/><Relationship Id="rId7" Type="http://schemas.openxmlformats.org/officeDocument/2006/relationships/oleObject" Target="../embeddings/oleObject11.bin"/><Relationship Id="rId8" Type="http://schemas.openxmlformats.org/officeDocument/2006/relationships/image" Target="../media/image32.wmf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5.xml"/><Relationship Id="rId3" Type="http://schemas.openxmlformats.org/officeDocument/2006/relationships/oleObject" Target="../embeddings/oleObject12.bin"/><Relationship Id="rId4" Type="http://schemas.openxmlformats.org/officeDocument/2006/relationships/image" Target="../media/image35.wmf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6.xml"/><Relationship Id="rId3" Type="http://schemas.openxmlformats.org/officeDocument/2006/relationships/oleObject" Target="../embeddings/oleObject13.bin"/><Relationship Id="rId4" Type="http://schemas.openxmlformats.org/officeDocument/2006/relationships/image" Target="../media/image36.wmf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7.xml"/><Relationship Id="rId3" Type="http://schemas.openxmlformats.org/officeDocument/2006/relationships/oleObject" Target="../embeddings/oleObject14.bin"/><Relationship Id="rId4" Type="http://schemas.openxmlformats.org/officeDocument/2006/relationships/image" Target="../media/image37.wmf"/><Relationship Id="rId5" Type="http://schemas.openxmlformats.org/officeDocument/2006/relationships/oleObject" Target="../embeddings/oleObject13.bin"/><Relationship Id="rId6" Type="http://schemas.openxmlformats.org/officeDocument/2006/relationships/image" Target="../media/image36.wmf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8.emf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9.emf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0.emf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905000" y="19812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FW 536 · 2026</a:t>
            </a:r>
            <a:br>
              <a:rPr lang="en-US" altLang="en-US" sz="4000" b="1" dirty="0">
                <a:latin typeface="Arial" charset="0"/>
                <a:ea typeface="Arial" charset="0"/>
                <a:cs typeface="Arial" charset="0"/>
              </a:rPr>
            </a:br>
            <a:br>
              <a:rPr lang="en-US" altLang="en-US" sz="4000" b="1" dirty="0">
                <a:latin typeface="Arial" charset="0"/>
                <a:ea typeface="Arial" charset="0"/>
                <a:cs typeface="Arial" charset="0"/>
              </a:rPr>
            </a:b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Get your data on!</a:t>
            </a:r>
            <a:endParaRPr lang="en-AU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9265110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828800" y="-11430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What is this course?</a:t>
            </a:r>
            <a:endParaRPr lang="en-AU" altLang="en-US" sz="3200" b="1" dirty="0"/>
          </a:p>
        </p:txBody>
      </p:sp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1524000" y="1905001"/>
            <a:ext cx="9086850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b="1" dirty="0">
                <a:solidFill>
                  <a:srgbClr val="000000"/>
                </a:solidFill>
              </a:rPr>
              <a:t>Goal</a:t>
            </a:r>
            <a:r>
              <a:rPr lang="en-US" altLang="en-US" sz="2400" dirty="0">
                <a:solidFill>
                  <a:srgbClr val="000000"/>
                </a:solidFill>
              </a:rPr>
              <a:t>: Provide a strong statistical foundation and transferable skills to help you (1) understand and analyze data, and (2) conduct more complex statistical modeling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137226-3991-D4C1-4468-D3805F3F66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20154" y="4511687"/>
            <a:ext cx="978029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We are going for </a:t>
            </a:r>
            <a:r>
              <a:rPr lang="en-US" altLang="en-US" sz="2400" b="1" dirty="0">
                <a:solidFill>
                  <a:srgbClr val="000000"/>
                </a:solidFill>
              </a:rPr>
              <a:t>deep understanding </a:t>
            </a:r>
            <a:r>
              <a:rPr lang="en-US" altLang="en-US" sz="2400" dirty="0">
                <a:solidFill>
                  <a:srgbClr val="000000"/>
                </a:solidFill>
              </a:rPr>
              <a:t>not just implementing R code.</a:t>
            </a:r>
          </a:p>
        </p:txBody>
      </p:sp>
    </p:spTree>
    <p:extLst>
      <p:ext uri="{BB962C8B-B14F-4D97-AF65-F5344CB8AC3E}">
        <p14:creationId xmlns:p14="http://schemas.microsoft.com/office/powerpoint/2010/main" val="121291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828800" y="-11430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Course oath</a:t>
            </a:r>
            <a:endParaRPr lang="en-AU" altLang="en-US" sz="3200" b="1" dirty="0"/>
          </a:p>
        </p:txBody>
      </p:sp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1133803" y="2115208"/>
            <a:ext cx="10152993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“I agree to ask questions when something is not clear or I am confused.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 sz="2400" dirty="0">
              <a:solidFill>
                <a:srgbClr val="000000"/>
              </a:solidFill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I will strive to work together to help one another.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I will not be afraid to look stupid because we’re all just apes in a room”</a:t>
            </a:r>
          </a:p>
        </p:txBody>
      </p:sp>
    </p:spTree>
    <p:extLst>
      <p:ext uri="{BB962C8B-B14F-4D97-AF65-F5344CB8AC3E}">
        <p14:creationId xmlns:p14="http://schemas.microsoft.com/office/powerpoint/2010/main" val="1797360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580297" y="-11049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Grading</a:t>
            </a:r>
            <a:endParaRPr lang="en-AU" altLang="en-US" sz="3200" b="1" dirty="0"/>
          </a:p>
        </p:txBody>
      </p:sp>
      <p:sp>
        <p:nvSpPr>
          <p:cNvPr id="4" name="Rectangle 2"/>
          <p:cNvSpPr txBox="1">
            <a:spLocks noChangeArrowheads="1"/>
          </p:cNvSpPr>
          <p:nvPr/>
        </p:nvSpPr>
        <p:spPr bwMode="auto">
          <a:xfrm>
            <a:off x="514035" y="1822409"/>
            <a:ext cx="10895525" cy="16065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anchor="b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3200" kern="0" dirty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rPr>
              <a:t>Pre-course exam (50 points, scored generously)</a:t>
            </a:r>
          </a:p>
          <a:p>
            <a:pPr algn="ctr" eaLnBrk="1" hangingPunct="1">
              <a:defRPr/>
            </a:pPr>
            <a:r>
              <a:rPr lang="en-US" altLang="en-US" sz="3200" kern="0" dirty="0">
                <a:solidFill>
                  <a:schemeClr val="tx1"/>
                </a:solidFill>
                <a:latin typeface="Arial" charset="0"/>
                <a:cs typeface="Arial" charset="0"/>
              </a:rPr>
              <a:t>Nine problem sets, one per session (20 points each, 180 points)</a:t>
            </a:r>
            <a:endParaRPr lang="en-AU" altLang="en-US" sz="3200" kern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2359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14" y="0"/>
            <a:ext cx="10515600" cy="1325563"/>
          </a:xfrm>
        </p:spPr>
        <p:txBody>
          <a:bodyPr/>
          <a:lstStyle/>
          <a:p>
            <a:r>
              <a:rPr lang="en-US"/>
              <a:t>This course is just a </a:t>
            </a:r>
            <a:r>
              <a:rPr lang="en-US" dirty="0"/>
              <a:t>jumping off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614" y="1453184"/>
            <a:ext cx="10515600" cy="4351338"/>
          </a:xfrm>
        </p:spPr>
        <p:txBody>
          <a:bodyPr/>
          <a:lstStyle/>
          <a:p>
            <a:r>
              <a:rPr lang="en-US" dirty="0"/>
              <a:t>Train yourself by reading books.</a:t>
            </a:r>
          </a:p>
          <a:p>
            <a:r>
              <a:rPr lang="en-US" dirty="0"/>
              <a:t>Consider pursuing side project using methods you want to learn</a:t>
            </a:r>
          </a:p>
          <a:p>
            <a:r>
              <a:rPr lang="en-US" dirty="0"/>
              <a:t>Consider attending weekly math/stats seminars</a:t>
            </a:r>
          </a:p>
        </p:txBody>
      </p:sp>
      <p:pic>
        <p:nvPicPr>
          <p:cNvPr id="1026" name="Picture 2" descr="https://images-na.ssl-images-amazon.com/images/I/31u9N2X5r8L._SX322_BO1,204,203,200_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760" y="3228073"/>
            <a:ext cx="2137647" cy="3292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ttps://images-na.ssl-images-amazon.com/images/I/51XOcl4OxJL._SX352_BO1,204,203,200_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164" y="3309711"/>
            <a:ext cx="2219745" cy="3128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https://images-na.ssl-images-amazon.com/images/I/41kftfun6qL._SX350_BO1,204,203,200_.jp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497" y="3309711"/>
            <a:ext cx="2305910" cy="3268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https://images-na.ssl-images-amazon.com/images/I/51WB04KqNOL._SX404_BO1,204,203,200_.jp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57280" y="168436"/>
            <a:ext cx="2284385" cy="281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https://images-na.ssl-images-amazon.com/images/I/51jDoyeOrDL._SX405_BO1,204,203,200_.jpg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51653" y="3479908"/>
            <a:ext cx="2290012" cy="281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https://images-na.ssl-images-amazon.com/images/I/51Qk2MOCfWL._SX312_BO1,204,203,200_.jpg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5403" y="3326099"/>
            <a:ext cx="2036350" cy="3236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870609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8857" name="Rectangle 9"/>
          <p:cNvSpPr>
            <a:spLocks noChangeArrowheads="1"/>
          </p:cNvSpPr>
          <p:nvPr/>
        </p:nvSpPr>
        <p:spPr bwMode="auto">
          <a:xfrm>
            <a:off x="4953001" y="985839"/>
            <a:ext cx="5573713" cy="45545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081D58">
                        <a:gamma/>
                        <a:shade val="29804"/>
                        <a:invGamma/>
                      </a:srgbClr>
                    </a:gs>
                    <a:gs pos="50000">
                      <a:srgbClr val="081D58"/>
                    </a:gs>
                    <a:gs pos="100000">
                      <a:srgbClr val="081D58">
                        <a:gamma/>
                        <a:shade val="29804"/>
                        <a:invGamma/>
                      </a:srgbClr>
                    </a:gs>
                  </a:gsLst>
                  <a:lin ang="2700000" scaled="1"/>
                </a:gra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0434" tIns="39511" rIns="80434" bIns="39511"/>
          <a:lstStyle>
            <a:lvl1pPr marL="342900" indent="-3429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one sample 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two sample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paired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Variance (ANOVA)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Covariance (ANCOVA)</a:t>
            </a:r>
          </a:p>
          <a:p>
            <a:pPr lvl="2" eaLnBrk="1" hangingPunct="1">
              <a:defRPr/>
            </a:pPr>
            <a:r>
              <a:rPr lang="en-US" altLang="en-US" sz="2133" dirty="0" err="1">
                <a:solidFill>
                  <a:srgbClr val="000000"/>
                </a:solidFill>
              </a:rPr>
              <a:t>Chi.sq</a:t>
            </a:r>
            <a:r>
              <a:rPr lang="en-US" altLang="en-US" sz="2133" dirty="0">
                <a:solidFill>
                  <a:srgbClr val="000000"/>
                </a:solidFill>
              </a:rPr>
              <a:t> 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linear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multiple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logistic regression</a:t>
            </a:r>
          </a:p>
          <a:p>
            <a:pPr lvl="1" eaLnBrk="1" hangingPunct="1">
              <a:buFontTx/>
              <a:buNone/>
              <a:defRPr/>
            </a:pPr>
            <a:endParaRPr lang="en-US" altLang="en-US" sz="2489" dirty="0">
              <a:solidFill>
                <a:srgbClr val="000000"/>
              </a:solidFill>
            </a:endParaRPr>
          </a:p>
          <a:p>
            <a:pPr eaLnBrk="1" hangingPunct="1">
              <a:buFontTx/>
              <a:buNone/>
              <a:defRPr/>
            </a:pPr>
            <a:endParaRPr lang="en-US" altLang="en-US" sz="2844" b="1" dirty="0">
              <a:solidFill>
                <a:srgbClr val="000000"/>
              </a:solidFill>
            </a:endParaRPr>
          </a:p>
        </p:txBody>
      </p:sp>
      <p:sp>
        <p:nvSpPr>
          <p:cNvPr id="1998860" name="Rectangle 12"/>
          <p:cNvSpPr>
            <a:spLocks noChangeArrowheads="1"/>
          </p:cNvSpPr>
          <p:nvPr/>
        </p:nvSpPr>
        <p:spPr bwMode="auto">
          <a:xfrm>
            <a:off x="1893889" y="76200"/>
            <a:ext cx="8796337" cy="74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00"/>
                </a:soli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chemeClr val="bg1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80434" tIns="39511" rIns="80434" bIns="39511" anchor="ctr"/>
          <a:lstStyle>
            <a:lvl1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1pPr>
            <a:lvl2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2pPr>
            <a:lvl3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3pPr>
            <a:lvl4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4pPr>
            <a:lvl5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9pPr>
          </a:lstStyle>
          <a:p>
            <a:pPr eaLnBrk="1" hangingPunct="1">
              <a:defRPr/>
            </a:pPr>
            <a:r>
              <a:rPr lang="en-US" altLang="en-US" sz="2844" dirty="0">
                <a:solidFill>
                  <a:srgbClr val="000000"/>
                </a:solidFill>
              </a:rPr>
              <a:t>GLM: the superset of all stuff you learned</a:t>
            </a:r>
          </a:p>
        </p:txBody>
      </p:sp>
      <p:pic>
        <p:nvPicPr>
          <p:cNvPr id="129026" name="Picture 2" descr="mage result for cookbook julia child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9075" y="2365376"/>
            <a:ext cx="2990850" cy="452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12"/>
          <p:cNvSpPr>
            <a:spLocks noChangeArrowheads="1"/>
          </p:cNvSpPr>
          <p:nvPr/>
        </p:nvSpPr>
        <p:spPr bwMode="auto">
          <a:xfrm>
            <a:off x="2895600" y="5553075"/>
            <a:ext cx="8796338" cy="74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00"/>
                </a:soli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chemeClr val="bg1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80434" tIns="39511" rIns="80434" bIns="39511" anchor="ctr"/>
          <a:lstStyle>
            <a:lvl1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1pPr>
            <a:lvl2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2pPr>
            <a:lvl3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3pPr>
            <a:lvl4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4pPr>
            <a:lvl5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9pPr>
          </a:lstStyle>
          <a:p>
            <a:pPr eaLnBrk="1" hangingPunct="1">
              <a:defRPr/>
            </a:pPr>
            <a:r>
              <a:rPr lang="en-US" altLang="en-US" sz="2844" b="0" dirty="0">
                <a:solidFill>
                  <a:srgbClr val="000000"/>
                </a:solidFill>
              </a:rPr>
              <a:t>Useful to get started. </a:t>
            </a:r>
          </a:p>
          <a:p>
            <a:pPr eaLnBrk="1" hangingPunct="1">
              <a:defRPr/>
            </a:pPr>
            <a:r>
              <a:rPr lang="en-US" altLang="en-US" sz="2844" b="0" dirty="0">
                <a:solidFill>
                  <a:srgbClr val="000000"/>
                </a:solidFill>
              </a:rPr>
              <a:t>But a </a:t>
            </a:r>
            <a:r>
              <a:rPr lang="en-US" altLang="en-US" sz="2844" b="0" i="1" dirty="0">
                <a:solidFill>
                  <a:srgbClr val="000000"/>
                </a:solidFill>
              </a:rPr>
              <a:t>really </a:t>
            </a:r>
            <a:r>
              <a:rPr lang="en-US" altLang="en-US" sz="2844" b="0" dirty="0">
                <a:solidFill>
                  <a:srgbClr val="000000"/>
                </a:solidFill>
              </a:rPr>
              <a:t>stupid way to </a:t>
            </a:r>
            <a:r>
              <a:rPr lang="en-US" altLang="en-US" sz="2844" u="sng" dirty="0">
                <a:solidFill>
                  <a:srgbClr val="000000"/>
                </a:solidFill>
              </a:rPr>
              <a:t>learn</a:t>
            </a:r>
            <a:r>
              <a:rPr lang="en-US" altLang="en-US" sz="2844" b="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41989" name="TextBox 1"/>
          <p:cNvSpPr txBox="1">
            <a:spLocks noChangeArrowheads="1"/>
          </p:cNvSpPr>
          <p:nvPr/>
        </p:nvSpPr>
        <p:spPr bwMode="auto">
          <a:xfrm>
            <a:off x="1676401" y="942976"/>
            <a:ext cx="3673475" cy="830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dirty="0"/>
              <a:t>General linear model vs.</a:t>
            </a:r>
          </a:p>
          <a:p>
            <a:r>
              <a:rPr lang="en-US" altLang="en-US" dirty="0"/>
              <a:t>Generalized linear model?</a:t>
            </a:r>
          </a:p>
        </p:txBody>
      </p:sp>
    </p:spTree>
    <p:extLst>
      <p:ext uri="{BB962C8B-B14F-4D97-AF65-F5344CB8AC3E}">
        <p14:creationId xmlns:p14="http://schemas.microsoft.com/office/powerpoint/2010/main" val="1588347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8857" name="Rectangle 9"/>
          <p:cNvSpPr>
            <a:spLocks noChangeArrowheads="1"/>
          </p:cNvSpPr>
          <p:nvPr/>
        </p:nvSpPr>
        <p:spPr bwMode="auto">
          <a:xfrm>
            <a:off x="682625" y="1219200"/>
            <a:ext cx="5575300" cy="455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081D58">
                        <a:gamma/>
                        <a:shade val="29804"/>
                        <a:invGamma/>
                      </a:srgbClr>
                    </a:gs>
                    <a:gs pos="50000">
                      <a:srgbClr val="081D58"/>
                    </a:gs>
                    <a:gs pos="100000">
                      <a:srgbClr val="081D58">
                        <a:gamma/>
                        <a:shade val="29804"/>
                        <a:invGamma/>
                      </a:srgbClr>
                    </a:gs>
                  </a:gsLst>
                  <a:lin ang="2700000" scaled="1"/>
                </a:gra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0434" tIns="39511" rIns="80434" bIns="39511"/>
          <a:lstStyle>
            <a:lvl1pPr marL="342900" indent="-3429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one sample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two sample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endParaRPr lang="en-US" altLang="en-US" sz="2133" dirty="0">
              <a:solidFill>
                <a:srgbClr val="000000"/>
              </a:solidFill>
            </a:endParaRP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paired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endParaRPr lang="en-US" altLang="en-US" sz="2133" dirty="0">
              <a:solidFill>
                <a:srgbClr val="000000"/>
              </a:solidFill>
            </a:endParaRP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Variance (ANOVA)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Covariance (ANCOVA)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linear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multiple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logistic regression</a:t>
            </a:r>
          </a:p>
          <a:p>
            <a:pPr lvl="1" eaLnBrk="1" hangingPunct="1">
              <a:buFontTx/>
              <a:buNone/>
              <a:defRPr/>
            </a:pPr>
            <a:endParaRPr lang="en-US" altLang="en-US" sz="2489" dirty="0">
              <a:solidFill>
                <a:srgbClr val="000000"/>
              </a:solidFill>
            </a:endParaRPr>
          </a:p>
          <a:p>
            <a:pPr eaLnBrk="1" hangingPunct="1">
              <a:buFontTx/>
              <a:buNone/>
              <a:defRPr/>
            </a:pPr>
            <a:endParaRPr lang="en-US" altLang="en-US" sz="2844" b="1" dirty="0">
              <a:solidFill>
                <a:srgbClr val="000000"/>
              </a:solidFill>
            </a:endParaRPr>
          </a:p>
        </p:txBody>
      </p:sp>
      <p:sp>
        <p:nvSpPr>
          <p:cNvPr id="1998860" name="Rectangle 12"/>
          <p:cNvSpPr>
            <a:spLocks noChangeArrowheads="1"/>
          </p:cNvSpPr>
          <p:nvPr/>
        </p:nvSpPr>
        <p:spPr bwMode="auto">
          <a:xfrm>
            <a:off x="1893889" y="76200"/>
            <a:ext cx="8796337" cy="74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00"/>
                </a:soli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chemeClr val="bg1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80434" tIns="39511" rIns="80434" bIns="39511" anchor="ctr"/>
          <a:lstStyle>
            <a:lvl1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1pPr>
            <a:lvl2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2pPr>
            <a:lvl3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3pPr>
            <a:lvl4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4pPr>
            <a:lvl5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9pPr>
          </a:lstStyle>
          <a:p>
            <a:pPr eaLnBrk="1" hangingPunct="1">
              <a:defRPr/>
            </a:pPr>
            <a:r>
              <a:rPr lang="en-US" altLang="en-US" sz="2844" dirty="0">
                <a:solidFill>
                  <a:srgbClr val="000000"/>
                </a:solidFill>
              </a:rPr>
              <a:t>GLM: the superset of almost all stuff you learned</a:t>
            </a:r>
          </a:p>
        </p:txBody>
      </p:sp>
      <p:sp>
        <p:nvSpPr>
          <p:cNvPr id="7" name="Rectangle 9"/>
          <p:cNvSpPr>
            <a:spLocks noChangeArrowheads="1"/>
          </p:cNvSpPr>
          <p:nvPr/>
        </p:nvSpPr>
        <p:spPr bwMode="auto">
          <a:xfrm>
            <a:off x="5094287" y="1176576"/>
            <a:ext cx="6451949" cy="47831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081D58">
                        <a:gamma/>
                        <a:shade val="29804"/>
                        <a:invGamma/>
                      </a:srgbClr>
                    </a:gs>
                    <a:gs pos="50000">
                      <a:srgbClr val="081D58"/>
                    </a:gs>
                    <a:gs pos="100000">
                      <a:srgbClr val="081D58">
                        <a:gamma/>
                        <a:shade val="29804"/>
                        <a:invGamma/>
                      </a:srgbClr>
                    </a:gs>
                  </a:gsLst>
                  <a:lin ang="2700000" scaled="1"/>
                </a:gra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0434" tIns="39511" rIns="80434" bIns="39511"/>
          <a:lstStyle>
            <a:lvl1pPr marL="342900" indent="-3429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Is mean of one measured continuous thing different from what you expect?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Are means of two measured continuous things different from each other?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Are means of two measured continuous things collected in a paired treatment (e.g. same subject at two times) different?</a:t>
            </a:r>
            <a:endParaRPr lang="en-US" altLang="en-US" u="sng" dirty="0">
              <a:solidFill>
                <a:srgbClr val="000000"/>
              </a:solidFill>
            </a:endParaRP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X=factor,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X=both factor and continuous,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X=continuous,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X1, X2</a:t>
            </a:r>
            <a:r>
              <a:rPr lang="mr-IN" altLang="en-US" dirty="0">
                <a:solidFill>
                  <a:srgbClr val="000000"/>
                </a:solidFill>
              </a:rPr>
              <a:t>…</a:t>
            </a:r>
            <a:r>
              <a:rPr lang="en-US" altLang="en-US" dirty="0">
                <a:solidFill>
                  <a:srgbClr val="000000"/>
                </a:solidFill>
              </a:rPr>
              <a:t>=continuous,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X=continuous, Y=binary  (mostly taught this way) </a:t>
            </a:r>
            <a:r>
              <a:rPr lang="mr-IN" altLang="en-US" dirty="0">
                <a:solidFill>
                  <a:srgbClr val="000000"/>
                </a:solidFill>
              </a:rPr>
              <a:t>–</a:t>
            </a:r>
            <a:r>
              <a:rPr lang="en-US" altLang="en-US" dirty="0">
                <a:solidFill>
                  <a:srgbClr val="000000"/>
                </a:solidFill>
              </a:rPr>
              <a:t> Note that is a “generalized” linear model because the errors are not Normal</a:t>
            </a:r>
          </a:p>
        </p:txBody>
      </p:sp>
    </p:spTree>
    <p:extLst>
      <p:ext uri="{BB962C8B-B14F-4D97-AF65-F5344CB8AC3E}">
        <p14:creationId xmlns:p14="http://schemas.microsoft.com/office/powerpoint/2010/main" val="1152445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057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8478" y="-151284"/>
            <a:ext cx="10415382" cy="73594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243457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extBox 1"/>
          <p:cNvSpPr txBox="1">
            <a:spLocks noChangeArrowheads="1"/>
          </p:cNvSpPr>
          <p:nvPr/>
        </p:nvSpPr>
        <p:spPr bwMode="auto">
          <a:xfrm>
            <a:off x="3657600" y="1"/>
            <a:ext cx="44005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/>
              <a:t>This can be generalized further</a:t>
            </a:r>
          </a:p>
        </p:txBody>
      </p:sp>
      <p:pic>
        <p:nvPicPr>
          <p:cNvPr id="44034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609600"/>
            <a:ext cx="9144000" cy="6161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017934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34851" y="457200"/>
            <a:ext cx="11269014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400" dirty="0">
                <a:solidFill>
                  <a:srgbClr val="3333B2"/>
                </a:solidFill>
                <a:latin typeface="CMSS12" charset="0"/>
              </a:rPr>
              <a:t>Probability vs. Statistics </a:t>
            </a:r>
            <a:endParaRPr lang="en-US" sz="2400" dirty="0"/>
          </a:p>
          <a:p>
            <a:pPr>
              <a:defRPr/>
            </a:pPr>
            <a:endParaRPr lang="en-US" sz="2400" dirty="0">
              <a:latin typeface="CMSS12" charset="0"/>
            </a:endParaRPr>
          </a:p>
          <a:p>
            <a:pPr>
              <a:defRPr/>
            </a:pPr>
            <a:r>
              <a:rPr lang="en-US" sz="2400" dirty="0">
                <a:latin typeface="CMSS12" charset="0"/>
              </a:rPr>
              <a:t>Different subjects: both about random processes </a:t>
            </a:r>
            <a:endParaRPr lang="en-US" sz="2400" dirty="0"/>
          </a:p>
          <a:p>
            <a:pPr>
              <a:defRPr/>
            </a:pPr>
            <a:endParaRPr lang="en-US" sz="2400" dirty="0">
              <a:latin typeface="CMSS12" charset="0"/>
            </a:endParaRPr>
          </a:p>
          <a:p>
            <a:pPr>
              <a:defRPr/>
            </a:pPr>
            <a:r>
              <a:rPr lang="en-US" sz="2400" b="1" dirty="0">
                <a:latin typeface="CMSS12" charset="0"/>
              </a:rPr>
              <a:t>Probability</a:t>
            </a:r>
            <a:endParaRPr lang="en-US" sz="2400" dirty="0">
              <a:latin typeface="CMSS12" charset="0"/>
            </a:endParaRP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Logically self-contained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A few rules for computing probabilities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One correct answer </a:t>
            </a:r>
            <a:endParaRPr lang="en-US" sz="2400" dirty="0"/>
          </a:p>
          <a:p>
            <a:pPr marL="342900" indent="-342900">
              <a:buFont typeface="Arial" charset="0"/>
              <a:buChar char="•"/>
              <a:defRPr/>
            </a:pPr>
            <a:endParaRPr lang="en-US" sz="2400" dirty="0">
              <a:latin typeface="CMSS12" charset="0"/>
            </a:endParaRPr>
          </a:p>
          <a:p>
            <a:pPr>
              <a:defRPr/>
            </a:pPr>
            <a:r>
              <a:rPr lang="en-US" sz="2400" b="1" dirty="0">
                <a:latin typeface="CMSS12" charset="0"/>
              </a:rPr>
              <a:t>Statistics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Messier and more of an art </a:t>
            </a:r>
            <a:endParaRPr lang="en-US" sz="2400" dirty="0"/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Get experimental data and try to draw probabilistic conclusions </a:t>
            </a:r>
            <a:endParaRPr lang="en-US" sz="2400" dirty="0"/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No single correct answer 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But built on probability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5621888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2254250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Probability Experiments</a:t>
            </a:r>
            <a:endParaRPr lang="en-US" altLang="en-US" sz="4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22FD44-86CB-3B24-E40B-926ADA96ECE2}"/>
              </a:ext>
            </a:extLst>
          </p:cNvPr>
          <p:cNvSpPr txBox="1"/>
          <p:nvPr/>
        </p:nvSpPr>
        <p:spPr>
          <a:xfrm>
            <a:off x="1225826" y="1656523"/>
            <a:ext cx="974034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A </a:t>
            </a:r>
            <a:r>
              <a:rPr lang="en-US" sz="2800" b="1" dirty="0"/>
              <a:t>probability experiment</a:t>
            </a:r>
            <a:r>
              <a:rPr lang="en-US" sz="2800" dirty="0"/>
              <a:t> is a process or action that can be repeated under the same conditions and results in well-defined outcomes, but the outcome is uncertain or random. Each possible outcome of the experiment has an associated probability, which is a measure of how likely that outcome is to occur.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5871555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2254250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Probability Experiments</a:t>
            </a:r>
            <a:endParaRPr lang="en-US" altLang="en-US" sz="4000" dirty="0"/>
          </a:p>
        </p:txBody>
      </p:sp>
      <p:graphicFrame>
        <p:nvGraphicFramePr>
          <p:cNvPr id="423979" name="Group 43"/>
          <p:cNvGraphicFramePr>
            <a:graphicFrameLocks noGrp="1"/>
          </p:cNvGraphicFramePr>
          <p:nvPr>
            <p:ph type="tbl" idx="1"/>
          </p:nvPr>
        </p:nvGraphicFramePr>
        <p:xfrm>
          <a:off x="2286000" y="1400175"/>
          <a:ext cx="7772400" cy="4972139"/>
        </p:xfrm>
        <a:graphic>
          <a:graphicData uri="http://schemas.openxmlformats.org/drawingml/2006/table">
            <a:tbl>
              <a:tblPr/>
              <a:tblGrid>
                <a:gridCol w="3886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2817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Probability Experiment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Count of the number of trees in a stand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3015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Sample Space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(all possible outcomes)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{0, 1, 2, ….}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68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Event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(subset of interest from sample space)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&gt;10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68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Outcome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(the actual result in the probability experiment)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5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18319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76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Probability Experiments</a:t>
            </a:r>
            <a:endParaRPr lang="en-US" altLang="en-US" sz="4000" dirty="0"/>
          </a:p>
        </p:txBody>
      </p:sp>
      <p:graphicFrame>
        <p:nvGraphicFramePr>
          <p:cNvPr id="427011" name="Group 3"/>
          <p:cNvGraphicFramePr>
            <a:graphicFrameLocks noGrp="1"/>
          </p:cNvGraphicFramePr>
          <p:nvPr>
            <p:ph type="tbl" idx="1"/>
          </p:nvPr>
        </p:nvGraphicFramePr>
        <p:xfrm>
          <a:off x="2317750" y="1476375"/>
          <a:ext cx="7772400" cy="4114800"/>
        </p:xfrm>
        <a:graphic>
          <a:graphicData uri="http://schemas.openxmlformats.org/drawingml/2006/table">
            <a:tbl>
              <a:tblPr/>
              <a:tblGrid>
                <a:gridCol w="3886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Probability Experiment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Determine the maturity state of a baleen whale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Sample Space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Mature, Calf, Juvenile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Event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Immature = {Juvenile OR Calf}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Outcome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Calf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81372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590800" y="-316605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Classical Probability</a:t>
            </a:r>
          </a:p>
        </p:txBody>
      </p:sp>
      <p:pic>
        <p:nvPicPr>
          <p:cNvPr id="50178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9201" y="3695008"/>
            <a:ext cx="2163763" cy="3105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0179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902596"/>
            <a:ext cx="9144000" cy="282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" name="Picture 10" descr="https://images-na.ssl-images-amazon.com/images/I/41kftfun6qL._SX350_BO1,204,203,200_.jpg">
            <a:extLst>
              <a:ext uri="{FF2B5EF4-FFF2-40B4-BE49-F238E27FC236}">
                <a16:creationId xmlns:a16="http://schemas.microsoft.com/office/drawing/2014/main" id="{6672C688-9D98-AEBE-FC9C-A03409D045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9418" y="4146698"/>
            <a:ext cx="1912582" cy="2711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29516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1" y="617538"/>
            <a:ext cx="8639175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/>
              <a:t>Classical Probability-II</a:t>
            </a:r>
            <a:br>
              <a:rPr lang="en-US" altLang="en-US" sz="4000"/>
            </a:br>
            <a:r>
              <a:rPr lang="en-US" altLang="en-US" sz="4000"/>
              <a:t>(Example)</a:t>
            </a:r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29258" y="2028223"/>
            <a:ext cx="9638260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What is the (classical) probability of selecting the King of Clubs from a pack of 52 cards?</a:t>
            </a:r>
          </a:p>
          <a:p>
            <a:pPr lvl="1">
              <a:defRPr/>
            </a:pPr>
            <a:r>
              <a:rPr lang="en-US" altLang="en-US" dirty="0"/>
              <a:t>What are the sample space and event?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If you drew a card from a pack and it was the King of Clubs, what is the probability of then randomly drawing another club?</a:t>
            </a:r>
          </a:p>
          <a:p>
            <a:pPr lvl="1">
              <a:defRPr/>
            </a:pPr>
            <a:r>
              <a:rPr lang="en-US" altLang="en-US" dirty="0"/>
              <a:t>What are the sample space and event?</a:t>
            </a:r>
          </a:p>
          <a:p>
            <a:pPr eaLnBrk="1" hangingPunct="1">
              <a:defRPr/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6421638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2900" y="0"/>
            <a:ext cx="9144000" cy="1143000"/>
          </a:xfrm>
        </p:spPr>
        <p:txBody>
          <a:bodyPr/>
          <a:lstStyle/>
          <a:p>
            <a:pPr>
              <a:defRPr/>
            </a:pPr>
            <a:r>
              <a:rPr lang="en-US" sz="3600" dirty="0"/>
              <a:t>DNA Example 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2901" y="762000"/>
            <a:ext cx="8791575" cy="67056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dirty="0"/>
              <a:t>DNA is made of sequences of nucleotides: A, C, G, T.</a:t>
            </a:r>
          </a:p>
          <a:p>
            <a:pPr marL="0" indent="0">
              <a:buNone/>
              <a:defRPr/>
            </a:pPr>
            <a:r>
              <a:rPr lang="en-US" dirty="0"/>
              <a:t>How many DNA sequences of length 3 are there? (This is a sample space of all possible outcome)</a:t>
            </a:r>
          </a:p>
          <a:p>
            <a:pPr marL="0" indent="0">
              <a:buNone/>
              <a:defRPr/>
            </a:pPr>
            <a:r>
              <a:rPr lang="en-US" dirty="0"/>
              <a:t>	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</a:t>
            </a:r>
          </a:p>
          <a:p>
            <a:pPr marL="0" indent="0">
              <a:buNone/>
              <a:defRPr/>
            </a:pPr>
            <a:br>
              <a:rPr lang="en-US" dirty="0"/>
            </a:br>
            <a:r>
              <a:rPr lang="en-US" dirty="0"/>
              <a:t>How many DNA sequences of length 3 are there with no repeats? (This could be an event)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  </a:t>
            </a:r>
          </a:p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dirty="0"/>
              <a:t>What is the probability that a DNA sequence of length 3 has no repeat nucleotides?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FB6830-1FBA-1225-06C6-9FFA45A9C0AB}"/>
              </a:ext>
            </a:extLst>
          </p:cNvPr>
          <p:cNvSpPr/>
          <p:nvPr/>
        </p:nvSpPr>
        <p:spPr>
          <a:xfrm>
            <a:off x="1435100" y="3594538"/>
            <a:ext cx="8969376" cy="28272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49505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2900" y="0"/>
            <a:ext cx="9144000" cy="1143000"/>
          </a:xfrm>
        </p:spPr>
        <p:txBody>
          <a:bodyPr/>
          <a:lstStyle/>
          <a:p>
            <a:pPr>
              <a:defRPr/>
            </a:pPr>
            <a:r>
              <a:rPr lang="en-US" sz="3600" dirty="0"/>
              <a:t>DNA Example 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2901" y="762000"/>
            <a:ext cx="8791575" cy="67056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dirty="0"/>
              <a:t>DNA is made of sequences of nucleotides: A, C, G, T.</a:t>
            </a:r>
          </a:p>
          <a:p>
            <a:pPr marL="0" indent="0">
              <a:buNone/>
              <a:defRPr/>
            </a:pPr>
            <a:r>
              <a:rPr lang="en-US" dirty="0"/>
              <a:t>How many DNA sequences of length 3 are there? (This is a sample space of all possible outcome)</a:t>
            </a:r>
          </a:p>
          <a:p>
            <a:pPr marL="0" indent="0">
              <a:buNone/>
              <a:defRPr/>
            </a:pPr>
            <a:r>
              <a:rPr lang="en-US" dirty="0"/>
              <a:t>	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</a:t>
            </a:r>
          </a:p>
          <a:p>
            <a:pPr marL="0" indent="0">
              <a:buNone/>
              <a:defRPr/>
            </a:pPr>
            <a:br>
              <a:rPr lang="en-US" dirty="0"/>
            </a:br>
            <a:r>
              <a:rPr lang="en-US" dirty="0"/>
              <a:t>How many DNA sequences of length 3 are there with no repeats? (This could be an event)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  </a:t>
            </a:r>
          </a:p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dirty="0"/>
              <a:t>What is the probability that a DNA sequence of length 3 has no repeat nucleotides?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857E5CC-113D-B6CF-E031-860D0D61A517}"/>
              </a:ext>
            </a:extLst>
          </p:cNvPr>
          <p:cNvSpPr/>
          <p:nvPr/>
        </p:nvSpPr>
        <p:spPr>
          <a:xfrm>
            <a:off x="1435100" y="5163015"/>
            <a:ext cx="8969376" cy="125880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60140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2900" y="0"/>
            <a:ext cx="9144000" cy="1143000"/>
          </a:xfrm>
        </p:spPr>
        <p:txBody>
          <a:bodyPr/>
          <a:lstStyle/>
          <a:p>
            <a:pPr>
              <a:defRPr/>
            </a:pPr>
            <a:r>
              <a:rPr lang="en-US" sz="3600" dirty="0"/>
              <a:t>DNA Example 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2901" y="762000"/>
            <a:ext cx="8791575" cy="67056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dirty="0"/>
              <a:t>DNA is made of sequences of nucleotides: A, C, G, T.</a:t>
            </a:r>
          </a:p>
          <a:p>
            <a:pPr marL="0" indent="0">
              <a:buNone/>
              <a:defRPr/>
            </a:pPr>
            <a:r>
              <a:rPr lang="en-US" dirty="0"/>
              <a:t>How many DNA sequences of length 3 are there? (This is a sample space of all possible outcome)</a:t>
            </a:r>
          </a:p>
          <a:p>
            <a:pPr marL="0" indent="0">
              <a:buNone/>
              <a:defRPr/>
            </a:pPr>
            <a:r>
              <a:rPr lang="en-US" dirty="0"/>
              <a:t>	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</a:t>
            </a:r>
          </a:p>
          <a:p>
            <a:pPr marL="0" indent="0">
              <a:buNone/>
              <a:defRPr/>
            </a:pPr>
            <a:br>
              <a:rPr lang="en-US" dirty="0"/>
            </a:br>
            <a:r>
              <a:rPr lang="en-US" dirty="0"/>
              <a:t>How many DNA sequences of length 3 are there with no repeats? (This could be an event)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  </a:t>
            </a:r>
          </a:p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dirty="0"/>
              <a:t>What is the probability that a DNA sequence of length 3 has no repeat nucleotides?</a:t>
            </a:r>
          </a:p>
        </p:txBody>
      </p:sp>
    </p:spTree>
    <p:extLst>
      <p:ext uri="{BB962C8B-B14F-4D97-AF65-F5344CB8AC3E}">
        <p14:creationId xmlns:p14="http://schemas.microsoft.com/office/powerpoint/2010/main" val="18786299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Probabilities Formalized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133601" y="1447801"/>
            <a:ext cx="8303172" cy="4506913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sz="2400" dirty="0"/>
              <a:t>A probability cannot be negative and cannot exceed 1, i.e.:</a:t>
            </a:r>
          </a:p>
          <a:p>
            <a:pPr eaLnBrk="1" hangingPunct="1">
              <a:defRPr/>
            </a:pPr>
            <a:endParaRPr lang="en-US" altLang="en-US" sz="2400" dirty="0"/>
          </a:p>
          <a:p>
            <a:pPr eaLnBrk="1" hangingPunct="1">
              <a:defRPr/>
            </a:pPr>
            <a:endParaRPr lang="en-US" altLang="en-US" sz="2400" dirty="0"/>
          </a:p>
          <a:p>
            <a:pPr eaLnBrk="1" hangingPunct="1">
              <a:defRPr/>
            </a:pPr>
            <a:endParaRPr lang="en-US" altLang="en-US" sz="2400" dirty="0"/>
          </a:p>
          <a:p>
            <a:pPr eaLnBrk="1" hangingPunct="1">
              <a:defRPr/>
            </a:pPr>
            <a:r>
              <a:rPr lang="en-US" altLang="en-US" sz="2400" dirty="0"/>
              <a:t>The complement of the event </a:t>
            </a:r>
            <a:r>
              <a:rPr lang="en-US" altLang="en-US" sz="2400" i="1" dirty="0"/>
              <a:t>E</a:t>
            </a:r>
            <a:r>
              <a:rPr lang="en-US" altLang="en-US" sz="2400" dirty="0"/>
              <a:t> is the set of outcomes not part of </a:t>
            </a:r>
            <a:r>
              <a:rPr lang="en-US" altLang="en-US" sz="2400" i="1" dirty="0"/>
              <a:t>E</a:t>
            </a:r>
            <a:r>
              <a:rPr lang="en-US" altLang="en-US" sz="2400" dirty="0"/>
              <a:t>. The probability of the complement of </a:t>
            </a:r>
            <a:r>
              <a:rPr lang="en-US" altLang="en-US" sz="2400" i="1" dirty="0"/>
              <a:t>E</a:t>
            </a:r>
            <a:r>
              <a:rPr lang="en-US" altLang="en-US" sz="2400" dirty="0"/>
              <a:t> (denoted </a:t>
            </a:r>
            <a:r>
              <a:rPr lang="en-US" altLang="en-US" sz="2400" i="1" dirty="0"/>
              <a:t>E </a:t>
            </a:r>
            <a:r>
              <a:rPr lang="en-US" altLang="en-US" sz="2400" dirty="0"/>
              <a:t>’) is:</a:t>
            </a:r>
          </a:p>
          <a:p>
            <a:pPr eaLnBrk="1" hangingPunct="1">
              <a:defRPr/>
            </a:pPr>
            <a:endParaRPr lang="en-US" altLang="en-US" sz="2400" dirty="0"/>
          </a:p>
        </p:txBody>
      </p:sp>
      <p:graphicFrame>
        <p:nvGraphicFramePr>
          <p:cNvPr id="55299" name="Object 7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4953000" y="2362200"/>
          <a:ext cx="2185988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787058" imgH="203112" progId="Equation.DSMT4">
                  <p:embed/>
                </p:oleObj>
              </mc:Choice>
              <mc:Fallback>
                <p:oleObj name="Equation" r:id="rId3" imgW="787058" imgH="203112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53000" y="2362200"/>
                        <a:ext cx="2185988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5300" name="Object 9"/>
          <p:cNvGraphicFramePr>
            <a:graphicFrameLocks noGrp="1" noChangeAspect="1"/>
          </p:cNvGraphicFramePr>
          <p:nvPr>
            <p:ph sz="quarter" idx="3"/>
            <p:extLst>
              <p:ext uri="{D42A27DB-BD31-4B8C-83A1-F6EECF244321}">
                <p14:modId xmlns:p14="http://schemas.microsoft.com/office/powerpoint/2010/main" val="3763483402"/>
              </p:ext>
            </p:extLst>
          </p:nvPr>
        </p:nvGraphicFramePr>
        <p:xfrm>
          <a:off x="4453759" y="4750676"/>
          <a:ext cx="2971800" cy="5730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054100" imgH="203200" progId="Equation.DSMT4">
                  <p:embed/>
                </p:oleObj>
              </mc:Choice>
              <mc:Fallback>
                <p:oleObj name="Equation" r:id="rId5" imgW="10541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53759" y="4750676"/>
                        <a:ext cx="2971800" cy="5730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5301" name="TextBox 1"/>
          <p:cNvSpPr txBox="1">
            <a:spLocks noChangeArrowheads="1"/>
          </p:cNvSpPr>
          <p:nvPr/>
        </p:nvSpPr>
        <p:spPr bwMode="auto">
          <a:xfrm>
            <a:off x="4943476" y="6019801"/>
            <a:ext cx="214312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Why “1” here?</a:t>
            </a:r>
          </a:p>
        </p:txBody>
      </p:sp>
    </p:spTree>
    <p:extLst>
      <p:ext uri="{BB962C8B-B14F-4D97-AF65-F5344CB8AC3E}">
        <p14:creationId xmlns:p14="http://schemas.microsoft.com/office/powerpoint/2010/main" val="2155903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Example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262130" y="1744664"/>
            <a:ext cx="10496281" cy="4114800"/>
          </a:xfrm>
        </p:spPr>
        <p:txBody>
          <a:bodyPr/>
          <a:lstStyle/>
          <a:p>
            <a:pPr marL="609600" indent="-609600">
              <a:defRPr/>
            </a:pPr>
            <a:r>
              <a:rPr lang="en-US" altLang="en-US" sz="2400" dirty="0"/>
              <a:t>The sex ratio at birth for a particular pinniped is 55:45 </a:t>
            </a:r>
            <a:r>
              <a:rPr lang="en-US" altLang="en-US" sz="2400" dirty="0" err="1"/>
              <a:t>male:female</a:t>
            </a:r>
            <a:r>
              <a:rPr lang="en-US" altLang="en-US" sz="2400" dirty="0"/>
              <a:t>. You select two pups at random from the (large) population. What is the probability that:</a:t>
            </a:r>
          </a:p>
          <a:p>
            <a:pPr marL="990600" lvl="1" indent="-533400">
              <a:defRPr/>
            </a:pPr>
            <a:r>
              <a:rPr lang="en-US" altLang="en-US" sz="2000" dirty="0"/>
              <a:t>a. they are both male?</a:t>
            </a:r>
          </a:p>
          <a:p>
            <a:pPr marL="990600" lvl="1" indent="-533400">
              <a:defRPr/>
            </a:pPr>
            <a:r>
              <a:rPr lang="en-US" altLang="en-US" sz="2000" dirty="0"/>
              <a:t>b. at least one of them is male?</a:t>
            </a:r>
          </a:p>
          <a:p>
            <a:pPr marL="609600" indent="-609600">
              <a:defRPr/>
            </a:pPr>
            <a:r>
              <a:rPr lang="en-US" altLang="en-US" sz="2400" dirty="0"/>
              <a:t>Solution:</a:t>
            </a:r>
          </a:p>
          <a:p>
            <a:pPr marL="990600" lvl="1" indent="-533400">
              <a:defRPr/>
            </a:pPr>
            <a:r>
              <a:rPr lang="en-US" altLang="en-US" sz="2000" dirty="0"/>
              <a:t>We can assume that the population is “large” (not 100!)</a:t>
            </a:r>
          </a:p>
          <a:p>
            <a:pPr marL="990600" lvl="1" indent="-533400">
              <a:defRPr/>
            </a:pPr>
            <a:r>
              <a:rPr lang="en-US" altLang="en-US" sz="2000" dirty="0"/>
              <a:t>P(male) * P(male) = 0.55*0.55</a:t>
            </a:r>
          </a:p>
          <a:p>
            <a:pPr marL="990600" lvl="1" indent="-533400">
              <a:defRPr/>
            </a:pPr>
            <a:r>
              <a:rPr lang="en-US" altLang="en-US" sz="2000" dirty="0"/>
              <a:t>P(at least one male) = 1-P(both female) = 1 - 0.45*0.45</a:t>
            </a:r>
          </a:p>
        </p:txBody>
      </p:sp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1905000" y="5397501"/>
            <a:ext cx="81343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How would this be different if the population wasn’t large?</a:t>
            </a:r>
          </a:p>
        </p:txBody>
      </p:sp>
    </p:spTree>
    <p:extLst>
      <p:ext uri="{BB962C8B-B14F-4D97-AF65-F5344CB8AC3E}">
        <p14:creationId xmlns:p14="http://schemas.microsoft.com/office/powerpoint/2010/main" val="1090082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Conditional Probability-I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870841" y="1704975"/>
            <a:ext cx="8622457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A </a:t>
            </a:r>
            <a:r>
              <a:rPr lang="en-US" altLang="en-US" b="1" dirty="0">
                <a:solidFill>
                  <a:srgbClr val="0070C0"/>
                </a:solidFill>
              </a:rPr>
              <a:t>conditional probability </a:t>
            </a:r>
            <a:r>
              <a:rPr lang="en-US" altLang="en-US" dirty="0"/>
              <a:t>is the probability of an event occurring given that another event has </a:t>
            </a:r>
            <a:r>
              <a:rPr lang="en-US" altLang="en-US" i="1" dirty="0">
                <a:solidFill>
                  <a:schemeClr val="hlink"/>
                </a:solidFill>
              </a:rPr>
              <a:t>already</a:t>
            </a:r>
            <a:r>
              <a:rPr lang="en-US" altLang="en-US" dirty="0"/>
              <a:t> occurred. 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The conditional probability of event </a:t>
            </a:r>
            <a:r>
              <a:rPr lang="en-US" altLang="en-US" i="1" dirty="0"/>
              <a:t>B</a:t>
            </a:r>
            <a:r>
              <a:rPr lang="en-US" altLang="en-US" dirty="0"/>
              <a:t> occurring given that event </a:t>
            </a:r>
            <a:r>
              <a:rPr lang="en-US" altLang="en-US" i="1" dirty="0"/>
              <a:t>A</a:t>
            </a:r>
            <a:r>
              <a:rPr lang="en-US" altLang="en-US" dirty="0"/>
              <a:t> has already occurred is denoted </a:t>
            </a:r>
            <a:r>
              <a:rPr lang="en-US" altLang="en-US" i="1" dirty="0"/>
              <a:t>P</a:t>
            </a:r>
            <a:r>
              <a:rPr lang="en-US" altLang="en-US" dirty="0"/>
              <a:t>(</a:t>
            </a:r>
            <a:r>
              <a:rPr lang="en-US" altLang="en-US" i="1" dirty="0"/>
              <a:t>B</a:t>
            </a:r>
            <a:r>
              <a:rPr lang="en-US" altLang="en-US" dirty="0"/>
              <a:t>|</a:t>
            </a:r>
            <a:r>
              <a:rPr lang="en-US" altLang="en-US" i="1" dirty="0"/>
              <a:t>A</a:t>
            </a:r>
            <a:r>
              <a:rPr lang="en-US" altLang="en-US" dirty="0"/>
              <a:t>) and is read as “probability of </a:t>
            </a:r>
            <a:r>
              <a:rPr lang="en-US" altLang="en-US" i="1" dirty="0"/>
              <a:t>B</a:t>
            </a:r>
            <a:r>
              <a:rPr lang="en-US" altLang="en-US" dirty="0"/>
              <a:t> given </a:t>
            </a:r>
            <a:r>
              <a:rPr lang="en-US" altLang="en-US" i="1" dirty="0"/>
              <a:t>A</a:t>
            </a:r>
            <a:r>
              <a:rPr lang="en-US" alt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162070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3048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Conditional Probability-II</a:t>
            </a:r>
          </a:p>
        </p:txBody>
      </p:sp>
      <p:graphicFrame>
        <p:nvGraphicFramePr>
          <p:cNvPr id="448515" name="Group 3"/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1892409800"/>
              </p:ext>
            </p:extLst>
          </p:nvPr>
        </p:nvGraphicFramePr>
        <p:xfrm>
          <a:off x="3200400" y="1914526"/>
          <a:ext cx="6135688" cy="2422526"/>
        </p:xfrm>
        <a:graphic>
          <a:graphicData uri="http://schemas.openxmlformats.org/drawingml/2006/table">
            <a:tbl>
              <a:tblPr/>
              <a:tblGrid>
                <a:gridCol w="1533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51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6200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Present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Not Present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Spring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33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52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Fall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39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72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102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511" name="Text Box 36"/>
          <p:cNvSpPr txBox="1">
            <a:spLocks noChangeArrowheads="1"/>
          </p:cNvSpPr>
          <p:nvPr/>
        </p:nvSpPr>
        <p:spPr bwMode="auto">
          <a:xfrm>
            <a:off x="2090738" y="4792664"/>
            <a:ext cx="8382488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of being a spring run fish?</a:t>
            </a:r>
          </a:p>
          <a:p>
            <a:pPr eaLnBrk="1" hangingPunct="1">
              <a:defRPr/>
            </a:pPr>
            <a:r>
              <a:rPr lang="en-US" altLang="en-US" sz="2000" dirty="0"/>
              <a:t> 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of being a spring run fish if you have the gene?</a:t>
            </a:r>
          </a:p>
        </p:txBody>
      </p:sp>
      <p:pic>
        <p:nvPicPr>
          <p:cNvPr id="1028" name="Picture 4" descr="ll king salmon fishing to close in Kenai drainage - Alaska Public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194825" cy="212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198845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>
          <a:xfrm>
            <a:off x="1445377" y="305308"/>
            <a:ext cx="10390716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Conditional Probability-III</a:t>
            </a:r>
          </a:p>
        </p:txBody>
      </p:sp>
      <p:graphicFrame>
        <p:nvGraphicFramePr>
          <p:cNvPr id="449539" name="Group 3"/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1291224413"/>
              </p:ext>
            </p:extLst>
          </p:nvPr>
        </p:nvGraphicFramePr>
        <p:xfrm>
          <a:off x="3200400" y="1915034"/>
          <a:ext cx="6135688" cy="2422526"/>
        </p:xfrm>
        <a:graphic>
          <a:graphicData uri="http://schemas.openxmlformats.org/drawingml/2006/table">
            <a:tbl>
              <a:tblPr/>
              <a:tblGrid>
                <a:gridCol w="1533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51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6200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Present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Not Present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Spring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33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charset="0"/>
                        </a:rPr>
                        <a:t>52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Fall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39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charset="0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72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charset="0"/>
                        </a:rPr>
                        <a:t>102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535" name="Text Box 36"/>
          <p:cNvSpPr txBox="1">
            <a:spLocks noChangeArrowheads="1"/>
          </p:cNvSpPr>
          <p:nvPr/>
        </p:nvSpPr>
        <p:spPr bwMode="auto">
          <a:xfrm>
            <a:off x="1684339" y="4777296"/>
            <a:ext cx="8345487" cy="1006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of being a spring run fish?</a:t>
            </a:r>
          </a:p>
          <a:p>
            <a:pPr lvl="1" eaLnBrk="1" hangingPunct="1">
              <a:buFontTx/>
              <a:buChar char="•"/>
              <a:defRPr/>
            </a:pPr>
            <a:r>
              <a:rPr lang="en-US" altLang="en-US" sz="2000" dirty="0"/>
              <a:t> Solution: This question says nothing about the other factor (gene) </a:t>
            </a:r>
          </a:p>
          <a:p>
            <a:pPr lvl="1" eaLnBrk="1" hangingPunct="1">
              <a:defRPr/>
            </a:pPr>
            <a:r>
              <a:rPr lang="en-US" altLang="en-US" sz="2000" dirty="0"/>
              <a:t>  so we look at the last column (total); =52/102</a:t>
            </a:r>
          </a:p>
        </p:txBody>
      </p:sp>
      <p:pic>
        <p:nvPicPr>
          <p:cNvPr id="5" name="Picture 4" descr="ll king salmon fishing to close in Kenai drainage - Alaska Public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194825" cy="212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7651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2769216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Conditional Probability-IV</a:t>
            </a:r>
          </a:p>
        </p:txBody>
      </p:sp>
      <p:graphicFrame>
        <p:nvGraphicFramePr>
          <p:cNvPr id="450563" name="Group 3"/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986685233"/>
              </p:ext>
            </p:extLst>
          </p:nvPr>
        </p:nvGraphicFramePr>
        <p:xfrm>
          <a:off x="3205472" y="1914526"/>
          <a:ext cx="6135688" cy="2422526"/>
        </p:xfrm>
        <a:graphic>
          <a:graphicData uri="http://schemas.openxmlformats.org/drawingml/2006/table">
            <a:tbl>
              <a:tblPr/>
              <a:tblGrid>
                <a:gridCol w="1533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51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6200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Present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Not Present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Spring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D32128"/>
                          </a:solidFill>
                          <a:effectLst/>
                          <a:latin typeface="Tahoma" charset="0"/>
                        </a:rPr>
                        <a:t>33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52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Fall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D32128"/>
                          </a:solidFill>
                          <a:effectLst/>
                          <a:latin typeface="Tahoma" charset="0"/>
                        </a:rPr>
                        <a:t>39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D32128"/>
                          </a:solidFill>
                          <a:effectLst/>
                          <a:latin typeface="Tahoma" charset="0"/>
                        </a:rPr>
                        <a:t>72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102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559" name="Text Box 36"/>
          <p:cNvSpPr txBox="1">
            <a:spLocks noChangeArrowheads="1"/>
          </p:cNvSpPr>
          <p:nvPr/>
        </p:nvSpPr>
        <p:spPr bwMode="auto">
          <a:xfrm>
            <a:off x="1498522" y="4728118"/>
            <a:ext cx="10334425" cy="1631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What is the probability of being a spring run fish if you have the gene?</a:t>
            </a:r>
          </a:p>
          <a:p>
            <a:pPr eaLnBrk="1" hangingPunct="1">
              <a:buFontTx/>
              <a:buChar char="•"/>
              <a:defRPr/>
            </a:pPr>
            <a:endParaRPr lang="en-US" altLang="en-US" sz="2000" dirty="0"/>
          </a:p>
          <a:p>
            <a:pPr lvl="1" eaLnBrk="1" hangingPunct="1">
              <a:buFontTx/>
              <a:buChar char="•"/>
              <a:defRPr/>
            </a:pPr>
            <a:r>
              <a:rPr lang="en-US" altLang="en-US" sz="2000" dirty="0"/>
              <a:t> Solution: The question relates only to having the gene so we are dealing with a </a:t>
            </a:r>
            <a:r>
              <a:rPr lang="en-US" altLang="en-US" sz="2000" b="1" dirty="0"/>
              <a:t>conditional probability</a:t>
            </a:r>
            <a:r>
              <a:rPr lang="en-US" altLang="en-US" sz="2000" dirty="0"/>
              <a:t>. We focus on the “Gene present” column and find the probability of being a spring run fish GIVEN having the gene = 33/72.</a:t>
            </a:r>
          </a:p>
        </p:txBody>
      </p:sp>
      <p:pic>
        <p:nvPicPr>
          <p:cNvPr id="5" name="Picture 4" descr="ll king salmon fishing to close in Kenai drainage - Alaska Public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194825" cy="212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438628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-314094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Conditional Probability-V</a:t>
            </a:r>
          </a:p>
        </p:txBody>
      </p:sp>
      <p:pic>
        <p:nvPicPr>
          <p:cNvPr id="6758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400" y="3886200"/>
            <a:ext cx="1898650" cy="2725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7587" name="Picture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0" y="914401"/>
            <a:ext cx="8382000" cy="3108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9946888" y="6488668"/>
            <a:ext cx="1803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Mangel’s</a:t>
            </a:r>
            <a:r>
              <a:rPr lang="en-US" dirty="0"/>
              <a:t> Toolbox</a:t>
            </a:r>
          </a:p>
        </p:txBody>
      </p:sp>
    </p:spTree>
    <p:extLst>
      <p:ext uri="{BB962C8B-B14F-4D97-AF65-F5344CB8AC3E}">
        <p14:creationId xmlns:p14="http://schemas.microsoft.com/office/powerpoint/2010/main" val="10565723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39395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Independent Events-I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321837" y="1716157"/>
            <a:ext cx="8865151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Two events are said to be </a:t>
            </a:r>
            <a:r>
              <a:rPr lang="en-US" altLang="en-US" b="1" dirty="0">
                <a:solidFill>
                  <a:srgbClr val="0070C0"/>
                </a:solidFill>
              </a:rPr>
              <a:t>independent </a:t>
            </a:r>
            <a:r>
              <a:rPr lang="en-US" altLang="en-US" dirty="0"/>
              <a:t>if the occurrence of one does not affect the probability of the other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Two events are independent therefore if:</a:t>
            </a:r>
          </a:p>
        </p:txBody>
      </p:sp>
      <p:graphicFrame>
        <p:nvGraphicFramePr>
          <p:cNvPr id="69636" name="Object 5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505766225"/>
              </p:ext>
            </p:extLst>
          </p:nvPr>
        </p:nvGraphicFramePr>
        <p:xfrm>
          <a:off x="2393950" y="4096924"/>
          <a:ext cx="6172200" cy="498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514600" imgH="203200" progId="Equation.DSMT4">
                  <p:embed/>
                </p:oleObj>
              </mc:Choice>
              <mc:Fallback>
                <p:oleObj name="Equation" r:id="rId3" imgW="25146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93950" y="4096924"/>
                        <a:ext cx="6172200" cy="4984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5100247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1752600" y="336550"/>
            <a:ext cx="8686800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“AND” - The Multiplication Rule</a:t>
            </a:r>
            <a:br>
              <a:rPr lang="en-US" altLang="en-US" dirty="0"/>
            </a:br>
            <a:r>
              <a:rPr lang="en-US" altLang="en-US" dirty="0"/>
              <a:t>The “joint distribution” of A and B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037062" y="1981200"/>
            <a:ext cx="10158761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probability that two events </a:t>
            </a:r>
            <a:r>
              <a:rPr lang="en-US" altLang="en-US" i="1" dirty="0"/>
              <a:t>A</a:t>
            </a:r>
            <a:r>
              <a:rPr lang="en-US" altLang="en-US" dirty="0"/>
              <a:t> </a:t>
            </a:r>
            <a:r>
              <a:rPr lang="en-US" altLang="en-US" i="1" dirty="0">
                <a:solidFill>
                  <a:schemeClr val="hlink"/>
                </a:solidFill>
              </a:rPr>
              <a:t>and</a:t>
            </a:r>
            <a:r>
              <a:rPr lang="en-US" altLang="en-US" dirty="0"/>
              <a:t> </a:t>
            </a:r>
            <a:r>
              <a:rPr lang="en-US" altLang="en-US" i="1" dirty="0"/>
              <a:t>B</a:t>
            </a:r>
            <a:r>
              <a:rPr lang="en-US" altLang="en-US" dirty="0"/>
              <a:t> will occur in sequence is: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If </a:t>
            </a:r>
            <a:r>
              <a:rPr lang="en-US" altLang="en-US" i="1" dirty="0"/>
              <a:t>A</a:t>
            </a:r>
            <a:r>
              <a:rPr lang="en-US" altLang="en-US" dirty="0"/>
              <a:t> and </a:t>
            </a:r>
            <a:r>
              <a:rPr lang="en-US" altLang="en-US" i="1" dirty="0"/>
              <a:t>B</a:t>
            </a:r>
            <a:r>
              <a:rPr lang="en-US" altLang="en-US" dirty="0"/>
              <a:t> are independent, then the multiplication rule becomes:</a:t>
            </a:r>
          </a:p>
        </p:txBody>
      </p:sp>
      <p:graphicFrame>
        <p:nvGraphicFramePr>
          <p:cNvPr id="71683" name="Object 4"/>
          <p:cNvGraphicFramePr>
            <a:graphicFrameLocks noGrp="1" noChangeAspect="1"/>
          </p:cNvGraphicFramePr>
          <p:nvPr>
            <p:ph sz="quarter" idx="2"/>
            <p:extLst>
              <p:ext uri="{D42A27DB-BD31-4B8C-83A1-F6EECF244321}">
                <p14:modId xmlns:p14="http://schemas.microsoft.com/office/powerpoint/2010/main" val="1668018776"/>
              </p:ext>
            </p:extLst>
          </p:nvPr>
        </p:nvGraphicFramePr>
        <p:xfrm>
          <a:off x="2779713" y="2743995"/>
          <a:ext cx="5943600" cy="495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438400" imgH="203200" progId="Equation.DSMT4">
                  <p:embed/>
                </p:oleObj>
              </mc:Choice>
              <mc:Fallback>
                <p:oleObj name="Equation" r:id="rId3" imgW="24384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79713" y="2743995"/>
                        <a:ext cx="5943600" cy="4953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149" name="Object 6"/>
          <p:cNvGraphicFramePr>
            <a:graphicFrameLocks noGrp="1" noChangeAspect="1"/>
          </p:cNvGraphicFramePr>
          <p:nvPr>
            <p:ph sz="quarter" idx="3"/>
            <p:extLst>
              <p:ext uri="{D42A27DB-BD31-4B8C-83A1-F6EECF244321}">
                <p14:modId xmlns:p14="http://schemas.microsoft.com/office/powerpoint/2010/main" val="2138061314"/>
              </p:ext>
            </p:extLst>
          </p:nvPr>
        </p:nvGraphicFramePr>
        <p:xfrm>
          <a:off x="4018756" y="4658158"/>
          <a:ext cx="4154487" cy="554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524000" imgH="203200" progId="Equation.DSMT4">
                  <p:embed/>
                </p:oleObj>
              </mc:Choice>
              <mc:Fallback>
                <p:oleObj name="Equation" r:id="rId5" imgW="15240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18756" y="4658158"/>
                        <a:ext cx="4154487" cy="554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75370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1752600" y="112713"/>
            <a:ext cx="8610600" cy="1143000"/>
          </a:xfrm>
        </p:spPr>
        <p:txBody>
          <a:bodyPr>
            <a:normAutofit fontScale="90000"/>
          </a:bodyPr>
          <a:lstStyle/>
          <a:p>
            <a:pPr algn="ctr">
              <a:defRPr/>
            </a:pPr>
            <a:r>
              <a:rPr lang="en-US" altLang="en-US" dirty="0"/>
              <a:t>“AND” - The Multiplication Rule</a:t>
            </a:r>
            <a:br>
              <a:rPr lang="en-US" altLang="en-US" dirty="0"/>
            </a:br>
            <a:r>
              <a:rPr lang="en-US" altLang="en-US" dirty="0"/>
              <a:t>The “joint distribution” of A and B</a:t>
            </a:r>
          </a:p>
        </p:txBody>
      </p:sp>
      <p:pic>
        <p:nvPicPr>
          <p:cNvPr id="73730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9813" y="1258888"/>
            <a:ext cx="7823200" cy="179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3731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3730" y="2482394"/>
            <a:ext cx="2174875" cy="312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73732" name="Object 4"/>
          <p:cNvGraphicFramePr>
            <a:graphicFrameLocks noGrp="1" noChangeAspect="1"/>
          </p:cNvGraphicFramePr>
          <p:nvPr>
            <p:ph sz="quarter" idx="2"/>
            <p:extLst>
              <p:ext uri="{D42A27DB-BD31-4B8C-83A1-F6EECF244321}">
                <p14:modId xmlns:p14="http://schemas.microsoft.com/office/powerpoint/2010/main" val="2023378143"/>
              </p:ext>
            </p:extLst>
          </p:nvPr>
        </p:nvGraphicFramePr>
        <p:xfrm>
          <a:off x="3086100" y="5715000"/>
          <a:ext cx="5943600" cy="495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438400" imgH="203200" progId="Equation.DSMT4">
                  <p:embed/>
                </p:oleObj>
              </mc:Choice>
              <mc:Fallback>
                <p:oleObj name="Equation" r:id="rId5" imgW="24384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86100" y="5715000"/>
                        <a:ext cx="5943600" cy="4953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3733" name="TextBox 1"/>
          <p:cNvSpPr txBox="1">
            <a:spLocks noChangeArrowheads="1"/>
          </p:cNvSpPr>
          <p:nvPr/>
        </p:nvSpPr>
        <p:spPr bwMode="auto">
          <a:xfrm>
            <a:off x="4605132" y="6210300"/>
            <a:ext cx="7339638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200" i="1" dirty="0"/>
              <a:t>Note the multiplication. What’s another way to write this?</a:t>
            </a:r>
          </a:p>
        </p:txBody>
      </p:sp>
    </p:spTree>
    <p:extLst>
      <p:ext uri="{BB962C8B-B14F-4D97-AF65-F5344CB8AC3E}">
        <p14:creationId xmlns:p14="http://schemas.microsoft.com/office/powerpoint/2010/main" val="7685909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 txBox="1">
            <a:spLocks noChangeArrowheads="1"/>
          </p:cNvSpPr>
          <p:nvPr/>
        </p:nvSpPr>
        <p:spPr>
          <a:xfrm>
            <a:off x="1036710" y="54470"/>
            <a:ext cx="10189028" cy="1116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altLang="en-US" dirty="0"/>
              <a:t>Factoring joint distributions into conditionals “the chain rule”</a:t>
            </a:r>
          </a:p>
        </p:txBody>
      </p:sp>
      <p:sp>
        <p:nvSpPr>
          <p:cNvPr id="9" name="TextBox 8"/>
          <p:cNvSpPr txBox="1">
            <a:spLocks noChangeArrowheads="1"/>
          </p:cNvSpPr>
          <p:nvPr/>
        </p:nvSpPr>
        <p:spPr bwMode="auto">
          <a:xfrm>
            <a:off x="2581609" y="3010228"/>
            <a:ext cx="7581563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800" dirty="0"/>
              <a:t>P(A, B, C, D) = P(A|B,C,D)P(B|C,D)P(C|D)P(D)</a:t>
            </a:r>
          </a:p>
        </p:txBody>
      </p:sp>
      <p:sp>
        <p:nvSpPr>
          <p:cNvPr id="8" name="TextBox 7"/>
          <p:cNvSpPr txBox="1">
            <a:spLocks noChangeArrowheads="1"/>
          </p:cNvSpPr>
          <p:nvPr/>
        </p:nvSpPr>
        <p:spPr bwMode="auto">
          <a:xfrm>
            <a:off x="-60022" y="1636127"/>
            <a:ext cx="12382492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/>
            <a:r>
              <a:rPr lang="en-US" altLang="en-US" sz="2200" dirty="0"/>
              <a:t>The probability of multiple events (or random variables) is called the </a:t>
            </a:r>
            <a:r>
              <a:rPr lang="en-US" altLang="en-US" sz="2200" b="1" dirty="0"/>
              <a:t>joint </a:t>
            </a:r>
            <a:r>
              <a:rPr lang="en-US" altLang="en-US" sz="2200" dirty="0"/>
              <a:t>distribution of A and B.</a:t>
            </a:r>
          </a:p>
          <a:p>
            <a:pPr algn="ctr"/>
            <a:r>
              <a:rPr lang="en-US" altLang="en-US" sz="2200" dirty="0"/>
              <a:t>The joint distribution can be factored into conditional distributions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603" y="4272104"/>
            <a:ext cx="1212043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The conditional distributions can further be simplified if variables are independent</a:t>
            </a:r>
          </a:p>
        </p:txBody>
      </p:sp>
    </p:spTree>
    <p:extLst>
      <p:ext uri="{BB962C8B-B14F-4D97-AF65-F5344CB8AC3E}">
        <p14:creationId xmlns:p14="http://schemas.microsoft.com/office/powerpoint/2010/main" val="1224904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397" t="17674" r="21317" b="10697"/>
          <a:stretch/>
        </p:blipFill>
        <p:spPr>
          <a:xfrm>
            <a:off x="737811" y="1097509"/>
            <a:ext cx="6041035" cy="576049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50944"/>
            <a:ext cx="1219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The conditional distributions can be represented by a Directed Acyclic Graph (DAG) based on the dependencies of the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88927" y="2734838"/>
            <a:ext cx="60885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 dirty="0"/>
              <a:t>Variables with arrowheads: LHS of conditionality</a:t>
            </a:r>
          </a:p>
          <a:p>
            <a:pPr marL="285750" indent="-285750">
              <a:buFont typeface="Arial" charset="0"/>
              <a:buChar char="•"/>
            </a:pPr>
            <a:endParaRPr lang="en-US" dirty="0"/>
          </a:p>
          <a:p>
            <a:pPr marL="285750" indent="-285750">
              <a:buFont typeface="Arial" charset="0"/>
              <a:buChar char="•"/>
            </a:pPr>
            <a:r>
              <a:rPr lang="en-US" dirty="0"/>
              <a:t> They depend on tails of arrows, which go on RHS</a:t>
            </a:r>
          </a:p>
          <a:p>
            <a:pPr marL="285750" indent="-285750">
              <a:buFont typeface="Arial" charset="0"/>
              <a:buChar char="•"/>
            </a:pPr>
            <a:endParaRPr lang="en-US" dirty="0"/>
          </a:p>
          <a:p>
            <a:pPr marL="285750" indent="-285750">
              <a:buFont typeface="Arial" charset="0"/>
              <a:buChar char="•"/>
            </a:pPr>
            <a:r>
              <a:rPr lang="en-US" dirty="0"/>
              <a:t> Variables without arrow pointing to them are independent</a:t>
            </a:r>
          </a:p>
        </p:txBody>
      </p:sp>
    </p:spTree>
    <p:extLst>
      <p:ext uri="{BB962C8B-B14F-4D97-AF65-F5344CB8AC3E}">
        <p14:creationId xmlns:p14="http://schemas.microsoft.com/office/powerpoint/2010/main" val="15801473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 descr="A math problem with numbers and symbols&#10;&#10;Description automatically generated with medium confidence">
            <a:extLst>
              <a:ext uri="{FF2B5EF4-FFF2-40B4-BE49-F238E27FC236}">
                <a16:creationId xmlns:a16="http://schemas.microsoft.com/office/drawing/2014/main" id="{39D16852-C2FE-61B8-AA0A-27F0793212E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872" b="1"/>
          <a:stretch/>
        </p:blipFill>
        <p:spPr>
          <a:xfrm>
            <a:off x="1807778" y="1360840"/>
            <a:ext cx="9396250" cy="528441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836AAA-C401-A374-488F-3554F6CA8A2A}"/>
              </a:ext>
            </a:extLst>
          </p:cNvPr>
          <p:cNvSpPr txBox="1"/>
          <p:nvPr/>
        </p:nvSpPr>
        <p:spPr>
          <a:xfrm>
            <a:off x="0" y="0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/>
              <a:t>Bayesian models are often represented by DAGs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3D28001-BA08-A8EA-DE2C-F4FED3BA58AA}"/>
              </a:ext>
            </a:extLst>
          </p:cNvPr>
          <p:cNvSpPr/>
          <p:nvPr/>
        </p:nvSpPr>
        <p:spPr>
          <a:xfrm>
            <a:off x="1686910" y="4445876"/>
            <a:ext cx="7961587" cy="13243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97565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189164" y="2286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“OR” - The Additive Rule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220913" y="1628775"/>
            <a:ext cx="75041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probability that events </a:t>
            </a:r>
            <a:r>
              <a:rPr lang="en-US" altLang="en-US" i="1" dirty="0"/>
              <a:t>A</a:t>
            </a:r>
            <a:r>
              <a:rPr lang="en-US" altLang="en-US" dirty="0"/>
              <a:t> </a:t>
            </a:r>
            <a:r>
              <a:rPr lang="en-US" altLang="en-US" i="1" dirty="0">
                <a:solidFill>
                  <a:schemeClr val="hlink"/>
                </a:solidFill>
              </a:rPr>
              <a:t>or</a:t>
            </a:r>
            <a:r>
              <a:rPr lang="en-US" altLang="en-US" dirty="0"/>
              <a:t> </a:t>
            </a:r>
            <a:r>
              <a:rPr lang="en-US" altLang="en-US" i="1" dirty="0"/>
              <a:t>B</a:t>
            </a:r>
            <a:r>
              <a:rPr lang="en-US" altLang="en-US" dirty="0"/>
              <a:t> will occur is: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If events </a:t>
            </a:r>
            <a:r>
              <a:rPr lang="en-US" altLang="en-US" i="1" dirty="0"/>
              <a:t>A</a:t>
            </a:r>
            <a:r>
              <a:rPr lang="en-US" altLang="en-US" dirty="0"/>
              <a:t> and </a:t>
            </a:r>
            <a:r>
              <a:rPr lang="en-US" altLang="en-US" i="1" dirty="0"/>
              <a:t>B</a:t>
            </a:r>
            <a:r>
              <a:rPr lang="en-US" altLang="en-US" dirty="0"/>
              <a:t> are mutually exclusive, then:</a:t>
            </a:r>
          </a:p>
          <a:p>
            <a:pPr eaLnBrk="1" hangingPunct="1">
              <a:defRPr/>
            </a:pPr>
            <a:endParaRPr lang="en-US" altLang="en-US" dirty="0"/>
          </a:p>
        </p:txBody>
      </p:sp>
      <p:graphicFrame>
        <p:nvGraphicFramePr>
          <p:cNvPr id="75779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3019425" y="2857501"/>
          <a:ext cx="6224588" cy="4111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073400" imgH="203200" progId="Equation.DSMT4">
                  <p:embed/>
                </p:oleObj>
              </mc:Choice>
              <mc:Fallback>
                <p:oleObj name="Equation" r:id="rId3" imgW="30734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19425" y="2857501"/>
                        <a:ext cx="6224588" cy="4111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5780" name="Object 6"/>
          <p:cNvGraphicFramePr>
            <a:graphicFrameLocks noGrp="1" noChangeAspect="1"/>
          </p:cNvGraphicFramePr>
          <p:nvPr>
            <p:ph sz="quarter" idx="3"/>
          </p:nvPr>
        </p:nvGraphicFramePr>
        <p:xfrm>
          <a:off x="4695825" y="4551363"/>
          <a:ext cx="2971800" cy="393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536033" imgH="203112" progId="Equation.DSMT4">
                  <p:embed/>
                </p:oleObj>
              </mc:Choice>
              <mc:Fallback>
                <p:oleObj name="Equation" r:id="rId5" imgW="1536033" imgH="203112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95825" y="4551363"/>
                        <a:ext cx="2971800" cy="393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5781" name="TextBox 5"/>
          <p:cNvSpPr txBox="1">
            <a:spLocks noChangeArrowheads="1"/>
          </p:cNvSpPr>
          <p:nvPr/>
        </p:nvSpPr>
        <p:spPr bwMode="auto">
          <a:xfrm>
            <a:off x="4916489" y="4986338"/>
            <a:ext cx="2338387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200" i="1"/>
              <a:t>Note the addition</a:t>
            </a:r>
          </a:p>
        </p:txBody>
      </p:sp>
      <p:sp>
        <p:nvSpPr>
          <p:cNvPr id="75782" name="TextBox 6"/>
          <p:cNvSpPr txBox="1">
            <a:spLocks noChangeArrowheads="1"/>
          </p:cNvSpPr>
          <p:nvPr/>
        </p:nvSpPr>
        <p:spPr bwMode="auto">
          <a:xfrm>
            <a:off x="9113838" y="2178051"/>
            <a:ext cx="868362" cy="430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200" i="1"/>
              <a:t>Why?</a:t>
            </a:r>
          </a:p>
        </p:txBody>
      </p:sp>
      <p:cxnSp>
        <p:nvCxnSpPr>
          <p:cNvPr id="75783" name="Straight Arrow Connector 2"/>
          <p:cNvCxnSpPr>
            <a:cxnSpLocks noChangeShapeType="1"/>
            <a:stCxn id="75782" idx="1"/>
          </p:cNvCxnSpPr>
          <p:nvPr/>
        </p:nvCxnSpPr>
        <p:spPr bwMode="auto">
          <a:xfrm flipH="1">
            <a:off x="8839200" y="2393950"/>
            <a:ext cx="274638" cy="46355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4117095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493964" y="-2286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“OR” - The Additive Rule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525713" y="1171575"/>
            <a:ext cx="75041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probability that events </a:t>
            </a:r>
            <a:r>
              <a:rPr lang="en-US" altLang="en-US" i="1" dirty="0"/>
              <a:t>A</a:t>
            </a:r>
            <a:r>
              <a:rPr lang="en-US" altLang="en-US" dirty="0"/>
              <a:t> </a:t>
            </a:r>
            <a:r>
              <a:rPr lang="en-US" altLang="en-US" i="1" dirty="0">
                <a:solidFill>
                  <a:schemeClr val="hlink"/>
                </a:solidFill>
              </a:rPr>
              <a:t>or</a:t>
            </a:r>
            <a:r>
              <a:rPr lang="en-US" altLang="en-US" dirty="0"/>
              <a:t> </a:t>
            </a:r>
            <a:r>
              <a:rPr lang="en-US" altLang="en-US" i="1" dirty="0"/>
              <a:t>B</a:t>
            </a:r>
            <a:r>
              <a:rPr lang="en-US" altLang="en-US" dirty="0"/>
              <a:t> will occur</a:t>
            </a:r>
          </a:p>
        </p:txBody>
      </p:sp>
      <p:graphicFrame>
        <p:nvGraphicFramePr>
          <p:cNvPr id="77827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3324225" y="2400301"/>
          <a:ext cx="6224588" cy="4111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073400" imgH="203200" progId="Equation.DSMT4">
                  <p:embed/>
                </p:oleObj>
              </mc:Choice>
              <mc:Fallback>
                <p:oleObj name="Equation" r:id="rId3" imgW="30734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24225" y="2400301"/>
                        <a:ext cx="6224588" cy="4111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7828" name="Picture 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0" y="2847976"/>
            <a:ext cx="2647950" cy="3800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extBox 3"/>
          <p:cNvSpPr txBox="1">
            <a:spLocks noChangeArrowheads="1"/>
          </p:cNvSpPr>
          <p:nvPr/>
        </p:nvSpPr>
        <p:spPr bwMode="auto">
          <a:xfrm>
            <a:off x="7115176" y="3854451"/>
            <a:ext cx="317182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To avoid double count</a:t>
            </a:r>
          </a:p>
        </p:txBody>
      </p:sp>
      <p:cxnSp>
        <p:nvCxnSpPr>
          <p:cNvPr id="6" name="Straight Arrow Connector 5"/>
          <p:cNvCxnSpPr>
            <a:cxnSpLocks noChangeShapeType="1"/>
          </p:cNvCxnSpPr>
          <p:nvPr/>
        </p:nvCxnSpPr>
        <p:spPr bwMode="auto">
          <a:xfrm flipV="1">
            <a:off x="8701088" y="2971800"/>
            <a:ext cx="0" cy="88265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527445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598739" y="5334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/>
              <a:t>Using the Rules of Probability</a:t>
            </a:r>
            <a:br>
              <a:rPr lang="en-US" altLang="en-US" sz="4000"/>
            </a:br>
            <a:r>
              <a:rPr lang="en-US" altLang="en-US" sz="4000"/>
              <a:t>(Example)</a:t>
            </a:r>
          </a:p>
        </p:txBody>
      </p:sp>
      <p:graphicFrame>
        <p:nvGraphicFramePr>
          <p:cNvPr id="473177" name="Group 89"/>
          <p:cNvGraphicFramePr>
            <a:graphicFrameLocks noGrp="1"/>
          </p:cNvGraphicFramePr>
          <p:nvPr>
            <p:ph idx="1"/>
          </p:nvPr>
        </p:nvGraphicFramePr>
        <p:xfrm>
          <a:off x="2630488" y="1933575"/>
          <a:ext cx="7580312" cy="2154238"/>
        </p:xfrm>
        <a:graphic>
          <a:graphicData uri="http://schemas.openxmlformats.org/drawingml/2006/table">
            <a:tbl>
              <a:tblPr/>
              <a:tblGrid>
                <a:gridCol w="874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0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42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6875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5"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Blood Type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875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O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A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B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AB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2600">
                <a:tc rowSpan="3"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Rh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factor</a:t>
                      </a: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Positive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156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139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37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12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344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10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Negative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28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25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8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65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87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184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164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45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16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409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287" name="Text Box 90"/>
          <p:cNvSpPr txBox="1">
            <a:spLocks noChangeArrowheads="1"/>
          </p:cNvSpPr>
          <p:nvPr/>
        </p:nvSpPr>
        <p:spPr bwMode="auto">
          <a:xfrm>
            <a:off x="1676400" y="4259264"/>
            <a:ext cx="8763000" cy="1920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US" altLang="en-US" sz="2000" dirty="0"/>
              <a:t>The above table is based on data for 409 randomly selected blood donors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has type O or type A blood?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has type B blood and is Rh-negative?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has type A blood and is Rh-negative?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is Rh-positive given he / she has</a:t>
            </a:r>
          </a:p>
          <a:p>
            <a:pPr eaLnBrk="1" hangingPunct="1">
              <a:defRPr/>
            </a:pPr>
            <a:r>
              <a:rPr lang="en-US" altLang="en-US" sz="2000" dirty="0"/>
              <a:t>   blood type O?</a:t>
            </a:r>
          </a:p>
        </p:txBody>
      </p:sp>
    </p:spTree>
    <p:extLst>
      <p:ext uri="{BB962C8B-B14F-4D97-AF65-F5344CB8AC3E}">
        <p14:creationId xmlns:p14="http://schemas.microsoft.com/office/powerpoint/2010/main" val="19208842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598739" y="1524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3600"/>
              <a:t>Review of Concepts and Formulae</a:t>
            </a:r>
          </a:p>
        </p:txBody>
      </p:sp>
      <p:graphicFrame>
        <p:nvGraphicFramePr>
          <p:cNvPr id="81922" name="Object 4"/>
          <p:cNvGraphicFramePr>
            <a:graphicFrameLocks noGrp="1" noChangeAspect="1"/>
          </p:cNvGraphicFramePr>
          <p:nvPr>
            <p:ph idx="1"/>
          </p:nvPr>
        </p:nvGraphicFramePr>
        <p:xfrm>
          <a:off x="1828800" y="1820863"/>
          <a:ext cx="8686800" cy="3714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4749800" imgH="2032000" progId="Equation.DSMT4">
                  <p:embed/>
                </p:oleObj>
              </mc:Choice>
              <mc:Fallback>
                <p:oleObj name="Equation" r:id="rId3" imgW="4749800" imgH="20320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28800" y="1820863"/>
                        <a:ext cx="8686800" cy="3714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5066" y="2313263"/>
            <a:ext cx="1318548" cy="261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88285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828800" y="228600"/>
            <a:ext cx="8763000" cy="12954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2400" b="1" dirty="0">
                <a:latin typeface="Arial" charset="0"/>
                <a:cs typeface="Arial" charset="0"/>
              </a:rPr>
              <a:t>QUESTION: Prove the equality in Bayes rule using simple probability rules</a:t>
            </a:r>
            <a:endParaRPr lang="en-AU" sz="2400" b="1" dirty="0"/>
          </a:p>
        </p:txBody>
      </p:sp>
      <p:pic>
        <p:nvPicPr>
          <p:cNvPr id="83970" name="Picture 2" descr="mage result for bayes rul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00" y="1676400"/>
            <a:ext cx="6991350" cy="2819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4536441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5F9C1-7E75-3561-9974-64A3417EA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324" y="2103437"/>
            <a:ext cx="10515600" cy="1325563"/>
          </a:xfrm>
        </p:spPr>
        <p:txBody>
          <a:bodyPr/>
          <a:lstStyle/>
          <a:p>
            <a:r>
              <a:rPr lang="en-US" dirty="0"/>
              <a:t>BREAK: Up Next - Operationalizing Probability</a:t>
            </a:r>
          </a:p>
        </p:txBody>
      </p:sp>
    </p:spTree>
    <p:extLst>
      <p:ext uri="{BB962C8B-B14F-4D97-AF65-F5344CB8AC3E}">
        <p14:creationId xmlns:p14="http://schemas.microsoft.com/office/powerpoint/2010/main" val="1818930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US" dirty="0"/>
              <a:t>Random Variables-I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/>
              <a:t>A </a:t>
            </a:r>
            <a:r>
              <a:rPr lang="en-US" b="1" dirty="0">
                <a:solidFill>
                  <a:srgbClr val="0070C0"/>
                </a:solidFill>
              </a:rPr>
              <a:t>random variable </a:t>
            </a:r>
            <a:r>
              <a:rPr lang="en-US" i="1" dirty="0"/>
              <a:t>X</a:t>
            </a:r>
            <a:r>
              <a:rPr lang="en-US" dirty="0"/>
              <a:t>  represents a </a:t>
            </a:r>
            <a:r>
              <a:rPr lang="en-US" dirty="0">
                <a:solidFill>
                  <a:schemeClr val="hlink"/>
                </a:solidFill>
              </a:rPr>
              <a:t>numerical</a:t>
            </a:r>
            <a:r>
              <a:rPr lang="en-US" dirty="0"/>
              <a:t> value associated with each outcome of a probability experiment.</a:t>
            </a:r>
          </a:p>
          <a:p>
            <a:pPr eaLnBrk="1" hangingPunct="1">
              <a:defRPr/>
            </a:pPr>
            <a:r>
              <a:rPr lang="en-US" dirty="0"/>
              <a:t>“Random” implies that there is an element of chance involved. Typical random variables:</a:t>
            </a:r>
          </a:p>
          <a:p>
            <a:pPr lvl="1" eaLnBrk="1" hangingPunct="1">
              <a:defRPr/>
            </a:pPr>
            <a:r>
              <a:rPr lang="en-US" dirty="0"/>
              <a:t>Time that a tagged animal is at large.</a:t>
            </a:r>
          </a:p>
          <a:p>
            <a:pPr lvl="1" eaLnBrk="1" hangingPunct="1">
              <a:defRPr/>
            </a:pPr>
            <a:r>
              <a:rPr lang="en-US" dirty="0"/>
              <a:t>Number of offspring produced by a female Panda bear in one year / over her lifespan.</a:t>
            </a:r>
          </a:p>
          <a:p>
            <a:pPr lvl="1" eaLnBrk="1" hangingPunct="1">
              <a:defRPr/>
            </a:pPr>
            <a:r>
              <a:rPr lang="en-US" dirty="0"/>
              <a:t>Length / weight of a sampled fish</a:t>
            </a:r>
          </a:p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399149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457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Random Variables - II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6545" y="1610139"/>
            <a:ext cx="10991947" cy="4800600"/>
          </a:xfrm>
        </p:spPr>
        <p:txBody>
          <a:bodyPr/>
          <a:lstStyle/>
          <a:p>
            <a:pPr eaLnBrk="1" hangingPunct="1">
              <a:defRPr/>
            </a:pPr>
            <a:r>
              <a:rPr lang="en-US" sz="3200" dirty="0"/>
              <a:t>Notation:</a:t>
            </a:r>
          </a:p>
          <a:p>
            <a:pPr lvl="1" eaLnBrk="1" hangingPunct="1">
              <a:defRPr/>
            </a:pPr>
            <a:r>
              <a:rPr lang="en-US" sz="2600" dirty="0"/>
              <a:t>Convention is to use upper case letters to denote random variables and lower case letters to denote particular values of random variables.</a:t>
            </a:r>
          </a:p>
          <a:p>
            <a:pPr lvl="1" eaLnBrk="1" hangingPunct="1">
              <a:defRPr/>
            </a:pPr>
            <a:endParaRPr lang="en-US" sz="2600" dirty="0"/>
          </a:p>
          <a:p>
            <a:pPr lvl="1" eaLnBrk="1" hangingPunct="1">
              <a:defRPr/>
            </a:pPr>
            <a:r>
              <a:rPr lang="en-US" sz="2600" dirty="0"/>
              <a:t>The probability that the random variable </a:t>
            </a:r>
            <a:r>
              <a:rPr lang="en-US" sz="2600" i="1" dirty="0"/>
              <a:t>X</a:t>
            </a:r>
            <a:r>
              <a:rPr lang="en-US" sz="2600" dirty="0"/>
              <a:t> has value </a:t>
            </a:r>
            <a:r>
              <a:rPr lang="en-US" sz="2600" i="1" dirty="0"/>
              <a:t>x</a:t>
            </a:r>
            <a:r>
              <a:rPr lang="en-US" sz="2600" dirty="0"/>
              <a:t> is written as </a:t>
            </a:r>
            <a:r>
              <a:rPr lang="en-US" sz="2600" i="1" dirty="0"/>
              <a:t>P </a:t>
            </a:r>
            <a:r>
              <a:rPr lang="en-US" sz="2600" dirty="0"/>
              <a:t>(</a:t>
            </a:r>
            <a:r>
              <a:rPr lang="en-US" sz="2600" i="1" dirty="0"/>
              <a:t>X</a:t>
            </a:r>
            <a:r>
              <a:rPr lang="en-US" sz="2600" dirty="0"/>
              <a:t>=</a:t>
            </a:r>
            <a:r>
              <a:rPr lang="en-US" sz="2600" i="1" dirty="0"/>
              <a:t>x</a:t>
            </a:r>
            <a:r>
              <a:rPr lang="en-US" sz="260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6631123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1524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dirty="0"/>
              <a:t>Random Variables - III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73425" y="1552575"/>
            <a:ext cx="10429461" cy="4687888"/>
          </a:xfrm>
        </p:spPr>
        <p:txBody>
          <a:bodyPr/>
          <a:lstStyle/>
          <a:p>
            <a:pPr eaLnBrk="1" hangingPunct="1">
              <a:defRPr/>
            </a:pPr>
            <a:r>
              <a:rPr lang="en-US" sz="3200" dirty="0"/>
              <a:t>A random variable is:</a:t>
            </a:r>
          </a:p>
          <a:p>
            <a:pPr lvl="1" eaLnBrk="1" hangingPunct="1">
              <a:defRPr/>
            </a:pPr>
            <a:r>
              <a:rPr lang="en-US" sz="2800" b="1" dirty="0">
                <a:solidFill>
                  <a:srgbClr val="0070C0"/>
                </a:solidFill>
              </a:rPr>
              <a:t>Discrete</a:t>
            </a:r>
            <a:r>
              <a:rPr lang="en-US" sz="2800" dirty="0">
                <a:solidFill>
                  <a:srgbClr val="0070C0"/>
                </a:solidFill>
              </a:rPr>
              <a:t> </a:t>
            </a:r>
            <a:r>
              <a:rPr lang="en-US" sz="2800" dirty="0"/>
              <a:t>if it has a countable number of possible outcomes that can be listed.</a:t>
            </a:r>
          </a:p>
          <a:p>
            <a:pPr lvl="1" eaLnBrk="1" hangingPunct="1">
              <a:defRPr/>
            </a:pPr>
            <a:endParaRPr lang="en-US" sz="2800" dirty="0"/>
          </a:p>
          <a:p>
            <a:pPr lvl="1" eaLnBrk="1" hangingPunct="1">
              <a:defRPr/>
            </a:pPr>
            <a:r>
              <a:rPr lang="en-US" sz="2800" b="1" dirty="0">
                <a:solidFill>
                  <a:srgbClr val="0070C0"/>
                </a:solidFill>
              </a:rPr>
              <a:t>Continuous</a:t>
            </a:r>
            <a:r>
              <a:rPr lang="en-US" sz="2800" dirty="0">
                <a:solidFill>
                  <a:srgbClr val="0070C0"/>
                </a:solidFill>
              </a:rPr>
              <a:t> </a:t>
            </a:r>
            <a:r>
              <a:rPr lang="en-US" sz="2800" dirty="0"/>
              <a:t>if it has an uncountable number of possible outcomes  (or the number of outcomes cannot be listed). Continuous random variables can (at least conceptually) be measured to any degree of accuracy.</a:t>
            </a:r>
          </a:p>
          <a:p>
            <a:pPr lvl="1"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82703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1400" y="1400175"/>
            <a:ext cx="6897688" cy="4114800"/>
          </a:xfrm>
        </p:spPr>
        <p:txBody>
          <a:bodyPr/>
          <a:lstStyle/>
          <a:p>
            <a:pPr>
              <a:defRPr/>
            </a:pPr>
            <a:r>
              <a:rPr lang="en-US" dirty="0"/>
              <a:t>The number of scales forming the lateral line of a fish?</a:t>
            </a:r>
          </a:p>
          <a:p>
            <a:pPr lvl="1">
              <a:defRPr/>
            </a:pPr>
            <a:r>
              <a:rPr lang="en-US" i="1" dirty="0"/>
              <a:t>Discrete random variable</a:t>
            </a:r>
          </a:p>
          <a:p>
            <a:pPr>
              <a:defRPr/>
            </a:pPr>
            <a:r>
              <a:rPr lang="en-US" dirty="0"/>
              <a:t>Max swimming speed of a blue whale?</a:t>
            </a:r>
          </a:p>
          <a:p>
            <a:pPr lvl="1">
              <a:defRPr/>
            </a:pPr>
            <a:r>
              <a:rPr lang="en-US" i="1" dirty="0"/>
              <a:t>Continuous random variable</a:t>
            </a:r>
          </a:p>
          <a:p>
            <a:pPr>
              <a:defRPr/>
            </a:pPr>
            <a:r>
              <a:rPr lang="en-US" dirty="0"/>
              <a:t>Number of reproductive events of a Fathead minnow each year?</a:t>
            </a:r>
          </a:p>
          <a:p>
            <a:pPr lvl="1">
              <a:defRPr/>
            </a:pPr>
            <a:r>
              <a:rPr lang="en-US" i="1" dirty="0"/>
              <a:t>Discrete random variable</a:t>
            </a:r>
          </a:p>
        </p:txBody>
      </p:sp>
      <p:pic>
        <p:nvPicPr>
          <p:cNvPr id="119810" name="Picture 2" descr="http://fishingnoob.com/wp-content/uploads/2007/11/laterallineontrout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3064" y="1668463"/>
            <a:ext cx="1938337" cy="129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9811" name="Picture 4" descr="http://3.bp.blogspot.com/_PsKY4RgJMkw/SbcWbL2B9YI/AAAAAAAABEo/SsKPVLnszWs/s400/BlueWhale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0200" y="3268664"/>
            <a:ext cx="2057400" cy="1404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9812" name="Picture 6" descr="http://www.lakesuperiorstreams.org/understanding/images/fatheadminnow.jp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7188" y="4868863"/>
            <a:ext cx="2030412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2"/>
          <p:cNvSpPr txBox="1">
            <a:spLocks noChangeArrowheads="1"/>
          </p:cNvSpPr>
          <p:nvPr/>
        </p:nvSpPr>
        <p:spPr bwMode="auto">
          <a:xfrm>
            <a:off x="2827339" y="152400"/>
            <a:ext cx="7793037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b"/>
          <a:lstStyle/>
          <a:p>
            <a:pPr algn="ctr" eaLnBrk="1" hangingPunct="1">
              <a:defRPr/>
            </a:pPr>
            <a:r>
              <a:rPr lang="en-US" sz="4400" kern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Random Variables - III</a:t>
            </a:r>
            <a:endParaRPr lang="en-US" sz="4400" kern="0" dirty="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30643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4572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Probability Distributions </a:t>
            </a:r>
            <a:br>
              <a:rPr lang="en-US" sz="4000"/>
            </a:br>
            <a:r>
              <a:rPr lang="en-US" sz="4000"/>
              <a:t>(Discrete-I)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95085" y="1820863"/>
            <a:ext cx="10755085" cy="46482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A </a:t>
            </a:r>
            <a:r>
              <a:rPr lang="en-US" b="1" dirty="0">
                <a:solidFill>
                  <a:srgbClr val="0070C0"/>
                </a:solidFill>
              </a:rPr>
              <a:t>discrete probability distribution </a:t>
            </a:r>
            <a:r>
              <a:rPr lang="en-US" dirty="0"/>
              <a:t>lists each possible value the random variable can take, together with its probability.</a:t>
            </a:r>
          </a:p>
          <a:p>
            <a:pPr lvl="1" eaLnBrk="1" hangingPunct="1">
              <a:defRPr/>
            </a:pPr>
            <a:r>
              <a:rPr lang="en-US" dirty="0"/>
              <a:t>typically called a </a:t>
            </a:r>
            <a:r>
              <a:rPr lang="en-US" b="1" u="sng" dirty="0">
                <a:solidFill>
                  <a:srgbClr val="0070C0"/>
                </a:solidFill>
              </a:rPr>
              <a:t>probability mass function </a:t>
            </a:r>
            <a:r>
              <a:rPr lang="en-US" b="1" dirty="0">
                <a:solidFill>
                  <a:srgbClr val="0070C0"/>
                </a:solidFill>
              </a:rPr>
              <a:t>(PMF)</a:t>
            </a:r>
          </a:p>
          <a:p>
            <a:pPr lvl="1" eaLnBrk="1" hangingPunct="1">
              <a:defRPr/>
            </a:pPr>
            <a:endParaRPr lang="en-US" dirty="0"/>
          </a:p>
          <a:p>
            <a:pPr eaLnBrk="1" hangingPunct="1">
              <a:defRPr/>
            </a:pPr>
            <a:r>
              <a:rPr lang="en-US" dirty="0"/>
              <a:t>From our earlier discussion of probability, it must be true that:</a:t>
            </a:r>
          </a:p>
          <a:p>
            <a:pPr lvl="1" eaLnBrk="1" hangingPunct="1">
              <a:defRPr/>
            </a:pPr>
            <a:r>
              <a:rPr lang="en-US" dirty="0"/>
              <a:t>The probability of each value of the discrete random variable must lie between 0 and 1.</a:t>
            </a:r>
          </a:p>
          <a:p>
            <a:pPr lvl="1" eaLnBrk="1" hangingPunct="1">
              <a:defRPr/>
            </a:pPr>
            <a:r>
              <a:rPr lang="en-US" dirty="0"/>
              <a:t>The sum of all the probabilities must equal 1.</a:t>
            </a:r>
          </a:p>
        </p:txBody>
      </p:sp>
    </p:spTree>
    <p:extLst>
      <p:ext uri="{BB962C8B-B14F-4D97-AF65-F5344CB8AC3E}">
        <p14:creationId xmlns:p14="http://schemas.microsoft.com/office/powerpoint/2010/main" val="80798558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493964" y="3048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Probability Distributions </a:t>
            </a:r>
            <a:br>
              <a:rPr lang="en-US" sz="4000"/>
            </a:br>
            <a:r>
              <a:rPr lang="en-US" sz="4000"/>
              <a:t>(Discrete-II)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916114" y="1704975"/>
            <a:ext cx="8316458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Mathematically:</a:t>
            </a:r>
          </a:p>
          <a:p>
            <a:pPr lvl="1" eaLnBrk="1" hangingPunct="1">
              <a:defRPr/>
            </a:pPr>
            <a:r>
              <a:rPr lang="en-US" dirty="0"/>
              <a:t>Let the possible values for the random variable be: </a:t>
            </a:r>
          </a:p>
          <a:p>
            <a:pPr lvl="1" eaLnBrk="1" hangingPunct="1">
              <a:defRPr/>
            </a:pPr>
            <a:r>
              <a:rPr lang="en-US" dirty="0"/>
              <a:t>By the first condition:</a:t>
            </a:r>
          </a:p>
          <a:p>
            <a:pPr lvl="1" eaLnBrk="1" hangingPunct="1">
              <a:defRPr/>
            </a:pPr>
            <a:endParaRPr lang="en-US" dirty="0"/>
          </a:p>
          <a:p>
            <a:pPr lvl="1" eaLnBrk="1" hangingPunct="1">
              <a:defRPr/>
            </a:pPr>
            <a:endParaRPr lang="en-US" dirty="0"/>
          </a:p>
          <a:p>
            <a:pPr lvl="1" eaLnBrk="1" hangingPunct="1">
              <a:defRPr/>
            </a:pPr>
            <a:endParaRPr lang="en-US" dirty="0"/>
          </a:p>
          <a:p>
            <a:pPr lvl="1" eaLnBrk="1" hangingPunct="1">
              <a:defRPr/>
            </a:pPr>
            <a:r>
              <a:rPr lang="en-US" dirty="0"/>
              <a:t>By the second condition:</a:t>
            </a:r>
          </a:p>
        </p:txBody>
      </p:sp>
      <p:graphicFrame>
        <p:nvGraphicFramePr>
          <p:cNvPr id="122883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9015412" y="2115006"/>
          <a:ext cx="1882775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939754" imgH="228738" progId="">
                  <p:embed/>
                </p:oleObj>
              </mc:Choice>
              <mc:Fallback>
                <p:oleObj name="Equation" r:id="rId3" imgW="939754" imgH="228738" progId="">
                  <p:embed/>
                  <p:pic>
                    <p:nvPicPr>
                      <p:cNvPr id="122883" name="Object 4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15412" y="2115006"/>
                        <a:ext cx="1882775" cy="457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884" name="Object 6"/>
          <p:cNvGraphicFramePr>
            <a:graphicFrameLocks noGrp="1" noChangeAspect="1"/>
          </p:cNvGraphicFramePr>
          <p:nvPr>
            <p:ph sz="quarter" idx="3"/>
          </p:nvPr>
        </p:nvGraphicFramePr>
        <p:xfrm>
          <a:off x="3237707" y="2973387"/>
          <a:ext cx="2422525" cy="7032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787078" imgH="228738" progId="">
                  <p:embed/>
                </p:oleObj>
              </mc:Choice>
              <mc:Fallback>
                <p:oleObj name="Equation" r:id="rId5" imgW="787078" imgH="228738" progId="">
                  <p:embed/>
                  <p:pic>
                    <p:nvPicPr>
                      <p:cNvPr id="122884" name="Object 6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37707" y="2973387"/>
                        <a:ext cx="2422525" cy="7032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885" name="Object 8"/>
          <p:cNvGraphicFramePr>
            <a:graphicFrameLocks noChangeAspect="1"/>
          </p:cNvGraphicFramePr>
          <p:nvPr/>
        </p:nvGraphicFramePr>
        <p:xfrm>
          <a:off x="4543426" y="4945064"/>
          <a:ext cx="2286000" cy="1317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749047" imgH="431570" progId="">
                  <p:embed/>
                </p:oleObj>
              </mc:Choice>
              <mc:Fallback>
                <p:oleObj name="Equation" r:id="rId7" imgW="749047" imgH="431570" progId="">
                  <p:embed/>
                  <p:pic>
                    <p:nvPicPr>
                      <p:cNvPr id="122885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43426" y="4945064"/>
                        <a:ext cx="2286000" cy="13176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2886" name="TextBox 6"/>
          <p:cNvSpPr txBox="1">
            <a:spLocks noChangeArrowheads="1"/>
          </p:cNvSpPr>
          <p:nvPr/>
        </p:nvSpPr>
        <p:spPr bwMode="auto">
          <a:xfrm>
            <a:off x="6660924" y="2829381"/>
            <a:ext cx="2974975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/>
              <a:t>The probability of each value of the discrete random variable is between 0 and 1, inclusive.</a:t>
            </a:r>
          </a:p>
        </p:txBody>
      </p:sp>
      <p:sp>
        <p:nvSpPr>
          <p:cNvPr id="122887" name="TextBox 7"/>
          <p:cNvSpPr txBox="1">
            <a:spLocks noChangeArrowheads="1"/>
          </p:cNvSpPr>
          <p:nvPr/>
        </p:nvSpPr>
        <p:spPr bwMode="auto">
          <a:xfrm>
            <a:off x="7426099" y="5211763"/>
            <a:ext cx="2209800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/>
              <a:t>The sum of all the probabilities is 1.</a:t>
            </a:r>
          </a:p>
        </p:txBody>
      </p:sp>
      <p:sp>
        <p:nvSpPr>
          <p:cNvPr id="9" name="Oval 8"/>
          <p:cNvSpPr/>
          <p:nvPr/>
        </p:nvSpPr>
        <p:spPr bwMode="auto">
          <a:xfrm>
            <a:off x="4543426" y="4945063"/>
            <a:ext cx="685800" cy="457200"/>
          </a:xfrm>
          <a:prstGeom prst="ellipse">
            <a:avLst/>
          </a:prstGeom>
          <a:noFill/>
          <a:ln w="57150" cap="flat" cmpd="sng" algn="ctr">
            <a:solidFill>
              <a:schemeClr val="accent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 sz="3200">
              <a:latin typeface="Tahoma" pitchFamily="34" charset="0"/>
            </a:endParaRPr>
          </a:p>
        </p:txBody>
      </p:sp>
      <p:sp>
        <p:nvSpPr>
          <p:cNvPr id="10" name="Oval 9"/>
          <p:cNvSpPr/>
          <p:nvPr/>
        </p:nvSpPr>
        <p:spPr bwMode="auto">
          <a:xfrm>
            <a:off x="4543426" y="5859463"/>
            <a:ext cx="685800" cy="457200"/>
          </a:xfrm>
          <a:prstGeom prst="ellipse">
            <a:avLst/>
          </a:prstGeom>
          <a:noFill/>
          <a:ln w="57150" cap="flat" cmpd="sng" algn="ctr">
            <a:solidFill>
              <a:schemeClr val="accent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 sz="3200">
              <a:latin typeface="Tahoma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096855" y="5021263"/>
            <a:ext cx="235949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Upper summation limit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6751" y="5935663"/>
            <a:ext cx="235051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Lower summation limit</a:t>
            </a:r>
          </a:p>
        </p:txBody>
      </p:sp>
    </p:spTree>
    <p:extLst>
      <p:ext uri="{BB962C8B-B14F-4D97-AF65-F5344CB8AC3E}">
        <p14:creationId xmlns:p14="http://schemas.microsoft.com/office/powerpoint/2010/main" val="559303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  <p:bldP spid="12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1843315" y="174172"/>
            <a:ext cx="8487230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 dirty="0"/>
              <a:t>Discrete Cumulative Distribution Function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sz="half" idx="1"/>
          </p:nvPr>
        </p:nvSpPr>
        <p:spPr>
          <a:xfrm>
            <a:off x="1290637" y="1607682"/>
            <a:ext cx="10146620" cy="5348287"/>
          </a:xfrm>
        </p:spPr>
        <p:txBody>
          <a:bodyPr/>
          <a:lstStyle/>
          <a:p>
            <a:pPr>
              <a:defRPr/>
            </a:pPr>
            <a:r>
              <a:rPr lang="en-US" dirty="0"/>
              <a:t>The probability that random variable </a:t>
            </a:r>
            <a:r>
              <a:rPr lang="en-US" i="1" dirty="0"/>
              <a:t>X </a:t>
            </a:r>
            <a:r>
              <a:rPr lang="en-US" dirty="0"/>
              <a:t>takes values less than or equal to a specific value </a:t>
            </a:r>
            <a:r>
              <a:rPr lang="en-US" i="1" dirty="0"/>
              <a:t>x</a:t>
            </a:r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It is common for f(x), or here p(x), to refer to the probability mass function (what people usually mean when they say “distribution”) and F(x) to refer to the cumulative distribution function</a:t>
            </a:r>
          </a:p>
        </p:txBody>
      </p:sp>
      <p:pic>
        <p:nvPicPr>
          <p:cNvPr id="124931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3257" y="2841168"/>
            <a:ext cx="6769100" cy="965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84304881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235200" y="290514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 dirty="0"/>
              <a:t>Discrete Cumulative Distribution Function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sz="half" idx="1"/>
          </p:nvPr>
        </p:nvSpPr>
        <p:spPr>
          <a:xfrm>
            <a:off x="1493838" y="1433514"/>
            <a:ext cx="9021763" cy="5348287"/>
          </a:xfrm>
        </p:spPr>
        <p:txBody>
          <a:bodyPr/>
          <a:lstStyle/>
          <a:p>
            <a:pPr>
              <a:defRPr/>
            </a:pPr>
            <a:r>
              <a:rPr lang="en-US" dirty="0"/>
              <a:t>The probability that random variable </a:t>
            </a:r>
            <a:r>
              <a:rPr lang="en-US" i="1" dirty="0"/>
              <a:t>X </a:t>
            </a:r>
            <a:r>
              <a:rPr lang="en-US" dirty="0"/>
              <a:t>takes values less than or equal to a specific value </a:t>
            </a:r>
            <a:r>
              <a:rPr lang="en-US" i="1" dirty="0"/>
              <a:t>x</a:t>
            </a:r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The probability that </a:t>
            </a:r>
            <a:r>
              <a:rPr lang="en-US" i="1" dirty="0"/>
              <a:t>X </a:t>
            </a:r>
            <a:r>
              <a:rPr lang="en-US" dirty="0"/>
              <a:t>is between </a:t>
            </a:r>
            <a:r>
              <a:rPr lang="en-US" i="1" dirty="0">
                <a:latin typeface="Times New Roman" charset="0"/>
                <a:ea typeface="Times New Roman" charset="0"/>
                <a:cs typeface="Times New Roman" charset="0"/>
              </a:rPr>
              <a:t>a</a:t>
            </a:r>
            <a:r>
              <a:rPr lang="en-US" dirty="0"/>
              <a:t> and </a:t>
            </a:r>
            <a:r>
              <a:rPr lang="en-US" i="1" dirty="0">
                <a:latin typeface="Times New Roman" charset="0"/>
                <a:ea typeface="Times New Roman" charset="0"/>
                <a:cs typeface="Times New Roman" charset="0"/>
              </a:rPr>
              <a:t>b</a:t>
            </a:r>
            <a:r>
              <a:rPr lang="en-US" dirty="0"/>
              <a:t> is</a:t>
            </a: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 lvl="1">
              <a:defRPr/>
            </a:pPr>
            <a:r>
              <a:rPr lang="en-US" dirty="0"/>
              <a:t>Notice the inequalities are not the same. Why?</a:t>
            </a:r>
          </a:p>
        </p:txBody>
      </p:sp>
      <p:pic>
        <p:nvPicPr>
          <p:cNvPr id="126979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35200" y="2576514"/>
            <a:ext cx="6769100" cy="965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6980" name="Picture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80656" y="4394200"/>
            <a:ext cx="5448300" cy="91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1329302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653143" y="617538"/>
            <a:ext cx="11272158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sz="4000" dirty="0"/>
              <a:t>Means, Variances and Standard Deviations-I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706688" y="2017713"/>
            <a:ext cx="70469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sz="2400" dirty="0"/>
              <a:t>The</a:t>
            </a:r>
            <a:r>
              <a:rPr lang="en-US" sz="2400" b="1" dirty="0">
                <a:solidFill>
                  <a:srgbClr val="0070C0"/>
                </a:solidFill>
              </a:rPr>
              <a:t> mean </a:t>
            </a:r>
            <a:r>
              <a:rPr lang="en-US" sz="2400" dirty="0"/>
              <a:t>of a discrete random variable is given by:</a:t>
            </a:r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</p:txBody>
      </p:sp>
      <p:graphicFrame>
        <p:nvGraphicFramePr>
          <p:cNvPr id="129028" name="Object 5"/>
          <p:cNvGraphicFramePr>
            <a:graphicFrameLocks noGrp="1" noChangeAspect="1"/>
          </p:cNvGraphicFramePr>
          <p:nvPr>
            <p:ph sz="half" idx="2"/>
          </p:nvPr>
        </p:nvGraphicFramePr>
        <p:xfrm>
          <a:off x="5105400" y="2971800"/>
          <a:ext cx="2362200" cy="1085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939754" imgH="431570" progId="">
                  <p:embed/>
                </p:oleObj>
              </mc:Choice>
              <mc:Fallback>
                <p:oleObj name="Equation" r:id="rId3" imgW="939754" imgH="431570" progId="">
                  <p:embed/>
                  <p:pic>
                    <p:nvPicPr>
                      <p:cNvPr id="129028" name="Object 5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05400" y="2971800"/>
                        <a:ext cx="2362200" cy="1085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9029" name="TextBox 5"/>
          <p:cNvSpPr txBox="1">
            <a:spLocks noChangeArrowheads="1"/>
          </p:cNvSpPr>
          <p:nvPr/>
        </p:nvSpPr>
        <p:spPr bwMode="auto">
          <a:xfrm>
            <a:off x="7620001" y="2819401"/>
            <a:ext cx="2360613" cy="1477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 dirty="0"/>
              <a:t>Each value of </a:t>
            </a:r>
            <a:r>
              <a:rPr lang="en-US" altLang="en-US" sz="1800" i="1" dirty="0"/>
              <a:t>x</a:t>
            </a:r>
            <a:r>
              <a:rPr lang="en-US" altLang="en-US" sz="1800" dirty="0"/>
              <a:t> is multiplied by its corresponding probability and the products are added.</a:t>
            </a: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9144000" y="2819400"/>
            <a:ext cx="4572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6172200" y="3352800"/>
            <a:ext cx="4572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7772400" y="3429000"/>
            <a:ext cx="1752600" cy="5334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6553200" y="3352800"/>
            <a:ext cx="9144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1" name="Rectangle 10"/>
          <p:cNvSpPr>
            <a:spLocks noChangeArrowheads="1"/>
          </p:cNvSpPr>
          <p:nvPr/>
        </p:nvSpPr>
        <p:spPr bwMode="auto">
          <a:xfrm>
            <a:off x="7696200" y="3962400"/>
            <a:ext cx="22098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2" name="Rectangle 11"/>
          <p:cNvSpPr>
            <a:spLocks noChangeArrowheads="1"/>
          </p:cNvSpPr>
          <p:nvPr/>
        </p:nvSpPr>
        <p:spPr bwMode="auto">
          <a:xfrm>
            <a:off x="5715000" y="2971800"/>
            <a:ext cx="609600" cy="1143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29036" name="TextBox 12"/>
          <p:cNvSpPr txBox="1">
            <a:spLocks noChangeArrowheads="1"/>
          </p:cNvSpPr>
          <p:nvPr/>
        </p:nvSpPr>
        <p:spPr bwMode="auto">
          <a:xfrm>
            <a:off x="3802063" y="4725988"/>
            <a:ext cx="45069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is just a weighted average!</a:t>
            </a:r>
          </a:p>
        </p:txBody>
      </p:sp>
    </p:spTree>
    <p:extLst>
      <p:ext uri="{BB962C8B-B14F-4D97-AF65-F5344CB8AC3E}">
        <p14:creationId xmlns:p14="http://schemas.microsoft.com/office/powerpoint/2010/main" val="1252674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  <p:bldP spid="8" grpId="1" animBg="1"/>
      <p:bldP spid="9" grpId="0" animBg="1"/>
      <p:bldP spid="9" grpId="1" animBg="1"/>
      <p:bldP spid="10" grpId="0" animBg="1"/>
      <p:bldP spid="10" grpId="1" animBg="1"/>
      <p:bldP spid="11" grpId="0" animBg="1"/>
      <p:bldP spid="12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2243025" y="15441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Expected Value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422401" y="1476375"/>
            <a:ext cx="9434286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The </a:t>
            </a:r>
            <a:r>
              <a:rPr lang="en-US" b="1" dirty="0">
                <a:solidFill>
                  <a:srgbClr val="0070C0"/>
                </a:solidFill>
              </a:rPr>
              <a:t>expected value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of a discrete random variable (jargon for the mean) is:</a:t>
            </a:r>
          </a:p>
        </p:txBody>
      </p:sp>
      <p:graphicFrame>
        <p:nvGraphicFramePr>
          <p:cNvPr id="131076" name="Object 5"/>
          <p:cNvGraphicFramePr>
            <a:graphicFrameLocks noGrp="1" noChangeAspect="1"/>
          </p:cNvGraphicFramePr>
          <p:nvPr>
            <p:ph sz="half" idx="2"/>
          </p:nvPr>
        </p:nvGraphicFramePr>
        <p:xfrm>
          <a:off x="3802063" y="2617391"/>
          <a:ext cx="3865562" cy="1095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524368" imgH="431831" progId="">
                  <p:embed/>
                </p:oleObj>
              </mc:Choice>
              <mc:Fallback>
                <p:oleObj name="Equation" r:id="rId3" imgW="1524368" imgH="431831" progId="">
                  <p:embed/>
                  <p:pic>
                    <p:nvPicPr>
                      <p:cNvPr id="131076" name="Object 5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02063" y="2617391"/>
                        <a:ext cx="3865562" cy="10953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1077" name="TextBox 1"/>
          <p:cNvSpPr txBox="1">
            <a:spLocks noChangeArrowheads="1"/>
          </p:cNvSpPr>
          <p:nvPr/>
        </p:nvSpPr>
        <p:spPr bwMode="auto">
          <a:xfrm>
            <a:off x="3481388" y="4389041"/>
            <a:ext cx="45069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is just a weighted average!</a:t>
            </a:r>
          </a:p>
        </p:txBody>
      </p:sp>
    </p:spTree>
    <p:extLst>
      <p:ext uri="{BB962C8B-B14F-4D97-AF65-F5344CB8AC3E}">
        <p14:creationId xmlns:p14="http://schemas.microsoft.com/office/powerpoint/2010/main" val="3569943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1057691" y="237738"/>
            <a:ext cx="10390716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Means, Variances and </a:t>
            </a:r>
            <a:br>
              <a:rPr lang="en-US" sz="4000"/>
            </a:br>
            <a:r>
              <a:rPr lang="en-US" sz="4000"/>
              <a:t>Standard Deviations-II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534585" y="1905747"/>
            <a:ext cx="8523815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The </a:t>
            </a:r>
            <a:r>
              <a:rPr lang="en-US" b="1" dirty="0">
                <a:solidFill>
                  <a:srgbClr val="0070C0"/>
                </a:solidFill>
              </a:rPr>
              <a:t>variance</a:t>
            </a:r>
            <a:r>
              <a:rPr lang="en-US" dirty="0"/>
              <a:t> of a discrete random variable is given by:</a:t>
            </a:r>
          </a:p>
          <a:p>
            <a:pPr eaLnBrk="1" hangingPunct="1">
              <a:defRPr/>
            </a:pPr>
            <a:endParaRPr lang="en-US" dirty="0"/>
          </a:p>
          <a:p>
            <a:pPr eaLnBrk="1" hangingPunct="1">
              <a:buFont typeface="Wingdings" pitchFamily="2" charset="2"/>
              <a:buNone/>
              <a:defRPr/>
            </a:pPr>
            <a:r>
              <a:rPr lang="en-US" dirty="0"/>
              <a:t>	</a:t>
            </a:r>
          </a:p>
          <a:p>
            <a:pPr eaLnBrk="1" hangingPunct="1">
              <a:buFont typeface="Wingdings" pitchFamily="2" charset="2"/>
              <a:buNone/>
              <a:defRPr/>
            </a:pPr>
            <a:r>
              <a:rPr lang="en-US" dirty="0"/>
              <a:t>                     Which is the same as </a:t>
            </a:r>
            <a:r>
              <a:rPr lang="en-US" i="1" dirty="0"/>
              <a:t>E</a:t>
            </a:r>
            <a:r>
              <a:rPr lang="en-US" dirty="0"/>
              <a:t>{(X</a:t>
            </a:r>
            <a:r>
              <a:rPr lang="en-US" i="1" dirty="0"/>
              <a:t> - µ</a:t>
            </a:r>
            <a:r>
              <a:rPr lang="en-US" dirty="0"/>
              <a:t> )</a:t>
            </a:r>
            <a:r>
              <a:rPr lang="en-US" baseline="30000" dirty="0"/>
              <a:t>2</a:t>
            </a:r>
            <a:r>
              <a:rPr lang="en-US" dirty="0"/>
              <a:t>}</a:t>
            </a:r>
          </a:p>
          <a:p>
            <a:pPr eaLnBrk="1" hangingPunct="1">
              <a:buFont typeface="Wingdings" pitchFamily="2" charset="2"/>
              <a:buNone/>
              <a:defRPr/>
            </a:pPr>
            <a:endParaRPr lang="en-US" dirty="0"/>
          </a:p>
          <a:p>
            <a:pPr>
              <a:buNone/>
              <a:defRPr/>
            </a:pPr>
            <a:r>
              <a:rPr lang="en-US" dirty="0"/>
              <a:t> 	</a:t>
            </a:r>
            <a:r>
              <a:rPr lang="en-US" b="1" dirty="0"/>
              <a:t>Question</a:t>
            </a:r>
            <a:r>
              <a:rPr lang="en-US" dirty="0"/>
              <a:t>: show that  an equivalent definition is</a:t>
            </a:r>
          </a:p>
          <a:p>
            <a:pPr eaLnBrk="1" hangingPunct="1">
              <a:buFont typeface="Wingdings" pitchFamily="2" charset="2"/>
              <a:buNone/>
              <a:defRPr/>
            </a:pPr>
            <a:endParaRPr lang="en-US" dirty="0"/>
          </a:p>
        </p:txBody>
      </p:sp>
      <p:graphicFrame>
        <p:nvGraphicFramePr>
          <p:cNvPr id="133123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4881076" y="2434774"/>
          <a:ext cx="2855913" cy="882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396678" imgH="431570" progId="">
                  <p:embed/>
                </p:oleObj>
              </mc:Choice>
              <mc:Fallback>
                <p:oleObj name="Equation" r:id="rId3" imgW="1396678" imgH="431570" progId="">
                  <p:embed/>
                  <p:pic>
                    <p:nvPicPr>
                      <p:cNvPr id="133123" name="Object 4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81076" y="2434774"/>
                        <a:ext cx="2855913" cy="882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125" name="Rectangle 1"/>
          <p:cNvSpPr>
            <a:spLocks noChangeArrowheads="1"/>
          </p:cNvSpPr>
          <p:nvPr/>
        </p:nvSpPr>
        <p:spPr bwMode="auto">
          <a:xfrm>
            <a:off x="3392621" y="2658612"/>
            <a:ext cx="142115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r>
              <a:rPr lang="en-US" altLang="en-US" sz="2400" i="1" dirty="0" err="1"/>
              <a:t>Var</a:t>
            </a:r>
            <a:r>
              <a:rPr lang="en-US" altLang="en-US" sz="2400" dirty="0"/>
              <a:t>{X} =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631231" y="5785566"/>
            <a:ext cx="21626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Recall that </a:t>
            </a:r>
          </a:p>
        </p:txBody>
      </p:sp>
      <p:graphicFrame>
        <p:nvGraphicFramePr>
          <p:cNvPr id="8" name="Object 5"/>
          <p:cNvGraphicFramePr>
            <a:graphicFrameLocks noGrp="1" noChangeAspect="1"/>
          </p:cNvGraphicFramePr>
          <p:nvPr>
            <p:ph sz="half" idx="2"/>
          </p:nvPr>
        </p:nvGraphicFramePr>
        <p:xfrm>
          <a:off x="4985267" y="5561043"/>
          <a:ext cx="3865562" cy="1095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524368" imgH="431831" progId="">
                  <p:embed/>
                </p:oleObj>
              </mc:Choice>
              <mc:Fallback>
                <p:oleObj name="Equation" r:id="rId5" imgW="1524368" imgH="431831" progId="">
                  <p:embed/>
                  <p:pic>
                    <p:nvPicPr>
                      <p:cNvPr id="8" name="Object 5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85267" y="5561043"/>
                        <a:ext cx="3865562" cy="10953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1380931" y="4834479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741452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80"/>
          <a:stretch/>
        </p:blipFill>
        <p:spPr>
          <a:xfrm>
            <a:off x="1306285" y="0"/>
            <a:ext cx="10151707" cy="6916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629716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440"/>
          <a:stretch/>
        </p:blipFill>
        <p:spPr>
          <a:xfrm>
            <a:off x="668175" y="227563"/>
            <a:ext cx="10472576" cy="4909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25534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73"/>
          <a:stretch/>
        </p:blipFill>
        <p:spPr>
          <a:xfrm>
            <a:off x="1399591" y="0"/>
            <a:ext cx="9927772" cy="6764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0961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Algebra </a:t>
            </a:r>
            <a:r>
              <a:rPr lang="en-US"/>
              <a:t>with Expectation and Variance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6" y="2017713"/>
            <a:ext cx="9339899" cy="4114800"/>
          </a:xfrm>
        </p:spPr>
        <p:txBody>
          <a:bodyPr/>
          <a:lstStyle/>
          <a:p>
            <a:r>
              <a:rPr lang="en-US" dirty="0"/>
              <a:t>Expectation is a linear operator that can be distributed across a function of a random variable, X, but variance is not </a:t>
            </a:r>
          </a:p>
          <a:p>
            <a:endParaRPr lang="en-US" dirty="0"/>
          </a:p>
          <a:p>
            <a:r>
              <a:rPr lang="en-US" dirty="0"/>
              <a:t>What is </a:t>
            </a:r>
            <a:r>
              <a:rPr lang="en-US" i="1" dirty="0"/>
              <a:t>E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 What is </a:t>
            </a:r>
            <a:r>
              <a:rPr lang="en-US" i="1" dirty="0" err="1"/>
              <a:t>Var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576916" y="5435581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dirty="0"/>
              <a:t>Recall:</a:t>
            </a:r>
            <a:r>
              <a:rPr lang="en-US" altLang="en-US" sz="2800" i="1" dirty="0"/>
              <a:t> </a:t>
            </a: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00511180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175" y="412264"/>
            <a:ext cx="11925301" cy="1143000"/>
          </a:xfrm>
        </p:spPr>
        <p:txBody>
          <a:bodyPr>
            <a:normAutofit/>
          </a:bodyPr>
          <a:lstStyle/>
          <a:p>
            <a:r>
              <a:rPr lang="en-US"/>
              <a:t>Answer: Algebra </a:t>
            </a:r>
            <a:r>
              <a:rPr lang="en-US" dirty="0"/>
              <a:t>with Expectation and Variance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6" y="2017713"/>
            <a:ext cx="10179655" cy="4114800"/>
          </a:xfrm>
        </p:spPr>
        <p:txBody>
          <a:bodyPr/>
          <a:lstStyle/>
          <a:p>
            <a:r>
              <a:rPr lang="en-US" i="1" dirty="0"/>
              <a:t>E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 = E{a} +b*E{X} = a + b*E{X}</a:t>
            </a:r>
          </a:p>
          <a:p>
            <a:endParaRPr lang="en-US" dirty="0"/>
          </a:p>
          <a:p>
            <a:r>
              <a:rPr lang="en-US" i="1" dirty="0" err="1"/>
              <a:t>Var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 = </a:t>
            </a:r>
            <a:r>
              <a:rPr lang="en-US" i="1" dirty="0"/>
              <a:t>E</a:t>
            </a:r>
            <a:r>
              <a:rPr lang="en-US" dirty="0"/>
              <a:t>{(a + </a:t>
            </a:r>
            <a:r>
              <a:rPr lang="en-US" dirty="0" err="1"/>
              <a:t>bX</a:t>
            </a:r>
            <a:r>
              <a:rPr lang="en-US" dirty="0"/>
              <a:t>)</a:t>
            </a:r>
            <a:r>
              <a:rPr lang="en-US" baseline="30000" dirty="0"/>
              <a:t>2</a:t>
            </a:r>
            <a:r>
              <a:rPr lang="en-US" dirty="0"/>
              <a:t>} </a:t>
            </a:r>
            <a:r>
              <a:rPr lang="en-US" altLang="en-US" dirty="0"/>
              <a:t>- (</a:t>
            </a:r>
            <a:r>
              <a:rPr lang="en-US" i="1" dirty="0"/>
              <a:t>E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})</a:t>
            </a:r>
            <a:r>
              <a:rPr lang="en-US" baseline="30000" dirty="0"/>
              <a:t>2</a:t>
            </a:r>
            <a:r>
              <a:rPr lang="en-US" dirty="0"/>
              <a:t> = E{a</a:t>
            </a:r>
            <a:r>
              <a:rPr lang="en-US" baseline="30000" dirty="0"/>
              <a:t>2 </a:t>
            </a:r>
            <a:r>
              <a:rPr lang="en-US" dirty="0"/>
              <a:t>+ 2abX + b</a:t>
            </a:r>
            <a:r>
              <a:rPr lang="en-US" baseline="30000" dirty="0"/>
              <a:t>2</a:t>
            </a:r>
            <a:r>
              <a:rPr lang="en-US" dirty="0"/>
              <a:t>X</a:t>
            </a:r>
            <a:r>
              <a:rPr lang="en-US" baseline="30000" dirty="0"/>
              <a:t>2</a:t>
            </a:r>
            <a:r>
              <a:rPr lang="en-US" dirty="0"/>
              <a:t>} </a:t>
            </a:r>
            <a:r>
              <a:rPr lang="mr-IN" dirty="0"/>
              <a:t>–</a:t>
            </a:r>
            <a:r>
              <a:rPr lang="en-US" dirty="0"/>
              <a:t> (a + b*E{X})</a:t>
            </a:r>
            <a:r>
              <a:rPr lang="en-US" baseline="30000" dirty="0"/>
              <a:t>2</a:t>
            </a:r>
          </a:p>
          <a:p>
            <a:r>
              <a:rPr lang="en-US" dirty="0"/>
              <a:t>a</a:t>
            </a:r>
            <a:r>
              <a:rPr lang="en-US" baseline="30000" dirty="0"/>
              <a:t>2</a:t>
            </a:r>
            <a:r>
              <a:rPr lang="en-US" dirty="0"/>
              <a:t>+2abE{X}+b</a:t>
            </a:r>
            <a:r>
              <a:rPr lang="en-US" baseline="30000" dirty="0"/>
              <a:t>2 </a:t>
            </a:r>
            <a:r>
              <a:rPr lang="en-US" dirty="0"/>
              <a:t>E{X</a:t>
            </a:r>
            <a:r>
              <a:rPr lang="en-US" baseline="30000" dirty="0"/>
              <a:t>2</a:t>
            </a:r>
            <a:r>
              <a:rPr lang="en-US" dirty="0"/>
              <a:t>} </a:t>
            </a:r>
            <a:r>
              <a:rPr lang="mr-IN" dirty="0"/>
              <a:t>–</a:t>
            </a:r>
            <a:r>
              <a:rPr lang="en-US" dirty="0"/>
              <a:t> (a</a:t>
            </a:r>
            <a:r>
              <a:rPr lang="en-US" baseline="30000" dirty="0"/>
              <a:t>2</a:t>
            </a:r>
            <a:r>
              <a:rPr lang="en-US" dirty="0"/>
              <a:t>+2abE{X}+b</a:t>
            </a:r>
            <a:r>
              <a:rPr lang="en-US" baseline="30000" dirty="0"/>
              <a:t>2 </a:t>
            </a:r>
            <a:r>
              <a:rPr lang="en-US" dirty="0"/>
              <a:t>E{X}</a:t>
            </a:r>
            <a:r>
              <a:rPr lang="en-US" baseline="30000" dirty="0"/>
              <a:t>2</a:t>
            </a:r>
            <a:r>
              <a:rPr lang="en-US" dirty="0"/>
              <a:t>)</a:t>
            </a:r>
          </a:p>
          <a:p>
            <a:r>
              <a:rPr lang="en-US" dirty="0"/>
              <a:t>b</a:t>
            </a:r>
            <a:r>
              <a:rPr lang="en-US" baseline="30000" dirty="0"/>
              <a:t>2</a:t>
            </a:r>
            <a:r>
              <a:rPr lang="en-US" dirty="0"/>
              <a:t>(E{X</a:t>
            </a:r>
            <a:r>
              <a:rPr lang="en-US" baseline="30000" dirty="0"/>
              <a:t>2</a:t>
            </a:r>
            <a:r>
              <a:rPr lang="en-US" dirty="0"/>
              <a:t>} - E{X}</a:t>
            </a:r>
            <a:r>
              <a:rPr lang="en-US" baseline="30000" dirty="0"/>
              <a:t>2</a:t>
            </a:r>
            <a:r>
              <a:rPr lang="en-US" dirty="0"/>
              <a:t>)</a:t>
            </a:r>
          </a:p>
          <a:p>
            <a:r>
              <a:rPr lang="en-US" dirty="0"/>
              <a:t>b</a:t>
            </a:r>
            <a:r>
              <a:rPr lang="en-US" baseline="30000" dirty="0"/>
              <a:t>2</a:t>
            </a:r>
            <a:r>
              <a:rPr lang="en-US" dirty="0"/>
              <a:t>Var{X}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73374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Algebra </a:t>
            </a:r>
            <a:r>
              <a:rPr lang="en-US"/>
              <a:t>with Expectation and Variance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6" y="2017713"/>
            <a:ext cx="9339899" cy="4114800"/>
          </a:xfrm>
        </p:spPr>
        <p:txBody>
          <a:bodyPr/>
          <a:lstStyle/>
          <a:p>
            <a:r>
              <a:rPr lang="en-US" dirty="0"/>
              <a:t>If X and Y are independent, what is </a:t>
            </a:r>
            <a:r>
              <a:rPr lang="en-US" i="1" dirty="0" err="1"/>
              <a:t>Var</a:t>
            </a:r>
            <a:r>
              <a:rPr lang="en-US" dirty="0"/>
              <a:t>{X + Y}?</a:t>
            </a:r>
          </a:p>
          <a:p>
            <a:endParaRPr lang="en-US" dirty="0"/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390304" y="2804348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dirty="0"/>
              <a:t>Recall:</a:t>
            </a:r>
            <a:r>
              <a:rPr lang="en-US" altLang="en-US" sz="2800" i="1" dirty="0"/>
              <a:t> </a:t>
            </a: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72184766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0304" y="294786"/>
            <a:ext cx="10390716" cy="1143000"/>
          </a:xfrm>
        </p:spPr>
        <p:txBody>
          <a:bodyPr>
            <a:normAutofit fontScale="90000"/>
          </a:bodyPr>
          <a:lstStyle/>
          <a:p>
            <a:r>
              <a:rPr lang="en-US"/>
              <a:t>Answer: Algebra </a:t>
            </a:r>
            <a:r>
              <a:rPr lang="en-US" dirty="0"/>
              <a:t>with Expectation and Variance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6" y="1681815"/>
            <a:ext cx="9339899" cy="4114800"/>
          </a:xfrm>
        </p:spPr>
        <p:txBody>
          <a:bodyPr/>
          <a:lstStyle/>
          <a:p>
            <a:r>
              <a:rPr lang="en-US" dirty="0"/>
              <a:t>If X and Y are independent, what is </a:t>
            </a:r>
            <a:r>
              <a:rPr lang="en-US" i="1" dirty="0" err="1"/>
              <a:t>Var</a:t>
            </a:r>
            <a:r>
              <a:rPr lang="en-US" dirty="0"/>
              <a:t>{X + Y}?</a:t>
            </a:r>
          </a:p>
          <a:p>
            <a:endParaRPr lang="en-US" dirty="0"/>
          </a:p>
          <a:p>
            <a:endParaRPr lang="en-US" dirty="0"/>
          </a:p>
          <a:p>
            <a:r>
              <a:rPr lang="en-US" i="1" dirty="0" err="1"/>
              <a:t>Var</a:t>
            </a:r>
            <a:r>
              <a:rPr lang="en-US" dirty="0"/>
              <a:t>{X +Y} = E{X</a:t>
            </a:r>
            <a:r>
              <a:rPr lang="en-US" baseline="30000" dirty="0"/>
              <a:t>2 </a:t>
            </a:r>
            <a:r>
              <a:rPr lang="en-US" dirty="0"/>
              <a:t>+ 2XY + Y</a:t>
            </a:r>
            <a:r>
              <a:rPr lang="en-US" baseline="30000" dirty="0"/>
              <a:t>2</a:t>
            </a:r>
            <a:r>
              <a:rPr lang="en-US" dirty="0"/>
              <a:t>} </a:t>
            </a:r>
            <a:r>
              <a:rPr lang="mr-IN" dirty="0"/>
              <a:t>–</a:t>
            </a:r>
            <a:r>
              <a:rPr lang="en-US" dirty="0"/>
              <a:t> (E{X} + E{Y})</a:t>
            </a:r>
            <a:r>
              <a:rPr lang="en-US" baseline="30000" dirty="0"/>
              <a:t>2</a:t>
            </a:r>
          </a:p>
          <a:p>
            <a:r>
              <a:rPr lang="en-US" dirty="0"/>
              <a:t>= E{X</a:t>
            </a:r>
            <a:r>
              <a:rPr lang="en-US" baseline="30000" dirty="0"/>
              <a:t>2</a:t>
            </a:r>
            <a:r>
              <a:rPr lang="en-US" dirty="0"/>
              <a:t>}</a:t>
            </a:r>
            <a:r>
              <a:rPr lang="en-US" baseline="30000" dirty="0"/>
              <a:t> </a:t>
            </a:r>
            <a:r>
              <a:rPr lang="en-US" dirty="0"/>
              <a:t>+ 2E{XY} + E{Y</a:t>
            </a:r>
            <a:r>
              <a:rPr lang="en-US" baseline="30000" dirty="0"/>
              <a:t>2</a:t>
            </a:r>
            <a:r>
              <a:rPr lang="en-US" dirty="0"/>
              <a:t>} </a:t>
            </a:r>
            <a:r>
              <a:rPr lang="mr-IN" dirty="0"/>
              <a:t>–</a:t>
            </a:r>
            <a:r>
              <a:rPr lang="en-US" dirty="0"/>
              <a:t> (E{X}</a:t>
            </a:r>
            <a:r>
              <a:rPr lang="en-US" baseline="30000" dirty="0"/>
              <a:t>2</a:t>
            </a:r>
            <a:r>
              <a:rPr lang="en-US" dirty="0"/>
              <a:t> + 2E{X}E{Y} + E{Y}</a:t>
            </a:r>
            <a:r>
              <a:rPr lang="en-US" baseline="30000" dirty="0"/>
              <a:t> 2</a:t>
            </a:r>
            <a:r>
              <a:rPr lang="en-US" dirty="0"/>
              <a:t>)</a:t>
            </a:r>
          </a:p>
          <a:p>
            <a:r>
              <a:rPr lang="en-US" dirty="0"/>
              <a:t>= E{X</a:t>
            </a:r>
            <a:r>
              <a:rPr lang="en-US" baseline="30000" dirty="0"/>
              <a:t>2</a:t>
            </a:r>
            <a:r>
              <a:rPr lang="en-US" dirty="0"/>
              <a:t>}</a:t>
            </a:r>
            <a:r>
              <a:rPr lang="mr-IN" dirty="0"/>
              <a:t> –</a:t>
            </a:r>
            <a:r>
              <a:rPr lang="en-US" dirty="0"/>
              <a:t> E{X}</a:t>
            </a:r>
            <a:r>
              <a:rPr lang="en-US" baseline="30000" dirty="0"/>
              <a:t>2</a:t>
            </a:r>
            <a:r>
              <a:rPr lang="en-US" dirty="0"/>
              <a:t> + E{Y</a:t>
            </a:r>
            <a:r>
              <a:rPr lang="en-US" baseline="30000" dirty="0"/>
              <a:t>2</a:t>
            </a:r>
            <a:r>
              <a:rPr lang="en-US" dirty="0"/>
              <a:t>}</a:t>
            </a:r>
            <a:r>
              <a:rPr lang="mr-IN" dirty="0"/>
              <a:t> –</a:t>
            </a:r>
            <a:r>
              <a:rPr lang="en-US" dirty="0"/>
              <a:t> E{Y}</a:t>
            </a:r>
            <a:r>
              <a:rPr lang="en-US" baseline="30000" dirty="0"/>
              <a:t>2</a:t>
            </a:r>
          </a:p>
          <a:p>
            <a:r>
              <a:rPr lang="en-US" dirty="0"/>
              <a:t> </a:t>
            </a:r>
            <a:r>
              <a:rPr lang="en-US" i="1" dirty="0" err="1"/>
              <a:t>Var</a:t>
            </a:r>
            <a:r>
              <a:rPr lang="en-US" dirty="0"/>
              <a:t>{X +Y} = </a:t>
            </a:r>
            <a:r>
              <a:rPr lang="en-US" altLang="en-US" i="1" dirty="0" err="1"/>
              <a:t>Var</a:t>
            </a:r>
            <a:r>
              <a:rPr lang="en-US" altLang="en-US" dirty="0"/>
              <a:t>{X} +</a:t>
            </a:r>
            <a:r>
              <a:rPr lang="en-US" altLang="en-US" i="1" dirty="0"/>
              <a:t> </a:t>
            </a:r>
            <a:r>
              <a:rPr lang="en-US" altLang="en-US" i="1" dirty="0" err="1"/>
              <a:t>Var</a:t>
            </a:r>
            <a:r>
              <a:rPr lang="en-US" altLang="en-US" dirty="0"/>
              <a:t>{Y}</a:t>
            </a:r>
            <a:endParaRPr lang="en-US" dirty="0"/>
          </a:p>
          <a:p>
            <a:endParaRPr lang="en-US" dirty="0"/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390304" y="2449786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dirty="0"/>
              <a:t>Recall:</a:t>
            </a:r>
            <a:r>
              <a:rPr lang="en-US" altLang="en-US" sz="2800" i="1" dirty="0"/>
              <a:t> </a:t>
            </a: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  <p:sp>
        <p:nvSpPr>
          <p:cNvPr id="4" name="Rectangle 3"/>
          <p:cNvSpPr/>
          <p:nvPr/>
        </p:nvSpPr>
        <p:spPr>
          <a:xfrm>
            <a:off x="2073433" y="5979811"/>
            <a:ext cx="902445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So, variances of independent random variables add!</a:t>
            </a:r>
          </a:p>
        </p:txBody>
      </p:sp>
    </p:spTree>
    <p:extLst>
      <p:ext uri="{BB962C8B-B14F-4D97-AF65-F5344CB8AC3E}">
        <p14:creationId xmlns:p14="http://schemas.microsoft.com/office/powerpoint/2010/main" val="16677764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2312989" y="114300"/>
            <a:ext cx="7793037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dirty="0"/>
              <a:t>Key terms moving forward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312989" y="1436914"/>
            <a:ext cx="8342570" cy="4444139"/>
          </a:xfrm>
        </p:spPr>
        <p:txBody>
          <a:bodyPr>
            <a:normAutofit fontScale="92500" lnSpcReduction="10000"/>
          </a:bodyPr>
          <a:lstStyle/>
          <a:p>
            <a:pPr eaLnBrk="1" hangingPunct="1">
              <a:defRPr/>
            </a:pPr>
            <a:r>
              <a:rPr lang="en-US" sz="3200" dirty="0"/>
              <a:t>Probability mass function, PMF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Cumulative distribution function, CDF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Expectation/Expected value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Variance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Random variable</a:t>
            </a:r>
          </a:p>
          <a:p>
            <a:pPr eaLnBrk="1" hangingPunct="1">
              <a:buFont typeface="Wingdings" pitchFamily="2" charset="2"/>
              <a:buNone/>
              <a:defRPr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0044288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6300</TotalTime>
  <Words>2803</Words>
  <Application>Microsoft Macintosh PowerPoint</Application>
  <PresentationFormat>Widescreen</PresentationFormat>
  <Paragraphs>395</Paragraphs>
  <Slides>56</Slides>
  <Notes>38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5" baseType="lpstr">
      <vt:lpstr>Arial</vt:lpstr>
      <vt:lpstr>Calibri</vt:lpstr>
      <vt:lpstr>Calibri Light</vt:lpstr>
      <vt:lpstr>CMSS12</vt:lpstr>
      <vt:lpstr>Tahoma</vt:lpstr>
      <vt:lpstr>Times New Roman</vt:lpstr>
      <vt:lpstr>Wingdings</vt:lpstr>
      <vt:lpstr>Office Theme</vt:lpstr>
      <vt:lpstr>Equation</vt:lpstr>
      <vt:lpstr>FW599 - Fall 2025  Get your data on!</vt:lpstr>
      <vt:lpstr>What is this course?</vt:lpstr>
      <vt:lpstr>Course oath</vt:lpstr>
      <vt:lpstr>Grading</vt:lpstr>
      <vt:lpstr>This course is just a jumping off point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Probability Experiments</vt:lpstr>
      <vt:lpstr>Probability Experiments</vt:lpstr>
      <vt:lpstr>Probability Experiments</vt:lpstr>
      <vt:lpstr>Classical Probability</vt:lpstr>
      <vt:lpstr>Classical Probability-II (Example)</vt:lpstr>
      <vt:lpstr>DNA Example  </vt:lpstr>
      <vt:lpstr>DNA Example  </vt:lpstr>
      <vt:lpstr>DNA Example  </vt:lpstr>
      <vt:lpstr>Probabilities Formalized</vt:lpstr>
      <vt:lpstr>Example</vt:lpstr>
      <vt:lpstr>Conditional Probability-I</vt:lpstr>
      <vt:lpstr>Conditional Probability-II</vt:lpstr>
      <vt:lpstr>Conditional Probability-III</vt:lpstr>
      <vt:lpstr>Conditional Probability-IV</vt:lpstr>
      <vt:lpstr>Conditional Probability-V</vt:lpstr>
      <vt:lpstr>Independent Events-I</vt:lpstr>
      <vt:lpstr>“AND” - The Multiplication Rule The “joint distribution” of A and B</vt:lpstr>
      <vt:lpstr>“AND” - The Multiplication Rule The “joint distribution” of A and B</vt:lpstr>
      <vt:lpstr>PowerPoint Presentation</vt:lpstr>
      <vt:lpstr>PowerPoint Presentation</vt:lpstr>
      <vt:lpstr>PowerPoint Presentation</vt:lpstr>
      <vt:lpstr>“OR” - The Additive Rule</vt:lpstr>
      <vt:lpstr>“OR” - The Additive Rule</vt:lpstr>
      <vt:lpstr>Using the Rules of Probability (Example)</vt:lpstr>
      <vt:lpstr>Review of Concepts and Formulae</vt:lpstr>
      <vt:lpstr>QUESTION: Prove the equality in Bayes rule using simple probability rules</vt:lpstr>
      <vt:lpstr>BREAK: Up Next - Operationalizing Probability</vt:lpstr>
      <vt:lpstr>Random Variables-I</vt:lpstr>
      <vt:lpstr>Random Variables - II</vt:lpstr>
      <vt:lpstr>Random Variables - III</vt:lpstr>
      <vt:lpstr>PowerPoint Presentation</vt:lpstr>
      <vt:lpstr>Probability Distributions  (Discrete-I)</vt:lpstr>
      <vt:lpstr>Probability Distributions  (Discrete-II)</vt:lpstr>
      <vt:lpstr>Discrete Cumulative Distribution Function</vt:lpstr>
      <vt:lpstr>Discrete Cumulative Distribution Function</vt:lpstr>
      <vt:lpstr>Means, Variances and Standard Deviations-I</vt:lpstr>
      <vt:lpstr>Expected Value</vt:lpstr>
      <vt:lpstr>Means, Variances and  Standard Deviations-II</vt:lpstr>
      <vt:lpstr>PowerPoint Presentation</vt:lpstr>
      <vt:lpstr>PowerPoint Presentation</vt:lpstr>
      <vt:lpstr>PowerPoint Presentation</vt:lpstr>
      <vt:lpstr>Algebra with Expectation and Variance</vt:lpstr>
      <vt:lpstr>Answer: Algebra with Expectation and Variance</vt:lpstr>
      <vt:lpstr>Algebra with Expectation and Variance</vt:lpstr>
      <vt:lpstr>Answer: Algebra with Expectation and Variance</vt:lpstr>
      <vt:lpstr>Key terms moving forward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FW599- Winter 2021 Seminar in Quantitative and Computational Biology</dc:title>
  <dc:creator>Levi, Taal</dc:creator>
  <cp:lastModifiedBy>Levi, Taal</cp:lastModifiedBy>
  <cp:revision>80</cp:revision>
  <dcterms:created xsi:type="dcterms:W3CDTF">2020-12-09T20:59:16Z</dcterms:created>
  <dcterms:modified xsi:type="dcterms:W3CDTF">2025-09-19T15:43:40Z</dcterms:modified>
</cp:coreProperties>
</file>