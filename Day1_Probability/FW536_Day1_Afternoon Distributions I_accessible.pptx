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embeddings/oleObject1.bin" ContentType="application/vnd.openxmlformats-officedocument.oleObject"/>
  <Override PartName="/ppt/embeddings/oleObject2.bin" ContentType="application/vnd.openxmlformats-officedocument.oleObject"/>
  <Override PartName="/ppt/embeddings/oleObject3.bin" ContentType="application/vnd.openxmlformats-officedocument.oleObject"/>
  <Override PartName="/ppt/embeddings/oleObject4.bin" ContentType="application/vnd.openxmlformats-officedocument.oleObject"/>
  <Override PartName="/ppt/embeddings/oleObject5.bin" ContentType="application/vnd.openxmlformats-officedocument.oleObject"/>
  <Override PartName="/ppt/embeddings/oleObject6.bin" ContentType="application/vnd.openxmlformats-officedocument.oleObject"/>
  <Override PartName="/ppt/embeddings/oleObject7.bin" ContentType="application/vnd.openxmlformats-officedocument.oleObject"/>
  <Override PartName="/ppt/embeddings/oleObject8.bin" ContentType="application/vnd.openxmlformats-officedocument.oleObject"/>
  <Override PartName="/ppt/embeddings/oleObject9.bin" ContentType="application/vnd.openxmlformats-officedocument.oleObject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9"/>
  </p:notesMasterIdLst>
  <p:sldIdLst>
    <p:sldId id="270" r:id="rId2"/>
    <p:sldId id="271" r:id="rId3"/>
    <p:sldId id="272" r:id="rId4"/>
    <p:sldId id="273" r:id="rId5"/>
    <p:sldId id="274" r:id="rId6"/>
    <p:sldId id="275" r:id="rId7"/>
    <p:sldId id="317" r:id="rId8"/>
    <p:sldId id="331" r:id="rId9"/>
    <p:sldId id="329" r:id="rId10"/>
    <p:sldId id="330" r:id="rId11"/>
    <p:sldId id="276" r:id="rId12"/>
    <p:sldId id="279" r:id="rId13"/>
    <p:sldId id="280" r:id="rId14"/>
    <p:sldId id="281" r:id="rId15"/>
    <p:sldId id="282" r:id="rId16"/>
    <p:sldId id="283" r:id="rId17"/>
    <p:sldId id="284" r:id="rId18"/>
    <p:sldId id="285" r:id="rId19"/>
    <p:sldId id="286" r:id="rId20"/>
    <p:sldId id="287" r:id="rId21"/>
    <p:sldId id="288" r:id="rId22"/>
    <p:sldId id="338" r:id="rId23"/>
    <p:sldId id="289" r:id="rId24"/>
    <p:sldId id="290" r:id="rId25"/>
    <p:sldId id="308" r:id="rId26"/>
    <p:sldId id="301" r:id="rId27"/>
    <p:sldId id="302" r:id="rId28"/>
    <p:sldId id="303" r:id="rId29"/>
    <p:sldId id="304" r:id="rId30"/>
    <p:sldId id="291" r:id="rId31"/>
    <p:sldId id="292" r:id="rId32"/>
    <p:sldId id="293" r:id="rId33"/>
    <p:sldId id="296" r:id="rId34"/>
    <p:sldId id="297" r:id="rId35"/>
    <p:sldId id="300" r:id="rId36"/>
    <p:sldId id="294" r:id="rId37"/>
    <p:sldId id="298" r:id="rId38"/>
    <p:sldId id="299" r:id="rId39"/>
    <p:sldId id="318" r:id="rId40"/>
    <p:sldId id="319" r:id="rId41"/>
    <p:sldId id="320" r:id="rId42"/>
    <p:sldId id="322" r:id="rId43"/>
    <p:sldId id="323" r:id="rId44"/>
    <p:sldId id="324" r:id="rId45"/>
    <p:sldId id="326" r:id="rId46"/>
    <p:sldId id="327" r:id="rId47"/>
    <p:sldId id="328" r:id="rId4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9360"/>
    <p:restoredTop sz="94658"/>
  </p:normalViewPr>
  <p:slideViewPr>
    <p:cSldViewPr snapToGrid="0" snapToObjects="1">
      <p:cViewPr varScale="1">
        <p:scale>
          <a:sx n="113" d="100"/>
          <a:sy n="113" d="100"/>
        </p:scale>
        <p:origin x="184" y="3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notesMaster" Target="notesMasters/notesMaster1.xml"/><Relationship Id="rId50" Type="http://schemas.openxmlformats.org/officeDocument/2006/relationships/presProps" Target="presProps.xml"/><Relationship Id="rId51" Type="http://schemas.openxmlformats.org/officeDocument/2006/relationships/viewProps" Target="viewProps.xml"/><Relationship Id="rId52" Type="http://schemas.openxmlformats.org/officeDocument/2006/relationships/theme" Target="theme/theme1.xml"/><Relationship Id="rId5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F945995-FC3E-D540-94CA-CACDC057E48E}" type="datetimeFigureOut">
              <a:rPr lang="en-US" smtClean="0"/>
              <a:t>9/18/25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C8FA766-4199-D741-B79E-9AE53857A0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33869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8242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947194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40290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5644143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42338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9187373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44386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9700839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46434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8251118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48482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776024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50530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681542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56674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7436461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58722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490543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60770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6494987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62818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75637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64866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8333703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66914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3745273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68962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217183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71010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2355997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73058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914280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843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1547763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843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5100663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9459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8726004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843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7341600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843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2038428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9459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090163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9459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4596732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9459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62316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6627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184766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0483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0436475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1507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4117214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2531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7500534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2531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2402321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0483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395480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5603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4676010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5603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210931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10946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633298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12994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r>
              <a:rPr lang="en-US" altLang="en-US" dirty="0">
                <a:latin typeface="Times New Roman" charset="0"/>
              </a:rPr>
              <a:t>Examples? Number of foraging bouts before r successes. Number of surveys before r detections.</a:t>
            </a:r>
          </a:p>
          <a:p>
            <a:endParaRPr lang="en-US" altLang="en-US" dirty="0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98976772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15042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883475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19138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160671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21186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05242129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23234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6147879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25282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18183363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27330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61044376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2763783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33797-E749-0F4D-9D43-8EDD7194A7C5}" type="datetimeFigureOut">
              <a:rPr lang="en-US" smtClean="0"/>
              <a:t>9/18/25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B2BA0A-82D5-BD4A-8AFC-734EBE5B0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40065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33797-E749-0F4D-9D43-8EDD7194A7C5}" type="datetimeFigureOut">
              <a:rPr lang="en-US" smtClean="0"/>
              <a:t>9/18/25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B2BA0A-82D5-BD4A-8AFC-734EBE5B0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19289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33797-E749-0F4D-9D43-8EDD7194A7C5}" type="datetimeFigureOut">
              <a:rPr lang="en-US" smtClean="0"/>
              <a:t>9/18/25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B2BA0A-82D5-BD4A-8AFC-734EBE5B0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05415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33797-E749-0F4D-9D43-8EDD7194A7C5}" type="datetimeFigureOut">
              <a:rPr lang="en-US" smtClean="0"/>
              <a:t>9/18/25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B2BA0A-82D5-BD4A-8AFC-734EBE5B0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14298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33797-E749-0F4D-9D43-8EDD7194A7C5}" type="datetimeFigureOut">
              <a:rPr lang="en-US" smtClean="0"/>
              <a:t>9/18/25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B2BA0A-82D5-BD4A-8AFC-734EBE5B0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1002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33797-E749-0F4D-9D43-8EDD7194A7C5}" type="datetimeFigureOut">
              <a:rPr lang="en-US" smtClean="0"/>
              <a:t>9/18/25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B2BA0A-82D5-BD4A-8AFC-734EBE5B0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18339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33797-E749-0F4D-9D43-8EDD7194A7C5}" type="datetimeFigureOut">
              <a:rPr lang="en-US" smtClean="0"/>
              <a:t>9/18/25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B2BA0A-82D5-BD4A-8AFC-734EBE5B0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41651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33797-E749-0F4D-9D43-8EDD7194A7C5}" type="datetimeFigureOut">
              <a:rPr lang="en-US" smtClean="0"/>
              <a:t>9/18/25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B2BA0A-82D5-BD4A-8AFC-734EBE5B0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27427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33797-E749-0F4D-9D43-8EDD7194A7C5}" type="datetimeFigureOut">
              <a:rPr lang="en-US" smtClean="0"/>
              <a:t>9/18/25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B2BA0A-82D5-BD4A-8AFC-734EBE5B0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74296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33797-E749-0F4D-9D43-8EDD7194A7C5}" type="datetimeFigureOut">
              <a:rPr lang="en-US" smtClean="0"/>
              <a:t>9/18/25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B2BA0A-82D5-BD4A-8AFC-734EBE5B0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517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33797-E749-0F4D-9D43-8EDD7194A7C5}" type="datetimeFigureOut">
              <a:rPr lang="en-US" smtClean="0"/>
              <a:t>9/18/25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B2BA0A-82D5-BD4A-8AFC-734EBE5B0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862571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>
  <p:cSld name="Title, Text,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34585" y="617538"/>
            <a:ext cx="10390716" cy="1143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1576917" y="2017713"/>
            <a:ext cx="5080000" cy="4114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6860117" y="2017713"/>
            <a:ext cx="5080000" cy="1981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6860117" y="4151313"/>
            <a:ext cx="5080000" cy="1981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12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EB11B70-FC32-704C-A6D2-3B280E37279B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7862517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34585" y="617538"/>
            <a:ext cx="10390716" cy="1143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1576917" y="2017713"/>
            <a:ext cx="5080000" cy="4114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60117" y="2017713"/>
            <a:ext cx="5080000" cy="4114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12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DB55D25-F998-A748-BD3E-3F04D9B0DB76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0302471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>
  <p:cSld name="Title, Content,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34585" y="617538"/>
            <a:ext cx="10390716" cy="1143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76917" y="2017713"/>
            <a:ext cx="5080000" cy="4114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6860117" y="2017713"/>
            <a:ext cx="5080000" cy="1981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6860117" y="4151313"/>
            <a:ext cx="5080000" cy="1981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12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4A85E31-6AB6-4544-B38B-96F01BA9DB23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94085368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bl">
  <p:cSld name="Title and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34585" y="617538"/>
            <a:ext cx="10390716" cy="1143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able Placeholder 2"/>
          <p:cNvSpPr>
            <a:spLocks noGrp="1"/>
          </p:cNvSpPr>
          <p:nvPr>
            <p:ph type="tbl" idx="1"/>
          </p:nvPr>
        </p:nvSpPr>
        <p:spPr>
          <a:xfrm>
            <a:off x="1576917" y="2017713"/>
            <a:ext cx="10363200" cy="4114800"/>
          </a:xfrm>
        </p:spPr>
        <p:txBody>
          <a:bodyPr/>
          <a:lstStyle/>
          <a:p>
            <a:pPr lvl="0"/>
            <a:endParaRPr lang="en-AU" noProof="0"/>
          </a:p>
        </p:txBody>
      </p:sp>
      <p:sp>
        <p:nvSpPr>
          <p:cNvPr id="4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12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990C76F-CEB0-0A40-BA82-0C321A01C5AB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88555599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FF33797-E749-0F4D-9D43-8EDD7194A7C5}" type="datetimeFigureOut">
              <a:rPr lang="en-US" smtClean="0"/>
              <a:t>9/18/25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8B2BA0A-82D5-BD4A-8AFC-734EBE5B0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0628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oleObject" Target="../embeddings/oleObject1.bin"/><Relationship Id="rId4" Type="http://schemas.openxmlformats.org/officeDocument/2006/relationships/image" Target="../media/image1.wmf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Relationship Id="rId3" Type="http://schemas.openxmlformats.org/officeDocument/2006/relationships/oleObject" Target="../embeddings/oleObject2.bin"/><Relationship Id="rId4" Type="http://schemas.openxmlformats.org/officeDocument/2006/relationships/image" Target="../media/image2.wmf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6.xml"/><Relationship Id="rId3" Type="http://schemas.openxmlformats.org/officeDocument/2006/relationships/oleObject" Target="../embeddings/oleObject2.bin"/><Relationship Id="rId4" Type="http://schemas.openxmlformats.org/officeDocument/2006/relationships/image" Target="../media/image2.wmf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3.emf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4.emf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5.emf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6.emf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Relationship Id="rId3" Type="http://schemas.openxmlformats.org/officeDocument/2006/relationships/oleObject" Target="../embeddings/oleObject3.bin"/><Relationship Id="rId4" Type="http://schemas.openxmlformats.org/officeDocument/2006/relationships/image" Target="../media/image7.wmf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wmf"/><Relationship Id="rId4" Type="http://schemas.openxmlformats.org/officeDocument/2006/relationships/image" Target="../media/image9.wmf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oleObject" Target="../embeddings/oleObject2.bin"/><Relationship Id="rId4" Type="http://schemas.openxmlformats.org/officeDocument/2006/relationships/image" Target="../media/image2.wmf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Relationship Id="rId3" Type="http://schemas.openxmlformats.org/officeDocument/2006/relationships/oleObject" Target="../embeddings/oleObject4.bin"/><Relationship Id="rId4" Type="http://schemas.openxmlformats.org/officeDocument/2006/relationships/image" Target="../media/image10.wmf"/><Relationship Id="rId5" Type="http://schemas.openxmlformats.org/officeDocument/2006/relationships/oleObject" Target="../embeddings/oleObject5.bin"/><Relationship Id="rId6" Type="http://schemas.openxmlformats.org/officeDocument/2006/relationships/image" Target="../media/image11.wmf"/><Relationship Id="rId7" Type="http://schemas.openxmlformats.org/officeDocument/2006/relationships/image" Target="../media/image12.png"/><Relationship Id="rId8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9.xml"/><Relationship Id="rId3" Type="http://schemas.openxmlformats.org/officeDocument/2006/relationships/oleObject" Target="../embeddings/oleObject6.bin"/><Relationship Id="rId4" Type="http://schemas.openxmlformats.org/officeDocument/2006/relationships/image" Target="../media/image19.wmf"/><Relationship Id="rId5" Type="http://schemas.openxmlformats.org/officeDocument/2006/relationships/oleObject" Target="../embeddings/oleObject7.bin"/><Relationship Id="rId6" Type="http://schemas.openxmlformats.org/officeDocument/2006/relationships/image" Target="../media/image20.wmf"/><Relationship Id="rId7" Type="http://schemas.openxmlformats.org/officeDocument/2006/relationships/image" Target="../media/image21.png"/><Relationship Id="rId8" Type="http://schemas.openxmlformats.org/officeDocument/2006/relationships/image" Target="../media/image2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2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1.png"/><Relationship Id="rId4" Type="http://schemas.openxmlformats.org/officeDocument/2006/relationships/image" Target="../media/image2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4.xml"/><Relationship Id="rId3" Type="http://schemas.openxmlformats.org/officeDocument/2006/relationships/oleObject" Target="../embeddings/oleObject6.bin"/><Relationship Id="rId4" Type="http://schemas.openxmlformats.org/officeDocument/2006/relationships/image" Target="../media/image19.wmf"/><Relationship Id="rId5" Type="http://schemas.openxmlformats.org/officeDocument/2006/relationships/oleObject" Target="../embeddings/oleObject7.bin"/><Relationship Id="rId6" Type="http://schemas.openxmlformats.org/officeDocument/2006/relationships/image" Target="../media/image20.wmf"/><Relationship Id="rId7" Type="http://schemas.openxmlformats.org/officeDocument/2006/relationships/image" Target="../media/image21.png"/><Relationship Id="rId8" Type="http://schemas.openxmlformats.org/officeDocument/2006/relationships/image" Target="../media/image2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28.wmf"/><Relationship Id="rId4" Type="http://schemas.openxmlformats.org/officeDocument/2006/relationships/image" Target="../media/image29.wmf"/><Relationship Id="rId5" Type="http://schemas.openxmlformats.org/officeDocument/2006/relationships/image" Target="../media/image30.wmf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Relationship Id="rId3" Type="http://schemas.openxmlformats.org/officeDocument/2006/relationships/oleObject" Target="../embeddings/oleObject6.bin"/><Relationship Id="rId4" Type="http://schemas.openxmlformats.org/officeDocument/2006/relationships/image" Target="../media/image19.wmf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7.xml"/><Relationship Id="rId3" Type="http://schemas.openxmlformats.org/officeDocument/2006/relationships/oleObject" Target="../embeddings/oleObject8.bin"/><Relationship Id="rId4" Type="http://schemas.openxmlformats.org/officeDocument/2006/relationships/image" Target="../media/image31.wmf"/><Relationship Id="rId5" Type="http://schemas.openxmlformats.org/officeDocument/2006/relationships/image" Target="../media/image3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8.xml"/><Relationship Id="rId3" Type="http://schemas.openxmlformats.org/officeDocument/2006/relationships/oleObject" Target="../embeddings/oleObject9.bin"/><Relationship Id="rId4" Type="http://schemas.openxmlformats.org/officeDocument/2006/relationships/image" Target="../media/image33.wmf"/><Relationship Id="rId5" Type="http://schemas.openxmlformats.org/officeDocument/2006/relationships/image" Target="../media/image34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35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36.png"/><Relationship Id="rId4" Type="http://schemas.openxmlformats.org/officeDocument/2006/relationships/image" Target="../media/image37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21.png"/><Relationship Id="rId4" Type="http://schemas.openxmlformats.org/officeDocument/2006/relationships/image" Target="../media/image38.png"/><Relationship Id="rId5" Type="http://schemas.openxmlformats.org/officeDocument/2006/relationships/image" Target="../media/image39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3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40.png"/><Relationship Id="rId4" Type="http://schemas.openxmlformats.org/officeDocument/2006/relationships/image" Target="../media/image41.png"/><Relationship Id="rId5" Type="http://schemas.openxmlformats.org/officeDocument/2006/relationships/image" Target="../media/image42.png"/><Relationship Id="rId6" Type="http://schemas.openxmlformats.org/officeDocument/2006/relationships/image" Target="../media/image43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44.png"/><Relationship Id="rId4" Type="http://schemas.openxmlformats.org/officeDocument/2006/relationships/image" Target="../media/image45.png"/><Relationship Id="rId5" Type="http://schemas.openxmlformats.org/officeDocument/2006/relationships/image" Target="../media/image46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47.png"/><Relationship Id="rId4" Type="http://schemas.openxmlformats.org/officeDocument/2006/relationships/image" Target="../media/image48.png"/><Relationship Id="rId5" Type="http://schemas.openxmlformats.org/officeDocument/2006/relationships/image" Target="../media/image49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50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50.png"/><Relationship Id="rId4" Type="http://schemas.openxmlformats.org/officeDocument/2006/relationships/image" Target="../media/image5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52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53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905000" y="1981200"/>
            <a:ext cx="8763000" cy="1295400"/>
          </a:xfrm>
        </p:spPr>
        <p:txBody>
          <a:bodyPr/>
          <a:lstStyle/>
          <a:p>
            <a:pPr algn="ctr" eaLnBrk="1" hangingPunct="1"/>
            <a:r>
              <a:rPr lang="en-US" altLang="en-US" sz="4000" b="1" dirty="0">
                <a:latin typeface="Arial" charset="0"/>
                <a:ea typeface="Arial" charset="0"/>
                <a:cs typeface="Arial" charset="0"/>
              </a:rPr>
              <a:t>Discrete Probability Distributions </a:t>
            </a:r>
            <a:endParaRPr lang="en-AU" altLang="en-US" sz="2400" b="1" dirty="0">
              <a:latin typeface="Arial" charset="0"/>
              <a:ea typeface="Arial" charset="0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845356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>
          <a:xfrm>
            <a:off x="2322830" y="9144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/>
              <a:t>Binomial Experiments-I</a:t>
            </a:r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845820" y="1423035"/>
            <a:ext cx="10378440" cy="4687888"/>
          </a:xfrm>
        </p:spPr>
        <p:txBody>
          <a:bodyPr/>
          <a:lstStyle/>
          <a:p>
            <a:pPr marL="609600" indent="-609600">
              <a:defRPr/>
            </a:pPr>
            <a:r>
              <a:rPr lang="en-US" sz="2400" dirty="0"/>
              <a:t>Binomial experiments are those for which the outcome from each trial is one of only two options (“success” or “failure”). The properties of a binomial experiment are:</a:t>
            </a:r>
          </a:p>
          <a:p>
            <a:pPr marL="609600" indent="-609600">
              <a:buFont typeface="Wingdings" pitchFamily="2" charset="2"/>
              <a:buAutoNum type="arabicPeriod"/>
              <a:defRPr/>
            </a:pPr>
            <a:r>
              <a:rPr lang="en-US" sz="2400" dirty="0"/>
              <a:t>The experiment is repeated for a fixed number of trials, </a:t>
            </a:r>
            <a:r>
              <a:rPr lang="en-US" sz="2400" i="1" dirty="0"/>
              <a:t>N</a:t>
            </a:r>
            <a:r>
              <a:rPr lang="en-US" sz="2400" dirty="0"/>
              <a:t>, where each trial is </a:t>
            </a:r>
            <a:r>
              <a:rPr lang="en-US" sz="2400" i="1" dirty="0">
                <a:solidFill>
                  <a:schemeClr val="hlink"/>
                </a:solidFill>
              </a:rPr>
              <a:t>independent</a:t>
            </a:r>
            <a:r>
              <a:rPr lang="en-US" sz="2400" dirty="0"/>
              <a:t> of all the others.</a:t>
            </a:r>
          </a:p>
          <a:p>
            <a:pPr marL="609600" indent="-609600">
              <a:buFont typeface="Wingdings" pitchFamily="2" charset="2"/>
              <a:buAutoNum type="arabicPeriod"/>
              <a:defRPr/>
            </a:pPr>
            <a:r>
              <a:rPr lang="en-US" sz="2400" dirty="0"/>
              <a:t>There are only two possible outcomes for each trial. The outcomes can be classified as a success (S) or a failure (F).</a:t>
            </a:r>
          </a:p>
          <a:p>
            <a:pPr marL="609600" indent="-609600">
              <a:buFont typeface="Wingdings" pitchFamily="2" charset="2"/>
              <a:buAutoNum type="arabicPeriod"/>
              <a:defRPr/>
            </a:pPr>
            <a:r>
              <a:rPr lang="en-US" sz="2400" dirty="0"/>
              <a:t>The probability of success is the </a:t>
            </a:r>
            <a:r>
              <a:rPr lang="en-US" sz="2400" u="sng" dirty="0"/>
              <a:t>same </a:t>
            </a:r>
            <a:r>
              <a:rPr lang="en-US" sz="2400" dirty="0"/>
              <a:t>for all trials.</a:t>
            </a:r>
          </a:p>
          <a:p>
            <a:pPr marL="609600" indent="-609600">
              <a:buFont typeface="Wingdings" pitchFamily="2" charset="2"/>
              <a:buAutoNum type="arabicPeriod"/>
              <a:defRPr/>
            </a:pPr>
            <a:r>
              <a:rPr lang="en-US" sz="2400" dirty="0"/>
              <a:t>The random variable </a:t>
            </a:r>
            <a:r>
              <a:rPr lang="en-US" sz="2400" i="1" dirty="0"/>
              <a:t>X</a:t>
            </a:r>
            <a:r>
              <a:rPr lang="en-US" sz="2400" dirty="0"/>
              <a:t> counts the number of </a:t>
            </a:r>
            <a:r>
              <a:rPr lang="en-US" sz="2400" i="1" dirty="0">
                <a:solidFill>
                  <a:schemeClr val="hlink"/>
                </a:solidFill>
              </a:rPr>
              <a:t>successful</a:t>
            </a:r>
            <a:r>
              <a:rPr lang="en-US" sz="2400" dirty="0"/>
              <a:t> trials out of </a:t>
            </a:r>
            <a:r>
              <a:rPr lang="en-US" sz="2400" i="1" dirty="0"/>
              <a:t>N</a:t>
            </a:r>
            <a:r>
              <a:rPr lang="en-US" sz="2400" dirty="0"/>
              <a:t> trials.</a:t>
            </a:r>
          </a:p>
        </p:txBody>
      </p:sp>
    </p:spTree>
    <p:extLst>
      <p:ext uri="{BB962C8B-B14F-4D97-AF65-F5344CB8AC3E}">
        <p14:creationId xmlns:p14="http://schemas.microsoft.com/office/powerpoint/2010/main" val="2507716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>
          <a:xfrm>
            <a:off x="2438400" y="15240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/>
              <a:t>Binomial Experiments-II</a:t>
            </a:r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601470" y="1621155"/>
            <a:ext cx="9005570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sz="3200" dirty="0"/>
              <a:t>Why is the following a binomial experiment?</a:t>
            </a:r>
          </a:p>
          <a:p>
            <a:pPr eaLnBrk="1" hangingPunct="1">
              <a:defRPr/>
            </a:pPr>
            <a:endParaRPr lang="en-US" sz="3200" dirty="0"/>
          </a:p>
          <a:p>
            <a:pPr lvl="1" eaLnBrk="1" hangingPunct="1">
              <a:defRPr/>
            </a:pPr>
            <a:r>
              <a:rPr lang="en-US" sz="2800" dirty="0"/>
              <a:t>We randomly sample 500 fish from the population.</a:t>
            </a:r>
          </a:p>
          <a:p>
            <a:pPr lvl="1" eaLnBrk="1" hangingPunct="1">
              <a:defRPr/>
            </a:pPr>
            <a:endParaRPr lang="en-US" sz="2800" dirty="0"/>
          </a:p>
          <a:p>
            <a:pPr lvl="1" eaLnBrk="1" hangingPunct="1">
              <a:defRPr/>
            </a:pPr>
            <a:r>
              <a:rPr lang="en-US" sz="2800" dirty="0"/>
              <a:t>We record whether each animal is mature or immature.</a:t>
            </a:r>
          </a:p>
          <a:p>
            <a:pPr lvl="1" eaLnBrk="1" hangingPunct="1">
              <a:defRPr/>
            </a:pPr>
            <a:endParaRPr lang="en-US" sz="2800" dirty="0"/>
          </a:p>
          <a:p>
            <a:pPr lvl="1" eaLnBrk="1" hangingPunct="1">
              <a:defRPr/>
            </a:pPr>
            <a:r>
              <a:rPr lang="en-US" sz="2800" dirty="0"/>
              <a:t>The random variable </a:t>
            </a:r>
            <a:r>
              <a:rPr lang="en-US" sz="2800" i="1" dirty="0"/>
              <a:t>X</a:t>
            </a:r>
            <a:r>
              <a:rPr lang="en-US" sz="2800" dirty="0"/>
              <a:t> is the number of mature animals.</a:t>
            </a:r>
          </a:p>
        </p:txBody>
      </p:sp>
    </p:spTree>
    <p:extLst>
      <p:ext uri="{BB962C8B-B14F-4D97-AF65-F5344CB8AC3E}">
        <p14:creationId xmlns:p14="http://schemas.microsoft.com/office/powerpoint/2010/main" val="247846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>
          <a:xfrm>
            <a:off x="2674939" y="228600"/>
            <a:ext cx="7793037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sz="4000"/>
              <a:t>Binomial Experiments-II</a:t>
            </a:r>
            <a:br>
              <a:rPr lang="en-US" sz="4000"/>
            </a:br>
            <a:r>
              <a:rPr lang="en-US" sz="4000"/>
              <a:t>(Notation)</a:t>
            </a:r>
          </a:p>
        </p:txBody>
      </p:sp>
      <p:sp>
        <p:nvSpPr>
          <p:cNvPr id="143363" name="Rectangle 4"/>
          <p:cNvSpPr>
            <a:spLocks noChangeArrowheads="1"/>
          </p:cNvSpPr>
          <p:nvPr/>
        </p:nvSpPr>
        <p:spPr bwMode="auto">
          <a:xfrm>
            <a:off x="1994852" y="3242628"/>
            <a:ext cx="1525587" cy="1055052"/>
          </a:xfrm>
          <a:prstGeom prst="rect">
            <a:avLst/>
          </a:prstGeom>
          <a:noFill/>
          <a:ln w="5715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altLang="en-US"/>
          </a:p>
        </p:txBody>
      </p:sp>
      <p:sp>
        <p:nvSpPr>
          <p:cNvPr id="143364" name="TextBox 5"/>
          <p:cNvSpPr txBox="1">
            <a:spLocks noChangeArrowheads="1"/>
          </p:cNvSpPr>
          <p:nvPr/>
        </p:nvSpPr>
        <p:spPr bwMode="auto">
          <a:xfrm>
            <a:off x="814979" y="3283568"/>
            <a:ext cx="955711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 dirty="0">
                <a:solidFill>
                  <a:srgbClr val="FF0000"/>
                </a:solidFill>
              </a:rPr>
              <a:t>New</a:t>
            </a: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 dirty="0">
                <a:solidFill>
                  <a:srgbClr val="FF0000"/>
                </a:solidFill>
              </a:rPr>
              <a:t>terms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770690" y="5044827"/>
            <a:ext cx="1100138" cy="52322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 eaLnBrk="1" hangingPunct="1">
              <a:defRPr/>
            </a:pPr>
            <a:r>
              <a:rPr lang="en-US" sz="2800" dirty="0"/>
              <a:t>Also </a:t>
            </a:r>
            <a:r>
              <a:rPr lang="en-US" sz="2800" i="1" dirty="0"/>
              <a:t>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02562" y="2104292"/>
            <a:ext cx="1119217" cy="52322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pPr algn="ctr" eaLnBrk="1" hangingPunct="1">
              <a:defRPr/>
            </a:pPr>
            <a:r>
              <a:rPr lang="en-US" sz="2800" dirty="0"/>
              <a:t>Also N</a:t>
            </a:r>
            <a:endParaRPr lang="en-US" sz="2800" i="1" dirty="0"/>
          </a:p>
        </p:txBody>
      </p:sp>
      <p:sp>
        <p:nvSpPr>
          <p:cNvPr id="143365" name="TextBox 143364"/>
          <p:cNvSpPr txBox="1"/>
          <p:nvPr/>
        </p:nvSpPr>
        <p:spPr>
          <a:xfrm>
            <a:off x="2101534" y="2770188"/>
            <a:ext cx="8801398" cy="2033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700">
                <a:latin typeface="Cambria"/>
              </a:rPr>
              <a:t>n            The number of times a trial is repeated</a:t>
            </a:r>
          </a:p>
          <a:p>
            <a:r>
              <a:rPr sz="1700">
                <a:latin typeface="Cambria"/>
              </a:rPr>
              <a:t>p = P(S)     The probability of a success in a single trial</a:t>
            </a:r>
          </a:p>
          <a:p>
            <a:r>
              <a:rPr sz="1700">
                <a:latin typeface="Cambria"/>
              </a:rPr>
              <a:t>q = P(F)     The probability of a failure in a single trial, q = 1 − p</a:t>
            </a:r>
          </a:p>
          <a:p>
            <a:r>
              <a:rPr sz="1700">
                <a:latin typeface="Cambria"/>
              </a:rPr>
              <a:t>x            The number of successes on n trials (x = 0, 1, .., n)</a:t>
            </a:r>
          </a:p>
        </p:txBody>
      </p:sp>
    </p:spTree>
    <p:extLst>
      <p:ext uri="{BB962C8B-B14F-4D97-AF65-F5344CB8AC3E}">
        <p14:creationId xmlns:p14="http://schemas.microsoft.com/office/powerpoint/2010/main" val="16670118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title"/>
          </p:nvPr>
        </p:nvSpPr>
        <p:spPr>
          <a:xfrm>
            <a:off x="2514600" y="123825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dirty="0"/>
              <a:t>Binomial Probabilities-I</a:t>
            </a:r>
          </a:p>
        </p:txBody>
      </p:sp>
      <p:sp>
        <p:nvSpPr>
          <p:cNvPr id="7171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342900" y="1318260"/>
            <a:ext cx="11567160" cy="4991100"/>
          </a:xfrm>
        </p:spPr>
        <p:txBody>
          <a:bodyPr>
            <a:noAutofit/>
          </a:bodyPr>
          <a:lstStyle/>
          <a:p>
            <a:pPr eaLnBrk="1" hangingPunct="1">
              <a:lnSpc>
                <a:spcPct val="90000"/>
              </a:lnSpc>
              <a:defRPr/>
            </a:pPr>
            <a:r>
              <a:rPr lang="en-US" sz="2600" dirty="0"/>
              <a:t>In a binomial experiment, the probability of exactly </a:t>
            </a:r>
            <a:r>
              <a:rPr lang="en-US" sz="2600" i="1" dirty="0"/>
              <a:t>x</a:t>
            </a:r>
            <a:r>
              <a:rPr lang="en-US" sz="2600" dirty="0"/>
              <a:t> successes in </a:t>
            </a:r>
            <a:r>
              <a:rPr lang="en-US" sz="2600" i="1" dirty="0"/>
              <a:t>n</a:t>
            </a:r>
            <a:r>
              <a:rPr lang="en-US" sz="2600" dirty="0"/>
              <a:t> trials is:</a:t>
            </a:r>
          </a:p>
          <a:p>
            <a:pPr eaLnBrk="1" hangingPunct="1">
              <a:lnSpc>
                <a:spcPct val="90000"/>
              </a:lnSpc>
              <a:defRPr/>
            </a:pPr>
            <a:endParaRPr lang="en-US" sz="2600" dirty="0"/>
          </a:p>
          <a:p>
            <a:pPr eaLnBrk="1" hangingPunct="1">
              <a:lnSpc>
                <a:spcPct val="90000"/>
              </a:lnSpc>
              <a:defRPr/>
            </a:pPr>
            <a:endParaRPr lang="en-US" sz="2600" dirty="0"/>
          </a:p>
          <a:p>
            <a:pPr eaLnBrk="1" hangingPunct="1">
              <a:lnSpc>
                <a:spcPct val="90000"/>
              </a:lnSpc>
              <a:defRPr/>
            </a:pPr>
            <a:endParaRPr lang="en-US" sz="2600" dirty="0"/>
          </a:p>
          <a:p>
            <a:pPr eaLnBrk="1" hangingPunct="1">
              <a:lnSpc>
                <a:spcPct val="90000"/>
              </a:lnSpc>
              <a:defRPr/>
            </a:pPr>
            <a:r>
              <a:rPr lang="en-US" sz="2600" dirty="0"/>
              <a:t>This is a probability mass function, </a:t>
            </a:r>
            <a:r>
              <a:rPr lang="en-US" sz="2600" i="1" dirty="0" err="1"/>
              <a:t>pmf</a:t>
            </a:r>
            <a:endParaRPr lang="en-US" sz="2600" i="1" dirty="0"/>
          </a:p>
          <a:p>
            <a:pPr eaLnBrk="1" hangingPunct="1">
              <a:lnSpc>
                <a:spcPct val="90000"/>
              </a:lnSpc>
              <a:defRPr/>
            </a:pPr>
            <a:endParaRPr lang="en-US" sz="2600" dirty="0"/>
          </a:p>
          <a:p>
            <a:pPr eaLnBrk="1" hangingPunct="1">
              <a:lnSpc>
                <a:spcPct val="90000"/>
              </a:lnSpc>
              <a:defRPr/>
            </a:pPr>
            <a:r>
              <a:rPr lang="en-US" sz="2600" dirty="0"/>
              <a:t>The binomial probability therefore involves the probability of </a:t>
            </a:r>
            <a:r>
              <a:rPr lang="en-US" sz="2600" i="1" dirty="0"/>
              <a:t>x</a:t>
            </a:r>
            <a:r>
              <a:rPr lang="en-US" sz="2600" dirty="0"/>
              <a:t> successes and </a:t>
            </a:r>
            <a:r>
              <a:rPr lang="en-US" sz="2600" i="1" dirty="0"/>
              <a:t>n </a:t>
            </a:r>
            <a:r>
              <a:rPr lang="en-US" sz="2600" dirty="0"/>
              <a:t>- </a:t>
            </a:r>
            <a:r>
              <a:rPr lang="en-US" sz="2600" i="1" dirty="0"/>
              <a:t>x</a:t>
            </a:r>
            <a:r>
              <a:rPr lang="en-US" sz="2600" dirty="0"/>
              <a:t>  failures multiplied by the number of ways choosing </a:t>
            </a:r>
            <a:r>
              <a:rPr lang="en-US" sz="2600" i="1" dirty="0"/>
              <a:t>x</a:t>
            </a:r>
            <a:r>
              <a:rPr lang="en-US" sz="2600" dirty="0"/>
              <a:t> successes out of </a:t>
            </a:r>
            <a:r>
              <a:rPr lang="en-US" sz="2600" i="1" dirty="0"/>
              <a:t>n</a:t>
            </a:r>
            <a:r>
              <a:rPr lang="en-US" sz="2600" dirty="0"/>
              <a:t> trials.</a:t>
            </a:r>
          </a:p>
          <a:p>
            <a:pPr eaLnBrk="1" hangingPunct="1">
              <a:lnSpc>
                <a:spcPct val="90000"/>
              </a:lnSpc>
              <a:defRPr/>
            </a:pPr>
            <a:endParaRPr lang="en-US" sz="2600" dirty="0"/>
          </a:p>
          <a:p>
            <a:pPr eaLnBrk="1" hangingPunct="1">
              <a:lnSpc>
                <a:spcPct val="90000"/>
              </a:lnSpc>
              <a:defRPr/>
            </a:pPr>
            <a:r>
              <a:rPr lang="en-US" sz="2600" i="1" dirty="0"/>
              <a:t>n</a:t>
            </a:r>
            <a:r>
              <a:rPr lang="en-US" sz="2600" dirty="0"/>
              <a:t> and </a:t>
            </a:r>
            <a:r>
              <a:rPr lang="en-US" sz="2600" i="1" dirty="0"/>
              <a:t>p</a:t>
            </a:r>
            <a:r>
              <a:rPr lang="en-US" sz="2600" dirty="0"/>
              <a:t> are </a:t>
            </a:r>
            <a:r>
              <a:rPr lang="en-US" sz="2600" i="1" dirty="0">
                <a:solidFill>
                  <a:schemeClr val="hlink"/>
                </a:solidFill>
              </a:rPr>
              <a:t>parameters </a:t>
            </a:r>
            <a:r>
              <a:rPr lang="en-US" sz="2600" dirty="0"/>
              <a:t>(</a:t>
            </a:r>
            <a:r>
              <a:rPr lang="en-US" sz="2600" i="1" dirty="0"/>
              <a:t>q = 1 - p</a:t>
            </a:r>
            <a:r>
              <a:rPr lang="en-US" sz="2600" dirty="0"/>
              <a:t>). We will use data to estimate the values for unknown parameters.</a:t>
            </a:r>
          </a:p>
        </p:txBody>
      </p:sp>
      <p:cxnSp>
        <p:nvCxnSpPr>
          <p:cNvPr id="3" name="Straight Arrow Connector 2"/>
          <p:cNvCxnSpPr/>
          <p:nvPr/>
        </p:nvCxnSpPr>
        <p:spPr>
          <a:xfrm flipH="1" flipV="1">
            <a:off x="7483151" y="2879090"/>
            <a:ext cx="522514" cy="349302"/>
          </a:xfrm>
          <a:prstGeom prst="straightConnector1">
            <a:avLst/>
          </a:prstGeom>
          <a:ln w="349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7660921" y="3161955"/>
            <a:ext cx="451097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# ways you can have </a:t>
            </a:r>
            <a:r>
              <a:rPr lang="en-US" sz="2000" i="1" dirty="0"/>
              <a:t>x </a:t>
            </a:r>
            <a:r>
              <a:rPr lang="en-US" sz="2000" dirty="0"/>
              <a:t>out of </a:t>
            </a:r>
            <a:r>
              <a:rPr lang="en-US" sz="2000" i="1" dirty="0"/>
              <a:t>n </a:t>
            </a:r>
            <a:r>
              <a:rPr lang="en-US" sz="2000" dirty="0"/>
              <a:t>successes/</a:t>
            </a:r>
          </a:p>
          <a:p>
            <a:r>
              <a:rPr lang="en-US" sz="2000" dirty="0"/>
              <a:t>E.g. HHT, HTH, THH</a:t>
            </a:r>
          </a:p>
        </p:txBody>
      </p:sp>
      <p:sp>
        <p:nvSpPr>
          <p:cNvPr id="7172" name="TextBox 7171"/>
          <p:cNvSpPr txBox="1"/>
          <p:nvPr/>
        </p:nvSpPr>
        <p:spPr>
          <a:xfrm>
            <a:off x="3733623" y="2011680"/>
            <a:ext cx="6893169" cy="8674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>
                <a:latin typeface="Cambria"/>
              </a:rPr>
              <a:t>P(x) = </a:t>
            </a:r>
            <a:r>
              <a:rPr sz="1900" baseline="-25000">
                <a:latin typeface="Cambria"/>
              </a:rPr>
              <a:t>n</a:t>
            </a:r>
            <a:r>
              <a:rPr sz="1900">
                <a:latin typeface="Cambria"/>
              </a:rPr>
              <a:t>C</a:t>
            </a:r>
            <a:r>
              <a:rPr sz="1900" baseline="-25000">
                <a:latin typeface="Cambria"/>
              </a:rPr>
              <a:t>x</a:t>
            </a:r>
            <a:r>
              <a:rPr sz="1900">
                <a:latin typeface="Cambria"/>
              </a:rPr>
              <a:t> p</a:t>
            </a:r>
            <a:r>
              <a:rPr sz="1900" baseline="30000">
                <a:latin typeface="Cambria"/>
              </a:rPr>
              <a:t>x</a:t>
            </a:r>
            <a:r>
              <a:rPr sz="1900">
                <a:latin typeface="Cambria"/>
              </a:rPr>
              <a:t> q</a:t>
            </a:r>
            <a:r>
              <a:rPr sz="1900" baseline="30000">
                <a:latin typeface="Cambria"/>
              </a:rPr>
              <a:t>n−x</a:t>
            </a:r>
            <a:r>
              <a:rPr sz="1900">
                <a:latin typeface="Cambria"/>
              </a:rPr>
              <a:t> = n! / ((n − x)! x!) · p</a:t>
            </a:r>
            <a:r>
              <a:rPr sz="1900" baseline="30000">
                <a:latin typeface="Cambria"/>
              </a:rPr>
              <a:t>x</a:t>
            </a:r>
            <a:r>
              <a:rPr sz="1900">
                <a:latin typeface="Cambria"/>
              </a:rPr>
              <a:t> q</a:t>
            </a:r>
            <a:r>
              <a:rPr sz="1900" baseline="30000">
                <a:latin typeface="Cambria"/>
              </a:rPr>
              <a:t>n−x</a:t>
            </a:r>
          </a:p>
        </p:txBody>
      </p:sp>
    </p:spTree>
    <p:extLst>
      <p:ext uri="{BB962C8B-B14F-4D97-AF65-F5344CB8AC3E}">
        <p14:creationId xmlns:p14="http://schemas.microsoft.com/office/powerpoint/2010/main" val="10814325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-59055"/>
            <a:ext cx="12390120" cy="1143000"/>
          </a:xfrm>
        </p:spPr>
        <p:txBody>
          <a:bodyPr>
            <a:normAutofit/>
          </a:bodyPr>
          <a:lstStyle/>
          <a:p>
            <a:pPr algn="ctr" eaLnBrk="1" hangingPunct="1">
              <a:defRPr/>
            </a:pPr>
            <a:r>
              <a:rPr lang="en-US" dirty="0"/>
              <a:t>One Binomial Trial: The Bernoulli Distribution</a:t>
            </a:r>
          </a:p>
        </p:txBody>
      </p:sp>
      <p:sp>
        <p:nvSpPr>
          <p:cNvPr id="7171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594360" y="1074420"/>
            <a:ext cx="11087100" cy="5029200"/>
          </a:xfrm>
        </p:spPr>
        <p:txBody>
          <a:bodyPr>
            <a:noAutofit/>
          </a:bodyPr>
          <a:lstStyle/>
          <a:p>
            <a:pPr eaLnBrk="1" hangingPunct="1">
              <a:lnSpc>
                <a:spcPct val="90000"/>
              </a:lnSpc>
              <a:defRPr/>
            </a:pPr>
            <a:r>
              <a:rPr lang="en-US" sz="2600" dirty="0"/>
              <a:t>In a binomial experiment, the probability of exactly </a:t>
            </a:r>
            <a:r>
              <a:rPr lang="en-US" sz="2600" i="1" dirty="0"/>
              <a:t>x</a:t>
            </a:r>
            <a:r>
              <a:rPr lang="en-US" sz="2600" dirty="0"/>
              <a:t> successes in </a:t>
            </a:r>
            <a:r>
              <a:rPr lang="en-US" sz="2600" i="1" dirty="0"/>
              <a:t>n</a:t>
            </a:r>
            <a:r>
              <a:rPr lang="en-US" sz="2600" dirty="0"/>
              <a:t> trials is:</a:t>
            </a:r>
          </a:p>
          <a:p>
            <a:pPr eaLnBrk="1" hangingPunct="1">
              <a:lnSpc>
                <a:spcPct val="90000"/>
              </a:lnSpc>
              <a:defRPr/>
            </a:pPr>
            <a:endParaRPr lang="en-US" sz="2600" dirty="0"/>
          </a:p>
          <a:p>
            <a:pPr eaLnBrk="1" hangingPunct="1">
              <a:lnSpc>
                <a:spcPct val="90000"/>
              </a:lnSpc>
              <a:defRPr/>
            </a:pPr>
            <a:endParaRPr lang="en-US" sz="2600" dirty="0"/>
          </a:p>
          <a:p>
            <a:pPr eaLnBrk="1" hangingPunct="1">
              <a:lnSpc>
                <a:spcPct val="90000"/>
              </a:lnSpc>
              <a:defRPr/>
            </a:pPr>
            <a:endParaRPr lang="en-US" sz="2600" dirty="0"/>
          </a:p>
          <a:p>
            <a:pPr eaLnBrk="1" hangingPunct="1">
              <a:lnSpc>
                <a:spcPct val="90000"/>
              </a:lnSpc>
              <a:defRPr/>
            </a:pPr>
            <a:r>
              <a:rPr lang="en-US" sz="2600" dirty="0"/>
              <a:t>With </a:t>
            </a:r>
            <a:r>
              <a:rPr lang="en-US" sz="2600" i="1" dirty="0"/>
              <a:t>n </a:t>
            </a:r>
            <a:r>
              <a:rPr lang="en-US" sz="2600" dirty="0"/>
              <a:t>= 1, the Binomial becomes the Bernoulli distribution</a:t>
            </a:r>
          </a:p>
          <a:p>
            <a:pPr lvl="1" eaLnBrk="1" hangingPunct="1">
              <a:lnSpc>
                <a:spcPct val="90000"/>
              </a:lnSpc>
              <a:defRPr/>
            </a:pPr>
            <a:r>
              <a:rPr lang="en-US" sz="2600" dirty="0"/>
              <a:t>P(x) = </a:t>
            </a:r>
            <a:r>
              <a:rPr lang="en-US" sz="2600" i="1" dirty="0" err="1"/>
              <a:t>p</a:t>
            </a:r>
            <a:r>
              <a:rPr lang="en-US" sz="2600" i="1" baseline="30000" dirty="0" err="1"/>
              <a:t>x</a:t>
            </a:r>
            <a:r>
              <a:rPr lang="en-US" sz="2600" i="1" baseline="30000" dirty="0"/>
              <a:t> </a:t>
            </a:r>
            <a:r>
              <a:rPr lang="en-US" sz="2600" dirty="0"/>
              <a:t>(1</a:t>
            </a:r>
            <a:r>
              <a:rPr lang="en-US" sz="2600" i="1" dirty="0"/>
              <a:t> - p</a:t>
            </a:r>
            <a:r>
              <a:rPr lang="en-US" sz="2600" dirty="0"/>
              <a:t>)</a:t>
            </a:r>
            <a:r>
              <a:rPr lang="en-US" sz="2600" baseline="30000" dirty="0"/>
              <a:t>1</a:t>
            </a:r>
            <a:r>
              <a:rPr lang="en-US" sz="2600" i="1" baseline="30000" dirty="0"/>
              <a:t> </a:t>
            </a:r>
            <a:r>
              <a:rPr lang="mr-IN" sz="2600" i="1" baseline="30000" dirty="0"/>
              <a:t>–</a:t>
            </a:r>
            <a:r>
              <a:rPr lang="en-US" sz="2600" i="1" baseline="30000" dirty="0"/>
              <a:t> x</a:t>
            </a:r>
          </a:p>
          <a:p>
            <a:pPr lvl="1" eaLnBrk="1" hangingPunct="1">
              <a:lnSpc>
                <a:spcPct val="90000"/>
              </a:lnSpc>
              <a:defRPr/>
            </a:pPr>
            <a:r>
              <a:rPr lang="en-US" sz="2600" dirty="0"/>
              <a:t>Where x can take the values of 0 or 1</a:t>
            </a:r>
          </a:p>
          <a:p>
            <a:pPr lvl="1" eaLnBrk="1" hangingPunct="1">
              <a:lnSpc>
                <a:spcPct val="90000"/>
              </a:lnSpc>
              <a:defRPr/>
            </a:pPr>
            <a:endParaRPr lang="en-US" sz="2600" dirty="0"/>
          </a:p>
          <a:p>
            <a:pPr eaLnBrk="1" hangingPunct="1">
              <a:lnSpc>
                <a:spcPct val="90000"/>
              </a:lnSpc>
              <a:defRPr/>
            </a:pPr>
            <a:r>
              <a:rPr lang="en-US" sz="2600" dirty="0"/>
              <a:t>Bernoulli </a:t>
            </a:r>
            <a:r>
              <a:rPr lang="en-US" sz="2600" dirty="0"/>
              <a:t>→ probability a single coin flip comes up heads</a:t>
            </a:r>
          </a:p>
          <a:p>
            <a:pPr eaLnBrk="1" hangingPunct="1">
              <a:lnSpc>
                <a:spcPct val="90000"/>
              </a:lnSpc>
              <a:defRPr/>
            </a:pPr>
            <a:r>
              <a:rPr lang="en-US" sz="2600" dirty="0"/>
              <a:t>Binomial → Probability that 10 coin flips yield 3 heads</a:t>
            </a:r>
          </a:p>
          <a:p>
            <a:pPr eaLnBrk="1" hangingPunct="1">
              <a:lnSpc>
                <a:spcPct val="90000"/>
              </a:lnSpc>
              <a:defRPr/>
            </a:pPr>
            <a:endParaRPr lang="en-US" sz="2600" dirty="0"/>
          </a:p>
          <a:p>
            <a:pPr eaLnBrk="1" hangingPunct="1">
              <a:lnSpc>
                <a:spcPct val="90000"/>
              </a:lnSpc>
              <a:defRPr/>
            </a:pPr>
            <a:r>
              <a:rPr lang="en-US" sz="2600" b="1" dirty="0"/>
              <a:t>So the Binomial is the distribution for the sum of independent Bernoulli trials</a:t>
            </a:r>
            <a:endParaRPr lang="en-US" sz="2600" b="1" dirty="0">
              <a:sym typeface="Wingdings"/>
            </a:endParaRPr>
          </a:p>
          <a:p>
            <a:pPr eaLnBrk="1" hangingPunct="1">
              <a:lnSpc>
                <a:spcPct val="90000"/>
              </a:lnSpc>
              <a:defRPr/>
            </a:pPr>
            <a:endParaRPr lang="en-US" sz="2600" dirty="0"/>
          </a:p>
        </p:txBody>
      </p:sp>
      <p:sp>
        <p:nvSpPr>
          <p:cNvPr id="7172" name="TextBox 7171"/>
          <p:cNvSpPr txBox="1"/>
          <p:nvPr/>
        </p:nvSpPr>
        <p:spPr>
          <a:xfrm>
            <a:off x="3703003" y="1617028"/>
            <a:ext cx="6893169" cy="8289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>
                <a:latin typeface="Cambria"/>
              </a:rPr>
              <a:t>P(x) = </a:t>
            </a:r>
            <a:r>
              <a:rPr sz="1900" baseline="-25000">
                <a:latin typeface="Cambria"/>
              </a:rPr>
              <a:t>n</a:t>
            </a:r>
            <a:r>
              <a:rPr sz="1900">
                <a:latin typeface="Cambria"/>
              </a:rPr>
              <a:t>C</a:t>
            </a:r>
            <a:r>
              <a:rPr sz="1900" baseline="-25000">
                <a:latin typeface="Cambria"/>
              </a:rPr>
              <a:t>x</a:t>
            </a:r>
            <a:r>
              <a:rPr sz="1900">
                <a:latin typeface="Cambria"/>
              </a:rPr>
              <a:t> p</a:t>
            </a:r>
            <a:r>
              <a:rPr sz="1900" baseline="30000">
                <a:latin typeface="Cambria"/>
              </a:rPr>
              <a:t>x</a:t>
            </a:r>
            <a:r>
              <a:rPr sz="1900">
                <a:latin typeface="Cambria"/>
              </a:rPr>
              <a:t> q</a:t>
            </a:r>
            <a:r>
              <a:rPr sz="1900" baseline="30000">
                <a:latin typeface="Cambria"/>
              </a:rPr>
              <a:t>n−x</a:t>
            </a:r>
            <a:r>
              <a:rPr sz="1900">
                <a:latin typeface="Cambria"/>
              </a:rPr>
              <a:t> = n! / ((n − x)! x!) · p</a:t>
            </a:r>
            <a:r>
              <a:rPr sz="1900" baseline="30000">
                <a:latin typeface="Cambria"/>
              </a:rPr>
              <a:t>x</a:t>
            </a:r>
            <a:r>
              <a:rPr sz="1900">
                <a:latin typeface="Cambria"/>
              </a:rPr>
              <a:t> q</a:t>
            </a:r>
            <a:r>
              <a:rPr sz="1900" baseline="30000">
                <a:latin typeface="Cambria"/>
              </a:rPr>
              <a:t>n−x</a:t>
            </a:r>
          </a:p>
        </p:txBody>
      </p:sp>
    </p:spTree>
    <p:extLst>
      <p:ext uri="{BB962C8B-B14F-4D97-AF65-F5344CB8AC3E}">
        <p14:creationId xmlns:p14="http://schemas.microsoft.com/office/powerpoint/2010/main" val="14601969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1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527927" y="164592"/>
            <a:ext cx="9429496" cy="5692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0">
                <a:solidFill>
                  <a:srgbClr val="3333CC"/>
                </a:solidFill>
                <a:latin typeface="Calibri"/>
              </a:rPr>
              <a:t>Concept 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27927" y="1044702"/>
            <a:ext cx="9429496" cy="3977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0">
                <a:latin typeface="Calibri"/>
              </a:rPr>
              <a:t>1. Let X ~ binom(n, p) and Y ~ binom(m, p) be independent. Then X + Y follows: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27927" y="1533906"/>
            <a:ext cx="9429496" cy="7406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0">
                <a:latin typeface="Calibri"/>
              </a:rPr>
              <a:t>(a) binom(n + m, p)        (b) binom(nm, p)</a:t>
            </a:r>
          </a:p>
          <a:p>
            <a:r>
              <a:rPr sz="2000" b="0">
                <a:latin typeface="Calibri"/>
              </a:rPr>
              <a:t>(c) binom(n + m, 2p)      (d) other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27927" y="2585466"/>
            <a:ext cx="9429496" cy="3977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0">
                <a:latin typeface="Calibri"/>
              </a:rPr>
              <a:t>2. Let X ~ binom(n, p) and Z ~ binom(n, q) be independent. Then X + Z follows: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27927" y="3074670"/>
            <a:ext cx="9429496" cy="7406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0">
                <a:latin typeface="Calibri"/>
              </a:rPr>
              <a:t>(a) binom(n, p + q)        (b) binom(n, pq)</a:t>
            </a:r>
          </a:p>
          <a:p>
            <a:r>
              <a:rPr sz="2000" b="0">
                <a:latin typeface="Calibri"/>
              </a:rPr>
              <a:t>(c) binom(2n, p + q)      (d) other</a:t>
            </a:r>
          </a:p>
        </p:txBody>
      </p:sp>
    </p:spTree>
    <p:extLst>
      <p:ext uri="{BB962C8B-B14F-4D97-AF65-F5344CB8AC3E}">
        <p14:creationId xmlns:p14="http://schemas.microsoft.com/office/powerpoint/2010/main" val="16711255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653860" y="298848"/>
            <a:ext cx="8351914" cy="5006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600" b="0">
                <a:solidFill>
                  <a:srgbClr val="3333CC"/>
                </a:solidFill>
                <a:latin typeface="Calibri"/>
              </a:rPr>
              <a:t>Concept 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53860" y="1000650"/>
            <a:ext cx="8351914" cy="3463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700" b="0">
                <a:latin typeface="Calibri"/>
              </a:rPr>
              <a:t>1. Let X ~ binom(n, p) and Y ~ binom(m, p) be independent. Then X + Y follows: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53860" y="1420131"/>
            <a:ext cx="8351914" cy="6377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700" b="0">
                <a:latin typeface="Calibri"/>
              </a:rPr>
              <a:t>(a) binom(n + m, p)        (b) binom(nm, p)</a:t>
            </a:r>
          </a:p>
          <a:p>
            <a:r>
              <a:rPr sz="1700" b="0">
                <a:latin typeface="Calibri"/>
              </a:rPr>
              <a:t>(c) binom(n + m, 2p)      (d) other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3860" y="2259093"/>
            <a:ext cx="8351914" cy="3463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700" b="0">
                <a:latin typeface="Calibri"/>
              </a:rPr>
              <a:t>2. Let X ~ binom(n, p) and Z ~ binom(n, q) be independent. Then X + Z follows: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53860" y="2678574"/>
            <a:ext cx="8351914" cy="6377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700" b="0">
                <a:latin typeface="Calibri"/>
              </a:rPr>
              <a:t>(a) binom(n, p + q)        (b) binom(n, pq)</a:t>
            </a:r>
          </a:p>
          <a:p>
            <a:r>
              <a:rPr sz="1700" b="0">
                <a:latin typeface="Calibri"/>
              </a:rPr>
              <a:t>(c) binom(2n, p + q)      (d) other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53860" y="3517536"/>
            <a:ext cx="8351914" cy="5692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>
                <a:latin typeface="Calibri"/>
              </a:rPr>
              <a:t>1. answer: (a). Each binomial random variable is a sum of independent Bernoulli(p) random variables, so their sum is also a sum of Bernoulli(p) r.v.'s.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3860" y="4196478"/>
            <a:ext cx="8351914" cy="5692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>
                <a:latin typeface="Calibri"/>
              </a:rPr>
              <a:t>2. answer: (d) This is different from problem 1 because we are combining Bernoulli(p) r.v.'s with Bernoulli(q) r.v.'s. This is not one of the named random variables we know about.</a:t>
            </a:r>
          </a:p>
        </p:txBody>
      </p:sp>
    </p:spTree>
    <p:extLst>
      <p:ext uri="{BB962C8B-B14F-4D97-AF65-F5344CB8AC3E}">
        <p14:creationId xmlns:p14="http://schemas.microsoft.com/office/powerpoint/2010/main" val="3267249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3097763" y="4086807"/>
            <a:ext cx="8623002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Hints: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/>
              <a:t>Make a table with </a:t>
            </a:r>
            <a:r>
              <a:rPr lang="en-US" sz="2400" i="1" dirty="0"/>
              <a:t>X, p</a:t>
            </a:r>
            <a:r>
              <a:rPr lang="en-US" sz="2400" dirty="0"/>
              <a:t>(</a:t>
            </a:r>
            <a:r>
              <a:rPr lang="en-US" sz="2400" i="1" dirty="0"/>
              <a:t>x</a:t>
            </a:r>
            <a:r>
              <a:rPr lang="en-US" sz="2400" dirty="0"/>
              <a:t>)</a:t>
            </a:r>
            <a:r>
              <a:rPr lang="en-US" sz="2400" i="1" dirty="0"/>
              <a:t>, </a:t>
            </a:r>
            <a:r>
              <a:rPr lang="en-US" sz="2400" dirty="0"/>
              <a:t>and (X</a:t>
            </a:r>
            <a:r>
              <a:rPr lang="en-US" sz="2400" i="1" dirty="0"/>
              <a:t> - µ</a:t>
            </a:r>
            <a:r>
              <a:rPr lang="en-US" sz="2400" dirty="0"/>
              <a:t> )</a:t>
            </a:r>
            <a:r>
              <a:rPr lang="en-US" sz="2400" baseline="30000" dirty="0"/>
              <a:t>2</a:t>
            </a:r>
            <a:r>
              <a:rPr lang="en-US" sz="2400" dirty="0"/>
              <a:t>. Remember </a:t>
            </a:r>
            <a:r>
              <a:rPr lang="en-US" sz="2400" i="1" dirty="0"/>
              <a:t>µ = E[X]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/>
              <a:t>Remember that variances of independent random variables add</a:t>
            </a:r>
          </a:p>
          <a:p>
            <a:pPr marL="914400" lvl="1" indent="-457200">
              <a:buFont typeface="Arial" charset="0"/>
              <a:buChar char="•"/>
            </a:pPr>
            <a:r>
              <a:rPr lang="en-US" sz="2400" dirty="0" err="1"/>
              <a:t>Var</a:t>
            </a:r>
            <a:r>
              <a:rPr lang="en-US" sz="2400" dirty="0"/>
              <a:t>(X + Y) = </a:t>
            </a:r>
            <a:r>
              <a:rPr lang="en-US" sz="2400" dirty="0" err="1"/>
              <a:t>Var</a:t>
            </a:r>
            <a:r>
              <a:rPr lang="en-US" sz="2400" dirty="0"/>
              <a:t>(X) + </a:t>
            </a:r>
            <a:r>
              <a:rPr lang="en-US" sz="2400" dirty="0" err="1"/>
              <a:t>Var</a:t>
            </a:r>
            <a:r>
              <a:rPr lang="en-US" sz="2400" dirty="0"/>
              <a:t>(Y)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666A6E4-A3BC-4A0D-F418-A8BA51B09984}"/>
              </a:ext>
            </a:extLst>
          </p:cNvPr>
          <p:cNvSpPr txBox="1"/>
          <p:nvPr/>
        </p:nvSpPr>
        <p:spPr>
          <a:xfrm>
            <a:off x="4550397" y="70314"/>
            <a:ext cx="297793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solidFill>
                  <a:srgbClr val="0070C0"/>
                </a:solidFill>
              </a:rPr>
              <a:t>Group 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7249" y="1508200"/>
            <a:ext cx="9144228" cy="43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200" b="1">
                <a:latin typeface="Calibri"/>
              </a:rPr>
              <a:t>1. Prove: if X ~ Bernoulli(p)  then  Var(X) = p(1 − p).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7249" y="2177998"/>
            <a:ext cx="9144228" cy="43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200" b="1">
                <a:latin typeface="Calibri"/>
              </a:rPr>
              <a:t>2. Prove: if X ~ bin(n, p)  then  Var(X) = n p(1 − p).</a:t>
            </a:r>
          </a:p>
        </p:txBody>
      </p:sp>
    </p:spTree>
    <p:extLst>
      <p:ext uri="{BB962C8B-B14F-4D97-AF65-F5344CB8AC3E}">
        <p14:creationId xmlns:p14="http://schemas.microsoft.com/office/powerpoint/2010/main" val="20200405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597877" y="429477"/>
            <a:ext cx="9204741" cy="534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0">
                <a:solidFill>
                  <a:srgbClr val="3333CC"/>
                </a:solidFill>
                <a:latin typeface="Calibri"/>
              </a:rPr>
              <a:t>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97877" y="1238721"/>
            <a:ext cx="9204741" cy="36347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0">
                <a:latin typeface="Calibri"/>
              </a:rPr>
              <a:t>1. For X ~ Bernoulli(p) we use a table. (We know E(X) = p.)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597877" y="1711923"/>
          <a:ext cx="4206240" cy="952500"/>
        </p:xfrm>
        <a:graphic>
          <a:graphicData uri="http://schemas.openxmlformats.org/drawingml/2006/table">
            <a:tbl>
              <a:tblPr firstCol="1">
                <a:tableStyleId>{5C22544A-7EE6-4342-B048-85BDC9FD1C3A}</a:tableStyleId>
              </a:tblPr>
              <a:tblGrid>
                <a:gridCol w="1402080"/>
                <a:gridCol w="1402080"/>
                <a:gridCol w="1402080"/>
              </a:tblGrid>
              <a:tr h="317500">
                <a:tc>
                  <a:txBody>
                    <a:bodyPr wrap="none" lIns="27432" rIns="27432" tIns="27432" bIns="27432"/>
                    <a:lstStyle/>
                    <a:p>
                      <a:pPr algn="r"/>
                      <a:r>
                        <a:rPr sz="1500" b="1">
                          <a:latin typeface="Cambria"/>
                        </a:rPr>
                        <a:t>X</a:t>
                      </a:r>
                    </a:p>
                  </a:txBody>
                  <a:tcPr/>
                </a:tc>
                <a:tc>
                  <a:txBody>
                    <a:bodyPr wrap="none" lIns="27432" rIns="27432" tIns="27432" bIns="27432"/>
                    <a:lstStyle/>
                    <a:p>
                      <a:pPr algn="ctr"/>
                      <a:r>
                        <a:rPr sz="1500" b="0">
                          <a:latin typeface="Cambria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 wrap="none" lIns="27432" rIns="27432" tIns="27432" bIns="27432"/>
                    <a:lstStyle/>
                    <a:p>
                      <a:pPr algn="ctr"/>
                      <a:r>
                        <a:rPr sz="1500" b="0">
                          <a:latin typeface="Cambria"/>
                        </a:rPr>
                        <a:t>1</a:t>
                      </a:r>
                    </a:p>
                  </a:txBody>
                  <a:tcPr/>
                </a:tc>
              </a:tr>
              <a:tr h="317500">
                <a:tc>
                  <a:txBody>
                    <a:bodyPr wrap="none" lIns="27432" rIns="27432" tIns="27432" bIns="27432"/>
                    <a:lstStyle/>
                    <a:p>
                      <a:pPr algn="r"/>
                      <a:r>
                        <a:rPr sz="1500" b="1">
                          <a:latin typeface="Cambria"/>
                        </a:rPr>
                        <a:t>p(x)</a:t>
                      </a:r>
                    </a:p>
                  </a:txBody>
                  <a:tcPr/>
                </a:tc>
                <a:tc>
                  <a:txBody>
                    <a:bodyPr wrap="none" lIns="27432" rIns="27432" tIns="27432" bIns="27432"/>
                    <a:lstStyle/>
                    <a:p>
                      <a:pPr algn="ctr"/>
                      <a:r>
                        <a:rPr sz="1500" b="0">
                          <a:latin typeface="Cambria"/>
                        </a:rPr>
                        <a:t>1 − p</a:t>
                      </a:r>
                    </a:p>
                  </a:txBody>
                  <a:tcPr/>
                </a:tc>
                <a:tc>
                  <a:txBody>
                    <a:bodyPr wrap="none" lIns="27432" rIns="27432" tIns="27432" bIns="27432"/>
                    <a:lstStyle/>
                    <a:p>
                      <a:pPr algn="ctr"/>
                      <a:r>
                        <a:rPr sz="1500" b="0">
                          <a:latin typeface="Cambria"/>
                        </a:rPr>
                        <a:t>p</a:t>
                      </a:r>
                    </a:p>
                  </a:txBody>
                  <a:tcPr/>
                </a:tc>
              </a:tr>
              <a:tr h="317500">
                <a:tc>
                  <a:txBody>
                    <a:bodyPr wrap="none" lIns="27432" rIns="27432" tIns="27432" bIns="27432"/>
                    <a:lstStyle/>
                    <a:p>
                      <a:pPr algn="r"/>
                      <a:r>
                        <a:rPr sz="1500" b="1">
                          <a:latin typeface="Cambria"/>
                        </a:rPr>
                        <a:t>(X − μ)</a:t>
                      </a:r>
                      <a:r>
                        <a:rPr sz="1500" b="1" baseline="30000">
                          <a:latin typeface="Cambria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 wrap="none" lIns="27432" rIns="27432" tIns="27432" bIns="27432"/>
                    <a:lstStyle/>
                    <a:p>
                      <a:pPr algn="ctr"/>
                      <a:r>
                        <a:rPr sz="1500" b="0">
                          <a:latin typeface="Cambria"/>
                        </a:rPr>
                        <a:t>p</a:t>
                      </a:r>
                      <a:r>
                        <a:rPr sz="1500" b="0" baseline="30000">
                          <a:latin typeface="Cambria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 wrap="none" lIns="27432" rIns="27432" tIns="27432" bIns="27432"/>
                    <a:lstStyle/>
                    <a:p>
                      <a:pPr algn="ctr"/>
                      <a:r>
                        <a:rPr sz="1500" b="0">
                          <a:latin typeface="Cambria"/>
                        </a:rPr>
                        <a:t>(1 − p)</a:t>
                      </a:r>
                      <a:r>
                        <a:rPr sz="1500" b="0" baseline="30000">
                          <a:latin typeface="Cambria"/>
                        </a:rPr>
                        <a:t>2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597877" y="2810727"/>
            <a:ext cx="9204741" cy="3463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0">
                <a:latin typeface="Cambria"/>
              </a:rPr>
              <a:t>Var(X) = E((X − μ)</a:t>
            </a:r>
            <a:r>
              <a:rPr sz="1700" b="0" baseline="30000">
                <a:latin typeface="Cambria"/>
              </a:rPr>
              <a:t>2</a:t>
            </a:r>
            <a:r>
              <a:rPr sz="1700" b="0">
                <a:latin typeface="Cambria"/>
              </a:rPr>
              <a:t>) = (1 − p)p</a:t>
            </a:r>
            <a:r>
              <a:rPr sz="1700" b="0" baseline="30000">
                <a:latin typeface="Cambria"/>
              </a:rPr>
              <a:t>2</a:t>
            </a:r>
            <a:r>
              <a:rPr sz="1700" b="0">
                <a:latin typeface="Cambria"/>
              </a:rPr>
              <a:t> + p(1 − p)</a:t>
            </a:r>
            <a:r>
              <a:rPr sz="1700" b="0" baseline="30000">
                <a:latin typeface="Cambria"/>
              </a:rPr>
              <a:t>2</a:t>
            </a:r>
            <a:r>
              <a:rPr sz="1700" b="0">
                <a:latin typeface="Cambria"/>
              </a:rPr>
              <a:t> = p(1 − p)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97877" y="3431376"/>
            <a:ext cx="9204741" cy="6720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0">
                <a:latin typeface="Calibri"/>
              </a:rPr>
              <a:t>2. X ~ bin(n, p) means X is the sum of n independent Bernoulli(p) random variables X</a:t>
            </a:r>
            <a:r>
              <a:rPr sz="1800" b="0" baseline="-25000">
                <a:latin typeface="Calibri"/>
              </a:rPr>
              <a:t>1</a:t>
            </a:r>
            <a:r>
              <a:rPr sz="1800" b="0">
                <a:latin typeface="Calibri"/>
              </a:rPr>
              <a:t>, X</a:t>
            </a:r>
            <a:r>
              <a:rPr sz="1800" b="0" baseline="-25000">
                <a:latin typeface="Calibri"/>
              </a:rPr>
              <a:t>2</a:t>
            </a:r>
            <a:r>
              <a:rPr sz="1800" b="0">
                <a:latin typeface="Calibri"/>
              </a:rPr>
              <a:t>, …, X</a:t>
            </a:r>
            <a:r>
              <a:rPr sz="1800" b="0" baseline="-25000">
                <a:latin typeface="Calibri"/>
              </a:rPr>
              <a:t>n</a:t>
            </a:r>
            <a:r>
              <a:rPr sz="1800" b="0">
                <a:latin typeface="Calibri"/>
              </a:rPr>
              <a:t>. For independent variables, the variances add. Since Var(X</a:t>
            </a:r>
            <a:r>
              <a:rPr sz="1800" b="0" baseline="-25000">
                <a:latin typeface="Calibri"/>
              </a:rPr>
              <a:t>j</a:t>
            </a:r>
            <a:r>
              <a:rPr sz="1800" b="0">
                <a:latin typeface="Calibri"/>
              </a:rPr>
              <a:t>) = p(1 − p) we have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97877" y="4249764"/>
            <a:ext cx="9204741" cy="3463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0">
                <a:latin typeface="Cambria"/>
              </a:rPr>
              <a:t>Var(X) = Var(X</a:t>
            </a:r>
            <a:r>
              <a:rPr sz="1700" b="0" baseline="-25000">
                <a:latin typeface="Cambria"/>
              </a:rPr>
              <a:t>1</a:t>
            </a:r>
            <a:r>
              <a:rPr sz="1700" b="0">
                <a:latin typeface="Cambria"/>
              </a:rPr>
              <a:t>) + Var(X</a:t>
            </a:r>
            <a:r>
              <a:rPr sz="1700" b="0" baseline="-25000">
                <a:latin typeface="Cambria"/>
              </a:rPr>
              <a:t>2</a:t>
            </a:r>
            <a:r>
              <a:rPr sz="1700" b="0">
                <a:latin typeface="Cambria"/>
              </a:rPr>
              <a:t>) + … + Var(X</a:t>
            </a:r>
            <a:r>
              <a:rPr sz="1700" b="0" baseline="-25000">
                <a:latin typeface="Cambria"/>
              </a:rPr>
              <a:t>n</a:t>
            </a:r>
            <a:r>
              <a:rPr sz="1700" b="0">
                <a:latin typeface="Cambria"/>
              </a:rPr>
              <a:t>) = np(p − 1).</a:t>
            </a:r>
          </a:p>
        </p:txBody>
      </p:sp>
    </p:spTree>
    <p:extLst>
      <p:ext uri="{BB962C8B-B14F-4D97-AF65-F5344CB8AC3E}">
        <p14:creationId xmlns:p14="http://schemas.microsoft.com/office/powerpoint/2010/main" val="11084670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>
          <a:xfrm>
            <a:off x="2286000" y="-7620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/>
              <a:t>Binomial Probabilities-II</a:t>
            </a:r>
          </a:p>
        </p:txBody>
      </p:sp>
      <p:sp>
        <p:nvSpPr>
          <p:cNvPr id="8195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2317751" y="1323976"/>
            <a:ext cx="7580313" cy="4848225"/>
          </a:xfrm>
        </p:spPr>
        <p:txBody>
          <a:bodyPr/>
          <a:lstStyle/>
          <a:p>
            <a:pPr eaLnBrk="1" hangingPunct="1">
              <a:lnSpc>
                <a:spcPct val="90000"/>
              </a:lnSpc>
              <a:defRPr/>
            </a:pPr>
            <a:r>
              <a:rPr lang="en-US" dirty="0"/>
              <a:t>Notation:</a:t>
            </a:r>
          </a:p>
          <a:p>
            <a:pPr eaLnBrk="1" hangingPunct="1">
              <a:lnSpc>
                <a:spcPct val="90000"/>
              </a:lnSpc>
              <a:defRPr/>
            </a:pPr>
            <a:endParaRPr lang="en-US" dirty="0"/>
          </a:p>
          <a:p>
            <a:pPr eaLnBrk="1" hangingPunct="1">
              <a:lnSpc>
                <a:spcPct val="90000"/>
              </a:lnSpc>
              <a:defRPr/>
            </a:pPr>
            <a:endParaRPr lang="en-US" dirty="0"/>
          </a:p>
          <a:p>
            <a:pPr eaLnBrk="1" hangingPunct="1">
              <a:lnSpc>
                <a:spcPct val="90000"/>
              </a:lnSpc>
              <a:buFont typeface="Wingdings" pitchFamily="2" charset="2"/>
              <a:buNone/>
              <a:defRPr/>
            </a:pPr>
            <a:r>
              <a:rPr lang="en-US" dirty="0"/>
              <a:t>	We read this as “The random variable </a:t>
            </a:r>
            <a:r>
              <a:rPr lang="en-US" i="1" dirty="0"/>
              <a:t>X</a:t>
            </a:r>
            <a:r>
              <a:rPr lang="en-US" dirty="0"/>
              <a:t> is distributed binomially with parameters </a:t>
            </a:r>
            <a:r>
              <a:rPr lang="en-US" i="1" dirty="0"/>
              <a:t>n</a:t>
            </a:r>
            <a:r>
              <a:rPr lang="en-US" dirty="0"/>
              <a:t> and </a:t>
            </a:r>
            <a:r>
              <a:rPr lang="en-US" i="1" dirty="0"/>
              <a:t>p</a:t>
            </a:r>
            <a:r>
              <a:rPr lang="en-US" dirty="0"/>
              <a:t>”</a:t>
            </a:r>
          </a:p>
          <a:p>
            <a:pPr eaLnBrk="1" hangingPunct="1">
              <a:lnSpc>
                <a:spcPct val="90000"/>
              </a:lnSpc>
              <a:defRPr/>
            </a:pPr>
            <a:endParaRPr lang="en-US" dirty="0"/>
          </a:p>
          <a:p>
            <a:pPr eaLnBrk="1" hangingPunct="1">
              <a:lnSpc>
                <a:spcPct val="90000"/>
              </a:lnSpc>
              <a:buFont typeface="Wingdings" pitchFamily="2" charset="2"/>
              <a:buNone/>
              <a:defRPr/>
            </a:pPr>
            <a:endParaRPr lang="en-US" dirty="0"/>
          </a:p>
          <a:p>
            <a:pPr eaLnBrk="1" hangingPunct="1">
              <a:lnSpc>
                <a:spcPct val="90000"/>
              </a:lnSpc>
              <a:buFont typeface="Wingdings" pitchFamily="2" charset="2"/>
              <a:buNone/>
              <a:defRPr/>
            </a:pPr>
            <a:r>
              <a:rPr lang="en-US" dirty="0"/>
              <a:t>		</a:t>
            </a:r>
          </a:p>
          <a:p>
            <a:pPr algn="ctr" eaLnBrk="1" hangingPunct="1">
              <a:lnSpc>
                <a:spcPct val="90000"/>
              </a:lnSpc>
              <a:buFont typeface="Wingdings" pitchFamily="2" charset="2"/>
              <a:buNone/>
              <a:defRPr/>
            </a:pPr>
            <a:r>
              <a:rPr lang="en-US" sz="2000" dirty="0"/>
              <a:t>Recall: </a:t>
            </a:r>
            <a:r>
              <a:rPr lang="en-US" sz="2000" i="1" dirty="0"/>
              <a:t>q</a:t>
            </a:r>
            <a:r>
              <a:rPr lang="en-US" sz="2000" dirty="0"/>
              <a:t> = 1 - </a:t>
            </a:r>
            <a:r>
              <a:rPr lang="en-US" sz="2000" i="1" dirty="0"/>
              <a:t>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88207" y="1974818"/>
            <a:ext cx="5864106" cy="52322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pPr algn="ctr" eaLnBrk="1" hangingPunct="1">
              <a:defRPr/>
            </a:pPr>
            <a:r>
              <a:rPr lang="en-US" sz="2800" dirty="0"/>
              <a:t>X ~ B(</a:t>
            </a:r>
            <a:r>
              <a:rPr lang="en-US" sz="2800" dirty="0" err="1"/>
              <a:t>n,p</a:t>
            </a:r>
            <a:r>
              <a:rPr lang="en-US" sz="2800" dirty="0"/>
              <a:t>); X ~ Bin(</a:t>
            </a:r>
            <a:r>
              <a:rPr lang="en-US" sz="2800" i="1" dirty="0" err="1"/>
              <a:t>n</a:t>
            </a:r>
            <a:r>
              <a:rPr lang="en-US" sz="2800" dirty="0" err="1"/>
              <a:t>,</a:t>
            </a:r>
            <a:r>
              <a:rPr lang="en-US" sz="2800" i="1" dirty="0" err="1"/>
              <a:t>p</a:t>
            </a:r>
            <a:r>
              <a:rPr lang="en-US" sz="2800" dirty="0"/>
              <a:t>); X ~ </a:t>
            </a:r>
            <a:r>
              <a:rPr lang="en-US" sz="2800" dirty="0" err="1"/>
              <a:t>Binom</a:t>
            </a:r>
            <a:r>
              <a:rPr lang="en-US" sz="2800" dirty="0"/>
              <a:t>(</a:t>
            </a:r>
            <a:r>
              <a:rPr lang="en-US" sz="2800" i="1" dirty="0" err="1"/>
              <a:t>n</a:t>
            </a:r>
            <a:r>
              <a:rPr lang="en-US" sz="2800" dirty="0" err="1"/>
              <a:t>,</a:t>
            </a:r>
            <a:r>
              <a:rPr lang="en-US" sz="2800" i="1" dirty="0" err="1"/>
              <a:t>p</a:t>
            </a:r>
            <a:r>
              <a:rPr lang="en-US" sz="2800" dirty="0"/>
              <a:t>)</a:t>
            </a:r>
            <a:endParaRPr lang="en-US" sz="2800" i="1" dirty="0"/>
          </a:p>
        </p:txBody>
      </p:sp>
      <p:sp>
        <p:nvSpPr>
          <p:cNvPr id="8196" name="TextBox 8195"/>
          <p:cNvSpPr txBox="1"/>
          <p:nvPr/>
        </p:nvSpPr>
        <p:spPr>
          <a:xfrm>
            <a:off x="4924425" y="4114800"/>
            <a:ext cx="25146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>
                <a:latin typeface="Cambria"/>
              </a:rPr>
              <a:t>Mean : μ = n p</a:t>
            </a:r>
          </a:p>
          <a:p>
            <a:r>
              <a:rPr sz="1800">
                <a:latin typeface="Cambria"/>
              </a:rPr>
              <a:t>Variance : σ</a:t>
            </a:r>
            <a:r>
              <a:rPr sz="1800" baseline="30000">
                <a:latin typeface="Cambria"/>
              </a:rPr>
              <a:t>2</a:t>
            </a:r>
            <a:r>
              <a:rPr sz="1800">
                <a:latin typeface="Cambria"/>
              </a:rPr>
              <a:t> = npq</a:t>
            </a:r>
          </a:p>
        </p:txBody>
      </p:sp>
    </p:spTree>
    <p:extLst>
      <p:ext uri="{BB962C8B-B14F-4D97-AF65-F5344CB8AC3E}">
        <p14:creationId xmlns:p14="http://schemas.microsoft.com/office/powerpoint/2010/main" val="18126054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>
          <a:xfrm>
            <a:off x="2275681" y="21564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/>
              <a:t>The Binomial Distribution</a:t>
            </a:r>
          </a:p>
        </p:txBody>
      </p:sp>
      <p:pic>
        <p:nvPicPr>
          <p:cNvPr id="11267" name="Picture 4"/>
          <p:cNvPicPr>
            <a:picLocks noGrp="1" noChangeAspect="1" noChangeArrowheads="1"/>
          </p:cNvPicPr>
          <p:nvPr>
            <p:ph sz="half" idx="1"/>
          </p:nvPr>
        </p:nvPicPr>
        <p:blipFill>
          <a:blip r:embed="rId3" cstate="print"/>
          <a:srcRect l="1550" t="2330" r="1550" b="2330"/>
          <a:stretch>
            <a:fillRect/>
          </a:stretch>
        </p:blipFill>
        <p:spPr>
          <a:xfrm>
            <a:off x="2074864" y="2598738"/>
            <a:ext cx="3411537" cy="2233612"/>
          </a:xfrm>
        </p:spPr>
      </p:pic>
      <p:pic>
        <p:nvPicPr>
          <p:cNvPr id="11269" name="Picture 8"/>
          <p:cNvPicPr>
            <a:picLocks noGrp="1" noChangeAspect="1" noChangeArrowheads="1"/>
          </p:cNvPicPr>
          <p:nvPr>
            <p:ph sz="quarter" idx="3"/>
          </p:nvPr>
        </p:nvPicPr>
        <p:blipFill>
          <a:blip r:embed="rId4" cstate="print"/>
          <a:srcRect l="1550" t="2330" r="1550" b="2330"/>
          <a:stretch>
            <a:fillRect/>
          </a:stretch>
        </p:blipFill>
        <p:spPr>
          <a:xfrm>
            <a:off x="6172200" y="2589213"/>
            <a:ext cx="3392488" cy="2220912"/>
          </a:xfrm>
        </p:spPr>
      </p:pic>
      <p:sp>
        <p:nvSpPr>
          <p:cNvPr id="155652" name="Text Box 10"/>
          <p:cNvSpPr txBox="1">
            <a:spLocks noChangeArrowheads="1"/>
          </p:cNvSpPr>
          <p:nvPr/>
        </p:nvSpPr>
        <p:spPr bwMode="auto">
          <a:xfrm>
            <a:off x="3163889" y="2849563"/>
            <a:ext cx="1762125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 i="1" dirty="0"/>
              <a:t>n</a:t>
            </a:r>
            <a:r>
              <a:rPr lang="en-US" altLang="en-US" sz="2400" dirty="0"/>
              <a:t>=6; </a:t>
            </a:r>
            <a:r>
              <a:rPr lang="en-US" altLang="en-US" sz="2400" i="1" dirty="0"/>
              <a:t>p</a:t>
            </a:r>
            <a:r>
              <a:rPr lang="en-US" altLang="en-US" sz="2400" dirty="0"/>
              <a:t>=0.5</a:t>
            </a:r>
          </a:p>
        </p:txBody>
      </p:sp>
      <p:sp>
        <p:nvSpPr>
          <p:cNvPr id="155653" name="Text Box 12"/>
          <p:cNvSpPr txBox="1">
            <a:spLocks noChangeArrowheads="1"/>
          </p:cNvSpPr>
          <p:nvPr/>
        </p:nvSpPr>
        <p:spPr bwMode="auto">
          <a:xfrm>
            <a:off x="6575426" y="2763838"/>
            <a:ext cx="1762125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 i="1" dirty="0"/>
              <a:t>n</a:t>
            </a:r>
            <a:r>
              <a:rPr lang="en-US" altLang="en-US" sz="2400" dirty="0"/>
              <a:t>=6; </a:t>
            </a:r>
            <a:r>
              <a:rPr lang="en-US" altLang="en-US" sz="2400" i="1" dirty="0"/>
              <a:t>p</a:t>
            </a:r>
            <a:r>
              <a:rPr lang="en-US" altLang="en-US" sz="2400" dirty="0"/>
              <a:t>=0.9</a:t>
            </a:r>
          </a:p>
        </p:txBody>
      </p:sp>
      <p:sp>
        <p:nvSpPr>
          <p:cNvPr id="155654" name="Text Box 13"/>
          <p:cNvSpPr txBox="1">
            <a:spLocks noChangeArrowheads="1"/>
          </p:cNvSpPr>
          <p:nvPr/>
        </p:nvSpPr>
        <p:spPr bwMode="auto">
          <a:xfrm>
            <a:off x="2554288" y="4678364"/>
            <a:ext cx="2895600" cy="198437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altLang="en-US" sz="700" dirty="0"/>
              <a:t>0            1              2             3              4              5             6</a:t>
            </a:r>
          </a:p>
        </p:txBody>
      </p:sp>
      <p:sp>
        <p:nvSpPr>
          <p:cNvPr id="155655" name="Text Box 15"/>
          <p:cNvSpPr txBox="1">
            <a:spLocks noChangeArrowheads="1"/>
          </p:cNvSpPr>
          <p:nvPr/>
        </p:nvSpPr>
        <p:spPr bwMode="auto">
          <a:xfrm>
            <a:off x="6651625" y="4622800"/>
            <a:ext cx="2895600" cy="198438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altLang="en-US" sz="700"/>
              <a:t>0            1              2             3              4              5             6</a:t>
            </a:r>
          </a:p>
        </p:txBody>
      </p:sp>
      <p:sp>
        <p:nvSpPr>
          <p:cNvPr id="9" name="Rectangle 2"/>
          <p:cNvSpPr txBox="1">
            <a:spLocks noChangeArrowheads="1"/>
          </p:cNvSpPr>
          <p:nvPr/>
        </p:nvSpPr>
        <p:spPr>
          <a:xfrm>
            <a:off x="1835198" y="5469198"/>
            <a:ext cx="8674001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defRPr/>
            </a:pPr>
            <a:r>
              <a:rPr lang="en-US" sz="3600" dirty="0"/>
              <a:t>This is a probability mass function; PMF</a:t>
            </a:r>
          </a:p>
        </p:txBody>
      </p:sp>
    </p:spTree>
    <p:extLst>
      <p:ext uri="{BB962C8B-B14F-4D97-AF65-F5344CB8AC3E}">
        <p14:creationId xmlns:p14="http://schemas.microsoft.com/office/powerpoint/2010/main" val="17987863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/>
          <p:cNvSpPr>
            <a:spLocks noGrp="1" noChangeArrowheads="1"/>
          </p:cNvSpPr>
          <p:nvPr>
            <p:ph type="title"/>
          </p:nvPr>
        </p:nvSpPr>
        <p:spPr>
          <a:xfrm>
            <a:off x="2036762" y="803276"/>
            <a:ext cx="8131175" cy="1177925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sz="4000" dirty="0"/>
              <a:t>Examples of the Binomial Distribution-I</a:t>
            </a:r>
          </a:p>
        </p:txBody>
      </p:sp>
      <p:sp>
        <p:nvSpPr>
          <p:cNvPr id="1229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2046288" y="1981201"/>
            <a:ext cx="8108950" cy="4238625"/>
          </a:xfrm>
        </p:spPr>
        <p:txBody>
          <a:bodyPr/>
          <a:lstStyle/>
          <a:p>
            <a:pPr marL="533400" indent="-533400">
              <a:defRPr/>
            </a:pPr>
            <a:r>
              <a:rPr lang="en-US" dirty="0"/>
              <a:t>We examine 12 animals for the presence of a disease (</a:t>
            </a:r>
            <a:r>
              <a:rPr lang="en-US" i="1" dirty="0"/>
              <a:t>p </a:t>
            </a:r>
            <a:r>
              <a:rPr lang="en-US" dirty="0"/>
              <a:t>= 0.1). What is the probability that:</a:t>
            </a:r>
          </a:p>
          <a:p>
            <a:pPr marL="914400" lvl="1" indent="-457200">
              <a:buFont typeface="Wingdings" pitchFamily="2" charset="2"/>
              <a:buAutoNum type="arabicPeriod"/>
              <a:defRPr/>
            </a:pPr>
            <a:r>
              <a:rPr lang="en-US" dirty="0"/>
              <a:t>We find exactly 2 animals with the disease?</a:t>
            </a:r>
          </a:p>
          <a:p>
            <a:pPr marL="914400" lvl="1" indent="-457200">
              <a:buFont typeface="Wingdings" pitchFamily="2" charset="2"/>
              <a:buAutoNum type="arabicPeriod"/>
              <a:defRPr/>
            </a:pPr>
            <a:r>
              <a:rPr lang="en-US" dirty="0"/>
              <a:t>We find no animals with the disease?</a:t>
            </a:r>
          </a:p>
          <a:p>
            <a:pPr marL="914400" lvl="1" indent="-457200">
              <a:buFont typeface="Wingdings" pitchFamily="2" charset="2"/>
              <a:buAutoNum type="arabicPeriod"/>
              <a:defRPr/>
            </a:pPr>
            <a:r>
              <a:rPr lang="en-US" dirty="0"/>
              <a:t>We find 2 or more animals with the disease?</a:t>
            </a:r>
          </a:p>
          <a:p>
            <a:pPr marL="914400" lvl="1" indent="-457200">
              <a:buFont typeface="Wingdings" pitchFamily="2" charset="2"/>
              <a:buAutoNum type="arabicPeriod"/>
              <a:defRPr/>
            </a:pPr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DCCFD75-506D-339F-06DF-088413451C53}"/>
              </a:ext>
            </a:extLst>
          </p:cNvPr>
          <p:cNvSpPr txBox="1"/>
          <p:nvPr/>
        </p:nvSpPr>
        <p:spPr>
          <a:xfrm>
            <a:off x="4764709" y="37011"/>
            <a:ext cx="297793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solidFill>
                  <a:srgbClr val="0070C0"/>
                </a:solidFill>
              </a:rPr>
              <a:t>Group Work</a:t>
            </a:r>
          </a:p>
        </p:txBody>
      </p:sp>
      <p:sp>
        <p:nvSpPr>
          <p:cNvPr id="12292" name="TextBox 12291"/>
          <p:cNvSpPr txBox="1"/>
          <p:nvPr/>
        </p:nvSpPr>
        <p:spPr>
          <a:xfrm>
            <a:off x="3468130" y="4590536"/>
            <a:ext cx="6893169" cy="6905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>
                <a:latin typeface="Cambria"/>
              </a:rPr>
              <a:t>P(x) = </a:t>
            </a:r>
            <a:r>
              <a:rPr sz="1900" baseline="-25000">
                <a:latin typeface="Cambria"/>
              </a:rPr>
              <a:t>n</a:t>
            </a:r>
            <a:r>
              <a:rPr sz="1900">
                <a:latin typeface="Cambria"/>
              </a:rPr>
              <a:t>C</a:t>
            </a:r>
            <a:r>
              <a:rPr sz="1900" baseline="-25000">
                <a:latin typeface="Cambria"/>
              </a:rPr>
              <a:t>x</a:t>
            </a:r>
            <a:r>
              <a:rPr sz="1900">
                <a:latin typeface="Cambria"/>
              </a:rPr>
              <a:t> p</a:t>
            </a:r>
            <a:r>
              <a:rPr sz="1900" baseline="30000">
                <a:latin typeface="Cambria"/>
              </a:rPr>
              <a:t>x</a:t>
            </a:r>
            <a:r>
              <a:rPr sz="1900">
                <a:latin typeface="Cambria"/>
              </a:rPr>
              <a:t> q</a:t>
            </a:r>
            <a:r>
              <a:rPr sz="1900" baseline="30000">
                <a:latin typeface="Cambria"/>
              </a:rPr>
              <a:t>n−x</a:t>
            </a:r>
            <a:r>
              <a:rPr sz="1900">
                <a:latin typeface="Cambria"/>
              </a:rPr>
              <a:t> = n! / ((n − x)! x!) · p</a:t>
            </a:r>
            <a:r>
              <a:rPr sz="1900" baseline="30000">
                <a:latin typeface="Cambria"/>
              </a:rPr>
              <a:t>x</a:t>
            </a:r>
            <a:r>
              <a:rPr sz="1900">
                <a:latin typeface="Cambria"/>
              </a:rPr>
              <a:t> q</a:t>
            </a:r>
            <a:r>
              <a:rPr sz="1900" baseline="30000">
                <a:latin typeface="Cambria"/>
              </a:rPr>
              <a:t>n−x</a:t>
            </a:r>
          </a:p>
        </p:txBody>
      </p:sp>
    </p:spTree>
    <p:extLst>
      <p:ext uri="{BB962C8B-B14F-4D97-AF65-F5344CB8AC3E}">
        <p14:creationId xmlns:p14="http://schemas.microsoft.com/office/powerpoint/2010/main" val="159654210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2209800" y="381000"/>
            <a:ext cx="7793038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sz="4000"/>
              <a:t>Examples of the Binomial Distribution-III</a:t>
            </a:r>
          </a:p>
        </p:txBody>
      </p:sp>
      <p:sp>
        <p:nvSpPr>
          <p:cNvPr id="14339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2706688" y="1981200"/>
            <a:ext cx="6970712" cy="4114800"/>
          </a:xfrm>
        </p:spPr>
        <p:txBody>
          <a:bodyPr/>
          <a:lstStyle/>
          <a:p>
            <a:pPr marL="609600" indent="-609600">
              <a:buFont typeface="Wingdings" pitchFamily="2" charset="2"/>
              <a:buAutoNum type="arabicPeriod"/>
              <a:defRPr/>
            </a:pPr>
            <a:r>
              <a:rPr lang="en-US" sz="3000" dirty="0"/>
              <a:t>P[X=2]=</a:t>
            </a:r>
          </a:p>
          <a:p>
            <a:pPr marL="609600" indent="-609600">
              <a:buFont typeface="Wingdings" pitchFamily="2" charset="2"/>
              <a:buAutoNum type="arabicPeriod"/>
              <a:defRPr/>
            </a:pPr>
            <a:r>
              <a:rPr lang="en-US" sz="3000" dirty="0"/>
              <a:t>P[X=0]=</a:t>
            </a:r>
          </a:p>
          <a:p>
            <a:pPr marL="609600" indent="-609600">
              <a:buFont typeface="Wingdings" pitchFamily="2" charset="2"/>
              <a:buAutoNum type="arabicPeriod"/>
              <a:defRPr/>
            </a:pPr>
            <a:r>
              <a:rPr lang="en-US" sz="3000" dirty="0"/>
              <a:t>P[X</a:t>
            </a:r>
            <a:r>
              <a:rPr lang="en-US" sz="3000" dirty="0"/>
              <a:t>≥2]=1-P[X=0]-P[X=1]=0.3410</a:t>
            </a:r>
          </a:p>
          <a:p>
            <a:pPr marL="609600" indent="-609600">
              <a:defRPr/>
            </a:pPr>
            <a:endParaRPr lang="en-US" sz="3000" dirty="0"/>
          </a:p>
        </p:txBody>
      </p:sp>
      <p:sp>
        <p:nvSpPr>
          <p:cNvPr id="159749" name="TextBox 159748"/>
          <p:cNvSpPr txBox="1"/>
          <p:nvPr/>
        </p:nvSpPr>
        <p:spPr>
          <a:xfrm>
            <a:off x="5106988" y="1905000"/>
            <a:ext cx="4642338" cy="6492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>
                <a:latin typeface="Cambria"/>
              </a:rPr>
              <a:t>(12 choose 2) 0.1</a:t>
            </a:r>
            <a:r>
              <a:rPr sz="1900" baseline="30000">
                <a:latin typeface="Cambria"/>
              </a:rPr>
              <a:t>2</a:t>
            </a:r>
            <a:r>
              <a:rPr sz="1900">
                <a:latin typeface="Cambria"/>
              </a:rPr>
              <a:t> 0.9</a:t>
            </a:r>
            <a:r>
              <a:rPr sz="1900" baseline="30000">
                <a:latin typeface="Cambria"/>
              </a:rPr>
              <a:t>10</a:t>
            </a:r>
            <a:r>
              <a:rPr sz="1900">
                <a:latin typeface="Cambria"/>
              </a:rPr>
              <a:t> = 0.2301</a:t>
            </a:r>
          </a:p>
        </p:txBody>
      </p:sp>
      <p:sp>
        <p:nvSpPr>
          <p:cNvPr id="159750" name="TextBox 159749"/>
          <p:cNvSpPr txBox="1"/>
          <p:nvPr/>
        </p:nvSpPr>
        <p:spPr>
          <a:xfrm>
            <a:off x="5106988" y="2514600"/>
            <a:ext cx="4642338" cy="6492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>
                <a:latin typeface="Cambria"/>
              </a:rPr>
              <a:t>(12 choose 0) 0.1</a:t>
            </a:r>
            <a:r>
              <a:rPr sz="1900" baseline="30000">
                <a:latin typeface="Cambria"/>
              </a:rPr>
              <a:t>0</a:t>
            </a:r>
            <a:r>
              <a:rPr sz="1900">
                <a:latin typeface="Cambria"/>
              </a:rPr>
              <a:t> 0.9</a:t>
            </a:r>
            <a:r>
              <a:rPr sz="1900" baseline="30000">
                <a:latin typeface="Cambria"/>
              </a:rPr>
              <a:t>12</a:t>
            </a:r>
            <a:r>
              <a:rPr sz="1900">
                <a:latin typeface="Cambria"/>
              </a:rPr>
              <a:t> = 0.2824</a:t>
            </a:r>
          </a:p>
        </p:txBody>
      </p:sp>
      <p:sp>
        <p:nvSpPr>
          <p:cNvPr id="159751" name="TextBox 159750"/>
          <p:cNvSpPr txBox="1"/>
          <p:nvPr/>
        </p:nvSpPr>
        <p:spPr>
          <a:xfrm>
            <a:off x="3429000" y="3883025"/>
            <a:ext cx="5092700" cy="19177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r>
              <a:rPr sz="1700">
                <a:solidFill>
                  <a:srgbClr val="0000FF"/>
                </a:solidFill>
                <a:latin typeface="Consolas"/>
              </a:rPr>
              <a:t>&gt; dbinom(2,12,0.1)</a:t>
            </a:r>
          </a:p>
          <a:p>
            <a:r>
              <a:rPr sz="1700">
                <a:solidFill>
                  <a:srgbClr val="000000"/>
                </a:solidFill>
                <a:latin typeface="Consolas"/>
              </a:rPr>
              <a:t>[1] 0.2301278</a:t>
            </a:r>
          </a:p>
          <a:p>
            <a:r>
              <a:rPr sz="1700">
                <a:solidFill>
                  <a:srgbClr val="0000FF"/>
                </a:solidFill>
                <a:latin typeface="Consolas"/>
              </a:rPr>
              <a:t>&gt; dbinom(0,12,0.1)</a:t>
            </a:r>
          </a:p>
          <a:p>
            <a:r>
              <a:rPr sz="1700">
                <a:solidFill>
                  <a:srgbClr val="000000"/>
                </a:solidFill>
                <a:latin typeface="Consolas"/>
              </a:rPr>
              <a:t>[1] 0.2824295</a:t>
            </a:r>
          </a:p>
          <a:p>
            <a:r>
              <a:rPr sz="1700">
                <a:solidFill>
                  <a:srgbClr val="0000FF"/>
                </a:solidFill>
                <a:latin typeface="Consolas"/>
              </a:rPr>
              <a:t>&gt; 1-dbinom(1,12,0.1)-dbinom(0,12,0.1)</a:t>
            </a:r>
          </a:p>
          <a:p>
            <a:r>
              <a:rPr sz="1700">
                <a:solidFill>
                  <a:srgbClr val="000000"/>
                </a:solidFill>
                <a:latin typeface="Consolas"/>
              </a:rPr>
              <a:t>[1] 0.3409977</a:t>
            </a:r>
          </a:p>
        </p:txBody>
      </p:sp>
      <p:sp>
        <p:nvSpPr>
          <p:cNvPr id="159752" name="TextBox 159751"/>
          <p:cNvSpPr txBox="1"/>
          <p:nvPr/>
        </p:nvSpPr>
        <p:spPr>
          <a:xfrm>
            <a:off x="4038600" y="6029325"/>
            <a:ext cx="2786888" cy="609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r>
              <a:rPr sz="1700">
                <a:solidFill>
                  <a:srgbClr val="0000FF"/>
                </a:solidFill>
                <a:latin typeface="Consolas"/>
              </a:rPr>
              <a:t>&gt; 1-pbinom(1,12,0.1)</a:t>
            </a:r>
          </a:p>
          <a:p>
            <a:r>
              <a:rPr sz="1700">
                <a:solidFill>
                  <a:srgbClr val="000000"/>
                </a:solidFill>
                <a:latin typeface="Consolas"/>
              </a:rPr>
              <a:t>[1] 0.3409977</a:t>
            </a:r>
          </a:p>
        </p:txBody>
      </p:sp>
    </p:spTree>
    <p:extLst>
      <p:ext uri="{BB962C8B-B14F-4D97-AF65-F5344CB8AC3E}">
        <p14:creationId xmlns:p14="http://schemas.microsoft.com/office/powerpoint/2010/main" val="10983213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0"/>
            <a:ext cx="12192000" cy="1143000"/>
          </a:xfrm>
        </p:spPr>
        <p:txBody>
          <a:bodyPr>
            <a:normAutofit/>
          </a:bodyPr>
          <a:lstStyle/>
          <a:p>
            <a:pPr algn="ctr" eaLnBrk="1" hangingPunct="1">
              <a:defRPr/>
            </a:pPr>
            <a:r>
              <a:rPr lang="en-US" sz="3600" dirty="0"/>
              <a:t>Sneak peak: Maximum likelihood is just doing this in reverse!!!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2"/>
          </p:nvPr>
        </p:nvSpPr>
        <p:spPr>
          <a:xfrm>
            <a:off x="605480" y="1396480"/>
            <a:ext cx="11319041" cy="3828662"/>
          </a:xfrm>
        </p:spPr>
        <p:txBody>
          <a:bodyPr>
            <a:noAutofit/>
          </a:bodyPr>
          <a:lstStyle/>
          <a:p>
            <a:pPr>
              <a:defRPr/>
            </a:pPr>
            <a:r>
              <a:rPr lang="en-US" dirty="0"/>
              <a:t>Instead of knowing </a:t>
            </a:r>
            <a:r>
              <a:rPr lang="en-US" i="1" dirty="0"/>
              <a:t>N</a:t>
            </a:r>
            <a:r>
              <a:rPr lang="en-US" dirty="0"/>
              <a:t> and </a:t>
            </a:r>
            <a:r>
              <a:rPr lang="en-US" i="1" dirty="0"/>
              <a:t>p</a:t>
            </a:r>
            <a:r>
              <a:rPr lang="en-US" dirty="0"/>
              <a:t>, we often collect data in which </a:t>
            </a:r>
            <a:r>
              <a:rPr lang="en-US" i="1" dirty="0"/>
              <a:t>p </a:t>
            </a:r>
            <a:r>
              <a:rPr lang="en-US" dirty="0"/>
              <a:t>and sometimes also </a:t>
            </a:r>
            <a:r>
              <a:rPr lang="en-US" i="1" dirty="0"/>
              <a:t>N </a:t>
            </a:r>
            <a:r>
              <a:rPr lang="en-US" dirty="0"/>
              <a:t>are unknown.</a:t>
            </a:r>
          </a:p>
          <a:p>
            <a:pPr>
              <a:defRPr/>
            </a:pPr>
            <a:endParaRPr lang="en-US" dirty="0"/>
          </a:p>
          <a:p>
            <a:pPr>
              <a:defRPr/>
            </a:pPr>
            <a:endParaRPr lang="en-US" dirty="0"/>
          </a:p>
          <a:p>
            <a:pPr>
              <a:defRPr/>
            </a:pPr>
            <a:r>
              <a:rPr lang="en-US" dirty="0"/>
              <a:t>To understand how the world works, we want to determine </a:t>
            </a:r>
            <a:r>
              <a:rPr lang="en-US" i="1" dirty="0"/>
              <a:t>p </a:t>
            </a:r>
          </a:p>
          <a:p>
            <a:pPr lvl="1">
              <a:defRPr/>
            </a:pPr>
            <a:r>
              <a:rPr lang="en-US" sz="2800" i="1" dirty="0"/>
              <a:t>What is the prevalence of a disease?</a:t>
            </a:r>
          </a:p>
          <a:p>
            <a:pPr lvl="1">
              <a:defRPr/>
            </a:pPr>
            <a:r>
              <a:rPr lang="en-US" sz="2800" i="1" dirty="0"/>
              <a:t>What is the probability of giving birth?</a:t>
            </a:r>
            <a:r>
              <a:rPr lang="en-US" sz="28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6886539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quarter" idx="2"/>
          </p:nvPr>
        </p:nvSpPr>
        <p:spPr>
          <a:xfrm>
            <a:off x="373223" y="1371600"/>
            <a:ext cx="11271381" cy="4419600"/>
          </a:xfrm>
        </p:spPr>
        <p:txBody>
          <a:bodyPr/>
          <a:lstStyle/>
          <a:p>
            <a:pPr>
              <a:defRPr/>
            </a:pPr>
            <a:r>
              <a:rPr lang="en-US" dirty="0"/>
              <a:t>Instead of knowing </a:t>
            </a:r>
            <a:r>
              <a:rPr lang="en-US" i="1" dirty="0"/>
              <a:t>N</a:t>
            </a:r>
            <a:r>
              <a:rPr lang="en-US" dirty="0"/>
              <a:t> and </a:t>
            </a:r>
            <a:r>
              <a:rPr lang="en-US" i="1" dirty="0"/>
              <a:t>p</a:t>
            </a:r>
            <a:r>
              <a:rPr lang="en-US" dirty="0"/>
              <a:t>, we often collect data, </a:t>
            </a:r>
            <a:r>
              <a:rPr lang="en-US" i="1" dirty="0"/>
              <a:t>k #</a:t>
            </a:r>
            <a:r>
              <a:rPr lang="en-US" dirty="0"/>
              <a:t>successes, to determine </a:t>
            </a:r>
            <a:r>
              <a:rPr lang="en-US" i="1" dirty="0"/>
              <a:t>p</a:t>
            </a:r>
            <a:r>
              <a:rPr lang="en-US" dirty="0"/>
              <a:t> and/or </a:t>
            </a:r>
            <a:r>
              <a:rPr lang="en-US" i="1" dirty="0"/>
              <a:t>N</a:t>
            </a:r>
          </a:p>
          <a:p>
            <a:pPr>
              <a:defRPr/>
            </a:pPr>
            <a:endParaRPr lang="en-US" i="1" dirty="0"/>
          </a:p>
          <a:p>
            <a:pPr>
              <a:defRPr/>
            </a:pPr>
            <a:r>
              <a:rPr lang="en-US" dirty="0"/>
              <a:t>Let’s assume that </a:t>
            </a:r>
            <a:r>
              <a:rPr lang="en-US" i="1" dirty="0"/>
              <a:t>N</a:t>
            </a:r>
            <a:r>
              <a:rPr lang="en-US" dirty="0"/>
              <a:t> is known. Say we conduct </a:t>
            </a:r>
            <a:r>
              <a:rPr lang="en-US" i="1" dirty="0"/>
              <a:t>N</a:t>
            </a:r>
            <a:r>
              <a:rPr lang="en-US" dirty="0"/>
              <a:t> trials, observe </a:t>
            </a:r>
            <a:r>
              <a:rPr lang="en-US" i="1" dirty="0"/>
              <a:t>k</a:t>
            </a:r>
            <a:r>
              <a:rPr lang="en-US" dirty="0"/>
              <a:t> successes, and want to make inference about </a:t>
            </a:r>
            <a:r>
              <a:rPr lang="en-US" i="1" dirty="0"/>
              <a:t>p, </a:t>
            </a:r>
            <a:r>
              <a:rPr lang="en-US" dirty="0"/>
              <a:t>given</a:t>
            </a:r>
            <a:r>
              <a:rPr lang="en-US" i="1" dirty="0"/>
              <a:t> k </a:t>
            </a:r>
            <a:r>
              <a:rPr lang="en-US" dirty="0"/>
              <a:t>and</a:t>
            </a:r>
            <a:r>
              <a:rPr lang="en-US" i="1" dirty="0"/>
              <a:t> N</a:t>
            </a:r>
            <a:endParaRPr lang="en-US" dirty="0"/>
          </a:p>
        </p:txBody>
      </p:sp>
      <p:sp>
        <p:nvSpPr>
          <p:cNvPr id="163844" name="TextBox 3"/>
          <p:cNvSpPr txBox="1">
            <a:spLocks noChangeArrowheads="1"/>
          </p:cNvSpPr>
          <p:nvPr/>
        </p:nvSpPr>
        <p:spPr bwMode="auto">
          <a:xfrm>
            <a:off x="2097249" y="5459040"/>
            <a:ext cx="7524750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/>
              <a:t>This is among the easiest possible likelihood problems</a:t>
            </a:r>
          </a:p>
        </p:txBody>
      </p:sp>
      <p:sp>
        <p:nvSpPr>
          <p:cNvPr id="7" name="Rectangle 2"/>
          <p:cNvSpPr txBox="1">
            <a:spLocks noChangeArrowheads="1"/>
          </p:cNvSpPr>
          <p:nvPr/>
        </p:nvSpPr>
        <p:spPr>
          <a:xfrm>
            <a:off x="0" y="0"/>
            <a:ext cx="121920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defRPr/>
            </a:pPr>
            <a:r>
              <a:rPr lang="en-US" sz="3600"/>
              <a:t>Sneak peak: Maximum likelihood is just doing this in reverse!!!</a:t>
            </a:r>
            <a:endParaRPr lang="en-US" sz="3600" dirty="0"/>
          </a:p>
        </p:txBody>
      </p:sp>
      <p:sp>
        <p:nvSpPr>
          <p:cNvPr id="163845" name="TextBox 163844"/>
          <p:cNvSpPr txBox="1"/>
          <p:nvPr/>
        </p:nvSpPr>
        <p:spPr>
          <a:xfrm>
            <a:off x="3631291" y="3812333"/>
            <a:ext cx="5908430" cy="1257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b="0">
                <a:latin typeface="Cambria"/>
              </a:rPr>
              <a:t>ℒ(p | k, N) = (N choose k) p</a:t>
            </a:r>
            <a:r>
              <a:rPr sz="1900" b="0" baseline="30000">
                <a:latin typeface="Cambria"/>
              </a:rPr>
              <a:t>k</a:t>
            </a:r>
            <a:r>
              <a:rPr sz="1900" b="0">
                <a:latin typeface="Cambria"/>
              </a:rPr>
              <a:t> (1 − p)</a:t>
            </a:r>
            <a:r>
              <a:rPr sz="1900" b="0" baseline="30000">
                <a:latin typeface="Cambria"/>
              </a:rPr>
              <a:t>N − k</a:t>
            </a:r>
          </a:p>
        </p:txBody>
      </p:sp>
    </p:spTree>
    <p:extLst>
      <p:ext uri="{BB962C8B-B14F-4D97-AF65-F5344CB8AC3E}">
        <p14:creationId xmlns:p14="http://schemas.microsoft.com/office/powerpoint/2010/main" val="33187352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186610" y="-102833"/>
            <a:ext cx="11831216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sz="4000" dirty="0"/>
              <a:t>Sneak peak: Maximum Likelihood is just doing this in reverse!!!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2"/>
          </p:nvPr>
        </p:nvSpPr>
        <p:spPr>
          <a:xfrm>
            <a:off x="466531" y="1160104"/>
            <a:ext cx="11439329" cy="5501951"/>
          </a:xfrm>
        </p:spPr>
        <p:txBody>
          <a:bodyPr>
            <a:noAutofit/>
          </a:bodyPr>
          <a:lstStyle/>
          <a:p>
            <a:pPr>
              <a:defRPr/>
            </a:pPr>
            <a:r>
              <a:rPr lang="en-US" dirty="0"/>
              <a:t>This equation is exactly what we’ve been working with but the interpretation is </a:t>
            </a:r>
            <a:r>
              <a:rPr lang="en-US" b="1" i="1" dirty="0"/>
              <a:t>very</a:t>
            </a:r>
            <a:r>
              <a:rPr lang="en-US" i="1" dirty="0"/>
              <a:t> </a:t>
            </a:r>
            <a:r>
              <a:rPr lang="en-US" dirty="0"/>
              <a:t>different</a:t>
            </a:r>
          </a:p>
          <a:p>
            <a:pPr>
              <a:defRPr/>
            </a:pPr>
            <a:endParaRPr lang="en-US" dirty="0"/>
          </a:p>
          <a:p>
            <a:pPr>
              <a:defRPr/>
            </a:pPr>
            <a:endParaRPr lang="en-US" dirty="0"/>
          </a:p>
          <a:p>
            <a:pPr>
              <a:defRPr/>
            </a:pPr>
            <a:endParaRPr lang="en-US" dirty="0"/>
          </a:p>
          <a:p>
            <a:pPr>
              <a:defRPr/>
            </a:pPr>
            <a:r>
              <a:rPr lang="en-US" dirty="0"/>
              <a:t>The binomial probability summed over all values of </a:t>
            </a:r>
            <a:r>
              <a:rPr lang="en-US" i="1" dirty="0"/>
              <a:t>k</a:t>
            </a:r>
            <a:r>
              <a:rPr lang="en-US" dirty="0"/>
              <a:t> equals 1</a:t>
            </a:r>
          </a:p>
          <a:p>
            <a:pPr>
              <a:defRPr/>
            </a:pPr>
            <a:r>
              <a:rPr lang="en-US" dirty="0"/>
              <a:t>But now the Likelihood is a function of </a:t>
            </a:r>
            <a:r>
              <a:rPr lang="en-US" i="1" dirty="0"/>
              <a:t>p </a:t>
            </a:r>
            <a:r>
              <a:rPr lang="en-US" dirty="0"/>
              <a:t>with </a:t>
            </a:r>
            <a:r>
              <a:rPr lang="en-US" i="1" dirty="0"/>
              <a:t>k </a:t>
            </a:r>
            <a:r>
              <a:rPr lang="en-US" dirty="0"/>
              <a:t>fixed. </a:t>
            </a:r>
            <a:r>
              <a:rPr lang="en-US" i="1" dirty="0"/>
              <a:t>k </a:t>
            </a:r>
            <a:r>
              <a:rPr lang="en-US" dirty="0"/>
              <a:t>is our observation.</a:t>
            </a:r>
          </a:p>
          <a:p>
            <a:pPr>
              <a:defRPr/>
            </a:pPr>
            <a:r>
              <a:rPr lang="en-US" dirty="0"/>
              <a:t>The range of </a:t>
            </a:r>
            <a:r>
              <a:rPr lang="en-US" i="1" dirty="0"/>
              <a:t>p </a:t>
            </a:r>
            <a:r>
              <a:rPr lang="en-US" dirty="0"/>
              <a:t>must be 0 to 1, but there is no requirement that the integral of the likelihood from 0 to 1 = 1 (as would be the case for a probability)</a:t>
            </a:r>
          </a:p>
          <a:p>
            <a:pPr>
              <a:defRPr/>
            </a:pPr>
            <a:endParaRPr lang="en-US" dirty="0"/>
          </a:p>
          <a:p>
            <a:pPr>
              <a:defRPr/>
            </a:pPr>
            <a:r>
              <a:rPr lang="en-US" dirty="0"/>
              <a:t>Why did I say </a:t>
            </a:r>
            <a:r>
              <a:rPr lang="en-US"/>
              <a:t>“integral” and not “sum”</a:t>
            </a:r>
            <a:endParaRPr lang="en-US" dirty="0"/>
          </a:p>
        </p:txBody>
      </p:sp>
      <p:sp>
        <p:nvSpPr>
          <p:cNvPr id="14339" name="TextBox 14338"/>
          <p:cNvSpPr txBox="1"/>
          <p:nvPr/>
        </p:nvSpPr>
        <p:spPr>
          <a:xfrm>
            <a:off x="3265715" y="2063230"/>
            <a:ext cx="5908430" cy="1257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b="0">
                <a:latin typeface="Cambria"/>
              </a:rPr>
              <a:t>ℒ(p | k, N) = (N choose k) p</a:t>
            </a:r>
            <a:r>
              <a:rPr sz="1900" b="0" baseline="30000">
                <a:latin typeface="Cambria"/>
              </a:rPr>
              <a:t>k</a:t>
            </a:r>
            <a:r>
              <a:rPr sz="1900" b="0">
                <a:latin typeface="Cambria"/>
              </a:rPr>
              <a:t> (1 − p)</a:t>
            </a:r>
            <a:r>
              <a:rPr sz="1900" b="0" baseline="30000">
                <a:latin typeface="Cambria"/>
              </a:rPr>
              <a:t>N − k</a:t>
            </a:r>
          </a:p>
        </p:txBody>
      </p:sp>
    </p:spTree>
    <p:extLst>
      <p:ext uri="{BB962C8B-B14F-4D97-AF65-F5344CB8AC3E}">
        <p14:creationId xmlns:p14="http://schemas.microsoft.com/office/powerpoint/2010/main" val="14707071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quarter" idx="2"/>
          </p:nvPr>
        </p:nvSpPr>
        <p:spPr>
          <a:xfrm>
            <a:off x="373224" y="1160105"/>
            <a:ext cx="11476653" cy="4419600"/>
          </a:xfrm>
        </p:spPr>
        <p:txBody>
          <a:bodyPr/>
          <a:lstStyle/>
          <a:p>
            <a:pPr>
              <a:defRPr/>
            </a:pPr>
            <a:r>
              <a:rPr lang="en-US" dirty="0"/>
              <a:t>This equation is exactly what we’ve been working with but the interpretation is </a:t>
            </a:r>
            <a:r>
              <a:rPr lang="en-US" b="1" i="1" dirty="0"/>
              <a:t>very</a:t>
            </a:r>
            <a:r>
              <a:rPr lang="en-US" i="1" dirty="0"/>
              <a:t> </a:t>
            </a:r>
            <a:r>
              <a:rPr lang="en-US" dirty="0"/>
              <a:t>different</a:t>
            </a:r>
          </a:p>
          <a:p>
            <a:pPr>
              <a:defRPr/>
            </a:pPr>
            <a:endParaRPr lang="en-US" dirty="0"/>
          </a:p>
          <a:p>
            <a:pPr>
              <a:defRPr/>
            </a:pPr>
            <a:endParaRPr lang="en-US" dirty="0"/>
          </a:p>
          <a:p>
            <a:pPr>
              <a:defRPr/>
            </a:pPr>
            <a:endParaRPr lang="en-US" dirty="0"/>
          </a:p>
          <a:p>
            <a:pPr>
              <a:defRPr/>
            </a:pPr>
            <a:r>
              <a:rPr lang="en-US" dirty="0"/>
              <a:t>We usually work with the log-likelihood. Can you find that? </a:t>
            </a:r>
            <a:r>
              <a:rPr lang="en-US" dirty="0"/>
              <a:t>→ </a:t>
            </a:r>
            <a:r>
              <a:rPr lang="en-US" dirty="0"/>
              <a:t>log(a*b) = log(a) + log(b), log(a</a:t>
            </a:r>
            <a:r>
              <a:rPr lang="en-US" baseline="30000" dirty="0"/>
              <a:t>b</a:t>
            </a:r>
            <a:r>
              <a:rPr lang="en-US" dirty="0"/>
              <a:t>)=b*log(a)</a:t>
            </a:r>
          </a:p>
        </p:txBody>
      </p:sp>
      <p:sp>
        <p:nvSpPr>
          <p:cNvPr id="5" name="TextBox 4"/>
          <p:cNvSpPr txBox="1">
            <a:spLocks noChangeArrowheads="1"/>
          </p:cNvSpPr>
          <p:nvPr/>
        </p:nvSpPr>
        <p:spPr bwMode="auto">
          <a:xfrm>
            <a:off x="3787808" y="5956627"/>
            <a:ext cx="4814887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 dirty="0"/>
              <a:t>Should I show you the derivation?</a:t>
            </a:r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0"/>
            <a:ext cx="12192000" cy="1143000"/>
          </a:xfrm>
        </p:spPr>
        <p:txBody>
          <a:bodyPr>
            <a:normAutofit/>
          </a:bodyPr>
          <a:lstStyle/>
          <a:p>
            <a:pPr algn="ctr" eaLnBrk="1" hangingPunct="1">
              <a:defRPr/>
            </a:pPr>
            <a:r>
              <a:rPr lang="en-US" sz="3600" dirty="0"/>
              <a:t>Sneak peak: Maximum likelihood is just doing this in reverse!!!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2357" y="2019300"/>
            <a:ext cx="5908430" cy="1257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b="0">
                <a:latin typeface="Cambria"/>
              </a:rPr>
              <a:t>ℒ(p | k, N) = (N choose k) p</a:t>
            </a:r>
            <a:r>
              <a:rPr sz="1900" b="0" baseline="30000">
                <a:latin typeface="Cambria"/>
              </a:rPr>
              <a:t>k</a:t>
            </a:r>
            <a:r>
              <a:rPr sz="1900" b="0">
                <a:latin typeface="Cambria"/>
              </a:rPr>
              <a:t> (1 − p)</a:t>
            </a:r>
            <a:r>
              <a:rPr sz="1900" b="0" baseline="30000">
                <a:latin typeface="Cambria"/>
              </a:rPr>
              <a:t>N − 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36750" y="4538568"/>
            <a:ext cx="8581292" cy="11557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b="0">
                <a:latin typeface="Cambria"/>
              </a:rPr>
              <a:t>L(p | k, N) = log(N choose k) + k log(p) + (N − k) log(1 − p)</a:t>
            </a:r>
          </a:p>
        </p:txBody>
      </p:sp>
    </p:spTree>
    <p:extLst>
      <p:ext uri="{BB962C8B-B14F-4D97-AF65-F5344CB8AC3E}">
        <p14:creationId xmlns:p14="http://schemas.microsoft.com/office/powerpoint/2010/main" val="20196018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quarter" idx="2"/>
          </p:nvPr>
        </p:nvSpPr>
        <p:spPr>
          <a:xfrm>
            <a:off x="1076133" y="1160105"/>
            <a:ext cx="9840686" cy="4419600"/>
          </a:xfrm>
        </p:spPr>
        <p:txBody>
          <a:bodyPr>
            <a:normAutofit/>
          </a:bodyPr>
          <a:lstStyle/>
          <a:p>
            <a:pPr>
              <a:defRPr/>
            </a:pPr>
            <a:endParaRPr lang="en-US" dirty="0"/>
          </a:p>
          <a:p>
            <a:pPr>
              <a:defRPr/>
            </a:pPr>
            <a:r>
              <a:rPr lang="en-US" dirty="0"/>
              <a:t>How do we find the “maximum likelihood estimate” (MLE) for </a:t>
            </a:r>
            <a:r>
              <a:rPr lang="en-US" i="1" dirty="0"/>
              <a:t>p</a:t>
            </a:r>
            <a:r>
              <a:rPr lang="en-US" dirty="0"/>
              <a:t>?</a:t>
            </a:r>
          </a:p>
          <a:p>
            <a:pPr>
              <a:defRPr/>
            </a:pPr>
            <a:endParaRPr lang="en-US" dirty="0"/>
          </a:p>
          <a:p>
            <a:pPr>
              <a:defRPr/>
            </a:pPr>
            <a:endParaRPr lang="en-US" dirty="0"/>
          </a:p>
          <a:p>
            <a:pPr>
              <a:defRPr/>
            </a:pPr>
            <a:endParaRPr lang="en-US" dirty="0"/>
          </a:p>
          <a:p>
            <a:pPr>
              <a:defRPr/>
            </a:pPr>
            <a:r>
              <a:rPr lang="en-US" dirty="0"/>
              <a:t>Enter Calculus!</a:t>
            </a:r>
          </a:p>
          <a:p>
            <a:pPr>
              <a:defRPr/>
            </a:pPr>
            <a:endParaRPr lang="en-US" dirty="0"/>
          </a:p>
          <a:p>
            <a:pPr>
              <a:defRPr/>
            </a:pPr>
            <a:r>
              <a:rPr lang="en-US" dirty="0"/>
              <a:t>Find the MLE for </a:t>
            </a:r>
            <a:r>
              <a:rPr lang="en-US" i="1" dirty="0"/>
              <a:t>p</a:t>
            </a:r>
            <a:r>
              <a:rPr lang="en-US" dirty="0"/>
              <a:t> </a:t>
            </a:r>
          </a:p>
        </p:txBody>
      </p:sp>
      <p:sp>
        <p:nvSpPr>
          <p:cNvPr id="6" name="Rectangle 2"/>
          <p:cNvSpPr txBox="1">
            <a:spLocks noChangeArrowheads="1"/>
          </p:cNvSpPr>
          <p:nvPr/>
        </p:nvSpPr>
        <p:spPr>
          <a:xfrm>
            <a:off x="0" y="0"/>
            <a:ext cx="121920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defRPr/>
            </a:pPr>
            <a:r>
              <a:rPr lang="en-US" sz="3600"/>
              <a:t>Sneak peak: Maximum likelihood is just doing this in reverse!!!</a:t>
            </a:r>
            <a:endParaRPr lang="en-US" sz="3600" dirty="0"/>
          </a:p>
        </p:txBody>
      </p:sp>
      <p:sp>
        <p:nvSpPr>
          <p:cNvPr id="11" name="TextBox 10"/>
          <p:cNvSpPr txBox="1"/>
          <p:nvPr/>
        </p:nvSpPr>
        <p:spPr>
          <a:xfrm>
            <a:off x="1465071" y="2303105"/>
            <a:ext cx="8581292" cy="11557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b="0">
                <a:latin typeface="Cambria"/>
              </a:rPr>
              <a:t>L(p | k, N) = log(N choose k) + k log(p) + (N − k) log(1 − p)</a:t>
            </a:r>
          </a:p>
        </p:txBody>
      </p:sp>
    </p:spTree>
    <p:extLst>
      <p:ext uri="{BB962C8B-B14F-4D97-AF65-F5344CB8AC3E}">
        <p14:creationId xmlns:p14="http://schemas.microsoft.com/office/powerpoint/2010/main" val="9357735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2034" name="Picture 4" descr="Two log-likelihood curves for p (binomial, constant term dropped). Panel a: 4 successes in 10 trials, wide peak near p=0.4. Panel b: 40 in 100, much narrower peak near 0.4. Larger samples give sharper likelihoods." title="Two log-likelihood curves for p (binomial, constant term dropped). Panel a: 4 su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0" y="1099717"/>
            <a:ext cx="9144000" cy="4330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69987" name="TextBox 5"/>
          <p:cNvSpPr txBox="1">
            <a:spLocks noChangeArrowheads="1"/>
          </p:cNvSpPr>
          <p:nvPr/>
        </p:nvSpPr>
        <p:spPr bwMode="auto">
          <a:xfrm>
            <a:off x="1447800" y="5466184"/>
            <a:ext cx="9372600" cy="1323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000" dirty="0"/>
              <a:t>Hudson (1971) showed that an approximate 95% CI for a single peaked likelihood function occurs 2 log-likelihood units below the peak.</a:t>
            </a: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altLang="en-US" sz="2000" dirty="0"/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000" dirty="0"/>
              <a:t>Can you see why sample size is so important based on these shapes?</a:t>
            </a:r>
          </a:p>
        </p:txBody>
      </p:sp>
      <p:cxnSp>
        <p:nvCxnSpPr>
          <p:cNvPr id="8" name="Straight Connector 7"/>
          <p:cNvCxnSpPr>
            <a:cxnSpLocks noChangeShapeType="1"/>
          </p:cNvCxnSpPr>
          <p:nvPr/>
        </p:nvCxnSpPr>
        <p:spPr bwMode="auto">
          <a:xfrm>
            <a:off x="6705600" y="2534817"/>
            <a:ext cx="3733800" cy="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0" name="Straight Connector 9"/>
          <p:cNvCxnSpPr>
            <a:cxnSpLocks noChangeShapeType="1"/>
          </p:cNvCxnSpPr>
          <p:nvPr/>
        </p:nvCxnSpPr>
        <p:spPr bwMode="auto">
          <a:xfrm>
            <a:off x="2209800" y="2306217"/>
            <a:ext cx="3733800" cy="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9" name="Rectangle 2"/>
          <p:cNvSpPr txBox="1">
            <a:spLocks noChangeArrowheads="1"/>
          </p:cNvSpPr>
          <p:nvPr/>
        </p:nvSpPr>
        <p:spPr>
          <a:xfrm>
            <a:off x="0" y="0"/>
            <a:ext cx="121920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defRPr/>
            </a:pPr>
            <a:r>
              <a:rPr lang="en-US" sz="3600"/>
              <a:t>Sneak peak: Maximum likelihood is just doing this in reverse!!!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20249598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98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55964" y="-34925"/>
            <a:ext cx="7793037" cy="1143000"/>
          </a:xfrm>
        </p:spPr>
        <p:txBody>
          <a:bodyPr/>
          <a:lstStyle/>
          <a:p>
            <a:pPr>
              <a:defRPr/>
            </a:pPr>
            <a:r>
              <a:rPr lang="en-US" dirty="0"/>
              <a:t>Back to distributions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522514" y="1637523"/>
            <a:ext cx="10860833" cy="4114800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en-US" sz="3000" dirty="0"/>
              <a:t>We’ll discuss maximum likelihood later</a:t>
            </a:r>
          </a:p>
          <a:p>
            <a:pPr>
              <a:defRPr/>
            </a:pPr>
            <a:endParaRPr lang="en-US" sz="3000" dirty="0"/>
          </a:p>
          <a:p>
            <a:pPr>
              <a:defRPr/>
            </a:pPr>
            <a:r>
              <a:rPr lang="en-US" sz="3000" dirty="0"/>
              <a:t>Bayesian statistics is very similar - making inference about the parameter given the data - but the inference will be a real probability rather than a point estimate and confidence interval.</a:t>
            </a:r>
          </a:p>
        </p:txBody>
      </p:sp>
    </p:spTree>
    <p:extLst>
      <p:ext uri="{BB962C8B-B14F-4D97-AF65-F5344CB8AC3E}">
        <p14:creationId xmlns:p14="http://schemas.microsoft.com/office/powerpoint/2010/main" val="8101692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8654780" y="4852386"/>
            <a:ext cx="317811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Alternatively written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05352" y="5330867"/>
            <a:ext cx="3358048" cy="952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0">
                <a:latin typeface="Cambria"/>
              </a:rPr>
              <a:t>n! / (x</a:t>
            </a:r>
            <a:r>
              <a:rPr sz="1500" b="0" baseline="-25000">
                <a:latin typeface="Cambria"/>
              </a:rPr>
              <a:t>1</a:t>
            </a:r>
            <a:r>
              <a:rPr sz="1500" b="0">
                <a:latin typeface="Cambria"/>
              </a:rPr>
              <a:t>! ⋯ x</a:t>
            </a:r>
            <a:r>
              <a:rPr sz="1500" b="0" baseline="-25000">
                <a:latin typeface="Cambria"/>
              </a:rPr>
              <a:t>k</a:t>
            </a:r>
            <a:r>
              <a:rPr sz="1500" b="0">
                <a:latin typeface="Cambria"/>
              </a:rPr>
              <a:t>!) · p</a:t>
            </a:r>
            <a:r>
              <a:rPr sz="1500" b="0" baseline="-25000">
                <a:latin typeface="Cambria"/>
              </a:rPr>
              <a:t>1</a:t>
            </a:r>
            <a:r>
              <a:rPr sz="1500" b="0" baseline="30000">
                <a:latin typeface="Cambria"/>
              </a:rPr>
              <a:t>x₁</a:t>
            </a:r>
            <a:r>
              <a:rPr sz="1500" b="0">
                <a:latin typeface="Cambria"/>
              </a:rPr>
              <a:t> ⋯ p</a:t>
            </a:r>
            <a:r>
              <a:rPr sz="1500" b="0" baseline="-25000">
                <a:latin typeface="Cambria"/>
              </a:rPr>
              <a:t>k</a:t>
            </a:r>
            <a:r>
              <a:rPr sz="1500" b="0" baseline="30000">
                <a:latin typeface="Cambria"/>
              </a:rPr>
              <a:t>xₖ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" y="164592"/>
            <a:ext cx="11049572" cy="534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>
                <a:latin typeface="Calibri"/>
              </a:rPr>
              <a:t>The multinomial distribution: more than one kind of success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" y="973836"/>
            <a:ext cx="11049572" cy="1683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>
                <a:latin typeface="Calibri"/>
              </a:rPr>
              <a:t>The multinomial distribution is an extension of the binomial distribution to the case of more than two (we shall assume n) kinds of outcomes, in which a single trial has probability p</a:t>
            </a:r>
            <a:r>
              <a:rPr sz="1900" b="0" baseline="-25000">
                <a:latin typeface="Calibri"/>
              </a:rPr>
              <a:t>i</a:t>
            </a:r>
            <a:r>
              <a:rPr sz="1900" b="0">
                <a:latin typeface="Calibri"/>
              </a:rPr>
              <a:t> of ending in category i. In a total of N trials, we assume that k</a:t>
            </a:r>
            <a:r>
              <a:rPr sz="1900" b="0" baseline="-25000">
                <a:latin typeface="Calibri"/>
              </a:rPr>
              <a:t>i</a:t>
            </a:r>
            <a:r>
              <a:rPr sz="1900" b="0">
                <a:latin typeface="Calibri"/>
              </a:rPr>
              <a:t> of the outcomes end in category i. If we let p denote the vector of the different probabilities of outcome and k denote the vector of the data, the probability distribution is then an extension of the binomial distribution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" y="2968371"/>
            <a:ext cx="11049572" cy="3977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0">
                <a:latin typeface="Cambria"/>
              </a:rPr>
              <a:t>Pr{k | N, p} = N! / (∏</a:t>
            </a:r>
            <a:r>
              <a:rPr sz="2000" b="0" baseline="-25000">
                <a:latin typeface="Cambria"/>
              </a:rPr>
              <a:t>i=1</a:t>
            </a:r>
            <a:r>
              <a:rPr sz="2000" b="0" baseline="30000">
                <a:latin typeface="Cambria"/>
              </a:rPr>
              <a:t>n</a:t>
            </a:r>
            <a:r>
              <a:rPr sz="2000" b="0">
                <a:latin typeface="Cambria"/>
              </a:rPr>
              <a:t> k</a:t>
            </a:r>
            <a:r>
              <a:rPr sz="2000" b="0" baseline="-25000">
                <a:latin typeface="Cambria"/>
              </a:rPr>
              <a:t>i</a:t>
            </a:r>
            <a:r>
              <a:rPr sz="2000" b="0">
                <a:latin typeface="Cambria"/>
              </a:rPr>
              <a:t>!) · ∏</a:t>
            </a:r>
            <a:r>
              <a:rPr sz="2000" b="0" baseline="-25000">
                <a:latin typeface="Cambria"/>
              </a:rPr>
              <a:t>i=1</a:t>
            </a:r>
            <a:r>
              <a:rPr sz="2000" b="0" baseline="30000">
                <a:latin typeface="Cambria"/>
              </a:rPr>
              <a:t>n</a:t>
            </a:r>
            <a:r>
              <a:rPr sz="2000" b="0">
                <a:latin typeface="Cambria"/>
              </a:rPr>
              <a:t> p</a:t>
            </a:r>
            <a:r>
              <a:rPr sz="2000" b="0" baseline="-25000">
                <a:latin typeface="Cambria"/>
              </a:rPr>
              <a:t>i</a:t>
            </a:r>
            <a:r>
              <a:rPr sz="2000" b="0" baseline="30000">
                <a:latin typeface="Cambria"/>
              </a:rPr>
              <a:t>kᵢ</a:t>
            </a:r>
          </a:p>
        </p:txBody>
      </p:sp>
    </p:spTree>
    <p:extLst>
      <p:ext uri="{BB962C8B-B14F-4D97-AF65-F5344CB8AC3E}">
        <p14:creationId xmlns:p14="http://schemas.microsoft.com/office/powerpoint/2010/main" val="202336404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>
          <a:xfrm>
            <a:off x="2209800" y="-15240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/>
              <a:t>The Poisson Distribution-I</a:t>
            </a:r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279918" y="1334277"/>
            <a:ext cx="11527405" cy="4953000"/>
          </a:xfrm>
        </p:spPr>
        <p:txBody>
          <a:bodyPr>
            <a:noAutofit/>
          </a:bodyPr>
          <a:lstStyle/>
          <a:p>
            <a:pPr marL="457200" indent="-457200">
              <a:lnSpc>
                <a:spcPct val="80000"/>
              </a:lnSpc>
              <a:defRPr/>
            </a:pPr>
            <a:r>
              <a:rPr lang="en-US" altLang="en-US" dirty="0"/>
              <a:t>The Poisson distribution is used to determine the probability that a specific number of occurrences takes place within a given unit of time or space. </a:t>
            </a:r>
          </a:p>
          <a:p>
            <a:pPr marL="457200" indent="-457200">
              <a:lnSpc>
                <a:spcPct val="80000"/>
              </a:lnSpc>
              <a:defRPr/>
            </a:pPr>
            <a:endParaRPr lang="en-US" altLang="en-US" dirty="0"/>
          </a:p>
          <a:p>
            <a:pPr marL="457200" indent="-457200">
              <a:lnSpc>
                <a:spcPct val="80000"/>
              </a:lnSpc>
              <a:defRPr/>
            </a:pPr>
            <a:r>
              <a:rPr lang="en-US" altLang="en-US" dirty="0"/>
              <a:t>A random variable </a:t>
            </a:r>
            <a:r>
              <a:rPr lang="en-US" altLang="en-US" i="1" dirty="0"/>
              <a:t>X</a:t>
            </a:r>
            <a:r>
              <a:rPr lang="en-US" altLang="en-US" dirty="0"/>
              <a:t> is Poisson distributed if:</a:t>
            </a:r>
          </a:p>
          <a:p>
            <a:pPr marL="457200" indent="-457200">
              <a:lnSpc>
                <a:spcPct val="80000"/>
              </a:lnSpc>
              <a:buFont typeface="Wingdings" charset="2"/>
              <a:buAutoNum type="arabicPeriod"/>
              <a:defRPr/>
            </a:pPr>
            <a:r>
              <a:rPr lang="en-US" altLang="en-US" dirty="0"/>
              <a:t>The experiment consists of counting the number of times, </a:t>
            </a:r>
            <a:r>
              <a:rPr lang="en-US" altLang="en-US" i="1" dirty="0"/>
              <a:t>x</a:t>
            </a:r>
            <a:r>
              <a:rPr lang="en-US" altLang="en-US" dirty="0"/>
              <a:t>, an event occurs in a given interval (the interval can relate to e.g. time, area, volume).</a:t>
            </a:r>
          </a:p>
          <a:p>
            <a:pPr marL="457200" indent="-457200">
              <a:lnSpc>
                <a:spcPct val="80000"/>
              </a:lnSpc>
              <a:buFont typeface="Wingdings" charset="2"/>
              <a:buAutoNum type="arabicPeriod"/>
              <a:defRPr/>
            </a:pPr>
            <a:r>
              <a:rPr lang="en-US" altLang="en-US" dirty="0"/>
              <a:t>The probability of the event occurring is the same for each interval.</a:t>
            </a:r>
          </a:p>
          <a:p>
            <a:pPr marL="457200" indent="-457200">
              <a:lnSpc>
                <a:spcPct val="80000"/>
              </a:lnSpc>
              <a:buFont typeface="Wingdings" charset="2"/>
              <a:buAutoNum type="arabicPeriod"/>
              <a:defRPr/>
            </a:pPr>
            <a:r>
              <a:rPr lang="en-US" altLang="en-US" dirty="0"/>
              <a:t>The number of occurrences in one interval is independent of the number of occurrences in other intervals.</a:t>
            </a:r>
          </a:p>
        </p:txBody>
      </p:sp>
    </p:spTree>
    <p:extLst>
      <p:ext uri="{BB962C8B-B14F-4D97-AF65-F5344CB8AC3E}">
        <p14:creationId xmlns:p14="http://schemas.microsoft.com/office/powerpoint/2010/main" val="1468598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>
          <a:xfrm>
            <a:off x="2209800" y="-15240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/>
              <a:t>The Poisson Distribution-I</a:t>
            </a:r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821095" y="1240973"/>
            <a:ext cx="10618236" cy="4953000"/>
          </a:xfrm>
        </p:spPr>
        <p:txBody>
          <a:bodyPr>
            <a:noAutofit/>
          </a:bodyPr>
          <a:lstStyle/>
          <a:p>
            <a:pPr marL="457200" indent="-457200">
              <a:lnSpc>
                <a:spcPct val="80000"/>
              </a:lnSpc>
              <a:defRPr/>
            </a:pPr>
            <a:r>
              <a:rPr lang="en-US" altLang="en-US" dirty="0"/>
              <a:t>In short </a:t>
            </a:r>
            <a:r>
              <a:rPr lang="mr-IN" altLang="en-US" dirty="0"/>
              <a:t>–</a:t>
            </a:r>
            <a:r>
              <a:rPr lang="en-US" altLang="en-US" dirty="0"/>
              <a:t> Poisson models ”random” count data</a:t>
            </a:r>
          </a:p>
          <a:p>
            <a:pPr marL="857250" lvl="1" indent="-457200">
              <a:lnSpc>
                <a:spcPct val="80000"/>
              </a:lnSpc>
              <a:defRPr/>
            </a:pPr>
            <a:r>
              <a:rPr lang="en-US" altLang="en-US" dirty="0"/>
              <a:t>Number of ladybugs or leaves per bush</a:t>
            </a:r>
          </a:p>
          <a:p>
            <a:pPr marL="857250" lvl="1" indent="-457200">
              <a:lnSpc>
                <a:spcPct val="80000"/>
              </a:lnSpc>
              <a:defRPr/>
            </a:pPr>
            <a:r>
              <a:rPr lang="en-US" altLang="en-US" dirty="0"/>
              <a:t>Number of prey encountered per unit time</a:t>
            </a:r>
          </a:p>
          <a:p>
            <a:pPr marL="857250" lvl="1" indent="-457200">
              <a:lnSpc>
                <a:spcPct val="80000"/>
              </a:lnSpc>
              <a:defRPr/>
            </a:pPr>
            <a:r>
              <a:rPr lang="en-US" altLang="en-US" dirty="0"/>
              <a:t>Number of eggs produced by a fish</a:t>
            </a:r>
          </a:p>
          <a:p>
            <a:pPr marL="857250" lvl="1" indent="-457200">
              <a:lnSpc>
                <a:spcPct val="80000"/>
              </a:lnSpc>
              <a:defRPr/>
            </a:pPr>
            <a:endParaRPr lang="en-US" altLang="en-US" sz="2800" dirty="0"/>
          </a:p>
          <a:p>
            <a:pPr marL="457200" indent="-457200">
              <a:lnSpc>
                <a:spcPct val="80000"/>
              </a:lnSpc>
              <a:defRPr/>
            </a:pPr>
            <a:r>
              <a:rPr lang="en-US" altLang="en-US" dirty="0"/>
              <a:t>This is different from </a:t>
            </a:r>
            <a:r>
              <a:rPr lang="en-US" altLang="en-US" i="1" dirty="0"/>
              <a:t>bounded</a:t>
            </a:r>
            <a:r>
              <a:rPr lang="en-US" altLang="en-US" dirty="0"/>
              <a:t> count data, which is binomial</a:t>
            </a:r>
          </a:p>
          <a:p>
            <a:pPr marL="857250" lvl="1" indent="-457200">
              <a:lnSpc>
                <a:spcPct val="80000"/>
              </a:lnSpc>
              <a:defRPr/>
            </a:pPr>
            <a:r>
              <a:rPr lang="en-US" altLang="en-US" dirty="0"/>
              <a:t># offspring that survive out of N offspring</a:t>
            </a:r>
          </a:p>
          <a:p>
            <a:pPr marL="857250" lvl="1" indent="-457200">
              <a:lnSpc>
                <a:spcPct val="80000"/>
              </a:lnSpc>
              <a:defRPr/>
            </a:pPr>
            <a:r>
              <a:rPr lang="en-US" altLang="en-US" dirty="0"/>
              <a:t>#cameras that detect wolves out of N cameras</a:t>
            </a:r>
          </a:p>
          <a:p>
            <a:pPr marL="857250" lvl="1" indent="-457200">
              <a:lnSpc>
                <a:spcPct val="80000"/>
              </a:lnSpc>
              <a:defRPr/>
            </a:pPr>
            <a:endParaRPr lang="en-US" altLang="en-US" sz="2800" dirty="0"/>
          </a:p>
          <a:p>
            <a:pPr marL="457200" indent="-457200">
              <a:lnSpc>
                <a:spcPct val="80000"/>
              </a:lnSpc>
              <a:defRPr/>
            </a:pPr>
            <a:r>
              <a:rPr lang="en-US" altLang="en-US" dirty="0"/>
              <a:t>You might think that the Poisson could be a good approximation of the binomial if N is large and p is small. You are right!</a:t>
            </a:r>
          </a:p>
          <a:p>
            <a:pPr marL="857250" lvl="1" indent="-457200">
              <a:lnSpc>
                <a:spcPct val="80000"/>
              </a:lnSpc>
              <a:defRPr/>
            </a:pPr>
            <a:endParaRPr lang="en-US" altLang="en-US" sz="2800" dirty="0"/>
          </a:p>
          <a:p>
            <a:pPr marL="857250" lvl="1" indent="-457200">
              <a:lnSpc>
                <a:spcPct val="80000"/>
              </a:lnSpc>
              <a:defRPr/>
            </a:pPr>
            <a:endParaRPr lang="en-US" altLang="en-US" sz="2800" dirty="0"/>
          </a:p>
        </p:txBody>
      </p:sp>
    </p:spTree>
    <p:extLst>
      <p:ext uri="{BB962C8B-B14F-4D97-AF65-F5344CB8AC3E}">
        <p14:creationId xmlns:p14="http://schemas.microsoft.com/office/powerpoint/2010/main" val="4919594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>
          <a:xfrm>
            <a:off x="2209800" y="30480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dirty="0"/>
              <a:t>The Poisson Distribution - </a:t>
            </a:r>
            <a:r>
              <a:rPr lang="en-US" altLang="en-US" i="1" dirty="0" err="1"/>
              <a:t>pmf</a:t>
            </a:r>
            <a:endParaRPr lang="en-US" altLang="en-US" i="1" dirty="0"/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2470151" y="1704975"/>
            <a:ext cx="8241648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dirty="0"/>
              <a:t>Various notations:</a:t>
            </a:r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buFont typeface="Wingdings" charset="2"/>
              <a:buNone/>
              <a:defRPr/>
            </a:pPr>
            <a:endParaRPr lang="en-US" altLang="en-US" dirty="0"/>
          </a:p>
          <a:p>
            <a:pPr eaLnBrk="1" hangingPunct="1">
              <a:buFont typeface="Wingdings" charset="2"/>
              <a:buNone/>
              <a:defRPr/>
            </a:pPr>
            <a:r>
              <a:rPr lang="en-US" altLang="en-US" dirty="0"/>
              <a:t> Note that </a:t>
            </a:r>
            <a:r>
              <a:rPr lang="en-US" altLang="en-US" i="1" dirty="0"/>
              <a:t>x</a:t>
            </a:r>
            <a:r>
              <a:rPr lang="en-US" altLang="en-US" dirty="0"/>
              <a:t> (or </a:t>
            </a:r>
            <a:r>
              <a:rPr lang="en-US" altLang="en-US" i="1" dirty="0"/>
              <a:t>k</a:t>
            </a:r>
            <a:r>
              <a:rPr lang="en-US" altLang="en-US" dirty="0"/>
              <a:t>) can be any non-negative integer.</a:t>
            </a:r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endParaRPr lang="en-US" altLang="en-US" dirty="0"/>
          </a:p>
        </p:txBody>
      </p:sp>
      <p:sp>
        <p:nvSpPr>
          <p:cNvPr id="191493" name="TextBox 191492"/>
          <p:cNvSpPr txBox="1"/>
          <p:nvPr/>
        </p:nvSpPr>
        <p:spPr>
          <a:xfrm>
            <a:off x="1099295" y="2277675"/>
            <a:ext cx="3516923" cy="11930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b="0">
                <a:latin typeface="Cambria"/>
              </a:rPr>
              <a:t>p</a:t>
            </a:r>
            <a:r>
              <a:rPr sz="1900" b="0" baseline="-25000">
                <a:latin typeface="Cambria"/>
              </a:rPr>
              <a:t>k</a:t>
            </a:r>
            <a:r>
              <a:rPr sz="1900" b="0">
                <a:latin typeface="Cambria"/>
              </a:rPr>
              <a:t>(t) = (λt)</a:t>
            </a:r>
            <a:r>
              <a:rPr sz="1900" b="0" baseline="30000">
                <a:latin typeface="Cambria"/>
              </a:rPr>
              <a:t>k</a:t>
            </a:r>
            <a:r>
              <a:rPr sz="1900" b="0">
                <a:latin typeface="Cambria"/>
              </a:rPr>
              <a:t> / k! · e</a:t>
            </a:r>
            <a:r>
              <a:rPr sz="1900" b="0" baseline="30000">
                <a:latin typeface="Cambria"/>
              </a:rPr>
              <a:t>−λt</a:t>
            </a:r>
          </a:p>
        </p:txBody>
      </p:sp>
      <p:sp>
        <p:nvSpPr>
          <p:cNvPr id="191494" name="TextBox 191493"/>
          <p:cNvSpPr txBox="1"/>
          <p:nvPr/>
        </p:nvSpPr>
        <p:spPr>
          <a:xfrm>
            <a:off x="7117699" y="2509997"/>
            <a:ext cx="4845701" cy="7445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700" b="0">
                <a:latin typeface="Cambria"/>
              </a:rPr>
              <a:t>P(k events in interval) = e</a:t>
            </a:r>
            <a:r>
              <a:rPr sz="1700" b="0" baseline="30000">
                <a:latin typeface="Cambria"/>
              </a:rPr>
              <a:t>−λ</a:t>
            </a:r>
            <a:r>
              <a:rPr sz="1700" b="0">
                <a:latin typeface="Cambria"/>
              </a:rPr>
              <a:t> · λ</a:t>
            </a:r>
            <a:r>
              <a:rPr sz="1700" b="0" baseline="30000">
                <a:latin typeface="Cambria"/>
              </a:rPr>
              <a:t>k</a:t>
            </a:r>
            <a:r>
              <a:rPr sz="1700" b="0">
                <a:latin typeface="Cambria"/>
              </a:rPr>
              <a:t> / k!</a:t>
            </a:r>
          </a:p>
        </p:txBody>
      </p:sp>
      <p:sp>
        <p:nvSpPr>
          <p:cNvPr id="191495" name="TextBox 191494"/>
          <p:cNvSpPr txBox="1"/>
          <p:nvPr/>
        </p:nvSpPr>
        <p:spPr>
          <a:xfrm>
            <a:off x="4397471" y="2509997"/>
            <a:ext cx="3094892" cy="7284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>
                <a:latin typeface="Cambria"/>
              </a:rPr>
              <a:t>P(X = x) = μ</a:t>
            </a:r>
            <a:r>
              <a:rPr sz="1900" baseline="30000">
                <a:latin typeface="Cambria"/>
              </a:rPr>
              <a:t>x</a:t>
            </a:r>
            <a:r>
              <a:rPr sz="1900">
                <a:latin typeface="Cambria"/>
              </a:rPr>
              <a:t> e</a:t>
            </a:r>
            <a:r>
              <a:rPr sz="1900" baseline="30000">
                <a:latin typeface="Cambria"/>
              </a:rPr>
              <a:t>−μ</a:t>
            </a:r>
            <a:r>
              <a:rPr sz="1900">
                <a:latin typeface="Cambria"/>
              </a:rPr>
              <a:t> / x!</a:t>
            </a:r>
          </a:p>
        </p:txBody>
      </p:sp>
      <p:sp>
        <p:nvSpPr>
          <p:cNvPr id="191496" name="TextBox 191495"/>
          <p:cNvSpPr txBox="1"/>
          <p:nvPr/>
        </p:nvSpPr>
        <p:spPr>
          <a:xfrm>
            <a:off x="4297990" y="4872555"/>
            <a:ext cx="3616658" cy="9472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>
                <a:latin typeface="Cambria"/>
              </a:rPr>
              <a:t>Mean : μ (rate per interval)</a:t>
            </a:r>
          </a:p>
          <a:p>
            <a:r>
              <a:rPr sz="1800">
                <a:latin typeface="Cambria"/>
              </a:rPr>
              <a:t>Variance : μ</a:t>
            </a:r>
          </a:p>
        </p:txBody>
      </p:sp>
    </p:spTree>
    <p:extLst>
      <p:ext uri="{BB962C8B-B14F-4D97-AF65-F5344CB8AC3E}">
        <p14:creationId xmlns:p14="http://schemas.microsoft.com/office/powerpoint/2010/main" val="13627357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4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>
          <a:xfrm>
            <a:off x="2209800" y="152400"/>
            <a:ext cx="7793038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altLang="en-US" dirty="0"/>
              <a:t>Where does the Poisson distribution come from?</a:t>
            </a:r>
          </a:p>
        </p:txBody>
      </p:sp>
      <p:sp>
        <p:nvSpPr>
          <p:cNvPr id="179205" name="TextBox 5"/>
          <p:cNvSpPr txBox="1">
            <a:spLocks noChangeArrowheads="1"/>
          </p:cNvSpPr>
          <p:nvPr/>
        </p:nvSpPr>
        <p:spPr bwMode="auto">
          <a:xfrm>
            <a:off x="1369276" y="1621602"/>
            <a:ext cx="8891473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000" dirty="0"/>
              <a:t>In a very small interval of time, either nothing happens or one event happens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F54582F-1051-3E68-6212-788C38D1A9D2}"/>
              </a:ext>
            </a:extLst>
          </p:cNvPr>
          <p:cNvGrpSpPr/>
          <p:nvPr/>
        </p:nvGrpSpPr>
        <p:grpSpPr>
          <a:xfrm>
            <a:off x="0" y="2748024"/>
            <a:ext cx="13615409" cy="3406115"/>
            <a:chOff x="602166" y="2347914"/>
            <a:chExt cx="9946888" cy="2488375"/>
          </a:xfrm>
        </p:grpSpPr>
        <p:sp>
          <p:nvSpPr>
            <p:cNvPr id="179203" name="TextBox 3"/>
            <p:cNvSpPr txBox="1">
              <a:spLocks noChangeArrowheads="1"/>
            </p:cNvSpPr>
            <p:nvPr/>
          </p:nvSpPr>
          <p:spPr bwMode="auto">
            <a:xfrm>
              <a:off x="1369276" y="4106041"/>
              <a:ext cx="9001125" cy="4000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charset="2"/>
                <a:buChar char="n"/>
                <a:defRPr sz="3200">
                  <a:solidFill>
                    <a:schemeClr val="tx1"/>
                  </a:solidFill>
                  <a:latin typeface="Tahoma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charset="2"/>
                <a:buChar char="n"/>
                <a:defRPr sz="2800">
                  <a:solidFill>
                    <a:schemeClr val="tx1"/>
                  </a:solidFill>
                  <a:latin typeface="Tahoma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charset="2"/>
                <a:buChar char="n"/>
                <a:defRPr sz="2400">
                  <a:solidFill>
                    <a:schemeClr val="tx1"/>
                  </a:solidFill>
                  <a:latin typeface="Tahoma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charset="2"/>
                <a:buChar char="n"/>
                <a:defRPr sz="2000">
                  <a:solidFill>
                    <a:schemeClr val="tx1"/>
                  </a:solidFill>
                  <a:latin typeface="Tahoma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charset="2"/>
                <a:buChar char="n"/>
                <a:defRPr sz="2000">
                  <a:solidFill>
                    <a:schemeClr val="tx1"/>
                  </a:solidFill>
                  <a:latin typeface="Tahoma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charset="2"/>
                <a:buChar char="n"/>
                <a:defRPr sz="2000">
                  <a:solidFill>
                    <a:schemeClr val="tx1"/>
                  </a:solidFill>
                  <a:latin typeface="Tahoma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charset="2"/>
                <a:buChar char="n"/>
                <a:defRPr sz="2000">
                  <a:solidFill>
                    <a:schemeClr val="tx1"/>
                  </a:solidFill>
                  <a:latin typeface="Tahoma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charset="2"/>
                <a:buChar char="n"/>
                <a:defRPr sz="2000">
                  <a:solidFill>
                    <a:schemeClr val="tx1"/>
                  </a:solidFill>
                  <a:latin typeface="Tahoma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charset="2"/>
                <a:buChar char="n"/>
                <a:defRPr sz="2000">
                  <a:solidFill>
                    <a:schemeClr val="tx1"/>
                  </a:solidFill>
                  <a:latin typeface="Tahoma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en-US" sz="2000" dirty="0"/>
                <a:t>Where o(</a:t>
              </a:r>
              <a:r>
                <a:rPr lang="en-US" altLang="en-US" sz="2000" dirty="0" err="1"/>
                <a:t>dt</a:t>
              </a:r>
              <a:r>
                <a:rPr lang="en-US" altLang="en-US" sz="2000" dirty="0"/>
                <a:t>) represents higher order term of </a:t>
              </a:r>
              <a:r>
                <a:rPr lang="en-US" altLang="en-US" sz="2000" dirty="0" err="1"/>
                <a:t>dt</a:t>
              </a:r>
              <a:r>
                <a:rPr lang="en-US" altLang="en-US" sz="2000" dirty="0"/>
                <a:t> that can be ignored as </a:t>
              </a:r>
              <a:r>
                <a:rPr lang="en-US" altLang="en-US" sz="2000" dirty="0" err="1"/>
                <a:t>dt</a:t>
              </a:r>
              <a:r>
                <a:rPr lang="en-US" altLang="en-US" sz="2000" dirty="0"/>
                <a:t> </a:t>
              </a:r>
              <a:r>
                <a:rPr lang="en-US" altLang="en-US" sz="2000" dirty="0"/>
                <a:t>→ 0</a:t>
              </a:r>
              <a:endParaRPr lang="en-US" altLang="en-US" sz="2000" dirty="0"/>
            </a:p>
          </p:txBody>
        </p: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788F74B1-03CD-1945-98DA-1A826BE9D511}"/>
                </a:ext>
              </a:extLst>
            </p:cNvPr>
            <p:cNvSpPr/>
            <p:nvPr/>
          </p:nvSpPr>
          <p:spPr>
            <a:xfrm>
              <a:off x="7707236" y="2347914"/>
              <a:ext cx="1071562" cy="48101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5E1CD9FE-7A4D-B068-9A6F-21B7AE96084D}"/>
                </a:ext>
              </a:extLst>
            </p:cNvPr>
            <p:cNvSpPr/>
            <p:nvPr/>
          </p:nvSpPr>
          <p:spPr>
            <a:xfrm>
              <a:off x="7252302" y="2827187"/>
              <a:ext cx="1071562" cy="48101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F6F88C4A-1458-1B06-9E85-0C87B74257B3}"/>
                </a:ext>
              </a:extLst>
            </p:cNvPr>
            <p:cNvSpPr/>
            <p:nvPr/>
          </p:nvSpPr>
          <p:spPr>
            <a:xfrm>
              <a:off x="7859636" y="2500314"/>
              <a:ext cx="1071562" cy="48101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6C34B7D-5769-FFC1-9375-493E238A02A9}"/>
                </a:ext>
              </a:extLst>
            </p:cNvPr>
            <p:cNvSpPr/>
            <p:nvPr/>
          </p:nvSpPr>
          <p:spPr>
            <a:xfrm flipV="1">
              <a:off x="602166" y="3222933"/>
              <a:ext cx="9946888" cy="161335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179206" name="TextBox 179205"/>
          <p:cNvSpPr txBox="1"/>
          <p:nvPr/>
        </p:nvSpPr>
        <p:spPr>
          <a:xfrm>
            <a:off x="2728913" y="2347914"/>
            <a:ext cx="6172200" cy="143192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b="0">
                <a:latin typeface="Cambria"/>
              </a:rPr>
              <a:t>Pr{no event in the next dt} = 1 − λdt + o(dt)</a:t>
            </a:r>
          </a:p>
          <a:p>
            <a:r>
              <a:rPr sz="1900" b="0">
                <a:latin typeface="Cambria"/>
              </a:rPr>
              <a:t>Pr{1 event in the next dt} = λdt + o(dt)</a:t>
            </a:r>
          </a:p>
          <a:p>
            <a:r>
              <a:rPr sz="1900" b="0">
                <a:latin typeface="Cambria"/>
              </a:rPr>
              <a:t>Pr{more than one event in the next dt} = o(dt)</a:t>
            </a:r>
          </a:p>
        </p:txBody>
      </p:sp>
    </p:spTree>
    <p:extLst>
      <p:ext uri="{BB962C8B-B14F-4D97-AF65-F5344CB8AC3E}">
        <p14:creationId xmlns:p14="http://schemas.microsoft.com/office/powerpoint/2010/main" val="185367517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>
          <a:xfrm>
            <a:off x="175630" y="-85756"/>
            <a:ext cx="11893420" cy="1143000"/>
          </a:xfrm>
        </p:spPr>
        <p:txBody>
          <a:bodyPr>
            <a:normAutofit/>
          </a:bodyPr>
          <a:lstStyle/>
          <a:p>
            <a:pPr algn="ctr" eaLnBrk="1" hangingPunct="1">
              <a:defRPr/>
            </a:pPr>
            <a:r>
              <a:rPr lang="en-US" altLang="en-US" dirty="0"/>
              <a:t>Where does the Poisson distribution come from?</a:t>
            </a:r>
          </a:p>
        </p:txBody>
      </p:sp>
      <p:sp>
        <p:nvSpPr>
          <p:cNvPr id="181250" name="TextBox 5"/>
          <p:cNvSpPr txBox="1">
            <a:spLocks noChangeArrowheads="1"/>
          </p:cNvSpPr>
          <p:nvPr/>
        </p:nvSpPr>
        <p:spPr bwMode="auto">
          <a:xfrm>
            <a:off x="1554163" y="1447800"/>
            <a:ext cx="8978900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000">
                <a:solidFill>
                  <a:srgbClr val="000000"/>
                </a:solidFill>
              </a:rPr>
              <a:t>What we want is the probability of </a:t>
            </a:r>
            <a:r>
              <a:rPr lang="en-US" altLang="en-US" sz="2000" i="1">
                <a:solidFill>
                  <a:srgbClr val="000000"/>
                </a:solidFill>
              </a:rPr>
              <a:t>k </a:t>
            </a:r>
            <a:r>
              <a:rPr lang="en-US" altLang="en-US" sz="2000">
                <a:solidFill>
                  <a:srgbClr val="000000"/>
                </a:solidFill>
              </a:rPr>
              <a:t>events in a a longer interval, say time = </a:t>
            </a:r>
            <a:r>
              <a:rPr lang="en-US" altLang="en-US" sz="2000" i="1">
                <a:solidFill>
                  <a:srgbClr val="000000"/>
                </a:solidFill>
              </a:rPr>
              <a:t>t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1514476" y="2203854"/>
            <a:ext cx="9215728" cy="38164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Tx/>
              <a:buAutoNum type="arabicPeriod"/>
              <a:defRPr/>
            </a:pPr>
            <a:r>
              <a:rPr lang="en-US" sz="2200" dirty="0"/>
              <a:t>How could we have no events up to time t + </a:t>
            </a:r>
            <a:r>
              <a:rPr lang="en-US" sz="2200" dirty="0" err="1"/>
              <a:t>dt</a:t>
            </a:r>
            <a:r>
              <a:rPr lang="en-US" sz="2200" dirty="0"/>
              <a:t>? </a:t>
            </a:r>
          </a:p>
          <a:p>
            <a:pPr marL="457200" indent="-457200">
              <a:buFontTx/>
              <a:buAutoNum type="arabicPeriod"/>
              <a:defRPr/>
            </a:pPr>
            <a:endParaRPr lang="en-US" sz="2200" dirty="0"/>
          </a:p>
          <a:p>
            <a:pPr marL="457200" indent="-457200">
              <a:buFontTx/>
              <a:buAutoNum type="arabicPeriod"/>
              <a:defRPr/>
            </a:pPr>
            <a:endParaRPr lang="en-US" sz="2200" dirty="0"/>
          </a:p>
          <a:p>
            <a:pPr marL="457200" indent="-457200">
              <a:buFontTx/>
              <a:buAutoNum type="arabicPeriod"/>
              <a:defRPr/>
            </a:pPr>
            <a:endParaRPr lang="en-US" sz="2200" dirty="0"/>
          </a:p>
          <a:p>
            <a:pPr marL="457200" indent="-457200">
              <a:buFontTx/>
              <a:buAutoNum type="arabicPeriod"/>
              <a:defRPr/>
            </a:pPr>
            <a:r>
              <a:rPr lang="en-US" sz="2200" dirty="0"/>
              <a:t>Use the definition of the derivative to show that this leads to</a:t>
            </a:r>
          </a:p>
          <a:p>
            <a:pPr marL="457200" indent="-457200">
              <a:buFontTx/>
              <a:buAutoNum type="arabicPeriod"/>
              <a:defRPr/>
            </a:pPr>
            <a:endParaRPr lang="en-US" sz="2200" dirty="0"/>
          </a:p>
          <a:p>
            <a:pPr marL="457200" indent="-457200">
              <a:buFontTx/>
              <a:buAutoNum type="arabicPeriod"/>
              <a:defRPr/>
            </a:pPr>
            <a:endParaRPr lang="en-US" sz="2200" dirty="0"/>
          </a:p>
          <a:p>
            <a:pPr marL="457200" indent="-457200">
              <a:buFontTx/>
              <a:buAutoNum type="arabicPeriod"/>
              <a:defRPr/>
            </a:pPr>
            <a:endParaRPr lang="en-US" sz="2200" dirty="0"/>
          </a:p>
          <a:p>
            <a:pPr marL="457200" indent="-457200">
              <a:buFontTx/>
              <a:buAutoNum type="arabicPeriod"/>
              <a:defRPr/>
            </a:pPr>
            <a:endParaRPr lang="en-US" sz="2200" dirty="0"/>
          </a:p>
          <a:p>
            <a:pPr marL="457200" indent="-457200">
              <a:buFontTx/>
              <a:buAutoNum type="arabicPeriod"/>
              <a:defRPr/>
            </a:pPr>
            <a:r>
              <a:rPr lang="en-US" sz="2200" dirty="0"/>
              <a:t>Solve to find the zero term of the Poisson, </a:t>
            </a:r>
            <a:r>
              <a:rPr lang="en-US" sz="2200" dirty="0" err="1"/>
              <a:t>Pr</a:t>
            </a:r>
            <a:r>
              <a:rPr lang="en-US" sz="2200" dirty="0"/>
              <a:t>(no events)</a:t>
            </a:r>
          </a:p>
          <a:p>
            <a:pPr eaLnBrk="1" hangingPunct="1">
              <a:defRPr/>
            </a:pPr>
            <a:endParaRPr lang="en-US" sz="2200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29A4099D-0DFA-1F81-90B8-6EC02088523B}"/>
              </a:ext>
            </a:extLst>
          </p:cNvPr>
          <p:cNvGrpSpPr/>
          <p:nvPr/>
        </p:nvGrpSpPr>
        <p:grpSpPr>
          <a:xfrm>
            <a:off x="3207885" y="2659084"/>
            <a:ext cx="5671456" cy="831407"/>
            <a:chOff x="3207885" y="2659084"/>
            <a:chExt cx="5671456" cy="831407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EA5895F1-51A1-7141-72E4-42C0B0F1B6AA}"/>
                </a:ext>
              </a:extLst>
            </p:cNvPr>
            <p:cNvSpPr/>
            <p:nvPr/>
          </p:nvSpPr>
          <p:spPr>
            <a:xfrm>
              <a:off x="7480495" y="2770594"/>
              <a:ext cx="1398846" cy="65840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181251" name="TextBox 181250"/>
          <p:cNvSpPr txBox="1"/>
          <p:nvPr/>
        </p:nvSpPr>
        <p:spPr>
          <a:xfrm>
            <a:off x="4640426" y="4125439"/>
            <a:ext cx="2278063" cy="105092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0">
                <a:latin typeface="Cambria"/>
              </a:rPr>
              <a:t>dp</a:t>
            </a:r>
            <a:r>
              <a:rPr sz="2000" b="0" baseline="-25000">
                <a:latin typeface="Cambria"/>
              </a:rPr>
              <a:t>0</a:t>
            </a:r>
            <a:r>
              <a:rPr sz="2000" b="0">
                <a:latin typeface="Cambria"/>
              </a:rPr>
              <a:t> / dt = −λ p</a:t>
            </a:r>
            <a:r>
              <a:rPr sz="2000" b="0" baseline="-25000">
                <a:latin typeface="Cambria"/>
              </a:rPr>
              <a:t>0</a:t>
            </a:r>
          </a:p>
        </p:txBody>
      </p:sp>
      <p:sp>
        <p:nvSpPr>
          <p:cNvPr id="181252" name="TextBox 181251"/>
          <p:cNvSpPr txBox="1"/>
          <p:nvPr/>
        </p:nvSpPr>
        <p:spPr>
          <a:xfrm>
            <a:off x="4159900" y="5897173"/>
            <a:ext cx="2963863" cy="58261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0">
                <a:latin typeface="Cambria"/>
              </a:rPr>
              <a:t>p</a:t>
            </a:r>
            <a:r>
              <a:rPr sz="2600" b="0" baseline="-25000">
                <a:latin typeface="Cambria"/>
              </a:rPr>
              <a:t>0</a:t>
            </a:r>
            <a:r>
              <a:rPr sz="2600" b="0">
                <a:latin typeface="Cambria"/>
              </a:rPr>
              <a:t>(t) = exp(−λt)</a:t>
            </a:r>
          </a:p>
        </p:txBody>
      </p:sp>
      <p:sp>
        <p:nvSpPr>
          <p:cNvPr id="181253" name="TextBox 181252"/>
          <p:cNvSpPr txBox="1"/>
          <p:nvPr/>
        </p:nvSpPr>
        <p:spPr>
          <a:xfrm>
            <a:off x="3207885" y="2832085"/>
            <a:ext cx="5671456" cy="65840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0">
                <a:latin typeface="Cambria"/>
              </a:rPr>
              <a:t>p</a:t>
            </a:r>
            <a:r>
              <a:rPr sz="2300" b="0" baseline="-25000">
                <a:latin typeface="Cambria"/>
              </a:rPr>
              <a:t>0</a:t>
            </a:r>
            <a:r>
              <a:rPr sz="2300" b="0">
                <a:latin typeface="Cambria"/>
              </a:rPr>
              <a:t>(t + dt) = p</a:t>
            </a:r>
            <a:r>
              <a:rPr sz="2300" b="0" baseline="-25000">
                <a:latin typeface="Cambria"/>
              </a:rPr>
              <a:t>0</a:t>
            </a:r>
            <a:r>
              <a:rPr sz="2300" b="0">
                <a:latin typeface="Cambria"/>
              </a:rPr>
              <a:t>(t)(1 − λdt − o(dt))</a:t>
            </a:r>
          </a:p>
        </p:txBody>
      </p:sp>
    </p:spTree>
    <p:extLst>
      <p:ext uri="{BB962C8B-B14F-4D97-AF65-F5344CB8AC3E}">
        <p14:creationId xmlns:p14="http://schemas.microsoft.com/office/powerpoint/2010/main" val="8355071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>
          <a:xfrm>
            <a:off x="2438400" y="304800"/>
            <a:ext cx="7793038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altLang="en-US" dirty="0"/>
              <a:t>Zero term of the Poisson Distribution</a:t>
            </a:r>
          </a:p>
        </p:txBody>
      </p:sp>
      <p:sp>
        <p:nvSpPr>
          <p:cNvPr id="183304" name="TextBox 9"/>
          <p:cNvSpPr txBox="1">
            <a:spLocks noChangeArrowheads="1"/>
          </p:cNvSpPr>
          <p:nvPr/>
        </p:nvSpPr>
        <p:spPr bwMode="auto">
          <a:xfrm>
            <a:off x="2225676" y="2029375"/>
            <a:ext cx="3732213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/>
              <a:t>Probability Mass Function:</a:t>
            </a:r>
          </a:p>
        </p:txBody>
      </p:sp>
      <p:sp>
        <p:nvSpPr>
          <p:cNvPr id="183305" name="TextBox 183304"/>
          <p:cNvSpPr txBox="1"/>
          <p:nvPr/>
        </p:nvSpPr>
        <p:spPr>
          <a:xfrm>
            <a:off x="5916613" y="1713463"/>
            <a:ext cx="3516923" cy="10953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b="0">
                <a:latin typeface="Cambria"/>
              </a:rPr>
              <a:t>p</a:t>
            </a:r>
            <a:r>
              <a:rPr sz="1900" b="0" baseline="-25000">
                <a:latin typeface="Cambria"/>
              </a:rPr>
              <a:t>k</a:t>
            </a:r>
            <a:r>
              <a:rPr sz="1900" b="0">
                <a:latin typeface="Cambria"/>
              </a:rPr>
              <a:t>(t) = (λt)</a:t>
            </a:r>
            <a:r>
              <a:rPr sz="1900" b="0" baseline="30000">
                <a:latin typeface="Cambria"/>
              </a:rPr>
              <a:t>k</a:t>
            </a:r>
            <a:r>
              <a:rPr sz="1900" b="0">
                <a:latin typeface="Cambria"/>
              </a:rPr>
              <a:t> / k! · e</a:t>
            </a:r>
            <a:r>
              <a:rPr sz="1900" b="0" baseline="30000">
                <a:latin typeface="Cambria"/>
              </a:rPr>
              <a:t>−λt</a:t>
            </a:r>
          </a:p>
        </p:txBody>
      </p:sp>
      <p:sp>
        <p:nvSpPr>
          <p:cNvPr id="183306" name="TextBox 183305"/>
          <p:cNvSpPr txBox="1"/>
          <p:nvPr/>
        </p:nvSpPr>
        <p:spPr>
          <a:xfrm>
            <a:off x="2335213" y="3158089"/>
            <a:ext cx="6235700" cy="7048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0">
                <a:latin typeface="Cambria"/>
              </a:rPr>
              <a:t>Pr{no event in 0 to t} = p</a:t>
            </a:r>
            <a:r>
              <a:rPr sz="2300" b="0" baseline="-25000">
                <a:latin typeface="Cambria"/>
              </a:rPr>
              <a:t>0</a:t>
            </a:r>
            <a:r>
              <a:rPr sz="2300" b="0">
                <a:latin typeface="Cambria"/>
              </a:rPr>
              <a:t>(t) = e</a:t>
            </a:r>
            <a:r>
              <a:rPr sz="2300" b="0" baseline="30000">
                <a:latin typeface="Cambria"/>
              </a:rPr>
              <a:t>−λt</a:t>
            </a:r>
          </a:p>
        </p:txBody>
      </p:sp>
    </p:spTree>
    <p:extLst>
      <p:ext uri="{BB962C8B-B14F-4D97-AF65-F5344CB8AC3E}">
        <p14:creationId xmlns:p14="http://schemas.microsoft.com/office/powerpoint/2010/main" val="98105612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>
          <a:xfrm>
            <a:off x="2409825" y="0"/>
            <a:ext cx="7793038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altLang="en-US" dirty="0"/>
              <a:t>First term of the Poisson Distribution</a:t>
            </a:r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788193" y="1447800"/>
            <a:ext cx="11024361" cy="1828799"/>
          </a:xfrm>
        </p:spPr>
        <p:txBody>
          <a:bodyPr>
            <a:noAutofit/>
          </a:bodyPr>
          <a:lstStyle/>
          <a:p>
            <a:pPr eaLnBrk="1" hangingPunct="1">
              <a:defRPr/>
            </a:pPr>
            <a:r>
              <a:rPr lang="en-US" altLang="en-US" sz="2600" dirty="0"/>
              <a:t>How can you have </a:t>
            </a:r>
            <a:r>
              <a:rPr lang="en-US" altLang="en-US" sz="2600" u="sng" dirty="0"/>
              <a:t>one</a:t>
            </a:r>
            <a:r>
              <a:rPr lang="en-US" altLang="en-US" sz="2600" dirty="0"/>
              <a:t> event in time 0 to </a:t>
            </a:r>
            <a:r>
              <a:rPr lang="en-US" altLang="en-US" sz="2600" i="1" dirty="0"/>
              <a:t>t </a:t>
            </a:r>
            <a:r>
              <a:rPr lang="en-US" altLang="en-US" sz="2600" dirty="0"/>
              <a:t>+ </a:t>
            </a:r>
            <a:r>
              <a:rPr lang="en-US" altLang="en-US" sz="2600" i="1" dirty="0"/>
              <a:t>dt</a:t>
            </a:r>
            <a:r>
              <a:rPr lang="en-US" altLang="en-US" sz="2600" dirty="0"/>
              <a:t>?</a:t>
            </a:r>
          </a:p>
          <a:p>
            <a:pPr eaLnBrk="1" hangingPunct="1">
              <a:defRPr/>
            </a:pPr>
            <a:endParaRPr lang="en-US" altLang="en-US" sz="2600" dirty="0"/>
          </a:p>
          <a:p>
            <a:pPr>
              <a:defRPr/>
            </a:pPr>
            <a:r>
              <a:rPr lang="en-US" sz="2600" dirty="0"/>
              <a:t>Either we had no event in 0 to </a:t>
            </a:r>
            <a:r>
              <a:rPr lang="en-US" sz="2600" i="1" dirty="0"/>
              <a:t>t</a:t>
            </a:r>
            <a:r>
              <a:rPr lang="en-US" sz="2600" dirty="0"/>
              <a:t> and one event in </a:t>
            </a:r>
            <a:r>
              <a:rPr lang="en-US" sz="2600" i="1" dirty="0"/>
              <a:t>t</a:t>
            </a:r>
            <a:r>
              <a:rPr lang="en-US" sz="2600" dirty="0"/>
              <a:t> to </a:t>
            </a:r>
            <a:r>
              <a:rPr lang="en-US" sz="2600" i="1" dirty="0"/>
              <a:t>t</a:t>
            </a:r>
            <a:r>
              <a:rPr lang="en-US" sz="2600" dirty="0"/>
              <a:t> + </a:t>
            </a:r>
            <a:r>
              <a:rPr lang="en-US" sz="2600" i="1" dirty="0"/>
              <a:t>dt</a:t>
            </a:r>
            <a:r>
              <a:rPr lang="en-US" sz="2600" dirty="0"/>
              <a:t> or we had one event in 0 to </a:t>
            </a:r>
            <a:r>
              <a:rPr lang="en-US" sz="2600" i="1" dirty="0"/>
              <a:t>t</a:t>
            </a:r>
            <a:r>
              <a:rPr lang="en-US" sz="2600" dirty="0"/>
              <a:t> and no event in </a:t>
            </a:r>
            <a:r>
              <a:rPr lang="en-US" sz="2600" i="1" dirty="0"/>
              <a:t>t</a:t>
            </a:r>
            <a:r>
              <a:rPr lang="en-US" sz="2600" dirty="0"/>
              <a:t> to </a:t>
            </a:r>
            <a:r>
              <a:rPr lang="en-US" sz="2600" i="1" dirty="0"/>
              <a:t>t</a:t>
            </a:r>
            <a:r>
              <a:rPr lang="en-US" sz="2600" dirty="0"/>
              <a:t> + </a:t>
            </a:r>
            <a:r>
              <a:rPr lang="en-US" sz="2600" i="1" dirty="0"/>
              <a:t>dt</a:t>
            </a:r>
            <a:r>
              <a:rPr lang="en-US" sz="2600" dirty="0"/>
              <a:t> </a:t>
            </a:r>
          </a:p>
          <a:p>
            <a:pPr>
              <a:defRPr/>
            </a:pPr>
            <a:endParaRPr lang="en-US" sz="2600" dirty="0"/>
          </a:p>
          <a:p>
            <a:pPr>
              <a:defRPr/>
            </a:pPr>
            <a:r>
              <a:rPr lang="en-US" sz="2600" dirty="0"/>
              <a:t>Continue like this to derive other terms</a:t>
            </a:r>
          </a:p>
          <a:p>
            <a:pPr>
              <a:defRPr/>
            </a:pPr>
            <a:endParaRPr lang="en-US" sz="2600" dirty="0"/>
          </a:p>
          <a:p>
            <a:pPr>
              <a:defRPr/>
            </a:pPr>
            <a:r>
              <a:rPr lang="en-US" sz="2600" dirty="0"/>
              <a:t>Another derivation starts with the Binomial distribution where the average number of successes, </a:t>
            </a:r>
            <a:r>
              <a:rPr lang="en-US" sz="2600" i="1" dirty="0"/>
              <a:t>Np</a:t>
            </a:r>
            <a:r>
              <a:rPr lang="en-US" sz="2600" dirty="0"/>
              <a:t>, is replaced by.    and N approaches infinity</a:t>
            </a:r>
          </a:p>
        </p:txBody>
      </p:sp>
      <p:pic>
        <p:nvPicPr>
          <p:cNvPr id="2" name="Picture 1" descr="Equation: p_k(t) = (lambda t)^k / k! times e^(-lambda t). The full Poisson pmf." title="Equation: p_k(t) = (lambda t)^k / k! times e^(-lambda t). The full Poisson pmf.">
            <a:extLst>
              <a:ext uri="{FF2B5EF4-FFF2-40B4-BE49-F238E27FC236}">
                <a16:creationId xmlns:a16="http://schemas.microsoft.com/office/drawing/2014/main" id="{61487007-FEC4-C45B-86F4-A9C2B585E78C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2380" t="-1602" r="8590" b="17386"/>
          <a:stretch/>
        </p:blipFill>
        <p:spPr bwMode="auto">
          <a:xfrm>
            <a:off x="6423104" y="5075663"/>
            <a:ext cx="267629" cy="4906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9131059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>
          <a:xfrm>
            <a:off x="2209800" y="30480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dirty="0"/>
              <a:t>The Poisson Distribution - </a:t>
            </a:r>
            <a:r>
              <a:rPr lang="en-US" altLang="en-US" i="1" dirty="0" err="1"/>
              <a:t>pmf</a:t>
            </a:r>
            <a:endParaRPr lang="en-US" altLang="en-US" i="1" dirty="0"/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2470151" y="1704975"/>
            <a:ext cx="8241648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dirty="0"/>
              <a:t>Various notations:</a:t>
            </a:r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buFont typeface="Wingdings" charset="2"/>
              <a:buNone/>
              <a:defRPr/>
            </a:pPr>
            <a:endParaRPr lang="en-US" altLang="en-US" dirty="0"/>
          </a:p>
          <a:p>
            <a:pPr eaLnBrk="1" hangingPunct="1">
              <a:buFont typeface="Wingdings" charset="2"/>
              <a:buNone/>
              <a:defRPr/>
            </a:pPr>
            <a:r>
              <a:rPr lang="en-US" altLang="en-US" dirty="0"/>
              <a:t> Note that </a:t>
            </a:r>
            <a:r>
              <a:rPr lang="en-US" altLang="en-US" i="1" dirty="0"/>
              <a:t>x</a:t>
            </a:r>
            <a:r>
              <a:rPr lang="en-US" altLang="en-US" dirty="0"/>
              <a:t> (or </a:t>
            </a:r>
            <a:r>
              <a:rPr lang="en-US" altLang="en-US" i="1" dirty="0"/>
              <a:t>k</a:t>
            </a:r>
            <a:r>
              <a:rPr lang="en-US" altLang="en-US" dirty="0"/>
              <a:t>) can be any non-negative integer.</a:t>
            </a:r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endParaRPr lang="en-US" altLang="en-US" dirty="0"/>
          </a:p>
        </p:txBody>
      </p:sp>
      <p:sp>
        <p:nvSpPr>
          <p:cNvPr id="191493" name="TextBox 191492"/>
          <p:cNvSpPr txBox="1"/>
          <p:nvPr/>
        </p:nvSpPr>
        <p:spPr>
          <a:xfrm>
            <a:off x="1099295" y="2277675"/>
            <a:ext cx="3516923" cy="11930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b="0">
                <a:latin typeface="Cambria"/>
              </a:rPr>
              <a:t>p</a:t>
            </a:r>
            <a:r>
              <a:rPr sz="1900" b="0" baseline="-25000">
                <a:latin typeface="Cambria"/>
              </a:rPr>
              <a:t>k</a:t>
            </a:r>
            <a:r>
              <a:rPr sz="1900" b="0">
                <a:latin typeface="Cambria"/>
              </a:rPr>
              <a:t>(t) = (λt)</a:t>
            </a:r>
            <a:r>
              <a:rPr sz="1900" b="0" baseline="30000">
                <a:latin typeface="Cambria"/>
              </a:rPr>
              <a:t>k</a:t>
            </a:r>
            <a:r>
              <a:rPr sz="1900" b="0">
                <a:latin typeface="Cambria"/>
              </a:rPr>
              <a:t> / k! · e</a:t>
            </a:r>
            <a:r>
              <a:rPr sz="1900" b="0" baseline="30000">
                <a:latin typeface="Cambria"/>
              </a:rPr>
              <a:t>−λt</a:t>
            </a:r>
          </a:p>
        </p:txBody>
      </p:sp>
      <p:sp>
        <p:nvSpPr>
          <p:cNvPr id="191494" name="TextBox 191493"/>
          <p:cNvSpPr txBox="1"/>
          <p:nvPr/>
        </p:nvSpPr>
        <p:spPr>
          <a:xfrm>
            <a:off x="7117699" y="2509997"/>
            <a:ext cx="4845701" cy="7445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700" b="0">
                <a:latin typeface="Cambria"/>
              </a:rPr>
              <a:t>P(k events in interval) = e</a:t>
            </a:r>
            <a:r>
              <a:rPr sz="1700" b="0" baseline="30000">
                <a:latin typeface="Cambria"/>
              </a:rPr>
              <a:t>−λ</a:t>
            </a:r>
            <a:r>
              <a:rPr sz="1700" b="0">
                <a:latin typeface="Cambria"/>
              </a:rPr>
              <a:t> · λ</a:t>
            </a:r>
            <a:r>
              <a:rPr sz="1700" b="0" baseline="30000">
                <a:latin typeface="Cambria"/>
              </a:rPr>
              <a:t>k</a:t>
            </a:r>
            <a:r>
              <a:rPr sz="1700" b="0">
                <a:latin typeface="Cambria"/>
              </a:rPr>
              <a:t> / k!</a:t>
            </a:r>
          </a:p>
        </p:txBody>
      </p:sp>
      <p:sp>
        <p:nvSpPr>
          <p:cNvPr id="191495" name="TextBox 191494"/>
          <p:cNvSpPr txBox="1"/>
          <p:nvPr/>
        </p:nvSpPr>
        <p:spPr>
          <a:xfrm>
            <a:off x="4397471" y="2509997"/>
            <a:ext cx="3094892" cy="7284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>
                <a:latin typeface="Cambria"/>
              </a:rPr>
              <a:t>P(X = x) = μ</a:t>
            </a:r>
            <a:r>
              <a:rPr sz="1900" baseline="30000">
                <a:latin typeface="Cambria"/>
              </a:rPr>
              <a:t>x</a:t>
            </a:r>
            <a:r>
              <a:rPr sz="1900">
                <a:latin typeface="Cambria"/>
              </a:rPr>
              <a:t> e</a:t>
            </a:r>
            <a:r>
              <a:rPr sz="1900" baseline="30000">
                <a:latin typeface="Cambria"/>
              </a:rPr>
              <a:t>−μ</a:t>
            </a:r>
            <a:r>
              <a:rPr sz="1900">
                <a:latin typeface="Cambria"/>
              </a:rPr>
              <a:t> / x!</a:t>
            </a:r>
          </a:p>
        </p:txBody>
      </p:sp>
      <p:sp>
        <p:nvSpPr>
          <p:cNvPr id="191496" name="TextBox 191495"/>
          <p:cNvSpPr txBox="1"/>
          <p:nvPr/>
        </p:nvSpPr>
        <p:spPr>
          <a:xfrm>
            <a:off x="4297990" y="4872555"/>
            <a:ext cx="3616658" cy="9472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>
                <a:latin typeface="Cambria"/>
              </a:rPr>
              <a:t>Mean : μ (rate per interval)</a:t>
            </a:r>
          </a:p>
          <a:p>
            <a:r>
              <a:rPr sz="1800">
                <a:latin typeface="Cambria"/>
              </a:rPr>
              <a:t>Variance : μ</a:t>
            </a:r>
          </a:p>
        </p:txBody>
      </p:sp>
    </p:spTree>
    <p:extLst>
      <p:ext uri="{BB962C8B-B14F-4D97-AF65-F5344CB8AC3E}">
        <p14:creationId xmlns:p14="http://schemas.microsoft.com/office/powerpoint/2010/main" val="16094318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4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90" name="Picture 20"/>
          <p:cNvPicPr>
            <a:picLocks noGrp="1" noChangeAspect="1" noChangeArrowheads="1"/>
          </p:cNvPicPr>
          <p:nvPr>
            <p:ph sz="quarter" idx="3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87" t="2419" r="1387" b="2419"/>
          <a:stretch>
            <a:fillRect/>
          </a:stretch>
        </p:blipFill>
        <p:spPr>
          <a:xfrm>
            <a:off x="6507132" y="4119468"/>
            <a:ext cx="3857625" cy="2165350"/>
          </a:xfrm>
          <a:extLst>
            <a:ext uri="{91240B29-F687-4F45-9708-019B960494DF}">
              <a14:hiddenLine xmlns:a14="http://schemas.microsoft.com/office/drawing/2010/main" w="9525" cap="flat" cmpd="sng">
                <a:solidFill>
                  <a:schemeClr val="tx1"/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</p:pic>
      <p:sp>
        <p:nvSpPr>
          <p:cNvPr id="12291" name="Rectangle 2"/>
          <p:cNvSpPr>
            <a:spLocks noGrp="1" noChangeArrowheads="1"/>
          </p:cNvSpPr>
          <p:nvPr>
            <p:ph type="title"/>
          </p:nvPr>
        </p:nvSpPr>
        <p:spPr>
          <a:xfrm>
            <a:off x="1459941" y="393606"/>
            <a:ext cx="10390716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4000"/>
              <a:t>The Poisson Distribution Graphically</a:t>
            </a:r>
          </a:p>
        </p:txBody>
      </p:sp>
      <p:pic>
        <p:nvPicPr>
          <p:cNvPr id="12292" name="Picture 13"/>
          <p:cNvPicPr>
            <a:picLocks noGrp="1" noChangeAspect="1" noChangeArrowheads="1"/>
          </p:cNvPicPr>
          <p:nvPr>
            <p:ph sz="half"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87" t="2419" r="1387" b="2419"/>
          <a:stretch>
            <a:fillRect/>
          </a:stretch>
        </p:blipFill>
        <p:spPr>
          <a:xfrm>
            <a:off x="6478556" y="1757268"/>
            <a:ext cx="3810000" cy="2185988"/>
          </a:xfrm>
          <a:extLst>
            <a:ext uri="{91240B29-F687-4F45-9708-019B960494DF}">
              <a14:hiddenLine xmlns:a14="http://schemas.microsoft.com/office/drawing/2010/main" w="9525" cap="flat" cmpd="sng">
                <a:solidFill>
                  <a:schemeClr val="tx1"/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</p:pic>
      <p:pic>
        <p:nvPicPr>
          <p:cNvPr id="12293" name="Picture 16"/>
          <p:cNvPicPr>
            <a:picLocks noGrp="1" noChangeAspect="1" noChangeArrowheads="1"/>
          </p:cNvPicPr>
          <p:nvPr>
            <p:ph sz="quarter" idx="2"/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87" t="2419" r="1387" b="2419"/>
          <a:stretch>
            <a:fillRect/>
          </a:stretch>
        </p:blipFill>
        <p:spPr>
          <a:xfrm>
            <a:off x="1906557" y="1757269"/>
            <a:ext cx="3757613" cy="2155825"/>
          </a:xfrm>
          <a:extLst>
            <a:ext uri="{91240B29-F687-4F45-9708-019B960494DF}">
              <a14:hiddenLine xmlns:a14="http://schemas.microsoft.com/office/drawing/2010/main" w="9525" cap="flat" cmpd="sng">
                <a:solidFill>
                  <a:schemeClr val="tx1"/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</p:pic>
      <p:sp>
        <p:nvSpPr>
          <p:cNvPr id="12294" name="Text Box 10"/>
          <p:cNvSpPr txBox="1">
            <a:spLocks noChangeArrowheads="1"/>
          </p:cNvSpPr>
          <p:nvPr/>
        </p:nvSpPr>
        <p:spPr bwMode="auto">
          <a:xfrm>
            <a:off x="4891056" y="1909668"/>
            <a:ext cx="7493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3200" i="1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3200" i="1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3200" i="1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3200" i="1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3200" i="1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200" i="1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200" i="1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200" i="1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200" i="1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US" altLang="en-US" sz="2400" i="0"/>
              <a:t>μ=2</a:t>
            </a:r>
          </a:p>
        </p:txBody>
      </p:sp>
      <p:sp>
        <p:nvSpPr>
          <p:cNvPr id="12295" name="Text Box 11"/>
          <p:cNvSpPr txBox="1">
            <a:spLocks noChangeArrowheads="1"/>
          </p:cNvSpPr>
          <p:nvPr/>
        </p:nvSpPr>
        <p:spPr bwMode="auto">
          <a:xfrm>
            <a:off x="9526556" y="1909668"/>
            <a:ext cx="7493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3200" i="1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3200" i="1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3200" i="1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3200" i="1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3200" i="1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200" i="1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200" i="1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200" i="1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200" i="1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US" altLang="en-US" sz="2400" i="0"/>
              <a:t>μ=5</a:t>
            </a:r>
          </a:p>
        </p:txBody>
      </p:sp>
      <p:sp>
        <p:nvSpPr>
          <p:cNvPr id="12296" name="Text Box 12"/>
          <p:cNvSpPr txBox="1">
            <a:spLocks noChangeArrowheads="1"/>
          </p:cNvSpPr>
          <p:nvPr/>
        </p:nvSpPr>
        <p:spPr bwMode="auto">
          <a:xfrm>
            <a:off x="9539256" y="4271868"/>
            <a:ext cx="7493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3200" i="1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3200" i="1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3200" i="1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3200" i="1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3200" i="1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200" i="1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200" i="1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200" i="1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200" i="1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US" altLang="en-US" sz="2400" i="0"/>
              <a:t>μ=8</a:t>
            </a:r>
          </a:p>
        </p:txBody>
      </p:sp>
    </p:spTree>
    <p:extLst>
      <p:ext uri="{BB962C8B-B14F-4D97-AF65-F5344CB8AC3E}">
        <p14:creationId xmlns:p14="http://schemas.microsoft.com/office/powerpoint/2010/main" val="82185319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>
          <a:xfrm>
            <a:off x="865771" y="535810"/>
            <a:ext cx="10515600" cy="1325563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4000" dirty="0"/>
              <a:t>An Example of the Poisson Distribution-I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532788" y="1679857"/>
            <a:ext cx="11364686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u="sng" dirty="0"/>
              <a:t>The mean bycatch of dolphins per month in the Eastern Tropical Pacific is 3</a:t>
            </a:r>
          </a:p>
          <a:p>
            <a:pPr eaLnBrk="1" hangingPunct="1">
              <a:defRPr/>
            </a:pPr>
            <a:endParaRPr lang="en-US" altLang="en-US" dirty="0"/>
          </a:p>
          <a:p>
            <a:pPr lvl="1" eaLnBrk="1" hangingPunct="1">
              <a:defRPr/>
            </a:pPr>
            <a:r>
              <a:rPr lang="en-US" altLang="en-US" sz="2600" dirty="0"/>
              <a:t>What is the probability that the catch will be 4 in a given month?</a:t>
            </a:r>
          </a:p>
          <a:p>
            <a:pPr lvl="1" eaLnBrk="1" hangingPunct="1">
              <a:defRPr/>
            </a:pPr>
            <a:endParaRPr lang="en-US" altLang="en-US" sz="2600" dirty="0"/>
          </a:p>
          <a:p>
            <a:pPr lvl="1" eaLnBrk="1" hangingPunct="1">
              <a:defRPr/>
            </a:pPr>
            <a:r>
              <a:rPr lang="en-US" altLang="en-US" sz="2600" dirty="0"/>
              <a:t>What is the probability that the catch will be 2 or less in a given month?</a:t>
            </a:r>
          </a:p>
          <a:p>
            <a:pPr lvl="1" eaLnBrk="1" hangingPunct="1">
              <a:defRPr/>
            </a:pPr>
            <a:endParaRPr lang="en-US" altLang="en-US" sz="2600" dirty="0"/>
          </a:p>
          <a:p>
            <a:pPr lvl="1" eaLnBrk="1" hangingPunct="1">
              <a:defRPr/>
            </a:pPr>
            <a:r>
              <a:rPr lang="en-US" altLang="en-US" sz="2600" dirty="0"/>
              <a:t>What is the probability that at least one dolphin is killed?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356815" y="6265335"/>
            <a:ext cx="117808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Breakout groups: Try to find analytical solutions AND a solution using built in functions in R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34936B6-5259-DADB-50C3-AAE367567E04}"/>
              </a:ext>
            </a:extLst>
          </p:cNvPr>
          <p:cNvSpPr txBox="1"/>
          <p:nvPr/>
        </p:nvSpPr>
        <p:spPr>
          <a:xfrm>
            <a:off x="4550397" y="70314"/>
            <a:ext cx="297793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solidFill>
                  <a:srgbClr val="0070C0"/>
                </a:solidFill>
              </a:rPr>
              <a:t>Group Work</a:t>
            </a:r>
          </a:p>
        </p:txBody>
      </p:sp>
      <p:sp>
        <p:nvSpPr>
          <p:cNvPr id="6148" name="TextBox 6147"/>
          <p:cNvSpPr txBox="1"/>
          <p:nvPr/>
        </p:nvSpPr>
        <p:spPr>
          <a:xfrm>
            <a:off x="4818820" y="4919723"/>
            <a:ext cx="3094892" cy="9057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>
                <a:latin typeface="Cambria"/>
              </a:rPr>
              <a:t>P(X = x) = μ</a:t>
            </a:r>
            <a:r>
              <a:rPr sz="1900" baseline="30000">
                <a:latin typeface="Cambria"/>
              </a:rPr>
              <a:t>x</a:t>
            </a:r>
            <a:r>
              <a:rPr sz="1900">
                <a:latin typeface="Cambria"/>
              </a:rPr>
              <a:t> e</a:t>
            </a:r>
            <a:r>
              <a:rPr sz="1900" baseline="30000">
                <a:latin typeface="Cambria"/>
              </a:rPr>
              <a:t>−μ</a:t>
            </a:r>
            <a:r>
              <a:rPr sz="1900">
                <a:latin typeface="Cambria"/>
              </a:rPr>
              <a:t> / x!</a:t>
            </a:r>
          </a:p>
        </p:txBody>
      </p:sp>
    </p:spTree>
    <p:extLst>
      <p:ext uri="{BB962C8B-B14F-4D97-AF65-F5344CB8AC3E}">
        <p14:creationId xmlns:p14="http://schemas.microsoft.com/office/powerpoint/2010/main" val="9422591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title"/>
          </p:nvPr>
        </p:nvSpPr>
        <p:spPr>
          <a:xfrm>
            <a:off x="1534585" y="169671"/>
            <a:ext cx="10390716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4000"/>
              <a:t>An Example of the Poisson Distribution-II</a:t>
            </a:r>
          </a:p>
        </p:txBody>
      </p:sp>
      <p:sp>
        <p:nvSpPr>
          <p:cNvPr id="7171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518984" y="1609533"/>
            <a:ext cx="11071654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dirty="0"/>
              <a:t>The mean catch of dolphins per month in the Eastern Tropical Pacific is 3.</a:t>
            </a:r>
          </a:p>
          <a:p>
            <a:pPr eaLnBrk="1" hangingPunct="1">
              <a:defRPr/>
            </a:pPr>
            <a:endParaRPr lang="en-US" altLang="en-US" dirty="0"/>
          </a:p>
          <a:p>
            <a:pPr lvl="1" eaLnBrk="1" hangingPunct="1">
              <a:defRPr/>
            </a:pPr>
            <a:r>
              <a:rPr lang="en-US" altLang="en-US" dirty="0"/>
              <a:t>What is the probability that the catch will be 4 in a given month?</a:t>
            </a:r>
          </a:p>
          <a:p>
            <a:pPr lvl="1" eaLnBrk="1" hangingPunct="1">
              <a:defRPr/>
            </a:pPr>
            <a:endParaRPr lang="en-US" altLang="en-US" dirty="0"/>
          </a:p>
        </p:txBody>
      </p:sp>
      <p:sp>
        <p:nvSpPr>
          <p:cNvPr id="7172" name="TextBox 7171"/>
          <p:cNvSpPr txBox="1"/>
          <p:nvPr/>
        </p:nvSpPr>
        <p:spPr>
          <a:xfrm>
            <a:off x="3200400" y="3895533"/>
            <a:ext cx="6189784" cy="1055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>
                <a:latin typeface="Cambria"/>
              </a:rPr>
              <a:t>P[X = 4] = μ</a:t>
            </a:r>
            <a:r>
              <a:rPr sz="1900" baseline="30000">
                <a:latin typeface="Cambria"/>
              </a:rPr>
              <a:t>x</a:t>
            </a:r>
            <a:r>
              <a:rPr sz="1900">
                <a:latin typeface="Cambria"/>
              </a:rPr>
              <a:t> e</a:t>
            </a:r>
            <a:r>
              <a:rPr sz="1900" baseline="30000">
                <a:latin typeface="Cambria"/>
              </a:rPr>
              <a:t>−μ</a:t>
            </a:r>
            <a:r>
              <a:rPr sz="1900">
                <a:latin typeface="Cambria"/>
              </a:rPr>
              <a:t> / x! = 3</a:t>
            </a:r>
            <a:r>
              <a:rPr sz="1900" baseline="30000">
                <a:latin typeface="Cambria"/>
              </a:rPr>
              <a:t>4</a:t>
            </a:r>
            <a:r>
              <a:rPr sz="1900">
                <a:latin typeface="Cambria"/>
              </a:rPr>
              <a:t> e</a:t>
            </a:r>
            <a:r>
              <a:rPr sz="1900" baseline="30000">
                <a:latin typeface="Cambria"/>
              </a:rPr>
              <a:t>−3</a:t>
            </a:r>
            <a:r>
              <a:rPr sz="1900">
                <a:latin typeface="Cambria"/>
              </a:rPr>
              <a:t> / 4! = 0.168</a:t>
            </a:r>
          </a:p>
        </p:txBody>
      </p:sp>
      <p:sp>
        <p:nvSpPr>
          <p:cNvPr id="7173" name="TextBox 7172"/>
          <p:cNvSpPr txBox="1"/>
          <p:nvPr/>
        </p:nvSpPr>
        <p:spPr>
          <a:xfrm>
            <a:off x="4800601" y="5246496"/>
            <a:ext cx="2341563" cy="7747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r>
              <a:rPr sz="2000">
                <a:solidFill>
                  <a:srgbClr val="0000FF"/>
                </a:solidFill>
                <a:latin typeface="Consolas"/>
              </a:rPr>
              <a:t>&gt; dpois(4,3)</a:t>
            </a:r>
          </a:p>
          <a:p>
            <a:r>
              <a:rPr sz="2000">
                <a:solidFill>
                  <a:srgbClr val="000000"/>
                </a:solidFill>
                <a:latin typeface="Consolas"/>
              </a:rPr>
              <a:t>[1] 0.1680314</a:t>
            </a:r>
          </a:p>
        </p:txBody>
      </p:sp>
    </p:spTree>
    <p:extLst>
      <p:ext uri="{BB962C8B-B14F-4D97-AF65-F5344CB8AC3E}">
        <p14:creationId xmlns:p14="http://schemas.microsoft.com/office/powerpoint/2010/main" val="19640276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>
          <a:xfrm>
            <a:off x="2590800" y="76200"/>
            <a:ext cx="7793038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altLang="en-US" sz="4000"/>
              <a:t>An Example of the Poisson Distribution-III</a:t>
            </a:r>
          </a:p>
        </p:txBody>
      </p:sp>
      <p:sp>
        <p:nvSpPr>
          <p:cNvPr id="8195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444843" y="1219200"/>
            <a:ext cx="11145795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dirty="0"/>
              <a:t>The mean catch of dolphins per month in the Eastern Tropical Pacific is 3.</a:t>
            </a:r>
          </a:p>
          <a:p>
            <a:pPr eaLnBrk="1" hangingPunct="1">
              <a:defRPr/>
            </a:pPr>
            <a:endParaRPr lang="en-US" altLang="en-US" dirty="0"/>
          </a:p>
          <a:p>
            <a:pPr lvl="1" eaLnBrk="1" hangingPunct="1">
              <a:defRPr/>
            </a:pPr>
            <a:r>
              <a:rPr lang="en-US" altLang="en-US" dirty="0">
                <a:solidFill>
                  <a:srgbClr val="969696"/>
                </a:solidFill>
              </a:rPr>
              <a:t>What is the probability that the catch will be 4 in a given month?</a:t>
            </a:r>
          </a:p>
          <a:p>
            <a:pPr lvl="1" eaLnBrk="1" hangingPunct="1">
              <a:defRPr/>
            </a:pPr>
            <a:r>
              <a:rPr lang="en-US" altLang="en-US" dirty="0"/>
              <a:t>What is the probability that the catch will be 2 or fewer in a given month?</a:t>
            </a:r>
          </a:p>
          <a:p>
            <a:pPr lvl="1" eaLnBrk="1" hangingPunct="1">
              <a:buFont typeface="Wingdings" charset="2"/>
              <a:buNone/>
              <a:defRPr/>
            </a:pPr>
            <a:r>
              <a:rPr lang="en-US" altLang="en-US" dirty="0"/>
              <a:t>P[X</a:t>
            </a:r>
            <a:r>
              <a:rPr lang="en-US" altLang="en-US" dirty="0"/>
              <a:t>≤2]=P[X=0]+P[X=1]+P[X=2]=</a:t>
            </a:r>
          </a:p>
        </p:txBody>
      </p:sp>
      <p:sp>
        <p:nvSpPr>
          <p:cNvPr id="8196" name="TextBox 8195"/>
          <p:cNvSpPr txBox="1"/>
          <p:nvPr/>
        </p:nvSpPr>
        <p:spPr>
          <a:xfrm>
            <a:off x="1524000" y="5334001"/>
            <a:ext cx="6752492" cy="8048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>
                <a:latin typeface="Cambria"/>
              </a:rPr>
              <a:t>P[X ≤ 2] = e</a:t>
            </a:r>
            <a:r>
              <a:rPr sz="1900" baseline="30000">
                <a:latin typeface="Cambria"/>
              </a:rPr>
              <a:t>−3</a:t>
            </a:r>
            <a:r>
              <a:rPr sz="1900">
                <a:latin typeface="Cambria"/>
              </a:rPr>
              <a:t> [ 3</a:t>
            </a:r>
            <a:r>
              <a:rPr sz="1900" baseline="30000">
                <a:latin typeface="Cambria"/>
              </a:rPr>
              <a:t>0</a:t>
            </a:r>
            <a:r>
              <a:rPr sz="1900">
                <a:latin typeface="Cambria"/>
              </a:rPr>
              <a:t>/0! + 3</a:t>
            </a:r>
            <a:r>
              <a:rPr sz="1900" baseline="30000">
                <a:latin typeface="Cambria"/>
              </a:rPr>
              <a:t>1</a:t>
            </a:r>
            <a:r>
              <a:rPr sz="1900">
                <a:latin typeface="Cambria"/>
              </a:rPr>
              <a:t>/1! + 3</a:t>
            </a:r>
            <a:r>
              <a:rPr sz="1900" baseline="30000">
                <a:latin typeface="Cambria"/>
              </a:rPr>
              <a:t>2</a:t>
            </a:r>
            <a:r>
              <a:rPr sz="1900">
                <a:latin typeface="Cambria"/>
              </a:rPr>
              <a:t>/2! ] = 0.423</a:t>
            </a:r>
          </a:p>
        </p:txBody>
      </p:sp>
      <p:sp>
        <p:nvSpPr>
          <p:cNvPr id="8197" name="TextBox 8196"/>
          <p:cNvSpPr txBox="1"/>
          <p:nvPr/>
        </p:nvSpPr>
        <p:spPr>
          <a:xfrm>
            <a:off x="6113463" y="5114925"/>
            <a:ext cx="4495800" cy="1244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r>
              <a:rPr sz="1600">
                <a:solidFill>
                  <a:srgbClr val="0000FF"/>
                </a:solidFill>
                <a:latin typeface="Consolas"/>
              </a:rPr>
              <a:t>&gt; dpois(0,3)+dpois(1,3)+dpois(2,3)</a:t>
            </a:r>
          </a:p>
          <a:p>
            <a:r>
              <a:rPr sz="1600">
                <a:solidFill>
                  <a:srgbClr val="000000"/>
                </a:solidFill>
                <a:latin typeface="Consolas"/>
              </a:rPr>
              <a:t>[1] 0.4231901</a:t>
            </a:r>
          </a:p>
          <a:p>
            <a:r>
              <a:rPr sz="1600">
                <a:solidFill>
                  <a:srgbClr val="0000FF"/>
                </a:solidFill>
                <a:latin typeface="Consolas"/>
              </a:rPr>
              <a:t>&gt; ppois(2,3)</a:t>
            </a:r>
          </a:p>
          <a:p>
            <a:r>
              <a:rPr sz="1600">
                <a:solidFill>
                  <a:srgbClr val="000000"/>
                </a:solidFill>
                <a:latin typeface="Consolas"/>
              </a:rPr>
              <a:t>[1] 0.4231901</a:t>
            </a:r>
          </a:p>
        </p:txBody>
      </p:sp>
    </p:spTree>
    <p:extLst>
      <p:ext uri="{BB962C8B-B14F-4D97-AF65-F5344CB8AC3E}">
        <p14:creationId xmlns:p14="http://schemas.microsoft.com/office/powerpoint/2010/main" val="4462478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>
          <a:xfrm>
            <a:off x="2590800" y="76200"/>
            <a:ext cx="7793038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altLang="en-US" sz="4000"/>
              <a:t>An Example of the Poisson Distribution-III</a:t>
            </a:r>
          </a:p>
        </p:txBody>
      </p:sp>
      <p:sp>
        <p:nvSpPr>
          <p:cNvPr id="8195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2286001" y="1219200"/>
            <a:ext cx="7656513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dirty="0"/>
              <a:t>The mean catch of dolphins per month in the Eastern Tropical Pacific is 3. </a:t>
            </a:r>
          </a:p>
          <a:p>
            <a:pPr lvl="1" eaLnBrk="1" hangingPunct="1">
              <a:defRPr/>
            </a:pPr>
            <a:r>
              <a:rPr lang="en-US" altLang="en-US" dirty="0">
                <a:solidFill>
                  <a:srgbClr val="969696"/>
                </a:solidFill>
              </a:rPr>
              <a:t>What is the probability that the catch will be 4 in a given month?</a:t>
            </a:r>
          </a:p>
          <a:p>
            <a:pPr lvl="1" eaLnBrk="1" hangingPunct="1">
              <a:defRPr/>
            </a:pPr>
            <a:r>
              <a:rPr lang="en-US" altLang="en-US" dirty="0">
                <a:solidFill>
                  <a:schemeClr val="bg1">
                    <a:lumMod val="65000"/>
                  </a:schemeClr>
                </a:solidFill>
              </a:rPr>
              <a:t>What is the probability that the catch will be 2 or fewer in a given month?</a:t>
            </a:r>
          </a:p>
          <a:p>
            <a:pPr lvl="1" eaLnBrk="1" hangingPunct="1">
              <a:defRPr/>
            </a:pPr>
            <a:r>
              <a:rPr lang="en-US" altLang="en-US" dirty="0"/>
              <a:t>What is the probability that at least 1 dolphin is killed?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9446483" y="4687669"/>
            <a:ext cx="234186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e</a:t>
            </a:r>
            <a:r>
              <a:rPr lang="en-US" sz="4000" baseline="30000" dirty="0"/>
              <a:t>-3</a:t>
            </a:r>
          </a:p>
        </p:txBody>
      </p:sp>
      <p:cxnSp>
        <p:nvCxnSpPr>
          <p:cNvPr id="5" name="Straight Arrow Connector 4"/>
          <p:cNvCxnSpPr/>
          <p:nvPr/>
        </p:nvCxnSpPr>
        <p:spPr>
          <a:xfrm flipH="1">
            <a:off x="7522888" y="5041612"/>
            <a:ext cx="1923595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9738763" y="5450864"/>
            <a:ext cx="234186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1 - e</a:t>
            </a:r>
            <a:r>
              <a:rPr lang="en-US" sz="4000" baseline="30000" dirty="0"/>
              <a:t>-3</a:t>
            </a:r>
          </a:p>
        </p:txBody>
      </p:sp>
      <p:cxnSp>
        <p:nvCxnSpPr>
          <p:cNvPr id="9" name="Straight Arrow Connector 8"/>
          <p:cNvCxnSpPr/>
          <p:nvPr/>
        </p:nvCxnSpPr>
        <p:spPr>
          <a:xfrm flipH="1">
            <a:off x="7815168" y="5804807"/>
            <a:ext cx="1923595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96" name="TextBox 8195"/>
          <p:cNvSpPr txBox="1"/>
          <p:nvPr/>
        </p:nvSpPr>
        <p:spPr>
          <a:xfrm>
            <a:off x="4501876" y="4392386"/>
            <a:ext cx="3021012" cy="188322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r>
              <a:rPr sz="2000">
                <a:solidFill>
                  <a:srgbClr val="0000FF"/>
                </a:solidFill>
                <a:latin typeface="Consolas"/>
              </a:rPr>
              <a:t>&gt; dpois(0,3)</a:t>
            </a:r>
          </a:p>
          <a:p>
            <a:r>
              <a:rPr sz="2000">
                <a:solidFill>
                  <a:srgbClr val="000000"/>
                </a:solidFill>
                <a:latin typeface="Consolas"/>
              </a:rPr>
              <a:t>[1] 0.04978707</a:t>
            </a:r>
          </a:p>
          <a:p>
            <a:r>
              <a:rPr sz="2000">
                <a:solidFill>
                  <a:srgbClr val="0000FF"/>
                </a:solidFill>
                <a:latin typeface="Consolas"/>
              </a:rPr>
              <a:t>&gt; 1-dpois(0,3)</a:t>
            </a:r>
          </a:p>
          <a:p>
            <a:r>
              <a:rPr sz="2000">
                <a:solidFill>
                  <a:srgbClr val="000000"/>
                </a:solidFill>
                <a:latin typeface="Consolas"/>
              </a:rPr>
              <a:t>[1] 0.9502129</a:t>
            </a:r>
          </a:p>
        </p:txBody>
      </p:sp>
    </p:spTree>
    <p:extLst>
      <p:ext uri="{BB962C8B-B14F-4D97-AF65-F5344CB8AC3E}">
        <p14:creationId xmlns:p14="http://schemas.microsoft.com/office/powerpoint/2010/main" val="47746908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>
          <a:xfrm>
            <a:off x="287676" y="15875"/>
            <a:ext cx="11774185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altLang="en-US" sz="4000" dirty="0"/>
              <a:t>Example of using Poisson Probabilistic Arguments in Research</a:t>
            </a:r>
          </a:p>
        </p:txBody>
      </p:sp>
      <p:pic>
        <p:nvPicPr>
          <p:cNvPr id="197635" name="Picture 6" descr="Journal article header: 'Killer Whale Predation on Sea Otters Linking Oceanic and Nearshore Ecosystems' by Estes, Tinker, Williams and Doak, with abstract on sea otter decline from killer whale predation." title="Journal article header: 'Killer Whale Predation on Sea Otters Linking Oceanic an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57600" y="927395"/>
            <a:ext cx="5283200" cy="3606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97636" name="TextBox 197635"/>
          <p:cNvSpPr txBox="1"/>
          <p:nvPr/>
        </p:nvSpPr>
        <p:spPr>
          <a:xfrm>
            <a:off x="2863342" y="5022279"/>
            <a:ext cx="6566916" cy="929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700" b="0">
                <a:latin typeface="Calibri"/>
              </a:rPr>
              <a:t>constant over the 27-year period. By modeling the expected number of observed attacks as a Poisson process, the probability of zero attacks being seen before 1990 is 0.006 (15).</a:t>
            </a:r>
          </a:p>
        </p:txBody>
      </p:sp>
    </p:spTree>
    <p:extLst>
      <p:ext uri="{BB962C8B-B14F-4D97-AF65-F5344CB8AC3E}">
        <p14:creationId xmlns:p14="http://schemas.microsoft.com/office/powerpoint/2010/main" val="8351369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>
          <a:xfrm>
            <a:off x="2286000" y="-250373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4000" dirty="0"/>
              <a:t>The Poisson Distribution - Caveat</a:t>
            </a:r>
            <a:endParaRPr lang="en-US" altLang="en-US" sz="3200" dirty="0"/>
          </a:p>
        </p:txBody>
      </p:sp>
      <p:sp>
        <p:nvSpPr>
          <p:cNvPr id="1126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14400" y="1149802"/>
            <a:ext cx="10431624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dirty="0"/>
              <a:t>The Poisson distribution would seem to be a good distribution to assume for catch data in fisheries. However, fish school. What does this imply regarding the assumptions of the Poisson distribution?</a:t>
            </a:r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r>
              <a:rPr lang="en-US" altLang="en-US" dirty="0"/>
              <a:t>Variance would be high relative to the mean</a:t>
            </a:r>
          </a:p>
          <a:p>
            <a:pPr lvl="1" eaLnBrk="1" hangingPunct="1">
              <a:defRPr/>
            </a:pPr>
            <a:r>
              <a:rPr lang="en-US" altLang="en-US" dirty="0"/>
              <a:t>You catch zero or a shit ton!!!</a:t>
            </a:r>
          </a:p>
          <a:p>
            <a:pPr lvl="1" eaLnBrk="1" hangingPunct="1">
              <a:defRPr/>
            </a:pPr>
            <a:r>
              <a:rPr lang="en-US" altLang="en-US" dirty="0"/>
              <a:t>This is called </a:t>
            </a:r>
            <a:r>
              <a:rPr lang="en-US" altLang="en-US" dirty="0" err="1"/>
              <a:t>overdispersion</a:t>
            </a:r>
            <a:r>
              <a:rPr lang="en-US" altLang="en-US" dirty="0"/>
              <a:t> </a:t>
            </a:r>
            <a:r>
              <a:rPr lang="en-US" altLang="en-US" dirty="0"/>
              <a:t>→ Onward to negative binomial!</a:t>
            </a:r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5445156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>
          <a:xfrm>
            <a:off x="1927654" y="-250373"/>
            <a:ext cx="8353168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altLang="en-US" sz="4000" dirty="0"/>
              <a:t>But </a:t>
            </a:r>
            <a:r>
              <a:rPr lang="en-US" altLang="en-US" sz="4000"/>
              <a:t>first: MLE </a:t>
            </a:r>
            <a:r>
              <a:rPr lang="en-US" altLang="en-US" sz="4000" dirty="0"/>
              <a:t>for the Poisson Distribution</a:t>
            </a:r>
            <a:endParaRPr lang="en-US" altLang="en-US" sz="3200" dirty="0"/>
          </a:p>
        </p:txBody>
      </p:sp>
      <p:sp>
        <p:nvSpPr>
          <p:cNvPr id="1126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578498" y="1149802"/>
            <a:ext cx="10991461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dirty="0"/>
              <a:t>Let’s find the MLE of the Poisson distribution</a:t>
            </a:r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r>
              <a:rPr lang="en-US" altLang="en-US" dirty="0"/>
              <a:t>Let’s do it for a dataset of </a:t>
            </a:r>
            <a:r>
              <a:rPr lang="en-US" altLang="en-US" i="1" dirty="0"/>
              <a:t>n</a:t>
            </a:r>
            <a:r>
              <a:rPr lang="en-US" altLang="en-US" dirty="0"/>
              <a:t> Poisson distributed observations. (very common to assume that </a:t>
            </a:r>
            <a:r>
              <a:rPr lang="en-US" altLang="en-US" i="1" dirty="0"/>
              <a:t>t</a:t>
            </a:r>
            <a:r>
              <a:rPr lang="en-US" altLang="en-US" dirty="0"/>
              <a:t> =1 since counts per period is typically desired)</a:t>
            </a:r>
          </a:p>
        </p:txBody>
      </p:sp>
      <p:sp>
        <p:nvSpPr>
          <p:cNvPr id="11268" name="TextBox 11267"/>
          <p:cNvSpPr txBox="1"/>
          <p:nvPr/>
        </p:nvSpPr>
        <p:spPr>
          <a:xfrm>
            <a:off x="4572000" y="1961731"/>
            <a:ext cx="3516923" cy="10953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b="0">
                <a:latin typeface="Cambria"/>
              </a:rPr>
              <a:t>p</a:t>
            </a:r>
            <a:r>
              <a:rPr sz="1900" b="0" baseline="-25000">
                <a:latin typeface="Cambria"/>
              </a:rPr>
              <a:t>k</a:t>
            </a:r>
            <a:r>
              <a:rPr sz="1900" b="0">
                <a:latin typeface="Cambria"/>
              </a:rPr>
              <a:t>(t) = (λt)</a:t>
            </a:r>
            <a:r>
              <a:rPr sz="1900" b="0" baseline="30000">
                <a:latin typeface="Cambria"/>
              </a:rPr>
              <a:t>k</a:t>
            </a:r>
            <a:r>
              <a:rPr sz="1900" b="0">
                <a:latin typeface="Cambria"/>
              </a:rPr>
              <a:t> / k! · e</a:t>
            </a:r>
            <a:r>
              <a:rPr sz="1900" b="0" baseline="30000">
                <a:latin typeface="Cambria"/>
              </a:rPr>
              <a:t>−λt</a:t>
            </a:r>
          </a:p>
        </p:txBody>
      </p:sp>
      <p:sp>
        <p:nvSpPr>
          <p:cNvPr id="11269" name="TextBox 11268"/>
          <p:cNvSpPr txBox="1"/>
          <p:nvPr/>
        </p:nvSpPr>
        <p:spPr>
          <a:xfrm>
            <a:off x="5903556" y="5027477"/>
            <a:ext cx="5064369" cy="5461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b="0">
                <a:latin typeface="Cambria"/>
              </a:rPr>
              <a:t>L(p | {X</a:t>
            </a:r>
            <a:r>
              <a:rPr sz="1900" b="0" baseline="-25000">
                <a:latin typeface="Cambria"/>
              </a:rPr>
              <a:t>i</a:t>
            </a:r>
            <a:r>
              <a:rPr sz="1900" b="0">
                <a:latin typeface="Cambria"/>
              </a:rPr>
              <a:t>}) = Σ</a:t>
            </a:r>
            <a:r>
              <a:rPr sz="1900" b="0" baseline="-25000">
                <a:latin typeface="Cambria"/>
              </a:rPr>
              <a:t>i=1</a:t>
            </a:r>
            <a:r>
              <a:rPr sz="1900" b="0" baseline="30000">
                <a:latin typeface="Cambria"/>
              </a:rPr>
              <a:t>n</a:t>
            </a:r>
            <a:r>
              <a:rPr sz="1900" b="0">
                <a:latin typeface="Cambria"/>
              </a:rPr>
              <a:t> log( f(X</a:t>
            </a:r>
            <a:r>
              <a:rPr sz="1900" b="0" baseline="-25000">
                <a:latin typeface="Cambria"/>
              </a:rPr>
              <a:t>i</a:t>
            </a:r>
            <a:r>
              <a:rPr sz="1900" b="0">
                <a:latin typeface="Cambria"/>
              </a:rPr>
              <a:t> | p) )</a:t>
            </a:r>
          </a:p>
        </p:txBody>
      </p:sp>
      <p:sp>
        <p:nvSpPr>
          <p:cNvPr id="11270" name="TextBox 11269"/>
          <p:cNvSpPr txBox="1"/>
          <p:nvPr/>
        </p:nvSpPr>
        <p:spPr>
          <a:xfrm>
            <a:off x="1226975" y="5024047"/>
            <a:ext cx="4079630" cy="5381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b="0">
                <a:latin typeface="Cambria"/>
              </a:rPr>
              <a:t>ℒ(p | {X</a:t>
            </a:r>
            <a:r>
              <a:rPr sz="1900" b="0" baseline="-25000">
                <a:latin typeface="Cambria"/>
              </a:rPr>
              <a:t>i</a:t>
            </a:r>
            <a:r>
              <a:rPr sz="1900" b="0">
                <a:latin typeface="Cambria"/>
              </a:rPr>
              <a:t>}) = ∏</a:t>
            </a:r>
            <a:r>
              <a:rPr sz="1900" b="0" baseline="-25000">
                <a:latin typeface="Cambria"/>
              </a:rPr>
              <a:t>i=1</a:t>
            </a:r>
            <a:r>
              <a:rPr sz="1900" b="0" baseline="30000">
                <a:latin typeface="Cambria"/>
              </a:rPr>
              <a:t>n</a:t>
            </a:r>
            <a:r>
              <a:rPr sz="1900" b="0">
                <a:latin typeface="Cambria"/>
              </a:rPr>
              <a:t> f(X</a:t>
            </a:r>
            <a:r>
              <a:rPr sz="1900" b="0" baseline="-25000">
                <a:latin typeface="Cambria"/>
              </a:rPr>
              <a:t>i</a:t>
            </a:r>
            <a:r>
              <a:rPr sz="1900" b="0">
                <a:latin typeface="Cambria"/>
              </a:rPr>
              <a:t> | p)</a:t>
            </a:r>
          </a:p>
        </p:txBody>
      </p:sp>
    </p:spTree>
    <p:extLst>
      <p:ext uri="{BB962C8B-B14F-4D97-AF65-F5344CB8AC3E}">
        <p14:creationId xmlns:p14="http://schemas.microsoft.com/office/powerpoint/2010/main" val="14347816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title"/>
          </p:nvPr>
        </p:nvSpPr>
        <p:spPr>
          <a:xfrm>
            <a:off x="1524000" y="34630"/>
            <a:ext cx="87074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sz="4000" dirty="0"/>
              <a:t>The Negative Binomial Distribution</a:t>
            </a:r>
            <a:br>
              <a:rPr lang="en-US" sz="4000" dirty="0"/>
            </a:br>
            <a:r>
              <a:rPr lang="en-US" sz="2400" dirty="0"/>
              <a:t>(1) # failures/trials before fixed number of successes</a:t>
            </a:r>
          </a:p>
        </p:txBody>
      </p:sp>
      <p:sp>
        <p:nvSpPr>
          <p:cNvPr id="15363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840259" y="1434805"/>
            <a:ext cx="10552671" cy="4114800"/>
          </a:xfrm>
        </p:spPr>
        <p:txBody>
          <a:bodyPr>
            <a:normAutofit/>
          </a:bodyPr>
          <a:lstStyle/>
          <a:p>
            <a:pPr eaLnBrk="1" hangingPunct="1">
              <a:defRPr/>
            </a:pPr>
            <a:r>
              <a:rPr lang="en-US" sz="3000" dirty="0"/>
              <a:t>We have an experiment with two outcomes: success (with probability </a:t>
            </a:r>
            <a:r>
              <a:rPr lang="en-US" sz="3000" i="1" dirty="0"/>
              <a:t>p</a:t>
            </a:r>
            <a:r>
              <a:rPr lang="en-US" sz="3000" dirty="0"/>
              <a:t>) and failure (with probability </a:t>
            </a:r>
            <a:r>
              <a:rPr lang="en-US" sz="3000" i="1" dirty="0"/>
              <a:t>q </a:t>
            </a:r>
            <a:r>
              <a:rPr lang="en-US" sz="3000" dirty="0"/>
              <a:t>=1-</a:t>
            </a:r>
            <a:r>
              <a:rPr lang="en-US" sz="3000" i="1" dirty="0"/>
              <a:t>p</a:t>
            </a:r>
            <a:r>
              <a:rPr lang="en-US" sz="3000" dirty="0"/>
              <a:t>).</a:t>
            </a:r>
          </a:p>
          <a:p>
            <a:pPr eaLnBrk="1" hangingPunct="1">
              <a:defRPr/>
            </a:pPr>
            <a:endParaRPr lang="en-US" sz="3000" dirty="0"/>
          </a:p>
          <a:p>
            <a:pPr eaLnBrk="1" hangingPunct="1">
              <a:defRPr/>
            </a:pPr>
            <a:r>
              <a:rPr lang="en-US" sz="3000" dirty="0"/>
              <a:t>Let </a:t>
            </a:r>
            <a:r>
              <a:rPr lang="en-US" sz="3000" i="1" dirty="0"/>
              <a:t>N</a:t>
            </a:r>
            <a:r>
              <a:rPr lang="en-US" sz="3000" dirty="0"/>
              <a:t>  be the number of trials to achieve </a:t>
            </a:r>
            <a:r>
              <a:rPr lang="en-US" sz="3000" i="1" dirty="0"/>
              <a:t>k</a:t>
            </a:r>
            <a:r>
              <a:rPr lang="en-US" sz="3000" dirty="0"/>
              <a:t> successes, each with probability </a:t>
            </a:r>
            <a:r>
              <a:rPr lang="en-US" sz="3000" i="1" dirty="0"/>
              <a:t>p</a:t>
            </a:r>
          </a:p>
          <a:p>
            <a:pPr eaLnBrk="1" hangingPunct="1">
              <a:defRPr/>
            </a:pPr>
            <a:endParaRPr lang="en-US" sz="3000" i="1" dirty="0"/>
          </a:p>
          <a:p>
            <a:pPr eaLnBrk="1" hangingPunct="1">
              <a:defRPr/>
            </a:pPr>
            <a:r>
              <a:rPr lang="en-US" sz="3000" dirty="0"/>
              <a:t>Number of trials, </a:t>
            </a:r>
            <a:r>
              <a:rPr lang="en-US" sz="3000" i="1" dirty="0"/>
              <a:t>N</a:t>
            </a:r>
            <a:r>
              <a:rPr lang="en-US" sz="3000" dirty="0"/>
              <a:t>,</a:t>
            </a:r>
            <a:r>
              <a:rPr lang="en-US" sz="3000" i="1" dirty="0"/>
              <a:t> </a:t>
            </a:r>
            <a:r>
              <a:rPr lang="en-US" sz="3000" dirty="0"/>
              <a:t>is now the random variable!</a:t>
            </a:r>
          </a:p>
          <a:p>
            <a:pPr lvl="1" eaLnBrk="1" hangingPunct="1">
              <a:defRPr/>
            </a:pPr>
            <a:r>
              <a:rPr lang="en-US" sz="3000" dirty="0"/>
              <a:t>Recall, </a:t>
            </a:r>
            <a:r>
              <a:rPr lang="en-US" sz="3000" i="1" dirty="0"/>
              <a:t>k</a:t>
            </a:r>
            <a:r>
              <a:rPr lang="en-US" sz="3000" dirty="0"/>
              <a:t>, was the R.V. in the binomial case</a:t>
            </a:r>
          </a:p>
        </p:txBody>
      </p:sp>
    </p:spTree>
    <p:extLst>
      <p:ext uri="{BB962C8B-B14F-4D97-AF65-F5344CB8AC3E}">
        <p14:creationId xmlns:p14="http://schemas.microsoft.com/office/powerpoint/2010/main" val="143236020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973" name="TextBox 6"/>
          <p:cNvSpPr txBox="1">
            <a:spLocks noChangeArrowheads="1"/>
          </p:cNvSpPr>
          <p:nvPr/>
        </p:nvSpPr>
        <p:spPr bwMode="auto">
          <a:xfrm>
            <a:off x="3141663" y="4437929"/>
            <a:ext cx="5472112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/>
              <a:t>Try to derive it based on this argument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12107" y="6085223"/>
            <a:ext cx="566620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How do we turn this into “failures”, X=k, until r successes?</a:t>
            </a:r>
          </a:p>
        </p:txBody>
      </p:sp>
      <p:sp>
        <p:nvSpPr>
          <p:cNvPr id="10" name="Rectangle 2"/>
          <p:cNvSpPr txBox="1">
            <a:spLocks noChangeArrowheads="1"/>
          </p:cNvSpPr>
          <p:nvPr/>
        </p:nvSpPr>
        <p:spPr>
          <a:xfrm>
            <a:off x="1524000" y="34630"/>
            <a:ext cx="8707438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defRPr/>
            </a:pPr>
            <a:r>
              <a:rPr lang="en-US" sz="4000"/>
              <a:t>The Negative Binomial Distribution</a:t>
            </a:r>
            <a:br>
              <a:rPr lang="en-US" sz="4000"/>
            </a:br>
            <a:r>
              <a:rPr lang="en-US" sz="2400"/>
              <a:t>(1) # failures/trials before fixed number of successes</a:t>
            </a:r>
            <a:endParaRPr lang="en-US" sz="2400" dirty="0"/>
          </a:p>
        </p:txBody>
      </p:sp>
      <p:sp>
        <p:nvSpPr>
          <p:cNvPr id="211974" name="TextBox 211973"/>
          <p:cNvSpPr txBox="1"/>
          <p:nvPr/>
        </p:nvSpPr>
        <p:spPr>
          <a:xfrm>
            <a:off x="1535113" y="1390986"/>
            <a:ext cx="9706707" cy="4270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b="0">
                <a:latin typeface="Cambria"/>
              </a:rPr>
              <a:t>Pr{N = n | k, p} = Probability that the kth success occurs on trial n</a:t>
            </a:r>
          </a:p>
        </p:txBody>
      </p:sp>
      <p:sp>
        <p:nvSpPr>
          <p:cNvPr id="211975" name="TextBox 211974"/>
          <p:cNvSpPr txBox="1"/>
          <p:nvPr/>
        </p:nvSpPr>
        <p:spPr>
          <a:xfrm>
            <a:off x="1535113" y="4892484"/>
            <a:ext cx="10428287" cy="9556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latin typeface="Cambria"/>
              </a:rPr>
              <a:t>Pr{N = n | k, p} = (n−1 choose k−1) p</a:t>
            </a:r>
            <a:r>
              <a:rPr sz="1600" b="0" baseline="30000">
                <a:latin typeface="Cambria"/>
              </a:rPr>
              <a:t>k−1</a:t>
            </a:r>
            <a:r>
              <a:rPr sz="1600" b="0">
                <a:latin typeface="Cambria"/>
              </a:rPr>
              <a:t> (1 − p)</a:t>
            </a:r>
            <a:r>
              <a:rPr sz="1600" b="0" baseline="30000">
                <a:latin typeface="Cambria"/>
              </a:rPr>
              <a:t>n − k</a:t>
            </a:r>
            <a:r>
              <a:rPr sz="1600" b="0">
                <a:latin typeface="Cambria"/>
              </a:rPr>
              <a:t> p = (n−1 choose k−1) p</a:t>
            </a:r>
            <a:r>
              <a:rPr sz="1600" b="0" baseline="30000">
                <a:latin typeface="Cambria"/>
              </a:rPr>
              <a:t>k</a:t>
            </a:r>
            <a:r>
              <a:rPr sz="1600" b="0">
                <a:latin typeface="Cambria"/>
              </a:rPr>
              <a:t> (1 − p)</a:t>
            </a:r>
            <a:r>
              <a:rPr sz="1600" b="0" baseline="30000">
                <a:latin typeface="Cambria"/>
              </a:rPr>
              <a:t>n − k</a:t>
            </a:r>
          </a:p>
        </p:txBody>
      </p:sp>
      <p:sp>
        <p:nvSpPr>
          <p:cNvPr id="211976" name="TextBox 211975"/>
          <p:cNvSpPr txBox="1"/>
          <p:nvPr/>
        </p:nvSpPr>
        <p:spPr>
          <a:xfrm>
            <a:off x="5963239" y="5922241"/>
            <a:ext cx="6000161" cy="9556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0">
                <a:latin typeface="Cambria"/>
              </a:rPr>
              <a:t>f(k; r, p) ≡ Pr(X = k) = (k+r−1 choose r−1) (1 − p)</a:t>
            </a:r>
            <a:r>
              <a:rPr sz="1500" b="0" baseline="30000">
                <a:latin typeface="Cambria"/>
              </a:rPr>
              <a:t>k</a:t>
            </a:r>
            <a:r>
              <a:rPr sz="1500" b="0">
                <a:latin typeface="Cambria"/>
              </a:rPr>
              <a:t> p</a:t>
            </a:r>
            <a:r>
              <a:rPr sz="1500" b="0" baseline="30000">
                <a:latin typeface="Cambria"/>
              </a:rPr>
              <a:t>r</a:t>
            </a:r>
          </a:p>
        </p:txBody>
      </p:sp>
      <p:sp>
        <p:nvSpPr>
          <p:cNvPr id="211977" name="TextBox 211976"/>
          <p:cNvSpPr txBox="1"/>
          <p:nvPr/>
        </p:nvSpPr>
        <p:spPr>
          <a:xfrm>
            <a:off x="1688592" y="2211214"/>
            <a:ext cx="8814816" cy="1289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0">
                <a:latin typeface="Calibri"/>
              </a:rPr>
              <a:t>Now, for the kth success to occur on trial n, we must have k − 1 successes in the first n − 1 trials and a success on the nth trial. The probability of k − 1 successes in n − 1 trials has a binomial distribution with parameters n − 1 and p and the probability of success on the nth trial has probability p and these are independent of each other. We thus conclude</a:t>
            </a:r>
          </a:p>
        </p:txBody>
      </p:sp>
    </p:spTree>
    <p:extLst>
      <p:ext uri="{BB962C8B-B14F-4D97-AF65-F5344CB8AC3E}">
        <p14:creationId xmlns:p14="http://schemas.microsoft.com/office/powerpoint/2010/main" val="12554308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title"/>
          </p:nvPr>
        </p:nvSpPr>
        <p:spPr>
          <a:xfrm>
            <a:off x="1524000" y="6920"/>
            <a:ext cx="87074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sz="4000" dirty="0"/>
              <a:t>The Negative Binomial Distribution</a:t>
            </a:r>
            <a:br>
              <a:rPr lang="en-US" sz="4000" dirty="0"/>
            </a:br>
            <a:r>
              <a:rPr lang="en-US" sz="2400" dirty="0"/>
              <a:t>(2) Poisson with a variable rate parameter </a:t>
            </a:r>
          </a:p>
        </p:txBody>
      </p:sp>
      <p:sp>
        <p:nvSpPr>
          <p:cNvPr id="2" name="Text Placeholder 1"/>
          <p:cNvSpPr>
            <a:spLocks noGrp="1"/>
          </p:cNvSpPr>
          <p:nvPr>
            <p:ph type="body" sz="half" idx="1"/>
          </p:nvPr>
        </p:nvSpPr>
        <p:spPr>
          <a:xfrm>
            <a:off x="1798638" y="1378520"/>
            <a:ext cx="8793162" cy="2667000"/>
          </a:xfrm>
        </p:spPr>
        <p:txBody>
          <a:bodyPr>
            <a:normAutofit lnSpcReduction="10000"/>
          </a:bodyPr>
          <a:lstStyle/>
          <a:p>
            <a:pPr>
              <a:defRPr/>
            </a:pPr>
            <a:r>
              <a:rPr lang="en-US" dirty="0"/>
              <a:t>Start with Poisson</a:t>
            </a:r>
          </a:p>
          <a:p>
            <a:pPr>
              <a:defRPr/>
            </a:pPr>
            <a:endParaRPr lang="en-US" dirty="0"/>
          </a:p>
          <a:p>
            <a:pPr>
              <a:defRPr/>
            </a:pPr>
            <a:endParaRPr lang="en-US" dirty="0"/>
          </a:p>
          <a:p>
            <a:pPr>
              <a:defRPr/>
            </a:pPr>
            <a:r>
              <a:rPr lang="en-US" dirty="0"/>
              <a:t>But let’s give lambda a continuous probability (continuous distributions come soon!) and then integrate over all possible values of lambda (this is called “marginalizing”)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35548" y="5974765"/>
            <a:ext cx="10179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Because:</a:t>
            </a:r>
          </a:p>
        </p:txBody>
      </p:sp>
      <p:sp>
        <p:nvSpPr>
          <p:cNvPr id="214021" name="TextBox 214020"/>
          <p:cNvSpPr txBox="1"/>
          <p:nvPr/>
        </p:nvSpPr>
        <p:spPr>
          <a:xfrm>
            <a:off x="5081752" y="1149920"/>
            <a:ext cx="6471138" cy="13525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b="0">
                <a:latin typeface="Cambria"/>
              </a:rPr>
              <a:t>Pr{k events in [0, t] | λ} = (λt)</a:t>
            </a:r>
            <a:r>
              <a:rPr sz="1900" b="0" baseline="30000">
                <a:latin typeface="Cambria"/>
              </a:rPr>
              <a:t>k</a:t>
            </a:r>
            <a:r>
              <a:rPr sz="1900" b="0">
                <a:latin typeface="Cambria"/>
              </a:rPr>
              <a:t> / k! · e</a:t>
            </a:r>
            <a:r>
              <a:rPr sz="1900" b="0" baseline="30000">
                <a:latin typeface="Cambria"/>
              </a:rPr>
              <a:t>−λt</a:t>
            </a:r>
          </a:p>
        </p:txBody>
      </p:sp>
      <p:sp>
        <p:nvSpPr>
          <p:cNvPr id="214022" name="TextBox 214021"/>
          <p:cNvSpPr txBox="1"/>
          <p:nvPr/>
        </p:nvSpPr>
        <p:spPr>
          <a:xfrm>
            <a:off x="3134519" y="4045520"/>
            <a:ext cx="7877907" cy="13779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b="0">
                <a:latin typeface="Cambria"/>
              </a:rPr>
              <a:t>Pr{k events in [0, t]} = ∫</a:t>
            </a:r>
            <a:r>
              <a:rPr sz="1900" b="0" baseline="-25000">
                <a:latin typeface="Cambria"/>
              </a:rPr>
              <a:t>0</a:t>
            </a:r>
            <a:r>
              <a:rPr sz="1900" b="0" baseline="30000">
                <a:latin typeface="Cambria"/>
              </a:rPr>
              <a:t>∞</a:t>
            </a:r>
            <a:r>
              <a:rPr sz="1900" b="0">
                <a:latin typeface="Cambria"/>
              </a:rPr>
              <a:t> (λt)</a:t>
            </a:r>
            <a:r>
              <a:rPr sz="1900" b="0" baseline="30000">
                <a:latin typeface="Cambria"/>
              </a:rPr>
              <a:t>k</a:t>
            </a:r>
            <a:r>
              <a:rPr sz="1900" b="0">
                <a:latin typeface="Cambria"/>
              </a:rPr>
              <a:t> / k! · e</a:t>
            </a:r>
            <a:r>
              <a:rPr sz="1900" b="0" baseline="30000">
                <a:latin typeface="Cambria"/>
              </a:rPr>
              <a:t>−λt</a:t>
            </a:r>
            <a:r>
              <a:rPr sz="1900" b="0">
                <a:latin typeface="Cambria"/>
              </a:rPr>
              <a:t> · f(λ) dλ</a:t>
            </a:r>
          </a:p>
        </p:txBody>
      </p:sp>
      <p:sp>
        <p:nvSpPr>
          <p:cNvPr id="214023" name="TextBox 214022"/>
          <p:cNvSpPr txBox="1"/>
          <p:nvPr/>
        </p:nvSpPr>
        <p:spPr>
          <a:xfrm>
            <a:off x="2753519" y="5791131"/>
            <a:ext cx="7033846" cy="736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b="0">
                <a:latin typeface="Cambria"/>
              </a:rPr>
              <a:t>p</a:t>
            </a:r>
            <a:r>
              <a:rPr sz="1900" b="0" baseline="-25000">
                <a:latin typeface="Cambria"/>
              </a:rPr>
              <a:t>X</a:t>
            </a:r>
            <a:r>
              <a:rPr sz="1900" b="0">
                <a:latin typeface="Cambria"/>
              </a:rPr>
              <a:t>(x) = ∫</a:t>
            </a:r>
            <a:r>
              <a:rPr sz="1900" b="0" baseline="-25000">
                <a:latin typeface="Cambria"/>
              </a:rPr>
              <a:t>y</a:t>
            </a:r>
            <a:r>
              <a:rPr sz="1900" b="0">
                <a:latin typeface="Cambria"/>
              </a:rPr>
              <a:t> p</a:t>
            </a:r>
            <a:r>
              <a:rPr sz="1900" b="0" baseline="-25000">
                <a:latin typeface="Cambria"/>
              </a:rPr>
              <a:t>X,Y</a:t>
            </a:r>
            <a:r>
              <a:rPr sz="1900" b="0">
                <a:latin typeface="Cambria"/>
              </a:rPr>
              <a:t>(x, y) dy = ∫</a:t>
            </a:r>
            <a:r>
              <a:rPr sz="1900" b="0" baseline="-25000">
                <a:latin typeface="Cambria"/>
              </a:rPr>
              <a:t>y</a:t>
            </a:r>
            <a:r>
              <a:rPr sz="1900" b="0">
                <a:latin typeface="Cambria"/>
              </a:rPr>
              <a:t> p</a:t>
            </a:r>
            <a:r>
              <a:rPr sz="1900" b="0" baseline="-25000">
                <a:latin typeface="Cambria"/>
              </a:rPr>
              <a:t>X|Y</a:t>
            </a:r>
            <a:r>
              <a:rPr sz="1900" b="0">
                <a:latin typeface="Cambria"/>
              </a:rPr>
              <a:t>(x | y) p</a:t>
            </a:r>
            <a:r>
              <a:rPr sz="1900" b="0" baseline="-25000">
                <a:latin typeface="Cambria"/>
              </a:rPr>
              <a:t>Y</a:t>
            </a:r>
            <a:r>
              <a:rPr sz="1900" b="0">
                <a:latin typeface="Cambria"/>
              </a:rPr>
              <a:t>(y) dy</a:t>
            </a:r>
          </a:p>
        </p:txBody>
      </p:sp>
    </p:spTree>
    <p:extLst>
      <p:ext uri="{BB962C8B-B14F-4D97-AF65-F5344CB8AC3E}">
        <p14:creationId xmlns:p14="http://schemas.microsoft.com/office/powerpoint/2010/main" val="12319349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Grp="1" noChangeArrowheads="1"/>
          </p:cNvSpPr>
          <p:nvPr>
            <p:ph type="title"/>
          </p:nvPr>
        </p:nvSpPr>
        <p:spPr>
          <a:xfrm>
            <a:off x="1828801" y="381000"/>
            <a:ext cx="8639175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/>
              <a:t>Quick note </a:t>
            </a:r>
            <a:r>
              <a:rPr lang="en-US" dirty="0"/>
              <a:t>on Gamma function</a:t>
            </a:r>
          </a:p>
        </p:txBody>
      </p:sp>
      <p:sp>
        <p:nvSpPr>
          <p:cNvPr id="17411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2706688" y="2017713"/>
            <a:ext cx="7275512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dirty="0"/>
              <a:t>Continuous version of factorial</a:t>
            </a:r>
          </a:p>
          <a:p>
            <a:pPr eaLnBrk="1" hangingPunct="1">
              <a:defRPr/>
            </a:pPr>
            <a:r>
              <a:rPr lang="en-US" dirty="0"/>
              <a:t>For integers, </a:t>
            </a:r>
            <a:r>
              <a:rPr lang="en-US" i="1" dirty="0"/>
              <a:t>z</a:t>
            </a:r>
            <a:r>
              <a:rPr lang="en-US" dirty="0"/>
              <a:t>,</a:t>
            </a:r>
          </a:p>
          <a:p>
            <a:pPr eaLnBrk="1" hangingPunct="1">
              <a:defRPr/>
            </a:pPr>
            <a:r>
              <a:rPr lang="en-US" dirty="0"/>
              <a:t>In general</a:t>
            </a:r>
          </a:p>
          <a:p>
            <a:pPr eaLnBrk="1" hangingPunct="1">
              <a:defRPr/>
            </a:pPr>
            <a:endParaRPr lang="en-US" dirty="0"/>
          </a:p>
          <a:p>
            <a:pPr eaLnBrk="1" hangingPunct="1">
              <a:defRPr/>
            </a:pPr>
            <a:r>
              <a:rPr lang="en-US" dirty="0"/>
              <a:t>Defined (for z &gt; 0): 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5791200" y="2514600"/>
            <a:ext cx="2552700" cy="5207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400" b="0">
                <a:latin typeface="Cambria"/>
              </a:rPr>
              <a:t>Γ(z) = (z − 1)!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5072063" y="3035300"/>
            <a:ext cx="29972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500" b="0">
                <a:latin typeface="Cambria"/>
              </a:rPr>
              <a:t>Γ(z + 1) = z Γ(z)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6361113" y="3963988"/>
            <a:ext cx="3416300" cy="18161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200" b="0">
                <a:latin typeface="Cambria"/>
              </a:rPr>
              <a:t>Γ(z) = ∫</a:t>
            </a:r>
            <a:r>
              <a:rPr sz="2200" b="0" baseline="-25000">
                <a:latin typeface="Cambria"/>
              </a:rPr>
              <a:t>0</a:t>
            </a:r>
            <a:r>
              <a:rPr sz="2200" b="0" baseline="30000">
                <a:latin typeface="Cambria"/>
              </a:rPr>
              <a:t>∞</a:t>
            </a:r>
            <a:r>
              <a:rPr sz="2200" b="0">
                <a:latin typeface="Cambria"/>
              </a:rPr>
              <a:t> s</a:t>
            </a:r>
            <a:r>
              <a:rPr sz="2200" b="0" baseline="30000">
                <a:latin typeface="Cambria"/>
              </a:rPr>
              <a:t>z−1</a:t>
            </a:r>
            <a:r>
              <a:rPr sz="2200" b="0">
                <a:latin typeface="Cambria"/>
              </a:rPr>
              <a:t> e</a:t>
            </a:r>
            <a:r>
              <a:rPr sz="2200" b="0" baseline="30000">
                <a:latin typeface="Cambria"/>
              </a:rPr>
              <a:t>−s</a:t>
            </a:r>
            <a:r>
              <a:rPr sz="2200" b="0">
                <a:latin typeface="Cambria"/>
              </a:rPr>
              <a:t> ds</a:t>
            </a:r>
          </a:p>
        </p:txBody>
      </p:sp>
    </p:spTree>
    <p:extLst>
      <p:ext uri="{BB962C8B-B14F-4D97-AF65-F5344CB8AC3E}">
        <p14:creationId xmlns:p14="http://schemas.microsoft.com/office/powerpoint/2010/main" val="14869095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title"/>
          </p:nvPr>
        </p:nvSpPr>
        <p:spPr>
          <a:xfrm>
            <a:off x="1524000" y="-76200"/>
            <a:ext cx="87074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sz="4000" dirty="0"/>
              <a:t>The Negative Binomial Distribution</a:t>
            </a:r>
            <a:br>
              <a:rPr lang="en-US" sz="4000" dirty="0"/>
            </a:br>
            <a:r>
              <a:rPr lang="en-US" sz="2400" dirty="0"/>
              <a:t>(2) Poisson with a variable rate parameter </a:t>
            </a:r>
          </a:p>
        </p:txBody>
      </p:sp>
      <p:sp>
        <p:nvSpPr>
          <p:cNvPr id="220162" name="TextBox 7"/>
          <p:cNvSpPr txBox="1">
            <a:spLocks noChangeArrowheads="1"/>
          </p:cNvSpPr>
          <p:nvPr/>
        </p:nvSpPr>
        <p:spPr bwMode="auto">
          <a:xfrm>
            <a:off x="1139218" y="2516189"/>
            <a:ext cx="9837373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 dirty="0">
                <a:solidFill>
                  <a:srgbClr val="000000"/>
                </a:solidFill>
              </a:rPr>
              <a:t>Common parameterization in ecology with the mean as a parameter: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D7B4B51-8AF6-F8EA-03D4-2A3C1E59E5EB}"/>
              </a:ext>
            </a:extLst>
          </p:cNvPr>
          <p:cNvSpPr txBox="1"/>
          <p:nvPr/>
        </p:nvSpPr>
        <p:spPr>
          <a:xfrm>
            <a:off x="1749778" y="4865511"/>
            <a:ext cx="966264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We model </a:t>
            </a:r>
            <a:r>
              <a:rPr lang="en-US" sz="2400" i="1" dirty="0"/>
              <a:t>N </a:t>
            </a:r>
            <a:r>
              <a:rPr lang="en-US" sz="2400" dirty="0" err="1"/>
              <a:t>overdispersed</a:t>
            </a:r>
            <a:r>
              <a:rPr lang="en-US" sz="2400" dirty="0"/>
              <a:t> counts as function of mean, </a:t>
            </a:r>
            <a:r>
              <a:rPr lang="en-US" sz="2400" i="1" dirty="0"/>
              <a:t>m</a:t>
            </a:r>
            <a:r>
              <a:rPr lang="en-US" sz="2400" dirty="0"/>
              <a:t>, and dispersion, </a:t>
            </a:r>
            <a:r>
              <a:rPr lang="en-US" sz="2400" i="1" dirty="0"/>
              <a:t>k</a:t>
            </a:r>
            <a:endParaRPr lang="en-US" sz="2400" dirty="0"/>
          </a:p>
        </p:txBody>
      </p:sp>
      <p:sp>
        <p:nvSpPr>
          <p:cNvPr id="220163" name="TextBox 220162"/>
          <p:cNvSpPr txBox="1"/>
          <p:nvPr/>
        </p:nvSpPr>
        <p:spPr>
          <a:xfrm>
            <a:off x="2852351" y="3120729"/>
            <a:ext cx="9111049" cy="1070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latin typeface="Cambria"/>
              </a:rPr>
              <a:t>Pr{N = n} ≡ p</a:t>
            </a:r>
            <a:r>
              <a:rPr sz="1600" b="0" baseline="-25000">
                <a:latin typeface="Cambria"/>
              </a:rPr>
              <a:t>n</a:t>
            </a:r>
            <a:r>
              <a:rPr sz="1600" b="0">
                <a:latin typeface="Cambria"/>
              </a:rPr>
              <a:t>(m, k) = Γ(k + n) / (n! Γ(k)) · (k / (k + m))</a:t>
            </a:r>
            <a:r>
              <a:rPr sz="1600" b="0" baseline="30000">
                <a:latin typeface="Cambria"/>
              </a:rPr>
              <a:t>k</a:t>
            </a:r>
            <a:r>
              <a:rPr sz="1600" b="0">
                <a:latin typeface="Cambria"/>
              </a:rPr>
              <a:t> · (m / (k + m))</a:t>
            </a:r>
            <a:r>
              <a:rPr sz="1600" b="0" baseline="30000">
                <a:latin typeface="Cambria"/>
              </a:rPr>
              <a:t>n</a:t>
            </a:r>
          </a:p>
        </p:txBody>
      </p:sp>
    </p:spTree>
    <p:extLst>
      <p:ext uri="{BB962C8B-B14F-4D97-AF65-F5344CB8AC3E}">
        <p14:creationId xmlns:p14="http://schemas.microsoft.com/office/powerpoint/2010/main" val="57066503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title"/>
          </p:nvPr>
        </p:nvSpPr>
        <p:spPr>
          <a:xfrm>
            <a:off x="1524000" y="-76200"/>
            <a:ext cx="87074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sz="4000" dirty="0"/>
              <a:t>The Negative Binomial Distribution</a:t>
            </a:r>
            <a:br>
              <a:rPr lang="en-US" sz="4000" dirty="0"/>
            </a:br>
            <a:r>
              <a:rPr lang="en-US" sz="2400" dirty="0"/>
              <a:t>(2) Poisson with a variable rate parameter </a:t>
            </a:r>
          </a:p>
        </p:txBody>
      </p:sp>
      <p:sp>
        <p:nvSpPr>
          <p:cNvPr id="222212" name="TextBox 8"/>
          <p:cNvSpPr txBox="1">
            <a:spLocks noChangeArrowheads="1"/>
          </p:cNvSpPr>
          <p:nvPr/>
        </p:nvSpPr>
        <p:spPr bwMode="auto">
          <a:xfrm>
            <a:off x="3292475" y="2478088"/>
            <a:ext cx="5170488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/>
              <a:t>What is the probability of no events?</a:t>
            </a:r>
          </a:p>
        </p:txBody>
      </p:sp>
      <p:sp>
        <p:nvSpPr>
          <p:cNvPr id="14" name="TextBox 13"/>
          <p:cNvSpPr txBox="1">
            <a:spLocks noChangeArrowheads="1"/>
          </p:cNvSpPr>
          <p:nvPr/>
        </p:nvSpPr>
        <p:spPr bwMode="auto">
          <a:xfrm>
            <a:off x="2201864" y="4724401"/>
            <a:ext cx="7813675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/>
              <a:t>This probability can be large if </a:t>
            </a:r>
            <a:r>
              <a:rPr lang="en-US" altLang="en-US" sz="2400" i="1"/>
              <a:t>k </a:t>
            </a:r>
            <a:r>
              <a:rPr lang="en-US" altLang="en-US" sz="2400"/>
              <a:t>is small even if </a:t>
            </a:r>
            <a:r>
              <a:rPr lang="en-US" altLang="en-US" sz="2400" i="1"/>
              <a:t>m </a:t>
            </a:r>
            <a:r>
              <a:rPr lang="en-US" altLang="en-US" sz="2400"/>
              <a:t>is big</a:t>
            </a:r>
          </a:p>
        </p:txBody>
      </p:sp>
      <p:sp>
        <p:nvSpPr>
          <p:cNvPr id="222213" name="TextBox 222212"/>
          <p:cNvSpPr txBox="1"/>
          <p:nvPr/>
        </p:nvSpPr>
        <p:spPr>
          <a:xfrm>
            <a:off x="2943225" y="1360488"/>
            <a:ext cx="9020175" cy="939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latin typeface="Cambria"/>
              </a:rPr>
              <a:t>Pr{N = n} ≡ p</a:t>
            </a:r>
            <a:r>
              <a:rPr sz="1600" b="0" baseline="-25000">
                <a:latin typeface="Cambria"/>
              </a:rPr>
              <a:t>n</a:t>
            </a:r>
            <a:r>
              <a:rPr sz="1600" b="0">
                <a:latin typeface="Cambria"/>
              </a:rPr>
              <a:t>(m, k) = Γ(k + n) / (n! Γ(k)) · (k / (k + m))</a:t>
            </a:r>
            <a:r>
              <a:rPr sz="1600" b="0" baseline="30000">
                <a:latin typeface="Cambria"/>
              </a:rPr>
              <a:t>k</a:t>
            </a:r>
            <a:r>
              <a:rPr sz="1600" b="0">
                <a:latin typeface="Cambria"/>
              </a:rPr>
              <a:t> · (m / (k + m))</a:t>
            </a:r>
            <a:r>
              <a:rPr sz="1600" b="0" baseline="30000">
                <a:latin typeface="Cambria"/>
              </a:rPr>
              <a:t>n</a:t>
            </a:r>
          </a:p>
        </p:txBody>
      </p:sp>
      <p:sp>
        <p:nvSpPr>
          <p:cNvPr id="222214" name="TextBox 222213"/>
          <p:cNvSpPr txBox="1"/>
          <p:nvPr/>
        </p:nvSpPr>
        <p:spPr>
          <a:xfrm>
            <a:off x="4724400" y="3117850"/>
            <a:ext cx="3516923" cy="1066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b="0">
                <a:latin typeface="Cambria"/>
              </a:rPr>
              <a:t>p</a:t>
            </a:r>
            <a:r>
              <a:rPr sz="1900" b="0" baseline="-25000">
                <a:latin typeface="Cambria"/>
              </a:rPr>
              <a:t>0</a:t>
            </a:r>
            <a:r>
              <a:rPr sz="1900" b="0">
                <a:latin typeface="Cambria"/>
              </a:rPr>
              <a:t>(m, k) = (k / (k + m))</a:t>
            </a:r>
            <a:r>
              <a:rPr sz="1900" b="0" baseline="30000">
                <a:latin typeface="Cambria"/>
              </a:rPr>
              <a:t>k</a:t>
            </a:r>
          </a:p>
        </p:txBody>
      </p:sp>
    </p:spTree>
    <p:extLst>
      <p:ext uri="{BB962C8B-B14F-4D97-AF65-F5344CB8AC3E}">
        <p14:creationId xmlns:p14="http://schemas.microsoft.com/office/powerpoint/2010/main" val="2558391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4257" name="Picture 2" descr="Four bar charts of probability versus number of events (0 to 30). Panel a: Poisson, mean 10, bell-shaped peak near 10. Panels b, c, d: negative binomial, same mean, dispersion 5, 1, 0.5, becoming flatter and more skewed as dispersion drops." title="Four bar charts of probability versus number of events (0 to 30). Panel a: Poiss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95600" y="971550"/>
            <a:ext cx="6007100" cy="5886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Rectangle 2"/>
          <p:cNvSpPr>
            <a:spLocks noGrp="1" noChangeArrowheads="1"/>
          </p:cNvSpPr>
          <p:nvPr>
            <p:ph type="title"/>
          </p:nvPr>
        </p:nvSpPr>
        <p:spPr>
          <a:xfrm>
            <a:off x="1524000" y="-76200"/>
            <a:ext cx="87074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sz="4000" dirty="0"/>
              <a:t>Poisson vs. Negative Binomial </a:t>
            </a:r>
            <a:br>
              <a:rPr lang="en-US" sz="4000" dirty="0"/>
            </a:b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33234338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algn="ctr" eaLnBrk="1" hangingPunct="1">
              <a:defRPr/>
            </a:pPr>
            <a:r>
              <a:rPr lang="en-US" dirty="0"/>
              <a:t>The Geometric Distribution</a:t>
            </a:r>
          </a:p>
        </p:txBody>
      </p:sp>
      <p:sp>
        <p:nvSpPr>
          <p:cNvPr id="17411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1013254" y="2017713"/>
            <a:ext cx="10083114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dirty="0"/>
              <a:t>This is a special case of the negative binomial distribution for which </a:t>
            </a:r>
            <a:r>
              <a:rPr lang="en-US" i="1" dirty="0"/>
              <a:t>k </a:t>
            </a:r>
            <a:r>
              <a:rPr lang="en-US" dirty="0"/>
              <a:t>=1 (i.e. the probability of the number of trials </a:t>
            </a:r>
            <a:r>
              <a:rPr lang="en-US" u="sng" dirty="0"/>
              <a:t>or</a:t>
            </a:r>
            <a:r>
              <a:rPr lang="en-US" dirty="0"/>
              <a:t> failures until one success is recorded). </a:t>
            </a:r>
          </a:p>
        </p:txBody>
      </p:sp>
      <p:pic>
        <p:nvPicPr>
          <p:cNvPr id="3" name="Picture 2" descr="Comparison table of two geometric distribution conventions (k trials vs k failures): Support, PMF (1-p)^(k-1)p vs (1-p)^k p, CDF, and Mean 1/p vs (1-p)/p." title="Comparison table of two geometric distribution conventions (k trials vs k failur">
            <a:extLst>
              <a:ext uri="{FF2B5EF4-FFF2-40B4-BE49-F238E27FC236}">
                <a16:creationId xmlns:a16="http://schemas.microsoft.com/office/drawing/2014/main" id="{29811477-F79B-84B5-E2AE-7CCE931CA8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62200" y="3595571"/>
            <a:ext cx="6261538" cy="3152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78245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/>
          </p:nvPr>
        </p:nvSpPr>
        <p:spPr>
          <a:xfrm>
            <a:off x="2674939" y="-7620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3200"/>
              <a:t>Summary of Discrete Distributions</a:t>
            </a:r>
          </a:p>
        </p:txBody>
      </p:sp>
      <p:graphicFrame>
        <p:nvGraphicFramePr>
          <p:cNvPr id="576580" name="Group 68"/>
          <p:cNvGraphicFramePr>
            <a:graphicFrameLocks noGrp="1"/>
          </p:cNvGraphicFramePr>
          <p:nvPr>
            <p:ph type="tbl" idx="1"/>
            <p:extLst>
              <p:ext uri="{D42A27DB-BD31-4B8C-83A1-F6EECF244321}">
                <p14:modId xmlns:p14="http://schemas.microsoft.com/office/powerpoint/2010/main" val="2923578255"/>
              </p:ext>
            </p:extLst>
          </p:nvPr>
        </p:nvGraphicFramePr>
        <p:xfrm>
          <a:off x="1905000" y="1323976"/>
          <a:ext cx="8574088" cy="4848224"/>
        </p:xfrm>
        <a:graphic>
          <a:graphicData uri="http://schemas.openxmlformats.org/drawingml/2006/table">
            <a:tbl>
              <a:tblPr/>
              <a:tblGrid>
                <a:gridCol w="1981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62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75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822999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Distribution</a:t>
                      </a:r>
                    </a:p>
                  </a:txBody>
                  <a:tcPr marT="45712" marB="45712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Number of trials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Random Variable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Parameters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23974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Binomial</a:t>
                      </a:r>
                    </a:p>
                  </a:txBody>
                  <a:tcPr marT="45712" marB="45712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Pre-specified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Number of successes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n</a:t>
                      </a: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, </a:t>
                      </a:r>
                      <a:r>
                        <a:rPr kumimoji="0" lang="en-US" altLang="en-US" sz="2400" b="0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p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89126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Negative Binomial</a:t>
                      </a:r>
                    </a:p>
                  </a:txBody>
                  <a:tcPr marT="45712" marB="45712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Repeated until a given number of successes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Number of failures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r, p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89126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Geometric</a:t>
                      </a:r>
                    </a:p>
                  </a:txBody>
                  <a:tcPr marT="45712" marB="45712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Repeated until one success occurs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Number of failures </a:t>
                      </a:r>
                      <a:r>
                        <a:rPr kumimoji="0" lang="en-US" altLang="en-US" sz="2400" b="0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or </a:t>
                      </a:r>
                      <a:r>
                        <a:rPr kumimoji="0" lang="en-US" alt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trials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p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endParaRPr kumimoji="0" lang="en-US" altLang="en-US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charset="0"/>
                      </a:endParaRP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22999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Poisson</a:t>
                      </a:r>
                    </a:p>
                  </a:txBody>
                  <a:tcPr marT="45712" marB="45712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N/A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Number of occurrences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  <a:sym typeface="Symbol" charset="2"/>
                        </a:rPr>
                        <a:t>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779510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13973</TotalTime>
  <Words>2262</Words>
  <Application>Microsoft Macintosh PowerPoint</Application>
  <PresentationFormat>Widescreen</PresentationFormat>
  <Paragraphs>276</Paragraphs>
  <Slides>47</Slides>
  <Notes>41</Notes>
  <HiddenSlides>0</HiddenSlides>
  <MMClips>0</MMClips>
  <ScaleCrop>false</ScaleCrop>
  <HeadingPairs>
    <vt:vector size="8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7" baseType="lpstr">
      <vt:lpstr>Arial</vt:lpstr>
      <vt:lpstr>Calibri</vt:lpstr>
      <vt:lpstr>Calibri Light</vt:lpstr>
      <vt:lpstr>Courier New</vt:lpstr>
      <vt:lpstr>Symbol</vt:lpstr>
      <vt:lpstr>Tahoma</vt:lpstr>
      <vt:lpstr>Times New Roman</vt:lpstr>
      <vt:lpstr>Wingdings</vt:lpstr>
      <vt:lpstr>Office Theme</vt:lpstr>
      <vt:lpstr>Equation</vt:lpstr>
      <vt:lpstr>Discrete Probability Distributions </vt:lpstr>
      <vt:lpstr>Binomial Experiments-I</vt:lpstr>
      <vt:lpstr>Binomial Experiments-II</vt:lpstr>
      <vt:lpstr>Binomial Experiments-II (Notation)</vt:lpstr>
      <vt:lpstr>Binomial Probabilities-I</vt:lpstr>
      <vt:lpstr>One Binomial Trial: The Bernoulli Distribution</vt:lpstr>
      <vt:lpstr>PowerPoint Presentation</vt:lpstr>
      <vt:lpstr>PowerPoint Presentation</vt:lpstr>
      <vt:lpstr>PowerPoint Presentation</vt:lpstr>
      <vt:lpstr>PowerPoint Presentation</vt:lpstr>
      <vt:lpstr>Binomial Probabilities-II</vt:lpstr>
      <vt:lpstr>The Binomial Distribution</vt:lpstr>
      <vt:lpstr>Examples of the Binomial Distribution-I</vt:lpstr>
      <vt:lpstr>Examples of the Binomial Distribution-III</vt:lpstr>
      <vt:lpstr>Sneak peak: Maximum likelihood is just doing this in reverse!!!</vt:lpstr>
      <vt:lpstr>PowerPoint Presentation</vt:lpstr>
      <vt:lpstr>Sneak peak: Maximum Likelihood is just doing this in reverse!!!</vt:lpstr>
      <vt:lpstr>Sneak peak: Maximum likelihood is just doing this in reverse!!!</vt:lpstr>
      <vt:lpstr>PowerPoint Presentation</vt:lpstr>
      <vt:lpstr>PowerPoint Presentation</vt:lpstr>
      <vt:lpstr>Back to distributions</vt:lpstr>
      <vt:lpstr>PowerPoint Presentation</vt:lpstr>
      <vt:lpstr>The Poisson Distribution-I</vt:lpstr>
      <vt:lpstr>The Poisson Distribution-I</vt:lpstr>
      <vt:lpstr>The Poisson Distribution - pmf</vt:lpstr>
      <vt:lpstr>Where does the Poisson distribution come from?</vt:lpstr>
      <vt:lpstr>Where does the Poisson distribution come from?</vt:lpstr>
      <vt:lpstr>Zero term of the Poisson Distribution</vt:lpstr>
      <vt:lpstr>First term of the Poisson Distribution</vt:lpstr>
      <vt:lpstr>The Poisson Distribution - pmf</vt:lpstr>
      <vt:lpstr>The Poisson Distribution Graphically</vt:lpstr>
      <vt:lpstr>An Example of the Poisson Distribution-I</vt:lpstr>
      <vt:lpstr>An Example of the Poisson Distribution-II</vt:lpstr>
      <vt:lpstr>An Example of the Poisson Distribution-III</vt:lpstr>
      <vt:lpstr>An Example of the Poisson Distribution-III</vt:lpstr>
      <vt:lpstr>Example of using Poisson Probabilistic Arguments in Research</vt:lpstr>
      <vt:lpstr>The Poisson Distribution - Caveat</vt:lpstr>
      <vt:lpstr>But first: MLE for the Poisson Distribution</vt:lpstr>
      <vt:lpstr>The Negative Binomial Distribution (1) # failures/trials before fixed number of successes</vt:lpstr>
      <vt:lpstr>PowerPoint Presentation</vt:lpstr>
      <vt:lpstr>The Negative Binomial Distribution (2) Poisson with a variable rate parameter </vt:lpstr>
      <vt:lpstr>Quick note on Gamma function</vt:lpstr>
      <vt:lpstr>The Negative Binomial Distribution (2) Poisson with a variable rate parameter </vt:lpstr>
      <vt:lpstr>The Negative Binomial Distribution (2) Poisson with a variable rate parameter </vt:lpstr>
      <vt:lpstr>Poisson vs. Negative Binomial  </vt:lpstr>
      <vt:lpstr>The Geometric Distribution</vt:lpstr>
      <vt:lpstr>Summary of Discrete Distributions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Probability Distributions</dc:title>
  <dc:creator>Levi, Taal</dc:creator>
  <cp:lastModifiedBy>Levi, Taal</cp:lastModifiedBy>
  <cp:revision>101</cp:revision>
  <dcterms:created xsi:type="dcterms:W3CDTF">2018-09-30T16:59:02Z</dcterms:created>
  <dcterms:modified xsi:type="dcterms:W3CDTF">2025-09-19T03:58:50Z</dcterms:modified>
</cp:coreProperties>
</file>