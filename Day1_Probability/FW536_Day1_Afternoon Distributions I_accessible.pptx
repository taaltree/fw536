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0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60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w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wmf"/><Relationship Id="rId4" Type="http://schemas.openxmlformats.org/officeDocument/2006/relationships/image" Target="../media/image9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1.wmf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wmf"/><Relationship Id="rId4" Type="http://schemas.openxmlformats.org/officeDocument/2006/relationships/image" Target="../media/image29.wmf"/><Relationship Id="rId5" Type="http://schemas.openxmlformats.org/officeDocument/2006/relationships/image" Target="../media/image30.w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31.wmf"/><Relationship Id="rId5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3.wmf"/><Relationship Id="rId5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graphicFrame>
        <p:nvGraphicFramePr>
          <p:cNvPr id="143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98080"/>
              </p:ext>
            </p:extLst>
          </p:nvPr>
        </p:nvGraphicFramePr>
        <p:xfrm>
          <a:off x="2101534" y="2770188"/>
          <a:ext cx="8801398" cy="2033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47204" imgH="889046" progId="">
                  <p:embed/>
                </p:oleObj>
              </mc:Choice>
              <mc:Fallback>
                <p:oleObj name="Equation" r:id="rId3" imgW="3847204" imgH="889046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1534" y="2770188"/>
                        <a:ext cx="8801398" cy="20330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graphicFrame>
        <p:nvGraphicFramePr>
          <p:cNvPr id="145411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75213071"/>
              </p:ext>
            </p:extLst>
          </p:nvPr>
        </p:nvGraphicFramePr>
        <p:xfrm>
          <a:off x="3733623" y="2011680"/>
          <a:ext cx="4785714" cy="8674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623" y="2011680"/>
                        <a:ext cx="4785714" cy="8674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>
                <a:sym typeface="Wingdings"/>
              </a:rPr>
              <a:t>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>
                <a:sym typeface="Wingdings"/>
              </a:rPr>
              <a:t>Binomial 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graphicFrame>
        <p:nvGraphicFramePr>
          <p:cNvPr id="147459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61546922"/>
              </p:ext>
            </p:extLst>
          </p:nvPr>
        </p:nvGraphicFramePr>
        <p:xfrm>
          <a:off x="3703003" y="1617028"/>
          <a:ext cx="4573752" cy="828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3003" y="1617028"/>
                        <a:ext cx="4573752" cy="8289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. Q1: if X~binom(n,p) and Y~binom(m,p) are independent, X+Y follows (a) binom(n+m,p), (b) binom(nm,p), (c) binom(n+m,2p), (d) other. Q2: X~binom(n,p) and Z~binom(n,q) independent, X+Z follows (a) binom(n,p+q), (b) binom(n,pq), (c) binom(2n,p+q), (d) other." title="Concept-question slide. Q1: if X~binom(n,p) and Y~binom(m,p) are independent, X+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ame concept question with answers. Q1 answer: (a) binom(n+m,p), since each binomial is a sum of independent Bernoulli(p) variables. Q2 answer: (d) other, because combining Bernoulli(p) with Bernoulli(q) gives no named distribution." title="Same concept question with answers. Q1 answer: (a) binom(n+m,p), since each bino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76"/>
          <a:stretch/>
        </p:blipFill>
        <p:spPr>
          <a:xfrm>
            <a:off x="1489269" y="134256"/>
            <a:ext cx="8681098" cy="628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oard questions. 1: Prove Var(X)=p(1-p) if X~Bernoulli(p). 2: Prove Var(X)=np(1-p) if X~bin(n,p). 3: X1..Xn independent with standard deviation sigma=2; find the standard deviation of their average X-bar. Solution on next slide." title="Board questions. 1: Prove Var(X)=p(1-p) if X~Bernoulli(p). 2: Prove Var(X)=np(1-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. For Bernoulli(p), a table gives Var(X)=E[(X-mu)^2]=(1-p)p^2+p(1-p)^2=p(1-p). For bin(n,p), X is a sum of n independent Bernoulli(p), so variances add: Var(X)=Var(X1)+...+Var(Xn)=np(1-p)." title="Worked solution. For Bernoulli(p), a table gives Var(X)=E[(X-mu)^2]=(1-p)p^2+p(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73"/>
          <a:stretch/>
        </p:blipFill>
        <p:spPr>
          <a:xfrm>
            <a:off x="1433285" y="264885"/>
            <a:ext cx="9533925" cy="578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67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graphicFrame>
        <p:nvGraphicFramePr>
          <p:cNvPr id="149508" name="Object 9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24425" y="4114800"/>
          <a:ext cx="2514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231" imgH="456924" progId="">
                  <p:embed/>
                </p:oleObj>
              </mc:Choice>
              <mc:Fallback>
                <p:oleObj name="Equation" r:id="rId3" imgW="1257231" imgH="456924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4425" y="4114800"/>
                        <a:ext cx="2514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graphicFrame>
        <p:nvGraphicFramePr>
          <p:cNvPr id="157699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3999975"/>
              </p:ext>
            </p:extLst>
          </p:nvPr>
        </p:nvGraphicFramePr>
        <p:xfrm>
          <a:off x="3468130" y="4590536"/>
          <a:ext cx="38100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8130" y="4590536"/>
                        <a:ext cx="38100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>
                <a:sym typeface="Symbol" pitchFamily="18" charset="2"/>
              </a:rPr>
              <a:t>2]=1-P[X=0]-P[X=1]=0.3410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graphicFrame>
        <p:nvGraphicFramePr>
          <p:cNvPr id="15974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5106988" y="1905000"/>
          <a:ext cx="201930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22890" imgH="457200" progId="">
                  <p:embed/>
                </p:oleObj>
              </mc:Choice>
              <mc:Fallback>
                <p:oleObj name="Equation" r:id="rId3" imgW="1422890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1905000"/>
                        <a:ext cx="201930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9748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5106988" y="2514600"/>
          <a:ext cx="203835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5575" imgH="457200" progId="">
                  <p:embed/>
                </p:oleObj>
              </mc:Choice>
              <mc:Fallback>
                <p:oleObj name="Equation" r:id="rId5" imgW="1435575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2514600"/>
                        <a:ext cx="203835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 descr="R console: 1-pbinom(1,12,0.1) returns 0.3409977, the probability of 2 or more diseased animals out of 12 when p=0.1." title="R console: 1-pbinom(1,12,0.1) returns 0.3409977, the probability of 2 or more di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6029325"/>
            <a:ext cx="274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 descr="R console: dbinom(2,12,0.1)=0.2301278; dbinom(0,12,0.1)=0.2824295; 1-dbinom(1,12,0.1)-dbinom(0,12,0.1)=0.3409977, giving P(exactly 2), P(0), and P(2 or more)." title="R console: dbinom(2,12,0.1)=0.2301278; dbinom(0,12,0.1)=0.2824295; 1-dbinom(1,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3883025"/>
            <a:ext cx="50927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pic>
        <p:nvPicPr>
          <p:cNvPr id="163843" name="Picture 1" descr="Equation: L-tilde(p | k, N) = (N choose k) p^k (1-p)^(N-k). The binomial written as a likelihood function of p given observed k and N." title="Equation: L-tilde(p | k, N) = (N choose k) p^k (1-p)^(N-k). The binomial writt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1291" y="3812333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pic>
        <p:nvPicPr>
          <p:cNvPr id="165891" name="Picture 1" descr="Equation: L-tilde(p | k, N) = (N choose k) p^k (1-p)^(N-k). The binomial written as a likelihood function of p given observed k and N." title="Equation: L-tilde(p | k, N) = (N choose k) p^k (1-p)^(N-k). The binomial writt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5715" y="206323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pic>
        <p:nvPicPr>
          <p:cNvPr id="167939" name="Picture 1" descr="Equation: L-tilde(p | k, N) = (N choose k) p^k (1-p)^(N-k)." title="Equation: L-tilde(p | k, N) = (N choose k) p^k (1-p)^(N-k)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2357" y="2019300"/>
            <a:ext cx="50165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 descr="Equation: L(p | k, N) = log(N choose k) + k log(p) + (N-k) log(1-p). The binomial log-likelihood." title="Equation: L(p | k, N) = log(N choose k) + k log(p) + (N-k) log(1-p). The binomia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6750" y="4538568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pic>
        <p:nvPicPr>
          <p:cNvPr id="169987" name="Picture 3" descr="Equation: L(p | k, N) = log(N choose k) + k log(p) + (N-k) log(1-p). The binomial log-likelihood to be maximized for the MLE." title="Equation: L(p | k, N) = log(N choose k) + k log(p) + (N-k) log(1-p). The binomia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071" y="2303105"/>
            <a:ext cx="82423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 title="Two log-likelihood curves for p (binomial, constant term dropped). Panel a: 4 su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Multinomial distribution text and formula. Equation: Pr{k | N, p} = N! / (product over i of k_i!) times product over i=1 to n of p_i^(k_i). Extends the binomial to n outcome categories." title="Multinomial distribution text and formula. Equation: Pr{k | N, p} = N! / (produ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pic>
        <p:nvPicPr>
          <p:cNvPr id="6" name="Picture 5" descr="Equation: n! / (x_1! ... x_k!) times p_1^(x_1) ... p_k^(x_k). Multinomial probability written with x and k notation." title="Equation: n! / (x_1! ... x_k!) times p_1^(x_1) ... p_k^(x_k). Multinomial proba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352" y="5330867"/>
            <a:ext cx="3276600" cy="95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 descr="Equation: p_k(t) = (lambda t)^k / k! times e^(-lambda t). The Poisson pmf with rate lambda over interval t." title="Equation: p_k(t) = (lambda t)^k / k! times e^(-lambda t). The Poisson pmf with r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 descr="Equation: P(k events in interval) = e^(-lambda) lambda^k / k!. The Poisson pmf with mean lambda." title="Equation: P(k events in interval) = e^(-lambda) lambda^k / k!. The Poisson pmf w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pic>
          <p:nvPicPr>
            <p:cNvPr id="179202" name="Picture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28913" y="2347914"/>
              <a:ext cx="6172200" cy="1431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>
                  <a:sym typeface="Wingdings" charset="2"/>
                </a:rPr>
                <a:t>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pic>
        <p:nvPicPr>
          <p:cNvPr id="9" name="Picture 8" descr="Equation: dp_0/dt = -lambda p_0. Differential equation for the probability of no events." title="Equation: dp_0/dt = -lambda p_0. Differential equation for the probability of no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0426" y="4125439"/>
            <a:ext cx="2278063" cy="1050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9" descr="Equation: p_0(t) = exp(-lambda t). Solution giving the probability of no events by time t." title="Equation: p_0(t) = exp(-lambda t). Solution giving the probability of no events 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900" y="5897173"/>
            <a:ext cx="2963863" cy="582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07885" y="2832085"/>
              <a:ext cx="5671456" cy="6584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544836-8B04-D983-0E0E-A579EE0009F3}"/>
                </a:ext>
              </a:extLst>
            </p:cNvPr>
            <p:cNvSpPr txBox="1"/>
            <p:nvPr/>
          </p:nvSpPr>
          <p:spPr>
            <a:xfrm>
              <a:off x="7292262" y="2659084"/>
              <a:ext cx="476412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pic>
        <p:nvPicPr>
          <p:cNvPr id="183299" name="Picture 1" descr="Equation: Pr{no event in 0 to t} = p_0(t) = e^(-lambda t). The zero term of the Poisson." title="Equation: Pr{no event in 0 to t} = p_0(t) = e^(-lambda t). The zero term of the 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613" y="1713463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3301" name="Picture 4" descr="Equation: p_0(t) = exp(-lambda t). Probability of no events by time t." title="Equation: p_0(t) = exp(-lambda t). Probability of no events by time t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5213" y="3158089"/>
            <a:ext cx="6235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 title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368061340"/>
              </p:ext>
            </p:extLst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76206557"/>
              </p:ext>
            </p:extLst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1493" name="Picture 1" descr="Equation: p_k(t) = (lambda t)^k / k! times e^(-lambda t). The Poisson pmf with rate lambda over interval t." title="Equation: p_k(t) = (lambda t)^k / k! times e^(-lambda t). The Poisson pmf with r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95" y="2277675"/>
            <a:ext cx="2890999" cy="119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" descr="Equation: P(k events in interval) = e^(-lambda) lambda^k / k!. The Poisson pmf with mean lambda." title="Equation: P(k events in interval) = e^(-lambda) lambda^k / k!. The Poisson pmf w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699" y="2509997"/>
            <a:ext cx="3594100" cy="74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011272"/>
              </p:ext>
            </p:extLst>
          </p:nvPr>
        </p:nvGraphicFramePr>
        <p:xfrm>
          <a:off x="4818820" y="4919723"/>
          <a:ext cx="2554360" cy="905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18820" y="4919723"/>
                        <a:ext cx="2554360" cy="9057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graphicFrame>
        <p:nvGraphicFramePr>
          <p:cNvPr id="7172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90098713"/>
              </p:ext>
            </p:extLst>
          </p:nvPr>
        </p:nvGraphicFramePr>
        <p:xfrm>
          <a:off x="3200400" y="3895533"/>
          <a:ext cx="5410200" cy="1055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46300" imgH="419100" progId="Equation.DSMT4">
                  <p:embed/>
                </p:oleObj>
              </mc:Choice>
              <mc:Fallback>
                <p:oleObj name="Equation" r:id="rId3" imgW="21463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3895533"/>
                        <a:ext cx="5410200" cy="1055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 descr="R console: dpois(4,3) returns 0.1680314, the Poisson probability of exactly 4 events when the mean is 3." title="R console: dpois(4,3) returns 0.1680314, the Poisson probability of exactly 4 ev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5246496"/>
            <a:ext cx="2341563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>
                <a:sym typeface="Symbol" charset="2"/>
              </a:rPr>
              <a:t>2]=P[X=0]+P[X=1]+P[X=2]=</a:t>
            </a:r>
          </a:p>
        </p:txBody>
      </p:sp>
      <p:graphicFrame>
        <p:nvGraphicFramePr>
          <p:cNvPr id="8196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1524000" y="5334001"/>
          <a:ext cx="4267200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22500" imgH="419100" progId="Equation.DSMT4">
                  <p:embed/>
                </p:oleObj>
              </mc:Choice>
              <mc:Fallback>
                <p:oleObj name="Equation" r:id="rId3" imgW="22225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5334001"/>
                        <a:ext cx="4267200" cy="804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 descr="R console: dpois(0,3)+dpois(1,3)+dpois(2,3)=0.4231901 and ppois(2,3)=0.4231901, the Poisson probability of 2 or fewer events when the mean is 3." title="R console: dpois(0,3)+dpois(1,3)+dpois(2,3)=0.4231901 and ppois(2,3)=0.4231901, 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463" y="5114925"/>
            <a:ext cx="44958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pic>
        <p:nvPicPr>
          <p:cNvPr id="4" name="Picture 3" descr="R console: dpois(0,3)=0.04978707 and 1-dpois(0,3)=0.9502129, the Poisson probability of at least one event when the mean is 3." title="R console: dpois(0,3)=0.04978707 and 1-dpois(0,3)=0.9502129, the Poisson probab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76" y="4392386"/>
            <a:ext cx="3021012" cy="188322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 descr="Journal excerpt: modeling observed attacks as a Poisson process, the probability of zero attacks being seen before 1990 is 0.006, given a rate constant over the 27-year period." title="Journal excerpt: modeling observed attacks as a Poisson process, the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 title="Journal article header: 'Killer Whale Predation on Sea Otters Linking Oceanic an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>
                <a:sym typeface="Wingdings"/>
              </a:rPr>
              <a:t>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pic>
        <p:nvPicPr>
          <p:cNvPr id="207875" name="Picture 3" descr="Equation: p_k(t) = (lambda t)^k / k! times e^(-lambda t). The Poisson pmf." title="Equation: p_k(t) = (lambda t)^k / k! times e^(-lambda t). The Poisson pmf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61731"/>
            <a:ext cx="2654300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Equation: L(p | {X_i}) = sum from i=1 to n of log(f(X_i | p)). The log-likelihood for n observations." title="Equation: L(p | {X_i}) = sum from i=1 to n of log(f(X_i | p)). The log-likelihoo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556" y="5027477"/>
            <a:ext cx="4945062" cy="54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 descr="Equation: L-tilde(p | {X_i}) = product from i=1 to n of f(X_i | p). The likelihood as a product over n observations." title="Equation: L-tilde(p | {X_i}) = product from i=1 to n of f(X_i | p). The likeliho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975" y="5024047"/>
            <a:ext cx="3733800" cy="53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0" name="Picture 2" descr="Equation: Pr{N = n | k, p} = Probability that the kth success occurs on trial n. Sets up the negative binomial." title="Equation: Pr{N = n | k, p} = Probability that the kth success occurs on trial n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1390986"/>
            <a:ext cx="91440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1971" name="Picture 3" descr="Text: for the kth success on trial n, we need k-1 successes in the first n-1 trials (binomial with parameters n-1 and p) and a success on trial n with probability p, independently." title="Text: for the kth success on trial n, we need k-1 successes in the first n-1 tr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 descr="Equation: Pr{N = n | k, p} = (n-1 choose k-1) p^(k-1) (1-p)^(n-k) p = (n-1 choose k-1) p^k (1-p)^(n-k). The negative binomial pmf." title="Equation: Pr{N = n | k, p} = (n-1 choose k-1) p^(k-1) (1-p)^(n-k) p = (n-1 choos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113" y="4892484"/>
            <a:ext cx="9144000" cy="95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pic>
        <p:nvPicPr>
          <p:cNvPr id="3" name="Picture 2" descr="Equation: f(k; r, p) = Pr(X = k) = (k+r-1 choose r-1) (1-p)^k p^r. Negative binomial for number of failures k before r successes." title="Equation: f(k; r, p) = Pr(X = k) = (k+r-1 choose r-1) (1-p)^k p^r. Negative bino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3239" y="5922241"/>
            <a:ext cx="6165041" cy="955675"/>
          </a:xfrm>
          <a:prstGeom prst="rect">
            <a:avLst/>
          </a:prstGeom>
        </p:spPr>
      </p:pic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pic>
        <p:nvPicPr>
          <p:cNvPr id="214019" name="Picture 2" descr="Equation: Pr{k events in [0,t] | lambda} = (lambda t)^k / k! times e^(-lambda t). The Poisson before making lambda random." title="Equation: Pr{k events in [0,t] | lambda} = (lambda t)^k / k! times e^(-lambda t)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752" y="1149920"/>
            <a:ext cx="5346700" cy="1352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14020" name="Picture 4" descr="Equation: Pr{k events in [0,t]} = integral from 0 to infinity of (lambda t)^k / k! times e^(-lambda t) f(lambda) d-lambda. Marginalizing the Poisson over a distribution of lambda." title="Equation: Pr{k events in [0,t]} = integral from 0 to infinity of (lambda t)^k / 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4519" y="4045520"/>
            <a:ext cx="5486400" cy="137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 descr="Equation: p_X(x) = integral over y of p_{X,Y}(x,y) dy = integral over y of p_{X|Y}(x|y) p_Y(y) dy. The marginalization identity." title="Equation: p_X(x) = integral over y of p_{X,Y}(x,y) dy = integral over y of p_{X|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519" y="5791131"/>
            <a:ext cx="6248400" cy="73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pic>
        <p:nvPicPr>
          <p:cNvPr id="3" name="Picture 2" descr="Equation: Gamma(z) = (z-1)!. The gamma function equals the factorial for integer z." title="Equation: Gamma(z) = (z-1)!. The gamma function equals the factorial for integer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514600"/>
            <a:ext cx="2552700" cy="52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3" descr="Equation: Gamma(z+1) = z Gamma(z). The recurrence relation of the gamma function." title="Equation: Gamma(z+1) = z Gamma(z). The recurrence relation of the gamma function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063" y="3035300"/>
            <a:ext cx="29972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Equation: Gamma(z) = integral from 0 to infinity of s^(z-1) e^(-s) ds. Integral definition of the gamma function for z&gt;0." title="Equation: Gamma(z) = integral from 0 to infinity of s^(z-1) e^(-s) ds. Integral 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1113" y="3963988"/>
            <a:ext cx="3416300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pic>
        <p:nvPicPr>
          <p:cNvPr id="220164" name="Picture 1" descr="Equation: Pr{N = n} = p_n(m, k) = Gamma(k+n) / (n! Gamma(k)) times (k/(k+m))^k times (m/(k+m))^n. Negative binomial parameterized by mean m and dispersion k." title="Equation: Pr{N = n} = p_n(m, k) = Gamma(k+n) / (n! Gamma(k)) times (k/(k+m))^k t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852351" y="3120729"/>
            <a:ext cx="6670704" cy="1070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pic>
        <p:nvPicPr>
          <p:cNvPr id="222210" name="Picture 1" descr="Equation: Pr{N = n} = p_n(m, k) = Gamma(k+n) / (n! Gamma(k)) times (k/(k+m))^k times (m/(k+m))^n. Negative binomial in mean-dispersion form." title="Equation: Pr{N = n} = p_n(m, k) = Gamma(k+n) / (n! Gamma(k)) times (k/(k+m))^k t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819"/>
          <a:stretch>
            <a:fillRect/>
          </a:stretch>
        </p:blipFill>
        <p:spPr bwMode="auto">
          <a:xfrm>
            <a:off x="2943225" y="1360488"/>
            <a:ext cx="5867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 descr="Equation: p_0(m, k) = (k/(k+m))^k. Negative binomial probability of no events; large when k is small even if m is big." title="Equation: p_0(m, k) = (k/(k+m))^k. Negative binomial probability of no events; l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3117850"/>
            <a:ext cx="2768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 title="Four bar charts of probability versus number of events (0 to 30). Panel a: Pois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 descr="Comparison table of two geometric distribution conventions (k trials vs k failures): Support, PMF (1-p)^(k-1)p vs (1-p)^k p, CDF, and Mean 1/p vs (1-p)/p." title="Comparison table of two geometric distribution conventions (k trials vs k failur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13973</TotalTime>
  <Words>2262</Words>
  <Application>Microsoft Macintosh PowerPoint</Application>
  <PresentationFormat>Widescreen</PresentationFormat>
  <Paragraphs>276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101</cp:revision>
  <dcterms:created xsi:type="dcterms:W3CDTF">2018-09-30T16:59:02Z</dcterms:created>
  <dcterms:modified xsi:type="dcterms:W3CDTF">2025-09-19T03:58:50Z</dcterms:modified>
</cp:coreProperties>
</file>