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70" r:id="rId2"/>
    <p:sldId id="271" r:id="rId3"/>
    <p:sldId id="272" r:id="rId4"/>
    <p:sldId id="273" r:id="rId5"/>
    <p:sldId id="274" r:id="rId6"/>
    <p:sldId id="275" r:id="rId7"/>
    <p:sldId id="317" r:id="rId8"/>
    <p:sldId id="331" r:id="rId9"/>
    <p:sldId id="329" r:id="rId10"/>
    <p:sldId id="330" r:id="rId11"/>
    <p:sldId id="276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338" r:id="rId23"/>
    <p:sldId id="289" r:id="rId24"/>
    <p:sldId id="290" r:id="rId25"/>
    <p:sldId id="308" r:id="rId26"/>
    <p:sldId id="301" r:id="rId27"/>
    <p:sldId id="302" r:id="rId28"/>
    <p:sldId id="303" r:id="rId29"/>
    <p:sldId id="304" r:id="rId30"/>
    <p:sldId id="291" r:id="rId31"/>
    <p:sldId id="292" r:id="rId32"/>
    <p:sldId id="293" r:id="rId33"/>
    <p:sldId id="296" r:id="rId34"/>
    <p:sldId id="297" r:id="rId35"/>
    <p:sldId id="300" r:id="rId36"/>
    <p:sldId id="294" r:id="rId37"/>
    <p:sldId id="298" r:id="rId38"/>
    <p:sldId id="299" r:id="rId39"/>
    <p:sldId id="318" r:id="rId40"/>
    <p:sldId id="319" r:id="rId41"/>
    <p:sldId id="320" r:id="rId42"/>
    <p:sldId id="322" r:id="rId43"/>
    <p:sldId id="323" r:id="rId44"/>
    <p:sldId id="324" r:id="rId45"/>
    <p:sldId id="326" r:id="rId46"/>
    <p:sldId id="327" r:id="rId47"/>
    <p:sldId id="32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 snapToObjects="1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45995-FC3E-D540-94CA-CACDC057E48E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FA766-4199-D741-B79E-9AE53857A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8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47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4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73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08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1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0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1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64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5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49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6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337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691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52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1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559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42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77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006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260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16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84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016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967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1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7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647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172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0053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023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548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760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93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29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>
                <a:latin typeface="Times New Roman" charset="0"/>
              </a:rPr>
              <a:t>Examples? Number of foraging bouts before r successes. Number of surveys before r detections.</a:t>
            </a:r>
          </a:p>
          <a:p>
            <a:endParaRPr lang="en-US" alt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976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4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47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91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67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11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2421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478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2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1833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73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0443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3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2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4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9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6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4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2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25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1B70-FC32-704C-A6D2-3B280E3727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25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55D25-F998-A748-BD3E-3F04D9B0DB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24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85E31-6AB6-4544-B38B-96F01BA9D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853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0C76F-CEB0-0A40-BA82-0C321A01C5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55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33797-E749-0F4D-9D43-8EDD7194A7C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1295400"/>
          </a:xfrm>
        </p:spPr>
        <p:txBody>
          <a:bodyPr/>
          <a:lstStyle/>
          <a:p>
            <a:pPr algn="ctr" eaLnBrk="1" hangingPunct="1"/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Discrete Probability Distributions </a:t>
            </a:r>
            <a:endParaRPr lang="en-AU" altLang="en-US" sz="24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53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2830" y="9144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5820" y="1423035"/>
            <a:ext cx="10378440" cy="4687888"/>
          </a:xfrm>
        </p:spPr>
        <p:txBody>
          <a:bodyPr/>
          <a:lstStyle/>
          <a:p>
            <a:pPr marL="609600" indent="-609600">
              <a:defRPr/>
            </a:pPr>
            <a:r>
              <a:rPr lang="en-US" sz="2400" dirty="0"/>
              <a:t>Binomial experiments are those for which the outcome from each trial is one of only two options (“success” or “failure”). The properties of a binomial experiment are: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experiment is repeated for a fixed number of trials, </a:t>
            </a:r>
            <a:r>
              <a:rPr lang="en-US" sz="2400" i="1" dirty="0"/>
              <a:t>N</a:t>
            </a:r>
            <a:r>
              <a:rPr lang="en-US" sz="2400" dirty="0"/>
              <a:t>, where each trial is </a:t>
            </a:r>
            <a:r>
              <a:rPr lang="en-US" sz="2400" i="1" dirty="0">
                <a:solidFill>
                  <a:schemeClr val="hlink"/>
                </a:solidFill>
              </a:rPr>
              <a:t>independent</a:t>
            </a:r>
            <a:r>
              <a:rPr lang="en-US" sz="2400" dirty="0"/>
              <a:t> of all the others.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There are only two possible outcomes for each trial. The outcomes can be classified as a success (S) or a failure (F).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probability of success is the </a:t>
            </a:r>
            <a:r>
              <a:rPr lang="en-US" sz="2400" u="sng" dirty="0"/>
              <a:t>same </a:t>
            </a:r>
            <a:r>
              <a:rPr lang="en-US" sz="2400" dirty="0"/>
              <a:t>for all trials.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random variable </a:t>
            </a:r>
            <a:r>
              <a:rPr lang="en-US" sz="2400" i="1" dirty="0"/>
              <a:t>X</a:t>
            </a:r>
            <a:r>
              <a:rPr lang="en-US" sz="2400" dirty="0"/>
              <a:t> counts the number of </a:t>
            </a:r>
            <a:r>
              <a:rPr lang="en-US" sz="2400" i="1" dirty="0">
                <a:solidFill>
                  <a:schemeClr val="hlink"/>
                </a:solidFill>
              </a:rPr>
              <a:t>successful</a:t>
            </a:r>
            <a:r>
              <a:rPr lang="en-US" sz="2400" dirty="0"/>
              <a:t> trials out of </a:t>
            </a:r>
            <a:r>
              <a:rPr lang="en-US" sz="2400" i="1" dirty="0"/>
              <a:t>N</a:t>
            </a:r>
            <a:r>
              <a:rPr lang="en-US" sz="2400" dirty="0"/>
              <a:t> trials.</a:t>
            </a:r>
          </a:p>
        </p:txBody>
      </p:sp>
    </p:spTree>
    <p:extLst>
      <p:ext uri="{BB962C8B-B14F-4D97-AF65-F5344CB8AC3E}">
        <p14:creationId xmlns:p14="http://schemas.microsoft.com/office/powerpoint/2010/main" val="25077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1470" y="1621155"/>
            <a:ext cx="900557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Why is the following a binomial experiment?</a:t>
            </a:r>
          </a:p>
          <a:p>
            <a:pPr eaLnBrk="1" hangingPunct="1">
              <a:defRPr/>
            </a:pPr>
            <a:endParaRPr lang="en-US" sz="3200" dirty="0"/>
          </a:p>
          <a:p>
            <a:pPr lvl="1" eaLnBrk="1" hangingPunct="1">
              <a:defRPr/>
            </a:pPr>
            <a:r>
              <a:rPr lang="en-US" sz="2800" dirty="0"/>
              <a:t>We randomly sample 500 fish from the population.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We record whether each animal is mature or immature.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The random variable </a:t>
            </a:r>
            <a:r>
              <a:rPr lang="en-US" sz="2800" i="1" dirty="0"/>
              <a:t>X</a:t>
            </a:r>
            <a:r>
              <a:rPr lang="en-US" sz="2800" dirty="0"/>
              <a:t> is the number of mature animals.</a:t>
            </a:r>
          </a:p>
        </p:txBody>
      </p:sp>
    </p:spTree>
    <p:extLst>
      <p:ext uri="{BB962C8B-B14F-4D97-AF65-F5344CB8AC3E}">
        <p14:creationId xmlns:p14="http://schemas.microsoft.com/office/powerpoint/2010/main" val="2478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2286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Binomial Experiments-II</a:t>
            </a:r>
            <a:br>
              <a:rPr lang="en-US" sz="4000"/>
            </a:br>
            <a:r>
              <a:rPr lang="en-US" sz="4000"/>
              <a:t>(Notation)</a:t>
            </a:r>
          </a:p>
        </p:txBody>
      </p:sp>
      <p:sp>
        <p:nvSpPr>
          <p:cNvPr id="143365" name="TextBox 143364"/>
          <p:cNvSpPr txBox="1"/>
          <p:nvPr/>
        </p:nvSpPr>
        <p:spPr>
          <a:xfrm>
            <a:off x="1873955" y="2577448"/>
            <a:ext cx="10056299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400" dirty="0">
                <a:latin typeface="Cambria"/>
              </a:rPr>
              <a:t>N or </a:t>
            </a:r>
            <a:r>
              <a:rPr sz="2400" dirty="0">
                <a:latin typeface="Cambria"/>
              </a:rPr>
              <a:t>n            The number of times a trial is repeated</a:t>
            </a:r>
          </a:p>
          <a:p>
            <a:r>
              <a:rPr sz="2400" dirty="0">
                <a:latin typeface="Cambria"/>
              </a:rPr>
              <a:t>p = P(S)     The probability of a success in a single trial</a:t>
            </a:r>
          </a:p>
          <a:p>
            <a:r>
              <a:rPr sz="2400" dirty="0">
                <a:latin typeface="Cambria"/>
              </a:rPr>
              <a:t>q = P(F)     The probability of a failure in a single trial, q = 1 − p</a:t>
            </a:r>
          </a:p>
          <a:p>
            <a:r>
              <a:rPr lang="en-US" sz="2400" dirty="0">
                <a:latin typeface="Cambria"/>
              </a:rPr>
              <a:t>x or k</a:t>
            </a:r>
            <a:r>
              <a:rPr sz="2400" dirty="0">
                <a:latin typeface="Cambria"/>
              </a:rPr>
              <a:t>            The number of successes on n trials (x = 0, 1, .., n)</a:t>
            </a:r>
          </a:p>
        </p:txBody>
      </p:sp>
    </p:spTree>
    <p:extLst>
      <p:ext uri="{BB962C8B-B14F-4D97-AF65-F5344CB8AC3E}">
        <p14:creationId xmlns:p14="http://schemas.microsoft.com/office/powerpoint/2010/main" val="1667011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2382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Binomial Probabilities-I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" y="1318260"/>
            <a:ext cx="11567160" cy="49911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This is a probability mass function, </a:t>
            </a:r>
            <a:r>
              <a:rPr lang="en-US" sz="2600" i="1" dirty="0" err="1"/>
              <a:t>pmf</a:t>
            </a:r>
            <a:endParaRPr lang="en-US" sz="2600" i="1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The binomial probability therefore involves the probability of </a:t>
            </a:r>
            <a:r>
              <a:rPr lang="en-US" sz="2600" i="1" dirty="0"/>
              <a:t>x</a:t>
            </a:r>
            <a:r>
              <a:rPr lang="en-US" sz="2600" dirty="0"/>
              <a:t> successes and </a:t>
            </a:r>
            <a:r>
              <a:rPr lang="en-US" sz="2600" i="1" dirty="0"/>
              <a:t>n </a:t>
            </a:r>
            <a:r>
              <a:rPr lang="en-US" sz="2600" dirty="0"/>
              <a:t>- </a:t>
            </a:r>
            <a:r>
              <a:rPr lang="en-US" sz="2600" i="1" dirty="0"/>
              <a:t>x</a:t>
            </a:r>
            <a:r>
              <a:rPr lang="en-US" sz="2600" dirty="0"/>
              <a:t>  failures multiplied by the number of ways choosing </a:t>
            </a:r>
            <a:r>
              <a:rPr lang="en-US" sz="2600" i="1" dirty="0"/>
              <a:t>x</a:t>
            </a:r>
            <a:r>
              <a:rPr lang="en-US" sz="2600" dirty="0"/>
              <a:t> successes out of </a:t>
            </a:r>
            <a:r>
              <a:rPr lang="en-US" sz="2600" i="1" dirty="0"/>
              <a:t>n</a:t>
            </a:r>
            <a:r>
              <a:rPr lang="en-US" sz="2600" dirty="0"/>
              <a:t> trials.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i="1" dirty="0"/>
              <a:t>n</a:t>
            </a:r>
            <a:r>
              <a:rPr lang="en-US" sz="2600" dirty="0"/>
              <a:t> and </a:t>
            </a:r>
            <a:r>
              <a:rPr lang="en-US" sz="2600" i="1" dirty="0"/>
              <a:t>p</a:t>
            </a:r>
            <a:r>
              <a:rPr lang="en-US" sz="2600" dirty="0"/>
              <a:t> are </a:t>
            </a:r>
            <a:r>
              <a:rPr lang="en-US" sz="2600" i="1" dirty="0">
                <a:solidFill>
                  <a:schemeClr val="hlink"/>
                </a:solidFill>
              </a:rPr>
              <a:t>parameters </a:t>
            </a:r>
            <a:r>
              <a:rPr lang="en-US" sz="2600" dirty="0"/>
              <a:t>(</a:t>
            </a:r>
            <a:r>
              <a:rPr lang="en-US" sz="2600" i="1" dirty="0"/>
              <a:t>q = 1 - p</a:t>
            </a:r>
            <a:r>
              <a:rPr lang="en-US" sz="2600" dirty="0"/>
              <a:t>). We will use data to estimate the values for unknown parameters.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483151" y="2879090"/>
            <a:ext cx="522514" cy="34930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660921" y="3161955"/>
            <a:ext cx="4510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# ways you can have </a:t>
            </a:r>
            <a:r>
              <a:rPr lang="en-US" sz="2000" i="1" dirty="0"/>
              <a:t>x </a:t>
            </a:r>
            <a:r>
              <a:rPr lang="en-US" sz="2000" dirty="0"/>
              <a:t>out of </a:t>
            </a:r>
            <a:r>
              <a:rPr lang="en-US" sz="2000" i="1" dirty="0"/>
              <a:t>n </a:t>
            </a:r>
            <a:r>
              <a:rPr lang="en-US" sz="2000" dirty="0"/>
              <a:t>successes/</a:t>
            </a:r>
          </a:p>
          <a:p>
            <a:r>
              <a:rPr lang="en-US" sz="2000" dirty="0"/>
              <a:t>E.g. HHT, HTH, THH</a:t>
            </a:r>
          </a:p>
        </p:txBody>
      </p:sp>
      <p:sp>
        <p:nvSpPr>
          <p:cNvPr id="7172" name="TextBox 7171"/>
          <p:cNvSpPr txBox="1"/>
          <p:nvPr/>
        </p:nvSpPr>
        <p:spPr>
          <a:xfrm>
            <a:off x="3733623" y="2011680"/>
            <a:ext cx="6893169" cy="867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P(x) = </a:t>
            </a:r>
            <a:r>
              <a:rPr sz="1900" baseline="-25000">
                <a:latin typeface="Cambria"/>
              </a:rPr>
              <a:t>n</a:t>
            </a:r>
            <a:r>
              <a:rPr sz="1900">
                <a:latin typeface="Cambria"/>
              </a:rPr>
              <a:t>C</a:t>
            </a:r>
            <a:r>
              <a:rPr sz="1900" baseline="-25000">
                <a:latin typeface="Cambria"/>
              </a:rPr>
              <a:t>x</a:t>
            </a:r>
            <a:r>
              <a:rPr sz="1900">
                <a:latin typeface="Cambria"/>
              </a:rPr>
              <a:t>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  <a:r>
              <a:rPr sz="1900">
                <a:latin typeface="Cambria"/>
              </a:rPr>
              <a:t> = n! / ((n − x)! x!) ·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</a:p>
        </p:txBody>
      </p:sp>
    </p:spTree>
    <p:extLst>
      <p:ext uri="{BB962C8B-B14F-4D97-AF65-F5344CB8AC3E}">
        <p14:creationId xmlns:p14="http://schemas.microsoft.com/office/powerpoint/2010/main" val="108143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9055"/>
            <a:ext cx="123901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One Binomial Trial: The Bernoulli Distribution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4360" y="1074420"/>
            <a:ext cx="110871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With </a:t>
            </a:r>
            <a:r>
              <a:rPr lang="en-US" sz="2600" i="1" dirty="0"/>
              <a:t>n </a:t>
            </a:r>
            <a:r>
              <a:rPr lang="en-US" sz="2600" dirty="0"/>
              <a:t>= 1, the Binomial becomes the Bernoulli distribution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P(x) = </a:t>
            </a:r>
            <a:r>
              <a:rPr lang="en-US" sz="2600" i="1" dirty="0" err="1"/>
              <a:t>p</a:t>
            </a:r>
            <a:r>
              <a:rPr lang="en-US" sz="2600" i="1" baseline="30000" dirty="0" err="1"/>
              <a:t>x</a:t>
            </a:r>
            <a:r>
              <a:rPr lang="en-US" sz="2600" i="1" baseline="30000" dirty="0"/>
              <a:t> </a:t>
            </a:r>
            <a:r>
              <a:rPr lang="en-US" sz="2600" dirty="0"/>
              <a:t>(1</a:t>
            </a:r>
            <a:r>
              <a:rPr lang="en-US" sz="2600" i="1" dirty="0"/>
              <a:t> - p</a:t>
            </a:r>
            <a:r>
              <a:rPr lang="en-US" sz="2600" dirty="0"/>
              <a:t>)</a:t>
            </a:r>
            <a:r>
              <a:rPr lang="en-US" sz="2600" baseline="30000" dirty="0"/>
              <a:t>1</a:t>
            </a:r>
            <a:r>
              <a:rPr lang="en-US" sz="2600" i="1" baseline="30000" dirty="0"/>
              <a:t> </a:t>
            </a:r>
            <a:r>
              <a:rPr lang="mr-IN" sz="2600" i="1" baseline="30000" dirty="0"/>
              <a:t>–</a:t>
            </a:r>
            <a:r>
              <a:rPr lang="en-US" sz="2600" i="1" baseline="30000" dirty="0"/>
              <a:t> 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Where x can take the values of 0 or 1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Bernoulli → probability a single coin flip comes up heads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Binomial → Probability that 10 coin flips yield 3 heads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b="1" dirty="0"/>
              <a:t>So the Binomial is the distribution for the sum of independent Bernoulli trials</a:t>
            </a:r>
            <a:endParaRPr lang="en-US" sz="2600" b="1" dirty="0">
              <a:sym typeface="Wingding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</p:txBody>
      </p:sp>
      <p:sp>
        <p:nvSpPr>
          <p:cNvPr id="7172" name="TextBox 7171"/>
          <p:cNvSpPr txBox="1"/>
          <p:nvPr/>
        </p:nvSpPr>
        <p:spPr>
          <a:xfrm>
            <a:off x="3703003" y="1617028"/>
            <a:ext cx="6893169" cy="82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P(x) = </a:t>
            </a:r>
            <a:r>
              <a:rPr sz="1900" baseline="-25000">
                <a:latin typeface="Cambria"/>
              </a:rPr>
              <a:t>n</a:t>
            </a:r>
            <a:r>
              <a:rPr sz="1900">
                <a:latin typeface="Cambria"/>
              </a:rPr>
              <a:t>C</a:t>
            </a:r>
            <a:r>
              <a:rPr sz="1900" baseline="-25000">
                <a:latin typeface="Cambria"/>
              </a:rPr>
              <a:t>x</a:t>
            </a:r>
            <a:r>
              <a:rPr sz="1900">
                <a:latin typeface="Cambria"/>
              </a:rPr>
              <a:t>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  <a:r>
              <a:rPr sz="1900">
                <a:latin typeface="Cambria"/>
              </a:rPr>
              <a:t> = n! / ((n − x)! x!) · p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q</a:t>
            </a:r>
            <a:r>
              <a:rPr sz="1900" baseline="30000">
                <a:latin typeface="Cambria"/>
              </a:rPr>
              <a:t>n−x</a:t>
            </a:r>
          </a:p>
        </p:txBody>
      </p:sp>
    </p:spTree>
    <p:extLst>
      <p:ext uri="{BB962C8B-B14F-4D97-AF65-F5344CB8AC3E}">
        <p14:creationId xmlns:p14="http://schemas.microsoft.com/office/powerpoint/2010/main" val="14601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927" y="164592"/>
            <a:ext cx="9429496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0">
                <a:solidFill>
                  <a:srgbClr val="3333CC"/>
                </a:solidFill>
                <a:latin typeface="Calibri"/>
              </a:rPr>
              <a:t>Concept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927" y="1044702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1. Let X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p) and Y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(m, p) be independent. Then X + Y follows: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927" y="2069160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(a)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 + m, p)        (b)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(nm, p)</a:t>
            </a:r>
          </a:p>
          <a:p>
            <a:r>
              <a:rPr sz="2800" b="0" dirty="0">
                <a:latin typeface="Calibri"/>
              </a:rPr>
              <a:t>(c)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 + m, 2p)      (d)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927" y="3684180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2. Let X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p) and Z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q) be independent. Then X + Z follows: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927" y="4725048"/>
            <a:ext cx="942949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(a)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 + q)        (b)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</a:t>
            </a:r>
            <a:r>
              <a:rPr sz="2800" b="0" dirty="0" err="1">
                <a:latin typeface="Calibri"/>
              </a:rPr>
              <a:t>pq</a:t>
            </a:r>
            <a:r>
              <a:rPr sz="2800" b="0" dirty="0">
                <a:latin typeface="Calibri"/>
              </a:rPr>
              <a:t>)</a:t>
            </a:r>
          </a:p>
          <a:p>
            <a:r>
              <a:rPr sz="2800" b="0" dirty="0">
                <a:latin typeface="Calibri"/>
              </a:rPr>
              <a:t>(c)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(2n, p + q)      (d) other</a:t>
            </a:r>
          </a:p>
        </p:txBody>
      </p:sp>
    </p:spTree>
    <p:extLst>
      <p:ext uri="{BB962C8B-B14F-4D97-AF65-F5344CB8AC3E}">
        <p14:creationId xmlns:p14="http://schemas.microsoft.com/office/powerpoint/2010/main" val="167112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3860" y="298848"/>
            <a:ext cx="8351914" cy="50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0">
                <a:solidFill>
                  <a:srgbClr val="3333CC"/>
                </a:solidFill>
                <a:latin typeface="Calibri"/>
              </a:rPr>
              <a:t>Concept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3860" y="1000650"/>
            <a:ext cx="8351914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1. Let X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p) and Y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(m, p) be independent. Then X + Y follows: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3860" y="1910780"/>
            <a:ext cx="8351914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(a)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 + m, p)        (b)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(nm, p)</a:t>
            </a:r>
          </a:p>
          <a:p>
            <a:r>
              <a:rPr sz="2800" b="0" dirty="0">
                <a:latin typeface="Calibri"/>
              </a:rPr>
              <a:t>(c)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 + m, 2p)      (d)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3860" y="3285000"/>
            <a:ext cx="8351914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2. Let X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p) and Z ~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q) be independent. Then X + Z follows: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3860" y="4239739"/>
            <a:ext cx="8351914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 dirty="0">
                <a:latin typeface="Calibri"/>
              </a:rPr>
              <a:t>(a)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p + q)        (b)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(n, </a:t>
            </a:r>
            <a:r>
              <a:rPr sz="2800" b="0" dirty="0" err="1">
                <a:latin typeface="Calibri"/>
              </a:rPr>
              <a:t>pq</a:t>
            </a:r>
            <a:r>
              <a:rPr sz="2800" b="0" dirty="0">
                <a:latin typeface="Calibri"/>
              </a:rPr>
              <a:t>)</a:t>
            </a:r>
          </a:p>
          <a:p>
            <a:r>
              <a:rPr sz="2800" b="0" dirty="0">
                <a:latin typeface="Calibri"/>
              </a:rPr>
              <a:t>(c) </a:t>
            </a:r>
            <a:r>
              <a:rPr sz="2800" b="0" dirty="0" err="1">
                <a:latin typeface="Calibri"/>
              </a:rPr>
              <a:t>binom</a:t>
            </a:r>
            <a:r>
              <a:rPr sz="2800" b="0" dirty="0">
                <a:latin typeface="Calibri"/>
              </a:rPr>
              <a:t>(2n, p + q)      (d)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3859" y="5310996"/>
            <a:ext cx="9185125" cy="569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0" dirty="0">
                <a:latin typeface="Calibri"/>
              </a:rPr>
              <a:t>1. answer: (a). Each binomial random variable is a sum of independent Bernoulli(p) random variables, so their sum is also a sum of Bernoulli(p) </a:t>
            </a:r>
            <a:r>
              <a:rPr b="0" dirty="0" err="1">
                <a:latin typeface="Calibri"/>
              </a:rPr>
              <a:t>r.v.'s</a:t>
            </a:r>
            <a:r>
              <a:rPr b="0" dirty="0"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3859" y="5989938"/>
            <a:ext cx="893979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0" dirty="0">
                <a:latin typeface="Calibri"/>
              </a:rPr>
              <a:t>2. answer: (d) This is different from problem 1 because we are combining Bernoulli(p) </a:t>
            </a:r>
            <a:r>
              <a:rPr b="0" dirty="0" err="1">
                <a:latin typeface="Calibri"/>
              </a:rPr>
              <a:t>r.v.'s</a:t>
            </a:r>
            <a:r>
              <a:rPr b="0" dirty="0">
                <a:latin typeface="Calibri"/>
              </a:rPr>
              <a:t> with Bernoulli(q) </a:t>
            </a:r>
            <a:r>
              <a:rPr b="0" dirty="0" err="1">
                <a:latin typeface="Calibri"/>
              </a:rPr>
              <a:t>r.v.'s</a:t>
            </a:r>
            <a:r>
              <a:rPr b="0" dirty="0">
                <a:latin typeface="Calibri"/>
              </a:rPr>
              <a:t>. This is not one of the named random variables we know about.</a:t>
            </a:r>
          </a:p>
        </p:txBody>
      </p:sp>
    </p:spTree>
    <p:extLst>
      <p:ext uri="{BB962C8B-B14F-4D97-AF65-F5344CB8AC3E}">
        <p14:creationId xmlns:p14="http://schemas.microsoft.com/office/powerpoint/2010/main" val="32672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97763" y="4086807"/>
            <a:ext cx="86230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Hints: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Make a table with </a:t>
            </a:r>
            <a:r>
              <a:rPr lang="en-US" sz="2400" i="1" dirty="0"/>
              <a:t>X, p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)</a:t>
            </a:r>
            <a:r>
              <a:rPr lang="en-US" sz="2400" i="1" dirty="0"/>
              <a:t>, </a:t>
            </a:r>
            <a:r>
              <a:rPr lang="en-US" sz="2400" dirty="0"/>
              <a:t>and (X</a:t>
            </a:r>
            <a:r>
              <a:rPr lang="en-US" sz="2400" i="1" dirty="0"/>
              <a:t> - µ</a:t>
            </a:r>
            <a:r>
              <a:rPr lang="en-US" sz="2400" dirty="0"/>
              <a:t> )</a:t>
            </a:r>
            <a:r>
              <a:rPr lang="en-US" sz="2400" baseline="30000" dirty="0"/>
              <a:t>2</a:t>
            </a:r>
            <a:r>
              <a:rPr lang="en-US" sz="2400" dirty="0"/>
              <a:t>. Remember </a:t>
            </a:r>
            <a:r>
              <a:rPr lang="en-US" sz="2400" i="1" dirty="0"/>
              <a:t>µ = E[X]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Remember that variances of independent random variables add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400" dirty="0" err="1"/>
              <a:t>Var</a:t>
            </a:r>
            <a:r>
              <a:rPr lang="en-US" sz="2400" dirty="0"/>
              <a:t>(X + Y) = </a:t>
            </a:r>
            <a:r>
              <a:rPr lang="en-US" sz="2400" dirty="0" err="1"/>
              <a:t>Var</a:t>
            </a:r>
            <a:r>
              <a:rPr lang="en-US" sz="2400" dirty="0"/>
              <a:t>(X) + </a:t>
            </a:r>
            <a:r>
              <a:rPr lang="en-US" sz="2400" dirty="0" err="1"/>
              <a:t>Var</a:t>
            </a:r>
            <a:r>
              <a:rPr lang="en-US" sz="2400" dirty="0"/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6A6E4-A3BC-4A0D-F418-A8BA51B0998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7249" y="1508200"/>
            <a:ext cx="9144228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latin typeface="Calibri"/>
              </a:rPr>
              <a:t>1. Prove: if X ~ Bernoulli(p)  then  Var(X) = p(1 − 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7249" y="2177998"/>
            <a:ext cx="9144228" cy="43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>
                <a:latin typeface="Calibri"/>
              </a:rPr>
              <a:t>2. Prove: if X ~ bin(n, p)  then  Var(X) = n p(1 − p).</a:t>
            </a:r>
          </a:p>
        </p:txBody>
      </p:sp>
    </p:spTree>
    <p:extLst>
      <p:ext uri="{BB962C8B-B14F-4D97-AF65-F5344CB8AC3E}">
        <p14:creationId xmlns:p14="http://schemas.microsoft.com/office/powerpoint/2010/main" val="202004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7877" y="429477"/>
            <a:ext cx="9204741" cy="53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0">
                <a:solidFill>
                  <a:srgbClr val="3333CC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7877" y="1238721"/>
            <a:ext cx="92047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>
                <a:latin typeface="Calibri"/>
              </a:rPr>
              <a:t>1. For X ~ Bernoulli(p) we use a table. (We know E(X) = p.)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97877" y="1711923"/>
          <a:ext cx="4206240" cy="96012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mbria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mbria"/>
                        </a:rPr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1 −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mbria"/>
                        </a:rPr>
                        <a:t>(X − μ)</a:t>
                      </a:r>
                      <a:r>
                        <a:rPr sz="1500" b="1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p</a:t>
                      </a:r>
                      <a:r>
                        <a:rPr sz="1500" b="0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Cambria"/>
                        </a:rPr>
                        <a:t>(1 − p)</a:t>
                      </a:r>
                      <a:r>
                        <a:rPr sz="1500" b="0" baseline="3000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97877" y="2931498"/>
            <a:ext cx="92047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>
                <a:latin typeface="Cambria"/>
              </a:rPr>
              <a:t>Var(X) = E((X − μ)</a:t>
            </a:r>
            <a:r>
              <a:rPr sz="2000" b="0" baseline="30000">
                <a:latin typeface="Cambria"/>
              </a:rPr>
              <a:t>2</a:t>
            </a:r>
            <a:r>
              <a:rPr sz="2000" b="0">
                <a:latin typeface="Cambria"/>
              </a:rPr>
              <a:t>) = (1 − p)p</a:t>
            </a:r>
            <a:r>
              <a:rPr sz="2000" b="0" baseline="30000">
                <a:latin typeface="Cambria"/>
              </a:rPr>
              <a:t>2</a:t>
            </a:r>
            <a:r>
              <a:rPr sz="2000" b="0">
                <a:latin typeface="Cambria"/>
              </a:rPr>
              <a:t> + p(1 − p)</a:t>
            </a:r>
            <a:r>
              <a:rPr sz="2000" b="0" baseline="30000">
                <a:latin typeface="Cambria"/>
              </a:rPr>
              <a:t>2</a:t>
            </a:r>
            <a:r>
              <a:rPr sz="2000" b="0">
                <a:latin typeface="Cambria"/>
              </a:rPr>
              <a:t> = p(1 − 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7877" y="3741930"/>
            <a:ext cx="920474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dirty="0">
                <a:latin typeface="Calibri"/>
              </a:rPr>
              <a:t>2. X ~ bin(n, p) means X is the sum of n independent Bernoulli(p) random variables X</a:t>
            </a:r>
            <a:r>
              <a:rPr sz="2000" b="0" baseline="-25000" dirty="0">
                <a:latin typeface="Calibri"/>
              </a:rPr>
              <a:t>1</a:t>
            </a:r>
            <a:r>
              <a:rPr sz="2000" b="0" dirty="0">
                <a:latin typeface="Calibri"/>
              </a:rPr>
              <a:t>, X</a:t>
            </a:r>
            <a:r>
              <a:rPr sz="2000" b="0" baseline="-25000" dirty="0">
                <a:latin typeface="Calibri"/>
              </a:rPr>
              <a:t>2</a:t>
            </a:r>
            <a:r>
              <a:rPr sz="2000" b="0" dirty="0">
                <a:latin typeface="Calibri"/>
              </a:rPr>
              <a:t>, …, </a:t>
            </a:r>
            <a:r>
              <a:rPr sz="2000" b="0" dirty="0" err="1">
                <a:latin typeface="Calibri"/>
              </a:rPr>
              <a:t>X</a:t>
            </a:r>
            <a:r>
              <a:rPr sz="2000" b="0" baseline="-25000" dirty="0" err="1">
                <a:latin typeface="Calibri"/>
              </a:rPr>
              <a:t>n</a:t>
            </a:r>
            <a:r>
              <a:rPr sz="2000" b="0" dirty="0">
                <a:latin typeface="Calibri"/>
              </a:rPr>
              <a:t>. For independent variables, the variances add. Since Var(</a:t>
            </a:r>
            <a:r>
              <a:rPr sz="2000" b="0" dirty="0" err="1">
                <a:latin typeface="Calibri"/>
              </a:rPr>
              <a:t>X</a:t>
            </a:r>
            <a:r>
              <a:rPr sz="2000" b="0" baseline="-25000" dirty="0" err="1">
                <a:latin typeface="Calibri"/>
              </a:rPr>
              <a:t>j</a:t>
            </a:r>
            <a:r>
              <a:rPr sz="2000" b="0" dirty="0">
                <a:latin typeface="Calibri"/>
              </a:rPr>
              <a:t>) = p(1 − p) we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7877" y="4560318"/>
            <a:ext cx="92047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latin typeface="Cambria"/>
              </a:rPr>
              <a:t>Var(X) = Var(X</a:t>
            </a:r>
            <a:r>
              <a:rPr sz="2000" b="0" baseline="-25000" dirty="0">
                <a:latin typeface="Cambria"/>
              </a:rPr>
              <a:t>1</a:t>
            </a:r>
            <a:r>
              <a:rPr sz="2000" b="0" dirty="0">
                <a:latin typeface="Cambria"/>
              </a:rPr>
              <a:t>) + Var(X</a:t>
            </a:r>
            <a:r>
              <a:rPr sz="2000" b="0" baseline="-25000" dirty="0">
                <a:latin typeface="Cambria"/>
              </a:rPr>
              <a:t>2</a:t>
            </a:r>
            <a:r>
              <a:rPr sz="2000" b="0" dirty="0">
                <a:latin typeface="Cambria"/>
              </a:rPr>
              <a:t>) + … + Var(</a:t>
            </a:r>
            <a:r>
              <a:rPr sz="2000" b="0" dirty="0" err="1">
                <a:latin typeface="Cambria"/>
              </a:rPr>
              <a:t>X</a:t>
            </a:r>
            <a:r>
              <a:rPr sz="2000" b="0" baseline="-25000" dirty="0" err="1">
                <a:latin typeface="Cambria"/>
              </a:rPr>
              <a:t>n</a:t>
            </a:r>
            <a:r>
              <a:rPr sz="2000" b="0" dirty="0">
                <a:latin typeface="Cambria"/>
              </a:rPr>
              <a:t>) = </a:t>
            </a:r>
            <a:r>
              <a:rPr sz="2000" b="0">
                <a:latin typeface="Cambria"/>
              </a:rPr>
              <a:t>np(</a:t>
            </a:r>
            <a:r>
              <a:rPr lang="en-US" sz="2000" b="0">
                <a:latin typeface="Cambria"/>
              </a:rPr>
              <a:t>1</a:t>
            </a:r>
            <a:r>
              <a:rPr sz="2000" b="0">
                <a:latin typeface="Cambria"/>
              </a:rPr>
              <a:t> − </a:t>
            </a:r>
            <a:r>
              <a:rPr lang="en-US" sz="2000" b="0">
                <a:latin typeface="Cambria"/>
              </a:rPr>
              <a:t>p</a:t>
            </a:r>
            <a:r>
              <a:rPr sz="2000" b="0">
                <a:latin typeface="Cambria"/>
              </a:rPr>
              <a:t>).</a:t>
            </a:r>
            <a:endParaRPr sz="20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0846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Probabilities-II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7751" y="1323976"/>
            <a:ext cx="7580313" cy="4848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Notation: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We read this as “The random variable </a:t>
            </a:r>
            <a:r>
              <a:rPr lang="en-US" i="1" dirty="0"/>
              <a:t>X</a:t>
            </a:r>
            <a:r>
              <a:rPr lang="en-US" dirty="0"/>
              <a:t> is distributed binomially with parameters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”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	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Recall: </a:t>
            </a:r>
            <a:r>
              <a:rPr lang="en-US" sz="2000" i="1" dirty="0"/>
              <a:t>q</a:t>
            </a:r>
            <a:r>
              <a:rPr lang="en-US" sz="2000" dirty="0"/>
              <a:t> = 1 - </a:t>
            </a:r>
            <a:r>
              <a:rPr lang="en-US" sz="2000" i="1" dirty="0"/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207" y="1974818"/>
            <a:ext cx="5864106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X ~ B(</a:t>
            </a:r>
            <a:r>
              <a:rPr lang="en-US" sz="2800" dirty="0" err="1"/>
              <a:t>n,p</a:t>
            </a:r>
            <a:r>
              <a:rPr lang="en-US" sz="2800" dirty="0"/>
              <a:t>); X ~ Bin(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); X ~ </a:t>
            </a:r>
            <a:r>
              <a:rPr lang="en-US" sz="2800" dirty="0" err="1"/>
              <a:t>Binom</a:t>
            </a:r>
            <a:r>
              <a:rPr lang="en-US" sz="2800" dirty="0"/>
              <a:t>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</a:t>
            </a:r>
            <a:endParaRPr lang="en-US" sz="2800" i="1" dirty="0"/>
          </a:p>
        </p:txBody>
      </p:sp>
      <p:sp>
        <p:nvSpPr>
          <p:cNvPr id="8196" name="TextBox 8195"/>
          <p:cNvSpPr txBox="1"/>
          <p:nvPr/>
        </p:nvSpPr>
        <p:spPr>
          <a:xfrm>
            <a:off x="4924425" y="4264223"/>
            <a:ext cx="25146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Mean : μ = n p</a:t>
            </a:r>
          </a:p>
          <a:p>
            <a:r>
              <a:rPr sz="2000">
                <a:latin typeface="Cambria"/>
              </a:rPr>
              <a:t>Variance : σ</a:t>
            </a:r>
            <a:r>
              <a:rPr sz="2000" baseline="30000">
                <a:latin typeface="Cambria"/>
              </a:rPr>
              <a:t>2</a:t>
            </a:r>
            <a:r>
              <a:rPr sz="2000">
                <a:latin typeface="Cambria"/>
              </a:rPr>
              <a:t> = npq</a:t>
            </a:r>
          </a:p>
        </p:txBody>
      </p:sp>
    </p:spTree>
    <p:extLst>
      <p:ext uri="{BB962C8B-B14F-4D97-AF65-F5344CB8AC3E}">
        <p14:creationId xmlns:p14="http://schemas.microsoft.com/office/powerpoint/2010/main" val="181260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5681" y="21564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The Binomial Distribution</a:t>
            </a:r>
          </a:p>
        </p:txBody>
      </p:sp>
      <p:pic>
        <p:nvPicPr>
          <p:cNvPr id="11267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 l="1550" t="2330" r="1550" b="2330"/>
          <a:stretch>
            <a:fillRect/>
          </a:stretch>
        </p:blipFill>
        <p:spPr>
          <a:xfrm>
            <a:off x="2074864" y="2598738"/>
            <a:ext cx="3411537" cy="2233612"/>
          </a:xfrm>
        </p:spPr>
      </p:pic>
      <p:pic>
        <p:nvPicPr>
          <p:cNvPr id="11269" name="Picture 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 l="1550" t="2330" r="1550" b="2330"/>
          <a:stretch>
            <a:fillRect/>
          </a:stretch>
        </p:blipFill>
        <p:spPr>
          <a:xfrm>
            <a:off x="6172200" y="2589213"/>
            <a:ext cx="3392488" cy="2220912"/>
          </a:xfrm>
        </p:spPr>
      </p:pic>
      <p:sp>
        <p:nvSpPr>
          <p:cNvPr id="155652" name="Text Box 10"/>
          <p:cNvSpPr txBox="1">
            <a:spLocks noChangeArrowheads="1"/>
          </p:cNvSpPr>
          <p:nvPr/>
        </p:nvSpPr>
        <p:spPr bwMode="auto">
          <a:xfrm>
            <a:off x="3163889" y="2849563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=0.5</a:t>
            </a:r>
          </a:p>
        </p:txBody>
      </p:sp>
      <p:sp>
        <p:nvSpPr>
          <p:cNvPr id="155653" name="Text Box 12"/>
          <p:cNvSpPr txBox="1">
            <a:spLocks noChangeArrowheads="1"/>
          </p:cNvSpPr>
          <p:nvPr/>
        </p:nvSpPr>
        <p:spPr bwMode="auto">
          <a:xfrm>
            <a:off x="6575426" y="2763838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=0.9</a:t>
            </a:r>
          </a:p>
        </p:txBody>
      </p:sp>
      <p:sp>
        <p:nvSpPr>
          <p:cNvPr id="155654" name="Text Box 13"/>
          <p:cNvSpPr txBox="1">
            <a:spLocks noChangeArrowheads="1"/>
          </p:cNvSpPr>
          <p:nvPr/>
        </p:nvSpPr>
        <p:spPr bwMode="auto">
          <a:xfrm>
            <a:off x="2554288" y="4678364"/>
            <a:ext cx="2895600" cy="198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 dirty="0"/>
              <a:t>0            1              2             3              4              5             6</a:t>
            </a:r>
          </a:p>
        </p:txBody>
      </p:sp>
      <p:sp>
        <p:nvSpPr>
          <p:cNvPr id="155655" name="Text Box 15"/>
          <p:cNvSpPr txBox="1">
            <a:spLocks noChangeArrowheads="1"/>
          </p:cNvSpPr>
          <p:nvPr/>
        </p:nvSpPr>
        <p:spPr bwMode="auto">
          <a:xfrm>
            <a:off x="6651625" y="4622800"/>
            <a:ext cx="2895600" cy="198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/>
              <a:t>0            1              2             3              4              5             6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35198" y="5469198"/>
            <a:ext cx="86740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 dirty="0"/>
              <a:t>This is a probability mass function; PMF</a:t>
            </a:r>
          </a:p>
        </p:txBody>
      </p:sp>
    </p:spTree>
    <p:extLst>
      <p:ext uri="{BB962C8B-B14F-4D97-AF65-F5344CB8AC3E}">
        <p14:creationId xmlns:p14="http://schemas.microsoft.com/office/powerpoint/2010/main" val="179878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36762" y="803276"/>
            <a:ext cx="8131175" cy="117792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Examples of the Binomial Distribution-I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6288" y="1981201"/>
            <a:ext cx="8108950" cy="4238625"/>
          </a:xfrm>
        </p:spPr>
        <p:txBody>
          <a:bodyPr/>
          <a:lstStyle/>
          <a:p>
            <a:pPr marL="533400" indent="-533400">
              <a:defRPr/>
            </a:pPr>
            <a:r>
              <a:rPr lang="en-US" dirty="0"/>
              <a:t>We examine 12 animals for the presence of a disease (</a:t>
            </a:r>
            <a:r>
              <a:rPr lang="en-US" i="1" dirty="0"/>
              <a:t>p </a:t>
            </a:r>
            <a:r>
              <a:rPr lang="en-US" dirty="0"/>
              <a:t>= 0.1). What is the probability that: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exactly 2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no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2 or more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CCFD75-506D-339F-06DF-088413451C53}"/>
              </a:ext>
            </a:extLst>
          </p:cNvPr>
          <p:cNvSpPr txBox="1"/>
          <p:nvPr/>
        </p:nvSpPr>
        <p:spPr>
          <a:xfrm>
            <a:off x="4764709" y="37011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12292" name="TextBox 12291"/>
          <p:cNvSpPr txBox="1"/>
          <p:nvPr/>
        </p:nvSpPr>
        <p:spPr>
          <a:xfrm>
            <a:off x="3468130" y="4781929"/>
            <a:ext cx="689316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P(x) = </a:t>
            </a:r>
            <a:r>
              <a:rPr sz="2000" baseline="-25000">
                <a:latin typeface="Cambria"/>
              </a:rPr>
              <a:t>n</a:t>
            </a:r>
            <a:r>
              <a:rPr sz="2000">
                <a:latin typeface="Cambria"/>
              </a:rPr>
              <a:t>C</a:t>
            </a:r>
            <a:r>
              <a:rPr sz="2000" baseline="-25000">
                <a:latin typeface="Cambria"/>
              </a:rPr>
              <a:t>x</a:t>
            </a:r>
            <a:r>
              <a:rPr sz="2000">
                <a:latin typeface="Cambria"/>
              </a:rPr>
              <a:t> p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q</a:t>
            </a:r>
            <a:r>
              <a:rPr sz="2000" baseline="30000">
                <a:latin typeface="Cambria"/>
              </a:rPr>
              <a:t>n−x</a:t>
            </a:r>
            <a:r>
              <a:rPr sz="2000">
                <a:latin typeface="Cambria"/>
              </a:rPr>
              <a:t> = n! / ((n − x)! x!) · p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q</a:t>
            </a:r>
            <a:r>
              <a:rPr sz="2000" baseline="30000">
                <a:latin typeface="Cambria"/>
              </a:rPr>
              <a:t>n−x</a:t>
            </a:r>
          </a:p>
        </p:txBody>
      </p:sp>
    </p:spTree>
    <p:extLst>
      <p:ext uri="{BB962C8B-B14F-4D97-AF65-F5344CB8AC3E}">
        <p14:creationId xmlns:p14="http://schemas.microsoft.com/office/powerpoint/2010/main" val="159654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Examples of the Binomial Distribution-III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1981200"/>
            <a:ext cx="6970712" cy="4114800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3000" dirty="0"/>
              <a:t>P[X=2]=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3000" dirty="0"/>
              <a:t>P[X=0]=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3000" dirty="0"/>
              <a:t>P[X≥2]=1-P[X=0]-P[X=1]=0.3410</a:t>
            </a:r>
          </a:p>
          <a:p>
            <a:pPr marL="609600" indent="-609600">
              <a:defRPr/>
            </a:pPr>
            <a:endParaRPr lang="en-US" sz="3000" dirty="0"/>
          </a:p>
        </p:txBody>
      </p:sp>
      <p:sp>
        <p:nvSpPr>
          <p:cNvPr id="159749" name="TextBox 159748"/>
          <p:cNvSpPr txBox="1"/>
          <p:nvPr/>
        </p:nvSpPr>
        <p:spPr>
          <a:xfrm>
            <a:off x="5106988" y="1905000"/>
            <a:ext cx="4642338" cy="6492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(12 choose 2) 0.1</a:t>
            </a:r>
            <a:r>
              <a:rPr sz="1900" baseline="30000">
                <a:latin typeface="Cambria"/>
              </a:rPr>
              <a:t>2</a:t>
            </a:r>
            <a:r>
              <a:rPr sz="1900">
                <a:latin typeface="Cambria"/>
              </a:rPr>
              <a:t> 0.9</a:t>
            </a:r>
            <a:r>
              <a:rPr sz="1900" baseline="30000">
                <a:latin typeface="Cambria"/>
              </a:rPr>
              <a:t>10</a:t>
            </a:r>
            <a:r>
              <a:rPr sz="1900">
                <a:latin typeface="Cambria"/>
              </a:rPr>
              <a:t> = 0.2301</a:t>
            </a:r>
          </a:p>
        </p:txBody>
      </p:sp>
      <p:sp>
        <p:nvSpPr>
          <p:cNvPr id="159750" name="TextBox 159749"/>
          <p:cNvSpPr txBox="1"/>
          <p:nvPr/>
        </p:nvSpPr>
        <p:spPr>
          <a:xfrm>
            <a:off x="5106988" y="2514600"/>
            <a:ext cx="4642338" cy="6492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(12 choose 0) 0.1</a:t>
            </a:r>
            <a:r>
              <a:rPr sz="1900" baseline="30000">
                <a:latin typeface="Cambria"/>
              </a:rPr>
              <a:t>0</a:t>
            </a:r>
            <a:r>
              <a:rPr sz="1900">
                <a:latin typeface="Cambria"/>
              </a:rPr>
              <a:t> 0.9</a:t>
            </a:r>
            <a:r>
              <a:rPr sz="1900" baseline="30000">
                <a:latin typeface="Cambria"/>
              </a:rPr>
              <a:t>12</a:t>
            </a:r>
            <a:r>
              <a:rPr sz="1900">
                <a:latin typeface="Cambria"/>
              </a:rPr>
              <a:t> = 0.2824</a:t>
            </a:r>
          </a:p>
        </p:txBody>
      </p:sp>
      <p:sp>
        <p:nvSpPr>
          <p:cNvPr id="159751" name="TextBox 159750"/>
          <p:cNvSpPr txBox="1"/>
          <p:nvPr/>
        </p:nvSpPr>
        <p:spPr>
          <a:xfrm>
            <a:off x="3429000" y="3883025"/>
            <a:ext cx="5092700" cy="191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00" dirty="0">
                <a:solidFill>
                  <a:srgbClr val="0000FF"/>
                </a:solidFill>
                <a:latin typeface="Consolas"/>
              </a:rPr>
              <a:t>&gt; </a:t>
            </a:r>
            <a:r>
              <a:rPr sz="1700" dirty="0" err="1">
                <a:solidFill>
                  <a:srgbClr val="0000FF"/>
                </a:solidFill>
                <a:latin typeface="Consolas"/>
              </a:rPr>
              <a:t>dbinom</a:t>
            </a:r>
            <a:r>
              <a:rPr sz="1700" dirty="0">
                <a:solidFill>
                  <a:srgbClr val="0000FF"/>
                </a:solidFill>
                <a:latin typeface="Consolas"/>
              </a:rPr>
              <a:t>(2,12,0.1)</a:t>
            </a:r>
          </a:p>
          <a:p>
            <a:r>
              <a:rPr sz="1700" dirty="0">
                <a:solidFill>
                  <a:srgbClr val="000000"/>
                </a:solidFill>
                <a:latin typeface="Consolas"/>
              </a:rPr>
              <a:t>[1] 0.2301278</a:t>
            </a:r>
          </a:p>
          <a:p>
            <a:r>
              <a:rPr sz="1700" dirty="0">
                <a:solidFill>
                  <a:srgbClr val="0000FF"/>
                </a:solidFill>
                <a:latin typeface="Consolas"/>
              </a:rPr>
              <a:t>&gt; </a:t>
            </a:r>
            <a:r>
              <a:rPr sz="1700" dirty="0" err="1">
                <a:solidFill>
                  <a:srgbClr val="0000FF"/>
                </a:solidFill>
                <a:latin typeface="Consolas"/>
              </a:rPr>
              <a:t>dbinom</a:t>
            </a:r>
            <a:r>
              <a:rPr sz="1700" dirty="0">
                <a:solidFill>
                  <a:srgbClr val="0000FF"/>
                </a:solidFill>
                <a:latin typeface="Consolas"/>
              </a:rPr>
              <a:t>(0,12,0.1)</a:t>
            </a:r>
          </a:p>
          <a:p>
            <a:r>
              <a:rPr sz="1700" dirty="0">
                <a:solidFill>
                  <a:srgbClr val="000000"/>
                </a:solidFill>
                <a:latin typeface="Consolas"/>
              </a:rPr>
              <a:t>[1] 0.2824295</a:t>
            </a:r>
          </a:p>
          <a:p>
            <a:r>
              <a:rPr sz="1700" dirty="0">
                <a:solidFill>
                  <a:srgbClr val="0000FF"/>
                </a:solidFill>
                <a:latin typeface="Consolas"/>
              </a:rPr>
              <a:t>&gt; 1-dbinom(1,12,0.1)-</a:t>
            </a:r>
            <a:r>
              <a:rPr sz="1700" dirty="0" err="1">
                <a:solidFill>
                  <a:srgbClr val="0000FF"/>
                </a:solidFill>
                <a:latin typeface="Consolas"/>
              </a:rPr>
              <a:t>dbinom</a:t>
            </a:r>
            <a:r>
              <a:rPr sz="1700" dirty="0">
                <a:solidFill>
                  <a:srgbClr val="0000FF"/>
                </a:solidFill>
                <a:latin typeface="Consolas"/>
              </a:rPr>
              <a:t>(0,12,0.1)</a:t>
            </a:r>
          </a:p>
          <a:p>
            <a:r>
              <a:rPr sz="1700" dirty="0">
                <a:solidFill>
                  <a:srgbClr val="000000"/>
                </a:solidFill>
                <a:latin typeface="Consolas"/>
              </a:rPr>
              <a:t>[1] 0.3409977</a:t>
            </a:r>
          </a:p>
        </p:txBody>
      </p:sp>
      <p:sp>
        <p:nvSpPr>
          <p:cNvPr id="159752" name="TextBox 159751"/>
          <p:cNvSpPr txBox="1"/>
          <p:nvPr/>
        </p:nvSpPr>
        <p:spPr>
          <a:xfrm>
            <a:off x="4038600" y="6029325"/>
            <a:ext cx="2786888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700">
                <a:solidFill>
                  <a:srgbClr val="0000FF"/>
                </a:solidFill>
                <a:latin typeface="Consolas"/>
              </a:rPr>
              <a:t>&gt; 1-pbinom(1,12,0.1)</a:t>
            </a:r>
          </a:p>
          <a:p>
            <a:r>
              <a:rPr sz="1700">
                <a:solidFill>
                  <a:srgbClr val="000000"/>
                </a:solidFill>
                <a:latin typeface="Consolas"/>
              </a:rPr>
              <a:t>[1] 0.3409977</a:t>
            </a:r>
          </a:p>
        </p:txBody>
      </p:sp>
    </p:spTree>
    <p:extLst>
      <p:ext uri="{BB962C8B-B14F-4D97-AF65-F5344CB8AC3E}">
        <p14:creationId xmlns:p14="http://schemas.microsoft.com/office/powerpoint/2010/main" val="1098321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605480" y="1396480"/>
            <a:ext cx="11319041" cy="3828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 in which </a:t>
            </a:r>
            <a:r>
              <a:rPr lang="en-US" i="1" dirty="0"/>
              <a:t>p </a:t>
            </a:r>
            <a:r>
              <a:rPr lang="en-US" dirty="0"/>
              <a:t>and sometimes also </a:t>
            </a:r>
            <a:r>
              <a:rPr lang="en-US" i="1" dirty="0"/>
              <a:t>N </a:t>
            </a:r>
            <a:r>
              <a:rPr lang="en-US" dirty="0"/>
              <a:t>are unknown.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understand how the world works, we want to determine </a:t>
            </a:r>
            <a:r>
              <a:rPr lang="en-US" i="1" dirty="0"/>
              <a:t>p </a:t>
            </a:r>
          </a:p>
          <a:p>
            <a:pPr lvl="1">
              <a:defRPr/>
            </a:pPr>
            <a:r>
              <a:rPr lang="en-US" sz="2800" i="1" dirty="0"/>
              <a:t>What is the prevalence of a disease?</a:t>
            </a:r>
          </a:p>
          <a:p>
            <a:pPr lvl="1">
              <a:defRPr/>
            </a:pPr>
            <a:r>
              <a:rPr lang="en-US" sz="2800" i="1" dirty="0"/>
              <a:t>What is the probability of giving birth?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653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3" y="1371600"/>
            <a:ext cx="11271381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data, </a:t>
            </a:r>
            <a:r>
              <a:rPr lang="en-US" i="1" dirty="0"/>
              <a:t>k #</a:t>
            </a:r>
            <a:r>
              <a:rPr lang="en-US" dirty="0"/>
              <a:t>successes, to determine </a:t>
            </a:r>
            <a:r>
              <a:rPr lang="en-US" i="1" dirty="0"/>
              <a:t>p</a:t>
            </a:r>
            <a:r>
              <a:rPr lang="en-US" dirty="0"/>
              <a:t> and/or </a:t>
            </a:r>
            <a:r>
              <a:rPr lang="en-US" i="1" dirty="0"/>
              <a:t>N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Let’s assume that </a:t>
            </a:r>
            <a:r>
              <a:rPr lang="en-US" i="1" dirty="0"/>
              <a:t>N</a:t>
            </a:r>
            <a:r>
              <a:rPr lang="en-US" dirty="0"/>
              <a:t> is known. Say we conduct </a:t>
            </a:r>
            <a:r>
              <a:rPr lang="en-US" i="1" dirty="0"/>
              <a:t>N</a:t>
            </a:r>
            <a:r>
              <a:rPr lang="en-US" dirty="0"/>
              <a:t> trials, observe </a:t>
            </a:r>
            <a:r>
              <a:rPr lang="en-US" i="1" dirty="0"/>
              <a:t>k</a:t>
            </a:r>
            <a:r>
              <a:rPr lang="en-US" dirty="0"/>
              <a:t> successes, and want to make inference about </a:t>
            </a:r>
            <a:r>
              <a:rPr lang="en-US" i="1" dirty="0"/>
              <a:t>p, </a:t>
            </a:r>
            <a:r>
              <a:rPr lang="en-US" dirty="0"/>
              <a:t>given</a:t>
            </a:r>
            <a:r>
              <a:rPr lang="en-US" i="1" dirty="0"/>
              <a:t> k </a:t>
            </a:r>
            <a:r>
              <a:rPr lang="en-US" dirty="0"/>
              <a:t>and</a:t>
            </a:r>
            <a:r>
              <a:rPr lang="en-US" i="1" dirty="0"/>
              <a:t> N</a:t>
            </a:r>
            <a:endParaRPr lang="en-US" dirty="0"/>
          </a:p>
        </p:txBody>
      </p:sp>
      <p:sp>
        <p:nvSpPr>
          <p:cNvPr id="163844" name="TextBox 3"/>
          <p:cNvSpPr txBox="1">
            <a:spLocks noChangeArrowheads="1"/>
          </p:cNvSpPr>
          <p:nvPr/>
        </p:nvSpPr>
        <p:spPr bwMode="auto">
          <a:xfrm>
            <a:off x="2097249" y="5459040"/>
            <a:ext cx="7524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among the easiest possible likelihood problems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  <p:sp>
        <p:nvSpPr>
          <p:cNvPr id="163845" name="TextBox 163844"/>
          <p:cNvSpPr txBox="1"/>
          <p:nvPr/>
        </p:nvSpPr>
        <p:spPr>
          <a:xfrm>
            <a:off x="3631291" y="4256317"/>
            <a:ext cx="59084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ℒ(p | k, N) = (N choose k) p</a:t>
            </a:r>
            <a:r>
              <a:rPr sz="2400" b="0" baseline="30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 (1 − p)</a:t>
            </a:r>
            <a:r>
              <a:rPr sz="2400" b="0" baseline="30000" dirty="0">
                <a:latin typeface="Cambria"/>
              </a:rPr>
              <a:t>N − k</a:t>
            </a:r>
          </a:p>
        </p:txBody>
      </p:sp>
    </p:spTree>
    <p:extLst>
      <p:ext uri="{BB962C8B-B14F-4D97-AF65-F5344CB8AC3E}">
        <p14:creationId xmlns:p14="http://schemas.microsoft.com/office/powerpoint/2010/main" val="331873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10" y="-102833"/>
            <a:ext cx="118312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466531" y="1160104"/>
            <a:ext cx="11439329" cy="550195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binomial probability summed over all values of </a:t>
            </a:r>
            <a:r>
              <a:rPr lang="en-US" i="1" dirty="0"/>
              <a:t>k</a:t>
            </a:r>
            <a:r>
              <a:rPr lang="en-US" dirty="0"/>
              <a:t> equals 1</a:t>
            </a:r>
          </a:p>
          <a:p>
            <a:pPr>
              <a:defRPr/>
            </a:pPr>
            <a:r>
              <a:rPr lang="en-US" dirty="0"/>
              <a:t>But now the Likelihood is a function of </a:t>
            </a:r>
            <a:r>
              <a:rPr lang="en-US" i="1" dirty="0"/>
              <a:t>p </a:t>
            </a:r>
            <a:r>
              <a:rPr lang="en-US" dirty="0"/>
              <a:t>with </a:t>
            </a:r>
            <a:r>
              <a:rPr lang="en-US" i="1" dirty="0"/>
              <a:t>k </a:t>
            </a:r>
            <a:r>
              <a:rPr lang="en-US" dirty="0"/>
              <a:t>fixed. </a:t>
            </a:r>
            <a:r>
              <a:rPr lang="en-US" i="1" dirty="0"/>
              <a:t>k </a:t>
            </a:r>
            <a:r>
              <a:rPr lang="en-US" dirty="0"/>
              <a:t>is our observation.</a:t>
            </a:r>
          </a:p>
          <a:p>
            <a:pPr>
              <a:defRPr/>
            </a:pPr>
            <a:r>
              <a:rPr lang="en-US" dirty="0"/>
              <a:t>The range of </a:t>
            </a:r>
            <a:r>
              <a:rPr lang="en-US" i="1" dirty="0"/>
              <a:t>p </a:t>
            </a:r>
            <a:r>
              <a:rPr lang="en-US" dirty="0"/>
              <a:t>must be 0 to 1, but there is no requirement that the integral of the likelihood from 0 to 1 = 1 (as would be the case for a probability)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Why did I say </a:t>
            </a:r>
            <a:r>
              <a:rPr lang="en-US"/>
              <a:t>“integral” and not “sum”</a:t>
            </a:r>
            <a:endParaRPr lang="en-US" dirty="0"/>
          </a:p>
        </p:txBody>
      </p:sp>
      <p:sp>
        <p:nvSpPr>
          <p:cNvPr id="14339" name="TextBox 14338"/>
          <p:cNvSpPr txBox="1"/>
          <p:nvPr/>
        </p:nvSpPr>
        <p:spPr>
          <a:xfrm>
            <a:off x="3265715" y="2507214"/>
            <a:ext cx="59084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ℒ(p | k, N) = (N choose k) p</a:t>
            </a:r>
            <a:r>
              <a:rPr sz="2400" b="0" baseline="30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 (1 − p)</a:t>
            </a:r>
            <a:r>
              <a:rPr sz="2400" b="0" baseline="30000" dirty="0">
                <a:latin typeface="Cambria"/>
              </a:rPr>
              <a:t>N − k</a:t>
            </a:r>
          </a:p>
        </p:txBody>
      </p:sp>
    </p:spTree>
    <p:extLst>
      <p:ext uri="{BB962C8B-B14F-4D97-AF65-F5344CB8AC3E}">
        <p14:creationId xmlns:p14="http://schemas.microsoft.com/office/powerpoint/2010/main" val="147070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4" y="1160105"/>
            <a:ext cx="11476653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 usually work with the log-likelihood. Can you find that? → log(a*b) = log(a) + log(b), log(a</a:t>
            </a:r>
            <a:r>
              <a:rPr lang="en-US" baseline="30000" dirty="0"/>
              <a:t>b</a:t>
            </a:r>
            <a:r>
              <a:rPr lang="en-US" dirty="0"/>
              <a:t>)=b*log(a)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787808" y="5956627"/>
            <a:ext cx="4814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Should I show you the derivation?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2357" y="2463284"/>
            <a:ext cx="59084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ℒ(p | k, N) = (N choose k) p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(1 − p)</a:t>
            </a:r>
            <a:r>
              <a:rPr sz="2400" b="0" baseline="30000">
                <a:latin typeface="Cambria"/>
              </a:rPr>
              <a:t>N −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6750" y="4931752"/>
            <a:ext cx="858129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L(p | k, N) = log(N choose k) + k log(p) + (N − k) log(1 − p)</a:t>
            </a:r>
          </a:p>
        </p:txBody>
      </p:sp>
    </p:spTree>
    <p:extLst>
      <p:ext uri="{BB962C8B-B14F-4D97-AF65-F5344CB8AC3E}">
        <p14:creationId xmlns:p14="http://schemas.microsoft.com/office/powerpoint/2010/main" val="2019601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1076133" y="1160105"/>
            <a:ext cx="9840686" cy="4419600"/>
          </a:xfrm>
        </p:spPr>
        <p:txBody>
          <a:bodyPr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How do we find the “maximum likelihood estimate” (MLE) for </a:t>
            </a:r>
            <a:r>
              <a:rPr lang="en-US" i="1" dirty="0"/>
              <a:t>p</a:t>
            </a:r>
            <a:r>
              <a:rPr lang="en-US" dirty="0"/>
              <a:t>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Enter Calculus!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Find the MLE for </a:t>
            </a:r>
            <a:r>
              <a:rPr lang="en-US" i="1" dirty="0"/>
              <a:t>p</a:t>
            </a:r>
            <a:r>
              <a:rPr lang="en-US" dirty="0"/>
              <a:t>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1465071" y="2696289"/>
            <a:ext cx="858129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L(p | k, N) = log(N choose k) + k log(p) + (N − k) log(1 − p)</a:t>
            </a:r>
          </a:p>
        </p:txBody>
      </p:sp>
    </p:spTree>
    <p:extLst>
      <p:ext uri="{BB962C8B-B14F-4D97-AF65-F5344CB8AC3E}">
        <p14:creationId xmlns:p14="http://schemas.microsoft.com/office/powerpoint/2010/main" val="93577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4" name="Picture 4" descr="Two log-likelihood curves for p (binomial, constant term dropped). Panel a: 4 successes in 10 trials, wide peak near p=0.4. Panel b: 40 in 100, much narrower peak near 0.4. Larger samples give sharper likelihoods." title="Two log-likelihood curves for p (binomial, constant term dropped). Panel a: 4 su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99717"/>
            <a:ext cx="91440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7" name="TextBox 5"/>
          <p:cNvSpPr txBox="1">
            <a:spLocks noChangeArrowheads="1"/>
          </p:cNvSpPr>
          <p:nvPr/>
        </p:nvSpPr>
        <p:spPr bwMode="auto">
          <a:xfrm>
            <a:off x="1447800" y="5466184"/>
            <a:ext cx="9372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Hudson (1971) showed that an approximate 95% CI for a single peaked likelihood function occurs 2 log-likelihood units below the peak.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Can you see why sample size is so important based on these shapes?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6705600" y="25348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2209800" y="23062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249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5964" y="-34925"/>
            <a:ext cx="7793037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Back to distributions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22514" y="1637523"/>
            <a:ext cx="10860833" cy="4114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dirty="0"/>
              <a:t>We’ll discuss maximum likelihood later</a:t>
            </a:r>
          </a:p>
          <a:p>
            <a:pPr>
              <a:defRPr/>
            </a:pPr>
            <a:endParaRPr lang="en-US" sz="3000" dirty="0"/>
          </a:p>
          <a:p>
            <a:pPr>
              <a:defRPr/>
            </a:pPr>
            <a:r>
              <a:rPr lang="en-US" sz="3000" dirty="0"/>
              <a:t>Bayesian statistics is very similar - making inference about the parameter given the data - but the inference will be a real probability rather than a point estimate and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8101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4592" y="164592"/>
            <a:ext cx="11049572" cy="534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latin typeface="Calibri"/>
              </a:rPr>
              <a:t>The multinomial distribution: more than one kind of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973836"/>
            <a:ext cx="11049572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latin typeface="Calibri"/>
              </a:rPr>
              <a:t>The multinomial distribution is an extension of the binomial distribution to the case of </a:t>
            </a:r>
            <a:r>
              <a:rPr sz="2400" b="0" u="sng" dirty="0">
                <a:latin typeface="Calibri"/>
              </a:rPr>
              <a:t>more than two (we shall assume n) kinds of outcomes</a:t>
            </a:r>
            <a:r>
              <a:rPr sz="2400" b="0" dirty="0">
                <a:latin typeface="Calibri"/>
              </a:rPr>
              <a:t>, in which a </a:t>
            </a:r>
            <a:r>
              <a:rPr sz="2400" b="0" u="sng" dirty="0">
                <a:latin typeface="Calibri"/>
              </a:rPr>
              <a:t>single trial has probability p</a:t>
            </a:r>
            <a:r>
              <a:rPr sz="2400" b="0" u="sng" baseline="-25000" dirty="0">
                <a:latin typeface="Calibri"/>
              </a:rPr>
              <a:t>i</a:t>
            </a:r>
            <a:r>
              <a:rPr sz="2400" b="0" u="sng" dirty="0">
                <a:latin typeface="Calibri"/>
              </a:rPr>
              <a:t> of ending in category </a:t>
            </a:r>
            <a:r>
              <a:rPr sz="2400" b="0" u="sng" dirty="0" err="1">
                <a:latin typeface="Calibri"/>
              </a:rPr>
              <a:t>i</a:t>
            </a:r>
            <a:r>
              <a:rPr sz="2400" b="0" dirty="0">
                <a:latin typeface="Calibri"/>
              </a:rPr>
              <a:t>. In a total of </a:t>
            </a:r>
            <a:r>
              <a:rPr sz="2400" b="0" u="sng" dirty="0">
                <a:latin typeface="Calibri"/>
              </a:rPr>
              <a:t>N trials</a:t>
            </a:r>
            <a:r>
              <a:rPr sz="2400" b="0" dirty="0">
                <a:latin typeface="Calibri"/>
              </a:rPr>
              <a:t>, we assume that </a:t>
            </a:r>
            <a:r>
              <a:rPr sz="2400" b="0" u="sng" dirty="0">
                <a:latin typeface="Calibri"/>
              </a:rPr>
              <a:t>k</a:t>
            </a:r>
            <a:r>
              <a:rPr sz="2400" b="0" u="sng" baseline="-25000" dirty="0">
                <a:latin typeface="Calibri"/>
              </a:rPr>
              <a:t>i</a:t>
            </a:r>
            <a:r>
              <a:rPr sz="2400" b="0" u="sng" dirty="0">
                <a:latin typeface="Calibri"/>
              </a:rPr>
              <a:t> of the outcomes end in category </a:t>
            </a:r>
            <a:r>
              <a:rPr sz="2400" b="0" u="sng" dirty="0" err="1">
                <a:latin typeface="Calibri"/>
              </a:rPr>
              <a:t>i</a:t>
            </a:r>
            <a:r>
              <a:rPr sz="2400" b="0" dirty="0">
                <a:latin typeface="Calibri"/>
              </a:rPr>
              <a:t>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2968371"/>
            <a:ext cx="110495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0" dirty="0" err="1">
                <a:latin typeface="Cambria"/>
              </a:rPr>
              <a:t>Pr</a:t>
            </a:r>
            <a:r>
              <a:rPr sz="2800" b="0" dirty="0">
                <a:latin typeface="Cambria"/>
              </a:rPr>
              <a:t>{k | N, p} = N! / (∏</a:t>
            </a:r>
            <a:r>
              <a:rPr sz="2800" b="0" baseline="-25000" dirty="0" err="1">
                <a:latin typeface="Cambria"/>
              </a:rPr>
              <a:t>i</a:t>
            </a:r>
            <a:r>
              <a:rPr sz="2800" b="0" baseline="-25000" dirty="0">
                <a:latin typeface="Cambria"/>
              </a:rPr>
              <a:t>=1</a:t>
            </a:r>
            <a:r>
              <a:rPr sz="2800" b="0" baseline="30000" dirty="0">
                <a:latin typeface="Cambria"/>
              </a:rPr>
              <a:t>n</a:t>
            </a:r>
            <a:r>
              <a:rPr sz="2800" b="0" dirty="0">
                <a:latin typeface="Cambria"/>
              </a:rPr>
              <a:t> k</a:t>
            </a:r>
            <a:r>
              <a:rPr sz="2800" b="0" baseline="-25000" dirty="0">
                <a:latin typeface="Cambria"/>
              </a:rPr>
              <a:t>i</a:t>
            </a:r>
            <a:r>
              <a:rPr sz="2800" b="0" dirty="0">
                <a:latin typeface="Cambria"/>
              </a:rPr>
              <a:t>!) · ∏</a:t>
            </a:r>
            <a:r>
              <a:rPr sz="2800" b="0" baseline="-25000" dirty="0" err="1">
                <a:latin typeface="Cambria"/>
              </a:rPr>
              <a:t>i</a:t>
            </a:r>
            <a:r>
              <a:rPr sz="2800" b="0" baseline="-25000" dirty="0">
                <a:latin typeface="Cambria"/>
              </a:rPr>
              <a:t>=1</a:t>
            </a:r>
            <a:r>
              <a:rPr sz="2800" b="0" baseline="30000" dirty="0">
                <a:latin typeface="Cambria"/>
              </a:rPr>
              <a:t>n</a:t>
            </a:r>
            <a:r>
              <a:rPr sz="2800" b="0" dirty="0">
                <a:latin typeface="Cambria"/>
              </a:rPr>
              <a:t> </a:t>
            </a:r>
            <a:r>
              <a:rPr sz="2800" b="0" dirty="0" err="1">
                <a:latin typeface="Cambria"/>
              </a:rPr>
              <a:t>p</a:t>
            </a:r>
            <a:r>
              <a:rPr sz="2800" b="0" baseline="-25000" dirty="0" err="1">
                <a:latin typeface="Cambria"/>
              </a:rPr>
              <a:t>i</a:t>
            </a:r>
            <a:r>
              <a:rPr sz="2800" b="0" baseline="30000" dirty="0" err="1">
                <a:latin typeface="Cambria"/>
              </a:rPr>
              <a:t>k</a:t>
            </a:r>
            <a:r>
              <a:rPr sz="2800" b="0" baseline="30000" dirty="0">
                <a:latin typeface="Cambria"/>
              </a:rPr>
              <a:t>ᵢ</a:t>
            </a:r>
          </a:p>
        </p:txBody>
      </p:sp>
    </p:spTree>
    <p:extLst>
      <p:ext uri="{BB962C8B-B14F-4D97-AF65-F5344CB8AC3E}">
        <p14:creationId xmlns:p14="http://schemas.microsoft.com/office/powerpoint/2010/main" val="2023364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918" y="1334277"/>
            <a:ext cx="11527405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The Poisson distribution is used to determine the probability that a specific number of occurrences takes place within a given unit of time or space. </a:t>
            </a:r>
          </a:p>
          <a:p>
            <a:pPr marL="457200" indent="-457200">
              <a:lnSpc>
                <a:spcPct val="80000"/>
              </a:lnSpc>
              <a:defRPr/>
            </a:pPr>
            <a:endParaRPr lang="en-US" altLang="en-US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A random variable </a:t>
            </a:r>
            <a:r>
              <a:rPr lang="en-US" altLang="en-US" i="1" dirty="0"/>
              <a:t>X</a:t>
            </a:r>
            <a:r>
              <a:rPr lang="en-US" altLang="en-US" dirty="0"/>
              <a:t> is Poisson distributed if: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experiment consists of counting the number of times, </a:t>
            </a:r>
            <a:r>
              <a:rPr lang="en-US" altLang="en-US" i="1" dirty="0"/>
              <a:t>x</a:t>
            </a:r>
            <a:r>
              <a:rPr lang="en-US" altLang="en-US" dirty="0"/>
              <a:t>, an event occurs in a given interval (the interval can relate to e.g. time, area, volume).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probability of the event occurring is the same for each interval.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number of occurrences in one interval is independent of the number of occurrences in other intervals.</a:t>
            </a:r>
          </a:p>
        </p:txBody>
      </p:sp>
    </p:spTree>
    <p:extLst>
      <p:ext uri="{BB962C8B-B14F-4D97-AF65-F5344CB8AC3E}">
        <p14:creationId xmlns:p14="http://schemas.microsoft.com/office/powerpoint/2010/main" val="14685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40973"/>
            <a:ext cx="10618236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In short </a:t>
            </a:r>
            <a:r>
              <a:rPr lang="mr-IN" altLang="en-US" dirty="0"/>
              <a:t>–</a:t>
            </a:r>
            <a:r>
              <a:rPr lang="en-US" altLang="en-US" dirty="0"/>
              <a:t> Poisson models ”random” count data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ladybugs or leaves per bush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prey encountered per unit time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eggs produced by a fish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This is different from </a:t>
            </a:r>
            <a:r>
              <a:rPr lang="en-US" altLang="en-US" i="1" dirty="0"/>
              <a:t>bounded</a:t>
            </a:r>
            <a:r>
              <a:rPr lang="en-US" altLang="en-US" dirty="0"/>
              <a:t> count data, which is binomial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 offspring that survive out of N offspring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#cameras that detect wolves out of N cameras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You might think that the Poisson could be a good approximation of the binomial if N is large and p is small. You are right!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9195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191493" name="TextBox 191492"/>
          <p:cNvSpPr txBox="1"/>
          <p:nvPr/>
        </p:nvSpPr>
        <p:spPr>
          <a:xfrm>
            <a:off x="1099295" y="2720314"/>
            <a:ext cx="351692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 dirty="0">
                <a:latin typeface="Cambria"/>
              </a:rPr>
              <a:t>p</a:t>
            </a:r>
            <a:r>
              <a:rPr sz="2000" b="0" baseline="-25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(t) = (</a:t>
            </a:r>
            <a:r>
              <a:rPr sz="2000" b="0" dirty="0" err="1">
                <a:latin typeface="Cambria"/>
              </a:rPr>
              <a:t>λt</a:t>
            </a:r>
            <a:r>
              <a:rPr sz="2000" b="0" dirty="0">
                <a:latin typeface="Cambria"/>
              </a:rPr>
              <a:t>)</a:t>
            </a:r>
            <a:r>
              <a:rPr sz="2000" b="0" baseline="30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 / k! · e</a:t>
            </a:r>
            <a:r>
              <a:rPr sz="2000" b="0" baseline="30000" dirty="0">
                <a:latin typeface="Cambria"/>
              </a:rPr>
              <a:t>−</a:t>
            </a:r>
            <a:r>
              <a:rPr sz="2000" b="0" baseline="30000" dirty="0" err="1">
                <a:latin typeface="Cambria"/>
              </a:rPr>
              <a:t>λt</a:t>
            </a:r>
            <a:endParaRPr sz="2000" b="0" baseline="30000" dirty="0">
              <a:latin typeface="Cambria"/>
            </a:endParaRPr>
          </a:p>
        </p:txBody>
      </p:sp>
      <p:sp>
        <p:nvSpPr>
          <p:cNvPr id="191494" name="TextBox 191493"/>
          <p:cNvSpPr txBox="1"/>
          <p:nvPr/>
        </p:nvSpPr>
        <p:spPr>
          <a:xfrm>
            <a:off x="7117699" y="2728377"/>
            <a:ext cx="484570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>
                <a:latin typeface="Cambria"/>
              </a:rPr>
              <a:t>P(k events in interval) = e</a:t>
            </a:r>
            <a:r>
              <a:rPr sz="2000" b="0" baseline="30000">
                <a:latin typeface="Cambria"/>
              </a:rPr>
              <a:t>−λ</a:t>
            </a:r>
            <a:r>
              <a:rPr sz="2000" b="0">
                <a:latin typeface="Cambria"/>
              </a:rPr>
              <a:t> · λ</a:t>
            </a:r>
            <a:r>
              <a:rPr sz="2000" b="0" baseline="30000">
                <a:latin typeface="Cambria"/>
              </a:rPr>
              <a:t>k</a:t>
            </a:r>
            <a:r>
              <a:rPr sz="2000" b="0">
                <a:latin typeface="Cambria"/>
              </a:rPr>
              <a:t> / k!</a:t>
            </a:r>
          </a:p>
        </p:txBody>
      </p:sp>
      <p:sp>
        <p:nvSpPr>
          <p:cNvPr id="191495" name="TextBox 191494"/>
          <p:cNvSpPr txBox="1"/>
          <p:nvPr/>
        </p:nvSpPr>
        <p:spPr>
          <a:xfrm>
            <a:off x="4397471" y="2720314"/>
            <a:ext cx="309489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>
                <a:latin typeface="Cambria"/>
              </a:rPr>
              <a:t>P(X = x) = μ</a:t>
            </a:r>
            <a:r>
              <a:rPr sz="2000" baseline="30000">
                <a:latin typeface="Cambria"/>
              </a:rPr>
              <a:t>x</a:t>
            </a:r>
            <a:r>
              <a:rPr sz="2000">
                <a:latin typeface="Cambria"/>
              </a:rPr>
              <a:t> e</a:t>
            </a:r>
            <a:r>
              <a:rPr sz="2000" baseline="30000">
                <a:latin typeface="Cambria"/>
              </a:rPr>
              <a:t>−μ</a:t>
            </a:r>
            <a:r>
              <a:rPr sz="2000">
                <a:latin typeface="Cambria"/>
              </a:rPr>
              <a:t> / x!</a:t>
            </a:r>
          </a:p>
        </p:txBody>
      </p:sp>
      <p:sp>
        <p:nvSpPr>
          <p:cNvPr id="191496" name="TextBox 191495"/>
          <p:cNvSpPr txBox="1"/>
          <p:nvPr/>
        </p:nvSpPr>
        <p:spPr>
          <a:xfrm>
            <a:off x="4297990" y="5038388"/>
            <a:ext cx="3616658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dirty="0">
                <a:latin typeface="Cambria"/>
              </a:rPr>
              <a:t>Mean : </a:t>
            </a:r>
            <a:r>
              <a:rPr sz="2000" dirty="0" err="1">
                <a:latin typeface="Cambria"/>
              </a:rPr>
              <a:t>μ</a:t>
            </a:r>
            <a:r>
              <a:rPr sz="2000" dirty="0">
                <a:latin typeface="Cambria"/>
              </a:rPr>
              <a:t> (rate per interval)</a:t>
            </a:r>
          </a:p>
          <a:p>
            <a:r>
              <a:rPr sz="2000" dirty="0">
                <a:latin typeface="Cambria"/>
              </a:rPr>
              <a:t>Variance : </a:t>
            </a:r>
            <a:r>
              <a:rPr sz="2000" dirty="0" err="1">
                <a:latin typeface="Cambria"/>
              </a:rPr>
              <a:t>μ</a:t>
            </a:r>
            <a:endParaRPr sz="200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62735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79205" name="TextBox 5"/>
          <p:cNvSpPr txBox="1">
            <a:spLocks noChangeArrowheads="1"/>
          </p:cNvSpPr>
          <p:nvPr/>
        </p:nvSpPr>
        <p:spPr bwMode="auto">
          <a:xfrm>
            <a:off x="1369276" y="1621602"/>
            <a:ext cx="88914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In a very small interval of time, either nothing happens or one event happens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54582F-1051-3E68-6212-788C38D1A9D2}"/>
              </a:ext>
            </a:extLst>
          </p:cNvPr>
          <p:cNvGrpSpPr/>
          <p:nvPr/>
        </p:nvGrpSpPr>
        <p:grpSpPr>
          <a:xfrm>
            <a:off x="0" y="2748024"/>
            <a:ext cx="13615409" cy="3406115"/>
            <a:chOff x="602166" y="2347914"/>
            <a:chExt cx="9946888" cy="2488375"/>
          </a:xfrm>
        </p:grpSpPr>
        <p:sp>
          <p:nvSpPr>
            <p:cNvPr id="179203" name="TextBox 3"/>
            <p:cNvSpPr txBox="1">
              <a:spLocks noChangeArrowheads="1"/>
            </p:cNvSpPr>
            <p:nvPr/>
          </p:nvSpPr>
          <p:spPr bwMode="auto">
            <a:xfrm>
              <a:off x="1936377" y="4106041"/>
              <a:ext cx="7866924" cy="337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Where o(</a:t>
              </a:r>
              <a:r>
                <a:rPr lang="en-US" altLang="en-US" sz="2400" dirty="0" err="1"/>
                <a:t>dt</a:t>
              </a:r>
              <a:r>
                <a:rPr lang="en-US" altLang="en-US" sz="2400" dirty="0"/>
                <a:t>) represents higher order term of </a:t>
              </a:r>
              <a:r>
                <a:rPr lang="en-US" altLang="en-US" sz="2400" dirty="0" err="1"/>
                <a:t>dt</a:t>
              </a:r>
              <a:r>
                <a:rPr lang="en-US" altLang="en-US" sz="2400" dirty="0"/>
                <a:t> that can be ignored as </a:t>
              </a:r>
              <a:r>
                <a:rPr lang="en-US" altLang="en-US" sz="2400" dirty="0" err="1"/>
                <a:t>dt</a:t>
              </a:r>
              <a:r>
                <a:rPr lang="en-US" altLang="en-US" sz="2400" dirty="0"/>
                <a:t> → 0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8F74B1-03CD-1945-98DA-1A826BE9D511}"/>
                </a:ext>
              </a:extLst>
            </p:cNvPr>
            <p:cNvSpPr/>
            <p:nvPr/>
          </p:nvSpPr>
          <p:spPr>
            <a:xfrm>
              <a:off x="7707236" y="23479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1CD9FE-7A4D-B068-9A6F-21B7AE96084D}"/>
                </a:ext>
              </a:extLst>
            </p:cNvPr>
            <p:cNvSpPr/>
            <p:nvPr/>
          </p:nvSpPr>
          <p:spPr>
            <a:xfrm>
              <a:off x="7252302" y="2827187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F88C4A-1458-1B06-9E85-0C87B74257B3}"/>
                </a:ext>
              </a:extLst>
            </p:cNvPr>
            <p:cNvSpPr/>
            <p:nvPr/>
          </p:nvSpPr>
          <p:spPr>
            <a:xfrm>
              <a:off x="7859636" y="25003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C34B7D-5769-FFC1-9375-493E238A02A9}"/>
                </a:ext>
              </a:extLst>
            </p:cNvPr>
            <p:cNvSpPr/>
            <p:nvPr/>
          </p:nvSpPr>
          <p:spPr>
            <a:xfrm flipV="1">
              <a:off x="602166" y="3222933"/>
              <a:ext cx="9946888" cy="1613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179206" name="TextBox 179205"/>
          <p:cNvSpPr txBox="1"/>
          <p:nvPr/>
        </p:nvSpPr>
        <p:spPr>
          <a:xfrm>
            <a:off x="2728913" y="2694545"/>
            <a:ext cx="61722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 err="1">
                <a:latin typeface="Cambria"/>
              </a:rPr>
              <a:t>Pr</a:t>
            </a:r>
            <a:r>
              <a:rPr sz="2400" b="0" dirty="0">
                <a:latin typeface="Cambria"/>
              </a:rPr>
              <a:t>{no event in the next dt} = 1 − </a:t>
            </a:r>
            <a:r>
              <a:rPr sz="2400" b="0" dirty="0" err="1">
                <a:latin typeface="Cambria"/>
              </a:rPr>
              <a:t>λdt</a:t>
            </a:r>
            <a:r>
              <a:rPr sz="2400" b="0" dirty="0">
                <a:latin typeface="Cambria"/>
              </a:rPr>
              <a:t> </a:t>
            </a:r>
            <a:endParaRPr lang="en-US" sz="2400" b="0" dirty="0">
              <a:latin typeface="Cambria"/>
            </a:endParaRPr>
          </a:p>
          <a:p>
            <a:r>
              <a:rPr sz="2400" b="0" dirty="0" err="1">
                <a:latin typeface="Cambria"/>
              </a:rPr>
              <a:t>Pr</a:t>
            </a:r>
            <a:r>
              <a:rPr sz="2400" b="0" dirty="0">
                <a:latin typeface="Cambria"/>
              </a:rPr>
              <a:t>{1 event in the next dt} = </a:t>
            </a:r>
            <a:r>
              <a:rPr sz="2400" b="0" dirty="0" err="1">
                <a:latin typeface="Cambria"/>
              </a:rPr>
              <a:t>λdt</a:t>
            </a:r>
            <a:endParaRPr sz="24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53675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630" y="-85756"/>
            <a:ext cx="118934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81250" name="TextBox 5"/>
          <p:cNvSpPr txBox="1">
            <a:spLocks noChangeArrowheads="1"/>
          </p:cNvSpPr>
          <p:nvPr/>
        </p:nvSpPr>
        <p:spPr bwMode="auto">
          <a:xfrm>
            <a:off x="1554163" y="1447800"/>
            <a:ext cx="8978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What we want is the probability of </a:t>
            </a:r>
            <a:r>
              <a:rPr lang="en-US" altLang="en-US" sz="2000" i="1">
                <a:solidFill>
                  <a:srgbClr val="000000"/>
                </a:solidFill>
              </a:rPr>
              <a:t>k </a:t>
            </a:r>
            <a:r>
              <a:rPr lang="en-US" altLang="en-US" sz="2000">
                <a:solidFill>
                  <a:srgbClr val="000000"/>
                </a:solidFill>
              </a:rPr>
              <a:t>events in a a longer interval, say time = </a:t>
            </a:r>
            <a:r>
              <a:rPr lang="en-US" altLang="en-US" sz="2000" i="1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4476" y="2203854"/>
            <a:ext cx="921572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How could we have no events up to time t + </a:t>
            </a:r>
            <a:r>
              <a:rPr lang="en-US" sz="2200" dirty="0" err="1"/>
              <a:t>dt</a:t>
            </a:r>
            <a:r>
              <a:rPr lang="en-US" sz="2200" dirty="0"/>
              <a:t>? 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Use the definition of the derivative to show that this leads to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Solve to find the zero term of the Poisson, </a:t>
            </a:r>
            <a:r>
              <a:rPr lang="en-US" sz="2200" dirty="0" err="1"/>
              <a:t>Pr</a:t>
            </a:r>
            <a:r>
              <a:rPr lang="en-US" sz="2200" dirty="0"/>
              <a:t>(no events)</a:t>
            </a:r>
          </a:p>
          <a:p>
            <a:pPr eaLnBrk="1" hangingPunct="1">
              <a:defRPr/>
            </a:pPr>
            <a:endParaRPr 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A4099D-0DFA-1F81-90B8-6EC02088523B}"/>
              </a:ext>
            </a:extLst>
          </p:cNvPr>
          <p:cNvGrpSpPr/>
          <p:nvPr/>
        </p:nvGrpSpPr>
        <p:grpSpPr>
          <a:xfrm>
            <a:off x="3207885" y="2659084"/>
            <a:ext cx="5671456" cy="831407"/>
            <a:chOff x="3207885" y="2659084"/>
            <a:chExt cx="5671456" cy="8314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5895F1-51A1-7141-72E4-42C0B0F1B6AA}"/>
                </a:ext>
              </a:extLst>
            </p:cNvPr>
            <p:cNvSpPr/>
            <p:nvPr/>
          </p:nvSpPr>
          <p:spPr>
            <a:xfrm>
              <a:off x="7480495" y="2770594"/>
              <a:ext cx="1398846" cy="658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1251" name="TextBox 181250"/>
          <p:cNvSpPr txBox="1"/>
          <p:nvPr/>
        </p:nvSpPr>
        <p:spPr>
          <a:xfrm>
            <a:off x="4640426" y="4466235"/>
            <a:ext cx="22780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dp</a:t>
            </a:r>
            <a:r>
              <a:rPr sz="2400" b="0" baseline="-25000">
                <a:latin typeface="Cambria"/>
              </a:rPr>
              <a:t>0</a:t>
            </a:r>
            <a:r>
              <a:rPr sz="2400" b="0">
                <a:latin typeface="Cambria"/>
              </a:rPr>
              <a:t> / dt = −λ p</a:t>
            </a:r>
            <a:r>
              <a:rPr sz="2400" b="0" baseline="-25000">
                <a:latin typeface="Cambria"/>
              </a:rPr>
              <a:t>0</a:t>
            </a:r>
          </a:p>
        </p:txBody>
      </p:sp>
      <p:sp>
        <p:nvSpPr>
          <p:cNvPr id="181252" name="TextBox 181251"/>
          <p:cNvSpPr txBox="1"/>
          <p:nvPr/>
        </p:nvSpPr>
        <p:spPr>
          <a:xfrm>
            <a:off x="4159900" y="6003813"/>
            <a:ext cx="29638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</a:t>
            </a:r>
            <a:r>
              <a:rPr sz="2400" b="0" baseline="-25000">
                <a:latin typeface="Cambria"/>
              </a:rPr>
              <a:t>0</a:t>
            </a:r>
            <a:r>
              <a:rPr sz="2400" b="0">
                <a:latin typeface="Cambria"/>
              </a:rPr>
              <a:t>(t) = exp(−λt)</a:t>
            </a:r>
          </a:p>
        </p:txBody>
      </p:sp>
      <p:sp>
        <p:nvSpPr>
          <p:cNvPr id="181253" name="TextBox 181252"/>
          <p:cNvSpPr txBox="1"/>
          <p:nvPr/>
        </p:nvSpPr>
        <p:spPr>
          <a:xfrm>
            <a:off x="3207885" y="2976622"/>
            <a:ext cx="567145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p</a:t>
            </a:r>
            <a:r>
              <a:rPr sz="2400" b="0" baseline="-25000" dirty="0">
                <a:latin typeface="Cambria"/>
              </a:rPr>
              <a:t>0</a:t>
            </a:r>
            <a:r>
              <a:rPr sz="2400" b="0" dirty="0">
                <a:latin typeface="Cambria"/>
              </a:rPr>
              <a:t>(t + dt) = p</a:t>
            </a:r>
            <a:r>
              <a:rPr sz="2400" b="0" baseline="-25000" dirty="0">
                <a:latin typeface="Cambria"/>
              </a:rPr>
              <a:t>0</a:t>
            </a:r>
            <a:r>
              <a:rPr sz="2400" b="0" dirty="0">
                <a:latin typeface="Cambria"/>
              </a:rPr>
              <a:t>(t)(1 − </a:t>
            </a:r>
            <a:r>
              <a:rPr sz="2400" b="0" dirty="0" err="1">
                <a:latin typeface="Cambria"/>
              </a:rPr>
              <a:t>λdt</a:t>
            </a:r>
            <a:r>
              <a:rPr sz="2400" b="0" dirty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5507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3048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Zero term of the Poisson Distribution</a:t>
            </a:r>
          </a:p>
        </p:txBody>
      </p:sp>
      <p:sp>
        <p:nvSpPr>
          <p:cNvPr id="183304" name="TextBox 9"/>
          <p:cNvSpPr txBox="1">
            <a:spLocks noChangeArrowheads="1"/>
          </p:cNvSpPr>
          <p:nvPr/>
        </p:nvSpPr>
        <p:spPr bwMode="auto">
          <a:xfrm>
            <a:off x="2225676" y="2029375"/>
            <a:ext cx="3732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Probability Mass Function:</a:t>
            </a:r>
          </a:p>
        </p:txBody>
      </p:sp>
      <p:sp>
        <p:nvSpPr>
          <p:cNvPr id="183305" name="TextBox 183304"/>
          <p:cNvSpPr txBox="1"/>
          <p:nvPr/>
        </p:nvSpPr>
        <p:spPr>
          <a:xfrm>
            <a:off x="5916613" y="2076484"/>
            <a:ext cx="35169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p</a:t>
            </a:r>
            <a:r>
              <a:rPr sz="2400" b="0" baseline="-25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(t) = (</a:t>
            </a:r>
            <a:r>
              <a:rPr sz="2400" b="0" dirty="0" err="1">
                <a:latin typeface="Cambria"/>
              </a:rPr>
              <a:t>λt</a:t>
            </a:r>
            <a:r>
              <a:rPr sz="2400" b="0" dirty="0">
                <a:latin typeface="Cambria"/>
              </a:rPr>
              <a:t>)</a:t>
            </a:r>
            <a:r>
              <a:rPr sz="2400" b="0" baseline="30000" dirty="0">
                <a:latin typeface="Cambria"/>
              </a:rPr>
              <a:t>k</a:t>
            </a:r>
            <a:r>
              <a:rPr sz="2400" b="0" dirty="0">
                <a:latin typeface="Cambria"/>
              </a:rPr>
              <a:t> / k! · e</a:t>
            </a:r>
            <a:r>
              <a:rPr sz="2400" b="0" baseline="30000" dirty="0">
                <a:latin typeface="Cambria"/>
              </a:rPr>
              <a:t>−</a:t>
            </a:r>
            <a:r>
              <a:rPr sz="2400" b="0" baseline="30000" dirty="0" err="1">
                <a:latin typeface="Cambria"/>
              </a:rPr>
              <a:t>λt</a:t>
            </a:r>
            <a:endParaRPr sz="2400" b="0" baseline="30000" dirty="0">
              <a:latin typeface="Cambria"/>
            </a:endParaRPr>
          </a:p>
        </p:txBody>
      </p:sp>
      <p:sp>
        <p:nvSpPr>
          <p:cNvPr id="183306" name="TextBox 183305"/>
          <p:cNvSpPr txBox="1"/>
          <p:nvPr/>
        </p:nvSpPr>
        <p:spPr>
          <a:xfrm>
            <a:off x="2335213" y="3325848"/>
            <a:ext cx="62357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Pr{no event in 0 to t} = p</a:t>
            </a:r>
            <a:r>
              <a:rPr sz="2400" b="0" baseline="-25000">
                <a:latin typeface="Cambria"/>
              </a:rPr>
              <a:t>0</a:t>
            </a:r>
            <a:r>
              <a:rPr sz="2400" b="0">
                <a:latin typeface="Cambria"/>
              </a:rPr>
              <a:t>(t) = e</a:t>
            </a:r>
            <a:r>
              <a:rPr sz="2400" b="0" baseline="30000">
                <a:latin typeface="Cambria"/>
              </a:rPr>
              <a:t>−λt</a:t>
            </a:r>
          </a:p>
        </p:txBody>
      </p:sp>
    </p:spTree>
    <p:extLst>
      <p:ext uri="{BB962C8B-B14F-4D97-AF65-F5344CB8AC3E}">
        <p14:creationId xmlns:p14="http://schemas.microsoft.com/office/powerpoint/2010/main" val="981056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09825" y="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First term of the Poisson Distribution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88193" y="1447800"/>
            <a:ext cx="11024361" cy="1828799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600" dirty="0"/>
              <a:t>How can you have </a:t>
            </a:r>
            <a:r>
              <a:rPr lang="en-US" altLang="en-US" sz="2600" u="sng" dirty="0"/>
              <a:t>one</a:t>
            </a:r>
            <a:r>
              <a:rPr lang="en-US" altLang="en-US" sz="2600" dirty="0"/>
              <a:t> event in time 0 to </a:t>
            </a:r>
            <a:r>
              <a:rPr lang="en-US" altLang="en-US" sz="2600" i="1" dirty="0"/>
              <a:t>t </a:t>
            </a:r>
            <a:r>
              <a:rPr lang="en-US" altLang="en-US" sz="2600" dirty="0"/>
              <a:t>+ </a:t>
            </a:r>
            <a:r>
              <a:rPr lang="en-US" altLang="en-US" sz="2600" i="1" dirty="0"/>
              <a:t>dt</a:t>
            </a:r>
            <a:r>
              <a:rPr lang="en-US" altLang="en-US" sz="2600" dirty="0"/>
              <a:t>?</a:t>
            </a:r>
          </a:p>
          <a:p>
            <a:pPr eaLnBrk="1" hangingPunct="1">
              <a:defRPr/>
            </a:pPr>
            <a:endParaRPr lang="en-US" altLang="en-US" sz="2600" dirty="0"/>
          </a:p>
          <a:p>
            <a:pPr>
              <a:defRPr/>
            </a:pPr>
            <a:r>
              <a:rPr lang="en-US" sz="2600" dirty="0"/>
              <a:t>Either we had no event in 0 to </a:t>
            </a:r>
            <a:r>
              <a:rPr lang="en-US" sz="2600" i="1" dirty="0"/>
              <a:t>t</a:t>
            </a:r>
            <a:r>
              <a:rPr lang="en-US" sz="2600" dirty="0"/>
              <a:t> and one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or we had one event in 0 to </a:t>
            </a:r>
            <a:r>
              <a:rPr lang="en-US" sz="2600" i="1" dirty="0"/>
              <a:t>t</a:t>
            </a:r>
            <a:r>
              <a:rPr lang="en-US" sz="2600" dirty="0"/>
              <a:t> and no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Continue like this to derive other terms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Another derivation starts with the Binomial distribution where the average number of successes, </a:t>
            </a:r>
            <a:r>
              <a:rPr lang="en-US" sz="2600" i="1" dirty="0"/>
              <a:t>Np</a:t>
            </a:r>
            <a:r>
              <a:rPr lang="en-US" sz="2600" dirty="0"/>
              <a:t>, is replaced by.    and N approaches infinity</a:t>
            </a:r>
          </a:p>
        </p:txBody>
      </p:sp>
      <p:pic>
        <p:nvPicPr>
          <p:cNvPr id="2" name="Picture 1" descr="Equation: p_k(t) = (lambda t)^k / k! times e^(-lambda t). The full Poisson pmf." title="Equation: p_k(t) = (lambda t)^k / k! times e^(-lambda t). The full Poisson pmf.">
            <a:extLst>
              <a:ext uri="{FF2B5EF4-FFF2-40B4-BE49-F238E27FC236}">
                <a16:creationId xmlns:a16="http://schemas.microsoft.com/office/drawing/2014/main" id="{61487007-FEC4-C45B-86F4-A9C2B585E7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80" t="-1602" r="8590" b="17386"/>
          <a:stretch/>
        </p:blipFill>
        <p:spPr bwMode="auto">
          <a:xfrm>
            <a:off x="6423104" y="5075663"/>
            <a:ext cx="267629" cy="49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310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191493" name="TextBox 191492"/>
          <p:cNvSpPr txBox="1"/>
          <p:nvPr/>
        </p:nvSpPr>
        <p:spPr>
          <a:xfrm>
            <a:off x="1099295" y="2277675"/>
            <a:ext cx="3516923" cy="1193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0">
                <a:latin typeface="Cambria"/>
              </a:rPr>
              <a:t>p</a:t>
            </a:r>
            <a:r>
              <a:rPr sz="1900" b="0" baseline="-25000">
                <a:latin typeface="Cambria"/>
              </a:rPr>
              <a:t>k</a:t>
            </a:r>
            <a:r>
              <a:rPr sz="1900" b="0">
                <a:latin typeface="Cambria"/>
              </a:rPr>
              <a:t>(t) = (λt)</a:t>
            </a:r>
            <a:r>
              <a:rPr sz="1900" b="0" baseline="30000">
                <a:latin typeface="Cambria"/>
              </a:rPr>
              <a:t>k</a:t>
            </a:r>
            <a:r>
              <a:rPr sz="1900" b="0">
                <a:latin typeface="Cambria"/>
              </a:rPr>
              <a:t> / k! · e</a:t>
            </a:r>
            <a:r>
              <a:rPr sz="1900" b="0" baseline="30000">
                <a:latin typeface="Cambria"/>
              </a:rPr>
              <a:t>−λt</a:t>
            </a:r>
          </a:p>
        </p:txBody>
      </p:sp>
      <p:sp>
        <p:nvSpPr>
          <p:cNvPr id="191494" name="TextBox 191493"/>
          <p:cNvSpPr txBox="1"/>
          <p:nvPr/>
        </p:nvSpPr>
        <p:spPr>
          <a:xfrm>
            <a:off x="7117699" y="2509997"/>
            <a:ext cx="4845701" cy="7445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latin typeface="Cambria"/>
              </a:rPr>
              <a:t>P(k events in interval) = e</a:t>
            </a:r>
            <a:r>
              <a:rPr sz="1700" b="0" baseline="30000">
                <a:latin typeface="Cambria"/>
              </a:rPr>
              <a:t>−λ</a:t>
            </a:r>
            <a:r>
              <a:rPr sz="1700" b="0">
                <a:latin typeface="Cambria"/>
              </a:rPr>
              <a:t> · λ</a:t>
            </a:r>
            <a:r>
              <a:rPr sz="1700" b="0" baseline="30000">
                <a:latin typeface="Cambria"/>
              </a:rPr>
              <a:t>k</a:t>
            </a:r>
            <a:r>
              <a:rPr sz="1700" b="0">
                <a:latin typeface="Cambria"/>
              </a:rPr>
              <a:t> / k!</a:t>
            </a:r>
          </a:p>
        </p:txBody>
      </p:sp>
      <p:sp>
        <p:nvSpPr>
          <p:cNvPr id="191495" name="TextBox 191494"/>
          <p:cNvSpPr txBox="1"/>
          <p:nvPr/>
        </p:nvSpPr>
        <p:spPr>
          <a:xfrm>
            <a:off x="4397471" y="2509997"/>
            <a:ext cx="3094892" cy="728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 = x) = μ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e</a:t>
            </a:r>
            <a:r>
              <a:rPr sz="1900" baseline="30000">
                <a:latin typeface="Cambria"/>
              </a:rPr>
              <a:t>−μ</a:t>
            </a:r>
            <a:r>
              <a:rPr sz="1900">
                <a:latin typeface="Cambria"/>
              </a:rPr>
              <a:t> / x!</a:t>
            </a:r>
          </a:p>
        </p:txBody>
      </p:sp>
      <p:sp>
        <p:nvSpPr>
          <p:cNvPr id="191496" name="TextBox 191495"/>
          <p:cNvSpPr txBox="1"/>
          <p:nvPr/>
        </p:nvSpPr>
        <p:spPr>
          <a:xfrm>
            <a:off x="4297990" y="4872555"/>
            <a:ext cx="3616658" cy="947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>
                <a:latin typeface="Cambria"/>
              </a:rPr>
              <a:t>Mean : μ (rate per interval)</a:t>
            </a:r>
          </a:p>
          <a:p>
            <a:r>
              <a:rPr sz="1800">
                <a:latin typeface="Cambria"/>
              </a:rPr>
              <a:t>Variance : μ</a:t>
            </a:r>
          </a:p>
        </p:txBody>
      </p:sp>
    </p:spTree>
    <p:extLst>
      <p:ext uri="{BB962C8B-B14F-4D97-AF65-F5344CB8AC3E}">
        <p14:creationId xmlns:p14="http://schemas.microsoft.com/office/powerpoint/2010/main" val="1609431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507132" y="4119468"/>
            <a:ext cx="3857625" cy="2165350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459941" y="393606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The Poisson Distribution Graphically</a:t>
            </a:r>
          </a:p>
        </p:txBody>
      </p:sp>
      <p:pic>
        <p:nvPicPr>
          <p:cNvPr id="12292" name="Picture 1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478556" y="1757268"/>
            <a:ext cx="3810000" cy="21859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229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1906557" y="1757269"/>
            <a:ext cx="3757613" cy="2155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4" name="Text Box 10"/>
          <p:cNvSpPr txBox="1">
            <a:spLocks noChangeArrowheads="1"/>
          </p:cNvSpPr>
          <p:nvPr/>
        </p:nvSpPr>
        <p:spPr bwMode="auto">
          <a:xfrm>
            <a:off x="48910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/>
              <a:t>μ=2</a:t>
            </a:r>
          </a:p>
        </p:txBody>
      </p:sp>
      <p:sp>
        <p:nvSpPr>
          <p:cNvPr id="12295" name="Text Box 11"/>
          <p:cNvSpPr txBox="1">
            <a:spLocks noChangeArrowheads="1"/>
          </p:cNvSpPr>
          <p:nvPr/>
        </p:nvSpPr>
        <p:spPr bwMode="auto">
          <a:xfrm>
            <a:off x="95265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/>
              <a:t>μ=5</a:t>
            </a:r>
          </a:p>
        </p:txBody>
      </p:sp>
      <p:sp>
        <p:nvSpPr>
          <p:cNvPr id="12296" name="Text Box 12"/>
          <p:cNvSpPr txBox="1">
            <a:spLocks noChangeArrowheads="1"/>
          </p:cNvSpPr>
          <p:nvPr/>
        </p:nvSpPr>
        <p:spPr bwMode="auto">
          <a:xfrm>
            <a:off x="9539256" y="42718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/>
              <a:t>μ=8</a:t>
            </a:r>
          </a:p>
        </p:txBody>
      </p:sp>
    </p:spTree>
    <p:extLst>
      <p:ext uri="{BB962C8B-B14F-4D97-AF65-F5344CB8AC3E}">
        <p14:creationId xmlns:p14="http://schemas.microsoft.com/office/powerpoint/2010/main" val="821853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771" y="535810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An Example of the Poisson Distribution-I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788" y="1679857"/>
            <a:ext cx="11364686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The mean bycatch of dolphins per month in the Eastern Tropical Pacific is 3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4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2 or less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at least one dolphin is killed?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6815" y="6265335"/>
            <a:ext cx="11780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Breakout groups: Try to find analytical solutions AND a solution using built in functions in 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936B6-5259-DADB-50C3-AAE367567E0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6148" name="TextBox 6147"/>
          <p:cNvSpPr txBox="1"/>
          <p:nvPr/>
        </p:nvSpPr>
        <p:spPr>
          <a:xfrm>
            <a:off x="4818820" y="4919723"/>
            <a:ext cx="3094892" cy="90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>
                <a:latin typeface="Cambria"/>
              </a:rPr>
              <a:t>P(X = x) = μ</a:t>
            </a:r>
            <a:r>
              <a:rPr sz="1900" baseline="30000">
                <a:latin typeface="Cambria"/>
              </a:rPr>
              <a:t>x</a:t>
            </a:r>
            <a:r>
              <a:rPr sz="1900">
                <a:latin typeface="Cambria"/>
              </a:rPr>
              <a:t> e</a:t>
            </a:r>
            <a:r>
              <a:rPr sz="1900" baseline="30000">
                <a:latin typeface="Cambria"/>
              </a:rPr>
              <a:t>−μ</a:t>
            </a:r>
            <a:r>
              <a:rPr sz="1900">
                <a:latin typeface="Cambria"/>
              </a:rPr>
              <a:t> / x!</a:t>
            </a:r>
          </a:p>
        </p:txBody>
      </p:sp>
    </p:spTree>
    <p:extLst>
      <p:ext uri="{BB962C8B-B14F-4D97-AF65-F5344CB8AC3E}">
        <p14:creationId xmlns:p14="http://schemas.microsoft.com/office/powerpoint/2010/main" val="942259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34585" y="169671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An Example of the Poisson Distribution-II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8984" y="1609533"/>
            <a:ext cx="1107165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mean catch of dolphins per month in the Eastern Tropical Pacific is 3.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/>
              <a:t>What is the probability that the catch will be 4 in a given month?</a:t>
            </a:r>
          </a:p>
          <a:p>
            <a:pPr lvl="1" eaLnBrk="1" hangingPunct="1">
              <a:defRPr/>
            </a:pPr>
            <a:endParaRPr lang="en-US" altLang="en-US" dirty="0"/>
          </a:p>
        </p:txBody>
      </p:sp>
      <p:sp>
        <p:nvSpPr>
          <p:cNvPr id="7172" name="TextBox 7171"/>
          <p:cNvSpPr txBox="1"/>
          <p:nvPr/>
        </p:nvSpPr>
        <p:spPr>
          <a:xfrm>
            <a:off x="3200400" y="4238711"/>
            <a:ext cx="618978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P[X = 4] = μ</a:t>
            </a:r>
            <a:r>
              <a:rPr sz="2400" baseline="30000">
                <a:latin typeface="Cambria"/>
              </a:rPr>
              <a:t>x</a:t>
            </a:r>
            <a:r>
              <a:rPr sz="2400">
                <a:latin typeface="Cambria"/>
              </a:rPr>
              <a:t> e</a:t>
            </a:r>
            <a:r>
              <a:rPr sz="2400" baseline="30000">
                <a:latin typeface="Cambria"/>
              </a:rPr>
              <a:t>−μ</a:t>
            </a:r>
            <a:r>
              <a:rPr sz="2400">
                <a:latin typeface="Cambria"/>
              </a:rPr>
              <a:t> / x! = 3</a:t>
            </a:r>
            <a:r>
              <a:rPr sz="2400" baseline="30000">
                <a:latin typeface="Cambria"/>
              </a:rPr>
              <a:t>4</a:t>
            </a:r>
            <a:r>
              <a:rPr sz="2400">
                <a:latin typeface="Cambria"/>
              </a:rPr>
              <a:t> e</a:t>
            </a:r>
            <a:r>
              <a:rPr sz="2400" baseline="30000">
                <a:latin typeface="Cambria"/>
              </a:rPr>
              <a:t>−3</a:t>
            </a:r>
            <a:r>
              <a:rPr sz="2400">
                <a:latin typeface="Cambria"/>
              </a:rPr>
              <a:t> / 4! = 0.168</a:t>
            </a:r>
          </a:p>
        </p:txBody>
      </p:sp>
      <p:sp>
        <p:nvSpPr>
          <p:cNvPr id="7173" name="TextBox 7172"/>
          <p:cNvSpPr txBox="1"/>
          <p:nvPr/>
        </p:nvSpPr>
        <p:spPr>
          <a:xfrm>
            <a:off x="4800601" y="5246496"/>
            <a:ext cx="2341563" cy="774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000">
                <a:solidFill>
                  <a:srgbClr val="0000FF"/>
                </a:solidFill>
                <a:latin typeface="Consolas"/>
              </a:rPr>
              <a:t>&gt; dpois(4,3)</a:t>
            </a:r>
          </a:p>
          <a:p>
            <a:r>
              <a:rPr sz="2000">
                <a:solidFill>
                  <a:srgbClr val="000000"/>
                </a:solidFill>
                <a:latin typeface="Consolas"/>
              </a:rPr>
              <a:t>[1] 0.1680314</a:t>
            </a:r>
          </a:p>
        </p:txBody>
      </p:sp>
    </p:spTree>
    <p:extLst>
      <p:ext uri="{BB962C8B-B14F-4D97-AF65-F5344CB8AC3E}">
        <p14:creationId xmlns:p14="http://schemas.microsoft.com/office/powerpoint/2010/main" val="1964027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An Example of the Poisson Distribution-III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4843" y="1219200"/>
            <a:ext cx="1114579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mean catch of dolphins per month in the Eastern Tropical Pacific is 3.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969696"/>
                </a:solidFill>
              </a:rPr>
              <a:t>What is the probability that the catch will be 4 in a given month?</a:t>
            </a:r>
          </a:p>
          <a:p>
            <a:pPr lvl="1" eaLnBrk="1" hangingPunct="1">
              <a:defRPr/>
            </a:pPr>
            <a:r>
              <a:rPr lang="en-US" altLang="en-US" dirty="0"/>
              <a:t>What is the probability that the catch will be 2 or fewer in a given month?</a:t>
            </a:r>
          </a:p>
          <a:p>
            <a:pPr lvl="1" eaLnBrk="1" hangingPunct="1">
              <a:buFont typeface="Wingdings" charset="2"/>
              <a:buNone/>
              <a:defRPr/>
            </a:pPr>
            <a:r>
              <a:rPr lang="en-US" altLang="en-US" dirty="0"/>
              <a:t>P[X≤2]=P[X=0]+P[X=1]+P[X=2]=</a:t>
            </a:r>
          </a:p>
        </p:txBody>
      </p:sp>
      <p:sp>
        <p:nvSpPr>
          <p:cNvPr id="8196" name="TextBox 8195"/>
          <p:cNvSpPr txBox="1"/>
          <p:nvPr/>
        </p:nvSpPr>
        <p:spPr>
          <a:xfrm>
            <a:off x="1929830" y="4089400"/>
            <a:ext cx="675249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>
                <a:latin typeface="Cambria"/>
              </a:rPr>
              <a:t>P[X ≤ 2] = e</a:t>
            </a:r>
            <a:r>
              <a:rPr sz="2400" baseline="30000">
                <a:latin typeface="Cambria"/>
              </a:rPr>
              <a:t>−3</a:t>
            </a:r>
            <a:r>
              <a:rPr sz="2400">
                <a:latin typeface="Cambria"/>
              </a:rPr>
              <a:t> [ 3</a:t>
            </a:r>
            <a:r>
              <a:rPr sz="2400" baseline="30000">
                <a:latin typeface="Cambria"/>
              </a:rPr>
              <a:t>0</a:t>
            </a:r>
            <a:r>
              <a:rPr sz="2400">
                <a:latin typeface="Cambria"/>
              </a:rPr>
              <a:t>/0! + 3</a:t>
            </a:r>
            <a:r>
              <a:rPr sz="2400" baseline="30000">
                <a:latin typeface="Cambria"/>
              </a:rPr>
              <a:t>1</a:t>
            </a:r>
            <a:r>
              <a:rPr sz="2400">
                <a:latin typeface="Cambria"/>
              </a:rPr>
              <a:t>/1! + 3</a:t>
            </a:r>
            <a:r>
              <a:rPr sz="2400" baseline="30000">
                <a:latin typeface="Cambria"/>
              </a:rPr>
              <a:t>2</a:t>
            </a:r>
            <a:r>
              <a:rPr sz="2400">
                <a:latin typeface="Cambria"/>
              </a:rPr>
              <a:t>/2! ] = 0.423</a:t>
            </a:r>
          </a:p>
        </p:txBody>
      </p:sp>
      <p:sp>
        <p:nvSpPr>
          <p:cNvPr id="8197" name="TextBox 8196"/>
          <p:cNvSpPr txBox="1"/>
          <p:nvPr/>
        </p:nvSpPr>
        <p:spPr>
          <a:xfrm>
            <a:off x="6113463" y="5114925"/>
            <a:ext cx="4495800" cy="1244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00">
                <a:solidFill>
                  <a:srgbClr val="0000FF"/>
                </a:solidFill>
                <a:latin typeface="Consolas"/>
              </a:rPr>
              <a:t>&gt; dpois(0,3)+dpois(1,3)+dpois(2,3)</a:t>
            </a:r>
          </a:p>
          <a:p>
            <a:r>
              <a:rPr sz="1600">
                <a:solidFill>
                  <a:srgbClr val="000000"/>
                </a:solidFill>
                <a:latin typeface="Consolas"/>
              </a:rPr>
              <a:t>[1] 0.4231901</a:t>
            </a:r>
          </a:p>
          <a:p>
            <a:r>
              <a:rPr sz="1600">
                <a:solidFill>
                  <a:srgbClr val="0000FF"/>
                </a:solidFill>
                <a:latin typeface="Consolas"/>
              </a:rPr>
              <a:t>&gt; ppois(2,3)</a:t>
            </a:r>
          </a:p>
          <a:p>
            <a:r>
              <a:rPr sz="1600">
                <a:solidFill>
                  <a:srgbClr val="000000"/>
                </a:solidFill>
                <a:latin typeface="Consolas"/>
              </a:rPr>
              <a:t>[1] 0.4231901</a:t>
            </a:r>
          </a:p>
        </p:txBody>
      </p:sp>
    </p:spTree>
    <p:extLst>
      <p:ext uri="{BB962C8B-B14F-4D97-AF65-F5344CB8AC3E}">
        <p14:creationId xmlns:p14="http://schemas.microsoft.com/office/powerpoint/2010/main" val="4462478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An Example of the Poisson Distribution-III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1" y="1219200"/>
            <a:ext cx="7656513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mean catch of dolphins per month in the Eastern Tropical Pacific is 3. 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969696"/>
                </a:solidFill>
              </a:rPr>
              <a:t>What is the probability that the catch will be 4 in a given month?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What is the probability that the catch will be 2 or fewer in a given month?</a:t>
            </a:r>
          </a:p>
          <a:p>
            <a:pPr lvl="1" eaLnBrk="1" hangingPunct="1">
              <a:defRPr/>
            </a:pPr>
            <a:r>
              <a:rPr lang="en-US" altLang="en-US" dirty="0"/>
              <a:t>What is the probability that at least 1 dolphin is killed?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92245" y="4392386"/>
            <a:ext cx="2341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</a:t>
            </a:r>
            <a:r>
              <a:rPr lang="en-US" sz="4000" baseline="30000" dirty="0"/>
              <a:t>-3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068650" y="4746329"/>
            <a:ext cx="19235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992245" y="5040164"/>
            <a:ext cx="2341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1 - e</a:t>
            </a:r>
            <a:r>
              <a:rPr lang="en-US" sz="4000" baseline="30000" dirty="0"/>
              <a:t>-3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068650" y="5394107"/>
            <a:ext cx="19235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6" name="TextBox 8195"/>
          <p:cNvSpPr txBox="1"/>
          <p:nvPr/>
        </p:nvSpPr>
        <p:spPr>
          <a:xfrm>
            <a:off x="4501876" y="4392386"/>
            <a:ext cx="3021012" cy="18832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000">
                <a:solidFill>
                  <a:srgbClr val="0000FF"/>
                </a:solidFill>
                <a:latin typeface="Consolas"/>
              </a:rPr>
              <a:t>&gt; dpois(0,3)</a:t>
            </a:r>
          </a:p>
          <a:p>
            <a:r>
              <a:rPr sz="2000">
                <a:solidFill>
                  <a:srgbClr val="000000"/>
                </a:solidFill>
                <a:latin typeface="Consolas"/>
              </a:rPr>
              <a:t>[1] 0.04978707</a:t>
            </a:r>
          </a:p>
          <a:p>
            <a:r>
              <a:rPr sz="2000">
                <a:solidFill>
                  <a:srgbClr val="0000FF"/>
                </a:solidFill>
                <a:latin typeface="Consolas"/>
              </a:rPr>
              <a:t>&gt; 1-dpois(0,3)</a:t>
            </a:r>
          </a:p>
          <a:p>
            <a:r>
              <a:rPr sz="2000">
                <a:solidFill>
                  <a:srgbClr val="000000"/>
                </a:solidFill>
                <a:latin typeface="Consolas"/>
              </a:rPr>
              <a:t>[1] 0.9502129</a:t>
            </a:r>
          </a:p>
        </p:txBody>
      </p:sp>
    </p:spTree>
    <p:extLst>
      <p:ext uri="{BB962C8B-B14F-4D97-AF65-F5344CB8AC3E}">
        <p14:creationId xmlns:p14="http://schemas.microsoft.com/office/powerpoint/2010/main" val="477469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76" y="15875"/>
            <a:ext cx="1177418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Example of using Poisson Probabilistic Arguments in Research</a:t>
            </a:r>
          </a:p>
        </p:txBody>
      </p:sp>
      <p:pic>
        <p:nvPicPr>
          <p:cNvPr id="197635" name="Picture 6" descr="Journal article header: 'Killer Whale Predation on Sea Otters Linking Oceanic and Nearshore Ecosystems' by Estes, Tinker, Williams and Doak, with abstract on sea otter decline from killer whale predation." title="Journal article header: 'Killer Whale Predation on Sea Otters Linking Oceanic 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27395"/>
            <a:ext cx="52832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6" name="TextBox 197635"/>
          <p:cNvSpPr txBox="1"/>
          <p:nvPr/>
        </p:nvSpPr>
        <p:spPr>
          <a:xfrm>
            <a:off x="2863342" y="5022279"/>
            <a:ext cx="6566916" cy="9292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>
                <a:latin typeface="Calibri"/>
              </a:rPr>
              <a:t>constant over the 27-year period. By modeling the expected number of observed attacks as a Poisson process, the probability of zero attacks being seen before 1990 is 0.006 (15).</a:t>
            </a:r>
          </a:p>
        </p:txBody>
      </p:sp>
    </p:spTree>
    <p:extLst>
      <p:ext uri="{BB962C8B-B14F-4D97-AF65-F5344CB8AC3E}">
        <p14:creationId xmlns:p14="http://schemas.microsoft.com/office/powerpoint/2010/main" val="835136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50373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The Poisson Distribution - Caveat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49802"/>
            <a:ext cx="1043162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Poisson distribution would seem to be a good distribution to assume for catch data in fisheries. However, fish school. What does this imply regarding the assumptions of the Poisson distribution?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Variance would be high relative to the mean</a:t>
            </a:r>
          </a:p>
          <a:p>
            <a:pPr lvl="1" eaLnBrk="1" hangingPunct="1">
              <a:defRPr/>
            </a:pPr>
            <a:r>
              <a:rPr lang="en-US" altLang="en-US" dirty="0"/>
              <a:t>You catch zero or a shit ton!!!</a:t>
            </a:r>
          </a:p>
          <a:p>
            <a:pPr lvl="1" eaLnBrk="1" hangingPunct="1">
              <a:defRPr/>
            </a:pPr>
            <a:r>
              <a:rPr lang="en-US" altLang="en-US" dirty="0"/>
              <a:t>This is called </a:t>
            </a:r>
            <a:r>
              <a:rPr lang="en-US" altLang="en-US" dirty="0" err="1"/>
              <a:t>overdispersion</a:t>
            </a:r>
            <a:r>
              <a:rPr lang="en-US" altLang="en-US" dirty="0"/>
              <a:t> → Onward to negative binomial!</a:t>
            </a:r>
          </a:p>
        </p:txBody>
      </p:sp>
    </p:spTree>
    <p:extLst>
      <p:ext uri="{BB962C8B-B14F-4D97-AF65-F5344CB8AC3E}">
        <p14:creationId xmlns:p14="http://schemas.microsoft.com/office/powerpoint/2010/main" val="5445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7654" y="-250373"/>
            <a:ext cx="835316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But </a:t>
            </a:r>
            <a:r>
              <a:rPr lang="en-US" altLang="en-US" sz="4000"/>
              <a:t>first: MLE </a:t>
            </a:r>
            <a:r>
              <a:rPr lang="en-US" altLang="en-US" sz="4000" dirty="0"/>
              <a:t>for the Poisson Distribution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8498" y="1149802"/>
            <a:ext cx="109914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Let’s find the MLE of the Poisson distribution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Let’s do it for a dataset of </a:t>
            </a:r>
            <a:r>
              <a:rPr lang="en-US" altLang="en-US" i="1" dirty="0"/>
              <a:t>n</a:t>
            </a:r>
            <a:r>
              <a:rPr lang="en-US" altLang="en-US" dirty="0"/>
              <a:t> Poisson distributed observations. (very common to assume that </a:t>
            </a:r>
            <a:r>
              <a:rPr lang="en-US" altLang="en-US" i="1" dirty="0"/>
              <a:t>t</a:t>
            </a:r>
            <a:r>
              <a:rPr lang="en-US" altLang="en-US" dirty="0"/>
              <a:t> =1 since counts per period is typically desired)</a:t>
            </a:r>
          </a:p>
        </p:txBody>
      </p:sp>
      <p:sp>
        <p:nvSpPr>
          <p:cNvPr id="11268" name="TextBox 11267"/>
          <p:cNvSpPr txBox="1"/>
          <p:nvPr/>
        </p:nvSpPr>
        <p:spPr>
          <a:xfrm>
            <a:off x="4145094" y="2324752"/>
            <a:ext cx="35169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</a:t>
            </a:r>
            <a:r>
              <a:rPr sz="2400" b="0" baseline="-25000">
                <a:latin typeface="Cambria"/>
              </a:rPr>
              <a:t>k</a:t>
            </a:r>
            <a:r>
              <a:rPr sz="2400" b="0">
                <a:latin typeface="Cambria"/>
              </a:rPr>
              <a:t>(t) = (λt)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/ k! · e</a:t>
            </a:r>
            <a:r>
              <a:rPr sz="2400" b="0" baseline="30000">
                <a:latin typeface="Cambria"/>
              </a:rPr>
              <a:t>−λt</a:t>
            </a:r>
          </a:p>
        </p:txBody>
      </p:sp>
      <p:sp>
        <p:nvSpPr>
          <p:cNvPr id="11269" name="TextBox 11268"/>
          <p:cNvSpPr txBox="1"/>
          <p:nvPr/>
        </p:nvSpPr>
        <p:spPr>
          <a:xfrm>
            <a:off x="5903556" y="5115861"/>
            <a:ext cx="506436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L(p | {X</a:t>
            </a:r>
            <a:r>
              <a:rPr sz="2400" b="0" baseline="-25000" dirty="0">
                <a:latin typeface="Cambria"/>
              </a:rPr>
              <a:t>i</a:t>
            </a:r>
            <a:r>
              <a:rPr sz="2400" b="0" dirty="0">
                <a:latin typeface="Cambria"/>
              </a:rPr>
              <a:t>}) = </a:t>
            </a:r>
            <a:r>
              <a:rPr sz="2400" b="0" dirty="0" err="1">
                <a:latin typeface="Cambria"/>
              </a:rPr>
              <a:t>Σ</a:t>
            </a:r>
            <a:r>
              <a:rPr sz="2400" b="0" baseline="-25000" dirty="0" err="1">
                <a:latin typeface="Cambria"/>
              </a:rPr>
              <a:t>i</a:t>
            </a:r>
            <a:r>
              <a:rPr sz="2400" b="0" baseline="-25000" dirty="0">
                <a:latin typeface="Cambria"/>
              </a:rPr>
              <a:t>=1</a:t>
            </a:r>
            <a:r>
              <a:rPr sz="2400" b="0" baseline="30000" dirty="0">
                <a:latin typeface="Cambria"/>
              </a:rPr>
              <a:t>n</a:t>
            </a:r>
            <a:r>
              <a:rPr sz="2400" b="0" dirty="0">
                <a:latin typeface="Cambria"/>
              </a:rPr>
              <a:t> log( f(X</a:t>
            </a:r>
            <a:r>
              <a:rPr sz="2400" b="0" baseline="-25000" dirty="0">
                <a:latin typeface="Cambria"/>
              </a:rPr>
              <a:t>i</a:t>
            </a:r>
            <a:r>
              <a:rPr sz="2400" b="0" dirty="0">
                <a:latin typeface="Cambria"/>
              </a:rPr>
              <a:t> | p) )</a:t>
            </a:r>
          </a:p>
        </p:txBody>
      </p:sp>
      <p:sp>
        <p:nvSpPr>
          <p:cNvPr id="11270" name="TextBox 11269"/>
          <p:cNvSpPr txBox="1"/>
          <p:nvPr/>
        </p:nvSpPr>
        <p:spPr>
          <a:xfrm>
            <a:off x="1226975" y="5108462"/>
            <a:ext cx="407963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ℒ(p | {X</a:t>
            </a:r>
            <a:r>
              <a:rPr sz="2400" b="0" baseline="-25000">
                <a:latin typeface="Cambria"/>
              </a:rPr>
              <a:t>i</a:t>
            </a:r>
            <a:r>
              <a:rPr sz="2400" b="0">
                <a:latin typeface="Cambria"/>
              </a:rPr>
              <a:t>}) = ∏</a:t>
            </a:r>
            <a:r>
              <a:rPr sz="2400" b="0" baseline="-25000">
                <a:latin typeface="Cambria"/>
              </a:rPr>
              <a:t>i=1</a:t>
            </a:r>
            <a:r>
              <a:rPr sz="2400" b="0" baseline="30000">
                <a:latin typeface="Cambria"/>
              </a:rPr>
              <a:t>n</a:t>
            </a:r>
            <a:r>
              <a:rPr sz="2400" b="0">
                <a:latin typeface="Cambria"/>
              </a:rPr>
              <a:t> f(X</a:t>
            </a:r>
            <a:r>
              <a:rPr sz="2400" b="0" baseline="-25000">
                <a:latin typeface="Cambria"/>
              </a:rPr>
              <a:t>i</a:t>
            </a:r>
            <a:r>
              <a:rPr sz="2400" b="0">
                <a:latin typeface="Cambria"/>
              </a:rPr>
              <a:t> | p)</a:t>
            </a:r>
          </a:p>
        </p:txBody>
      </p:sp>
    </p:spTree>
    <p:extLst>
      <p:ext uri="{BB962C8B-B14F-4D97-AF65-F5344CB8AC3E}">
        <p14:creationId xmlns:p14="http://schemas.microsoft.com/office/powerpoint/2010/main" val="1434781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463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(1) # failures/trials before fixed number of successes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0259" y="1434805"/>
            <a:ext cx="10552671" cy="4114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000" dirty="0"/>
              <a:t>We have an experiment with two outcomes: success (with probability </a:t>
            </a:r>
            <a:r>
              <a:rPr lang="en-US" sz="3000" i="1" dirty="0"/>
              <a:t>p</a:t>
            </a:r>
            <a:r>
              <a:rPr lang="en-US" sz="3000" dirty="0"/>
              <a:t>) and failure (with probability </a:t>
            </a:r>
            <a:r>
              <a:rPr lang="en-US" sz="3000" i="1" dirty="0"/>
              <a:t>q </a:t>
            </a:r>
            <a:r>
              <a:rPr lang="en-US" sz="3000" dirty="0"/>
              <a:t>=1-</a:t>
            </a:r>
            <a:r>
              <a:rPr lang="en-US" sz="3000" i="1" dirty="0"/>
              <a:t>p</a:t>
            </a:r>
            <a:r>
              <a:rPr lang="en-US" sz="3000" dirty="0"/>
              <a:t>).</a:t>
            </a:r>
          </a:p>
          <a:p>
            <a:pPr eaLnBrk="1" hangingPunct="1">
              <a:defRPr/>
            </a:pPr>
            <a:endParaRPr lang="en-US" sz="3000" dirty="0"/>
          </a:p>
          <a:p>
            <a:pPr eaLnBrk="1" hangingPunct="1">
              <a:defRPr/>
            </a:pPr>
            <a:r>
              <a:rPr lang="en-US" sz="3000" dirty="0"/>
              <a:t>Let </a:t>
            </a:r>
            <a:r>
              <a:rPr lang="en-US" sz="3000" i="1" dirty="0"/>
              <a:t>N</a:t>
            </a:r>
            <a:r>
              <a:rPr lang="en-US" sz="3000" dirty="0"/>
              <a:t>  be the number of trials to achieve </a:t>
            </a:r>
            <a:r>
              <a:rPr lang="en-US" sz="3000" i="1" dirty="0"/>
              <a:t>k</a:t>
            </a:r>
            <a:r>
              <a:rPr lang="en-US" sz="3000" dirty="0"/>
              <a:t> successes, each with probability </a:t>
            </a:r>
            <a:r>
              <a:rPr lang="en-US" sz="3000" i="1" dirty="0"/>
              <a:t>p</a:t>
            </a:r>
          </a:p>
          <a:p>
            <a:pPr eaLnBrk="1" hangingPunct="1">
              <a:defRPr/>
            </a:pPr>
            <a:endParaRPr lang="en-US" sz="3000" i="1" dirty="0"/>
          </a:p>
          <a:p>
            <a:pPr eaLnBrk="1" hangingPunct="1">
              <a:defRPr/>
            </a:pPr>
            <a:r>
              <a:rPr lang="en-US" sz="3000" dirty="0"/>
              <a:t>Number of trials, </a:t>
            </a:r>
            <a:r>
              <a:rPr lang="en-US" sz="3000" i="1" dirty="0"/>
              <a:t>N</a:t>
            </a:r>
            <a:r>
              <a:rPr lang="en-US" sz="3000" dirty="0"/>
              <a:t>,</a:t>
            </a:r>
            <a:r>
              <a:rPr lang="en-US" sz="3000" i="1" dirty="0"/>
              <a:t> </a:t>
            </a:r>
            <a:r>
              <a:rPr lang="en-US" sz="3000" dirty="0"/>
              <a:t>is now the random variable!</a:t>
            </a:r>
          </a:p>
          <a:p>
            <a:pPr lvl="1" eaLnBrk="1" hangingPunct="1">
              <a:defRPr/>
            </a:pPr>
            <a:r>
              <a:rPr lang="en-US" sz="3000" dirty="0"/>
              <a:t>Recall, </a:t>
            </a:r>
            <a:r>
              <a:rPr lang="en-US" sz="3000" i="1" dirty="0"/>
              <a:t>k</a:t>
            </a:r>
            <a:r>
              <a:rPr lang="en-US" sz="3000" dirty="0"/>
              <a:t>, was the R.V. in the binomial case</a:t>
            </a:r>
          </a:p>
        </p:txBody>
      </p:sp>
    </p:spTree>
    <p:extLst>
      <p:ext uri="{BB962C8B-B14F-4D97-AF65-F5344CB8AC3E}">
        <p14:creationId xmlns:p14="http://schemas.microsoft.com/office/powerpoint/2010/main" val="1432360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3" name="TextBox 6"/>
          <p:cNvSpPr txBox="1">
            <a:spLocks noChangeArrowheads="1"/>
          </p:cNvSpPr>
          <p:nvPr/>
        </p:nvSpPr>
        <p:spPr bwMode="auto">
          <a:xfrm>
            <a:off x="3141663" y="4437929"/>
            <a:ext cx="5472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Try to derive it based on this argument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823612"/>
            <a:ext cx="5666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we turn this into “failures”, now k, until r successes? k-&gt;r; N-&gt; </a:t>
            </a:r>
            <a:r>
              <a:rPr lang="en-US" sz="2400" dirty="0" err="1"/>
              <a:t>k+r</a:t>
            </a:r>
            <a:r>
              <a:rPr lang="en-US" sz="2400" dirty="0"/>
              <a:t>;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524000" y="34630"/>
            <a:ext cx="870743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/>
              <a:t>The Negative Binomial Distribution</a:t>
            </a:r>
            <a:br>
              <a:rPr lang="en-US" sz="4000"/>
            </a:br>
            <a:r>
              <a:rPr lang="en-US" sz="2400"/>
              <a:t>(1) # failures/trials before fixed number of successes</a:t>
            </a:r>
            <a:endParaRPr lang="en-US" sz="2400" dirty="0"/>
          </a:p>
        </p:txBody>
      </p:sp>
      <p:sp>
        <p:nvSpPr>
          <p:cNvPr id="211974" name="TextBox 211973"/>
          <p:cNvSpPr txBox="1"/>
          <p:nvPr/>
        </p:nvSpPr>
        <p:spPr>
          <a:xfrm>
            <a:off x="1535113" y="1390986"/>
            <a:ext cx="9706707" cy="4270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0">
                <a:latin typeface="Cambria"/>
              </a:rPr>
              <a:t>Pr{N = n | k, p} = Probability that the kth success occurs on trial n</a:t>
            </a:r>
          </a:p>
        </p:txBody>
      </p:sp>
      <p:sp>
        <p:nvSpPr>
          <p:cNvPr id="211975" name="TextBox 211974"/>
          <p:cNvSpPr txBox="1"/>
          <p:nvPr/>
        </p:nvSpPr>
        <p:spPr>
          <a:xfrm>
            <a:off x="1174322" y="5159237"/>
            <a:ext cx="1042828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 dirty="0" err="1">
                <a:latin typeface="Cambria"/>
              </a:rPr>
              <a:t>Pr</a:t>
            </a:r>
            <a:r>
              <a:rPr sz="2000" b="0" dirty="0">
                <a:latin typeface="Cambria"/>
              </a:rPr>
              <a:t>{N = n | k, p} = (n−1 choose k−1) p</a:t>
            </a:r>
            <a:r>
              <a:rPr sz="2000" b="0" baseline="30000" dirty="0">
                <a:latin typeface="Cambria"/>
              </a:rPr>
              <a:t>k−1</a:t>
            </a:r>
            <a:r>
              <a:rPr sz="2000" b="0" dirty="0">
                <a:latin typeface="Cambria"/>
              </a:rPr>
              <a:t> (1 − p)</a:t>
            </a:r>
            <a:r>
              <a:rPr sz="2000" b="0" baseline="30000" dirty="0">
                <a:latin typeface="Cambria"/>
              </a:rPr>
              <a:t>n − k</a:t>
            </a:r>
            <a:r>
              <a:rPr sz="2000" b="0" dirty="0">
                <a:latin typeface="Cambria"/>
              </a:rPr>
              <a:t> p = (n−1 choose k−1) p</a:t>
            </a:r>
            <a:r>
              <a:rPr sz="2000" b="0" baseline="30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 (1 − p)</a:t>
            </a:r>
            <a:r>
              <a:rPr sz="2000" b="0" baseline="30000" dirty="0">
                <a:latin typeface="Cambria"/>
              </a:rPr>
              <a:t>n − k</a:t>
            </a:r>
          </a:p>
        </p:txBody>
      </p:sp>
      <p:sp>
        <p:nvSpPr>
          <p:cNvPr id="211976" name="TextBox 211975"/>
          <p:cNvSpPr txBox="1"/>
          <p:nvPr/>
        </p:nvSpPr>
        <p:spPr>
          <a:xfrm>
            <a:off x="5877719" y="6085223"/>
            <a:ext cx="600016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0" dirty="0">
                <a:latin typeface="Cambria"/>
              </a:rPr>
              <a:t>f(k; r, p) ≡ </a:t>
            </a:r>
            <a:r>
              <a:rPr sz="2000" b="0" dirty="0" err="1">
                <a:latin typeface="Cambria"/>
              </a:rPr>
              <a:t>Pr</a:t>
            </a:r>
            <a:r>
              <a:rPr sz="2000" b="0" dirty="0">
                <a:latin typeface="Cambria"/>
              </a:rPr>
              <a:t>(X = k) = (k+r−1 choose r−1) (1 − p)</a:t>
            </a:r>
            <a:r>
              <a:rPr sz="2000" b="0" baseline="30000" dirty="0">
                <a:latin typeface="Cambria"/>
              </a:rPr>
              <a:t>k</a:t>
            </a:r>
            <a:r>
              <a:rPr sz="2000" b="0" dirty="0">
                <a:latin typeface="Cambria"/>
              </a:rPr>
              <a:t> p</a:t>
            </a:r>
            <a:r>
              <a:rPr sz="2000" b="0" baseline="30000" dirty="0">
                <a:latin typeface="Cambria"/>
              </a:rPr>
              <a:t>r</a:t>
            </a:r>
          </a:p>
        </p:txBody>
      </p:sp>
      <p:sp>
        <p:nvSpPr>
          <p:cNvPr id="211977" name="TextBox 211976"/>
          <p:cNvSpPr txBox="1"/>
          <p:nvPr/>
        </p:nvSpPr>
        <p:spPr>
          <a:xfrm>
            <a:off x="1252123" y="2111727"/>
            <a:ext cx="9422231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0" dirty="0">
                <a:latin typeface="Calibri"/>
              </a:rPr>
              <a:t>Now, for the kth success to occur on trial n, we must have k − 1 successes in the first n − 1 trials and a success on the nth trial. The probability of k − 1 successes in n − 1 trials has a binomial distribution with parameters n − 1 and p and the probability of success on the nth trial has probability p and these are independent of each other. We thus conclude</a:t>
            </a:r>
          </a:p>
        </p:txBody>
      </p:sp>
    </p:spTree>
    <p:extLst>
      <p:ext uri="{BB962C8B-B14F-4D97-AF65-F5344CB8AC3E}">
        <p14:creationId xmlns:p14="http://schemas.microsoft.com/office/powerpoint/2010/main" val="1255430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92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798638" y="1378520"/>
            <a:ext cx="8793162" cy="2667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Start with Poisson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But let’s give lambda a continuous probability (continuous distributions come soon!) and then integrate over all possible values of lambda (this is called “marginalizing”)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8295" y="5974765"/>
            <a:ext cx="1297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Because:</a:t>
            </a:r>
          </a:p>
        </p:txBody>
      </p:sp>
      <p:sp>
        <p:nvSpPr>
          <p:cNvPr id="214021" name="TextBox 214020"/>
          <p:cNvSpPr txBox="1"/>
          <p:nvPr/>
        </p:nvSpPr>
        <p:spPr>
          <a:xfrm>
            <a:off x="5081752" y="1641529"/>
            <a:ext cx="647113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Pr{k events in [0, t] | λ} = (λt)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/ k! · e</a:t>
            </a:r>
            <a:r>
              <a:rPr sz="2400" b="0" baseline="30000">
                <a:latin typeface="Cambria"/>
              </a:rPr>
              <a:t>−λt</a:t>
            </a:r>
          </a:p>
        </p:txBody>
      </p:sp>
      <p:sp>
        <p:nvSpPr>
          <p:cNvPr id="214022" name="TextBox 214021"/>
          <p:cNvSpPr txBox="1"/>
          <p:nvPr/>
        </p:nvSpPr>
        <p:spPr>
          <a:xfrm>
            <a:off x="2353531" y="4548993"/>
            <a:ext cx="787790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Pr{k events in [0, t]} = ∫</a:t>
            </a:r>
            <a:r>
              <a:rPr sz="2400" b="0" baseline="-25000">
                <a:latin typeface="Cambria"/>
              </a:rPr>
              <a:t>0</a:t>
            </a:r>
            <a:r>
              <a:rPr sz="2400" b="0" baseline="30000">
                <a:latin typeface="Cambria"/>
              </a:rPr>
              <a:t>∞</a:t>
            </a:r>
            <a:r>
              <a:rPr sz="2400" b="0">
                <a:latin typeface="Cambria"/>
              </a:rPr>
              <a:t> (λt)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/ k! · e</a:t>
            </a:r>
            <a:r>
              <a:rPr sz="2400" b="0" baseline="30000">
                <a:latin typeface="Cambria"/>
              </a:rPr>
              <a:t>−λt</a:t>
            </a:r>
            <a:r>
              <a:rPr sz="2400" b="0">
                <a:latin typeface="Cambria"/>
              </a:rPr>
              <a:t> · f(λ) dλ</a:t>
            </a:r>
          </a:p>
        </p:txBody>
      </p:sp>
      <p:sp>
        <p:nvSpPr>
          <p:cNvPr id="214023" name="TextBox 214022"/>
          <p:cNvSpPr txBox="1"/>
          <p:nvPr/>
        </p:nvSpPr>
        <p:spPr>
          <a:xfrm>
            <a:off x="3150334" y="5974765"/>
            <a:ext cx="703384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X</a:t>
            </a:r>
            <a:r>
              <a:rPr sz="2400" b="0" dirty="0">
                <a:latin typeface="Cambria"/>
              </a:rPr>
              <a:t>(x) = ∫</a:t>
            </a:r>
            <a:r>
              <a:rPr sz="2400" b="0" baseline="-25000" dirty="0">
                <a:latin typeface="Cambria"/>
              </a:rPr>
              <a:t>y</a:t>
            </a:r>
            <a:r>
              <a:rPr sz="2400" b="0" dirty="0">
                <a:latin typeface="Cambria"/>
              </a:rPr>
              <a:t> </a:t>
            </a:r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X,Y</a:t>
            </a:r>
            <a:r>
              <a:rPr sz="2400" b="0" dirty="0">
                <a:latin typeface="Cambria"/>
              </a:rPr>
              <a:t>(x, y) </a:t>
            </a:r>
            <a:r>
              <a:rPr sz="2400" b="0" dirty="0" err="1">
                <a:latin typeface="Cambria"/>
              </a:rPr>
              <a:t>dy</a:t>
            </a:r>
            <a:r>
              <a:rPr sz="2400" b="0" dirty="0">
                <a:latin typeface="Cambria"/>
              </a:rPr>
              <a:t> = ∫</a:t>
            </a:r>
            <a:r>
              <a:rPr sz="2400" b="0" baseline="-25000" dirty="0">
                <a:latin typeface="Cambria"/>
              </a:rPr>
              <a:t>y</a:t>
            </a:r>
            <a:r>
              <a:rPr sz="2400" b="0" dirty="0">
                <a:latin typeface="Cambria"/>
              </a:rPr>
              <a:t> </a:t>
            </a:r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X|Y</a:t>
            </a:r>
            <a:r>
              <a:rPr sz="2400" b="0" dirty="0">
                <a:latin typeface="Cambria"/>
              </a:rPr>
              <a:t>(x | y) </a:t>
            </a:r>
            <a:r>
              <a:rPr sz="2400" b="0" dirty="0" err="1">
                <a:latin typeface="Cambria"/>
              </a:rPr>
              <a:t>p</a:t>
            </a:r>
            <a:r>
              <a:rPr sz="2400" b="0" baseline="-25000" dirty="0" err="1">
                <a:latin typeface="Cambria"/>
              </a:rPr>
              <a:t>Y</a:t>
            </a:r>
            <a:r>
              <a:rPr sz="2400" b="0" dirty="0">
                <a:latin typeface="Cambria"/>
              </a:rPr>
              <a:t>(y) </a:t>
            </a:r>
            <a:r>
              <a:rPr sz="2400" b="0" dirty="0" err="1">
                <a:latin typeface="Cambria"/>
              </a:rPr>
              <a:t>dy</a:t>
            </a:r>
            <a:endParaRPr sz="24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3193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381000"/>
            <a:ext cx="8639175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Quick note </a:t>
            </a:r>
            <a:r>
              <a:rPr lang="en-US" dirty="0"/>
              <a:t>on Gamma function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2755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Continuous version of factorial</a:t>
            </a:r>
          </a:p>
          <a:p>
            <a:pPr eaLnBrk="1" hangingPunct="1">
              <a:defRPr/>
            </a:pPr>
            <a:r>
              <a:rPr lang="en-US" dirty="0"/>
              <a:t>For integers, </a:t>
            </a:r>
            <a:r>
              <a:rPr lang="en-US" i="1" dirty="0"/>
              <a:t>z</a:t>
            </a:r>
            <a:r>
              <a:rPr lang="en-US" dirty="0"/>
              <a:t>,</a:t>
            </a:r>
          </a:p>
          <a:p>
            <a:pPr eaLnBrk="1" hangingPunct="1">
              <a:defRPr/>
            </a:pPr>
            <a:r>
              <a:rPr lang="en-US" dirty="0"/>
              <a:t>In general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Defined (for z &gt; 0): 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791200" y="2514600"/>
            <a:ext cx="2552700" cy="520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Γ(z) = (z − 1)!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72063" y="3035300"/>
            <a:ext cx="299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0">
                <a:latin typeface="Cambria"/>
              </a:rPr>
              <a:t>Γ(z + 1) = z Γ(z)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363913" y="4738687"/>
            <a:ext cx="34163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Γ(z) = ∫</a:t>
            </a:r>
            <a:r>
              <a:rPr sz="2400" b="0" baseline="-25000">
                <a:latin typeface="Cambria"/>
              </a:rPr>
              <a:t>0</a:t>
            </a:r>
            <a:r>
              <a:rPr sz="2400" b="0" baseline="30000">
                <a:latin typeface="Cambria"/>
              </a:rPr>
              <a:t>∞</a:t>
            </a:r>
            <a:r>
              <a:rPr sz="2400" b="0">
                <a:latin typeface="Cambria"/>
              </a:rPr>
              <a:t> s</a:t>
            </a:r>
            <a:r>
              <a:rPr sz="2400" b="0" baseline="30000">
                <a:latin typeface="Cambria"/>
              </a:rPr>
              <a:t>z−1</a:t>
            </a:r>
            <a:r>
              <a:rPr sz="2400" b="0">
                <a:latin typeface="Cambria"/>
              </a:rPr>
              <a:t> e</a:t>
            </a:r>
            <a:r>
              <a:rPr sz="2400" b="0" baseline="30000">
                <a:latin typeface="Cambria"/>
              </a:rPr>
              <a:t>−s</a:t>
            </a:r>
            <a:r>
              <a:rPr sz="2400" b="0">
                <a:latin typeface="Cambria"/>
              </a:rPr>
              <a:t> ds</a:t>
            </a:r>
          </a:p>
        </p:txBody>
      </p:sp>
    </p:spTree>
    <p:extLst>
      <p:ext uri="{BB962C8B-B14F-4D97-AF65-F5344CB8AC3E}">
        <p14:creationId xmlns:p14="http://schemas.microsoft.com/office/powerpoint/2010/main" val="14869095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20162" name="TextBox 7"/>
          <p:cNvSpPr txBox="1">
            <a:spLocks noChangeArrowheads="1"/>
          </p:cNvSpPr>
          <p:nvPr/>
        </p:nvSpPr>
        <p:spPr bwMode="auto">
          <a:xfrm>
            <a:off x="1139218" y="2516189"/>
            <a:ext cx="9837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Common parameterization in ecology with the mean as a parameter: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7B4B51-8AF6-F8EA-03D4-2A3C1E59E5EB}"/>
              </a:ext>
            </a:extLst>
          </p:cNvPr>
          <p:cNvSpPr txBox="1"/>
          <p:nvPr/>
        </p:nvSpPr>
        <p:spPr>
          <a:xfrm>
            <a:off x="1524000" y="4882764"/>
            <a:ext cx="97315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model </a:t>
            </a:r>
            <a:r>
              <a:rPr lang="en-US" sz="2400" i="1" dirty="0"/>
              <a:t>N </a:t>
            </a:r>
            <a:r>
              <a:rPr lang="en-US" sz="2400" dirty="0" err="1"/>
              <a:t>overdispersed</a:t>
            </a:r>
            <a:r>
              <a:rPr lang="en-US" sz="2400" dirty="0"/>
              <a:t> counts as function of mean, </a:t>
            </a:r>
            <a:r>
              <a:rPr lang="en-US" sz="2400" i="1" dirty="0"/>
              <a:t>m</a:t>
            </a:r>
            <a:r>
              <a:rPr lang="en-US" sz="2400" dirty="0"/>
              <a:t>, and dispersion, </a:t>
            </a:r>
            <a:r>
              <a:rPr lang="en-US" sz="2400" i="1" dirty="0"/>
              <a:t>k </a:t>
            </a:r>
          </a:p>
          <a:p>
            <a:pPr algn="ctr"/>
            <a:r>
              <a:rPr lang="en-US" sz="2400" i="1" dirty="0"/>
              <a:t>(not to be confused with prior uses of k)</a:t>
            </a:r>
            <a:endParaRPr lang="en-US" sz="2400" dirty="0"/>
          </a:p>
        </p:txBody>
      </p:sp>
      <p:sp>
        <p:nvSpPr>
          <p:cNvPr id="220163" name="TextBox 220162"/>
          <p:cNvSpPr txBox="1"/>
          <p:nvPr/>
        </p:nvSpPr>
        <p:spPr>
          <a:xfrm>
            <a:off x="1749778" y="3510815"/>
            <a:ext cx="966264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Pr{N = n} ≡ p</a:t>
            </a:r>
            <a:r>
              <a:rPr sz="2400" b="0" baseline="-25000">
                <a:latin typeface="Cambria"/>
              </a:rPr>
              <a:t>n</a:t>
            </a:r>
            <a:r>
              <a:rPr sz="2400" b="0">
                <a:latin typeface="Cambria"/>
              </a:rPr>
              <a:t>(m, k) = Γ(k + n) / (n! Γ(k)) · (k / (k + m))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· (m / (k + m))</a:t>
            </a:r>
            <a:r>
              <a:rPr sz="2400" b="0" baseline="30000">
                <a:latin typeface="Cambria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570665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22212" name="TextBox 8"/>
          <p:cNvSpPr txBox="1">
            <a:spLocks noChangeArrowheads="1"/>
          </p:cNvSpPr>
          <p:nvPr/>
        </p:nvSpPr>
        <p:spPr bwMode="auto">
          <a:xfrm>
            <a:off x="3292475" y="2478088"/>
            <a:ext cx="5170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What is the probability of no events?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201864" y="4724401"/>
            <a:ext cx="7813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probability can be large if </a:t>
            </a:r>
            <a:r>
              <a:rPr lang="en-US" altLang="en-US" sz="2400" i="1"/>
              <a:t>k </a:t>
            </a:r>
            <a:r>
              <a:rPr lang="en-US" altLang="en-US" sz="2400"/>
              <a:t>is small even if </a:t>
            </a:r>
            <a:r>
              <a:rPr lang="en-US" altLang="en-US" sz="2400" i="1"/>
              <a:t>m </a:t>
            </a:r>
            <a:r>
              <a:rPr lang="en-US" altLang="en-US" sz="2400"/>
              <a:t>is big</a:t>
            </a:r>
          </a:p>
        </p:txBody>
      </p:sp>
      <p:sp>
        <p:nvSpPr>
          <p:cNvPr id="222213" name="TextBox 222212"/>
          <p:cNvSpPr txBox="1"/>
          <p:nvPr/>
        </p:nvSpPr>
        <p:spPr>
          <a:xfrm>
            <a:off x="1897811" y="1645722"/>
            <a:ext cx="1006559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>
                <a:latin typeface="Cambria"/>
              </a:rPr>
              <a:t>Pr{N = n} ≡ p</a:t>
            </a:r>
            <a:r>
              <a:rPr sz="2400" b="0" baseline="-25000">
                <a:latin typeface="Cambria"/>
              </a:rPr>
              <a:t>n</a:t>
            </a:r>
            <a:r>
              <a:rPr sz="2400" b="0">
                <a:latin typeface="Cambria"/>
              </a:rPr>
              <a:t>(m, k) = Γ(k + n) / (n! Γ(k)) · (k / (k + m))</a:t>
            </a:r>
            <a:r>
              <a:rPr sz="2400" b="0" baseline="30000">
                <a:latin typeface="Cambria"/>
              </a:rPr>
              <a:t>k</a:t>
            </a:r>
            <a:r>
              <a:rPr sz="2400" b="0">
                <a:latin typeface="Cambria"/>
              </a:rPr>
              <a:t> · (m / (k + m))</a:t>
            </a:r>
            <a:r>
              <a:rPr sz="2400" b="0" baseline="30000">
                <a:latin typeface="Cambria"/>
              </a:rPr>
              <a:t>n</a:t>
            </a:r>
          </a:p>
        </p:txBody>
      </p:sp>
      <p:sp>
        <p:nvSpPr>
          <p:cNvPr id="222214" name="TextBox 222213"/>
          <p:cNvSpPr txBox="1"/>
          <p:nvPr/>
        </p:nvSpPr>
        <p:spPr>
          <a:xfrm>
            <a:off x="4337538" y="3462893"/>
            <a:ext cx="35169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400" b="0" dirty="0">
                <a:latin typeface="Cambria"/>
              </a:rPr>
              <a:t>p</a:t>
            </a:r>
            <a:r>
              <a:rPr sz="2400" b="0" baseline="-25000" dirty="0">
                <a:latin typeface="Cambria"/>
              </a:rPr>
              <a:t>0</a:t>
            </a:r>
            <a:r>
              <a:rPr sz="2400" b="0" dirty="0">
                <a:latin typeface="Cambria"/>
              </a:rPr>
              <a:t>(m, k) = (k / (k + m))</a:t>
            </a:r>
            <a:r>
              <a:rPr sz="2400" b="0" baseline="30000" dirty="0">
                <a:latin typeface="Cambria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55839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7" name="Picture 2" descr="Four bar charts of probability versus number of events (0 to 30). Panel a: Poisson, mean 10, bell-shaped peak near 10. Panels b, c, d: negative binomial, same mean, dispersion 5, 1, 0.5, becoming flatter and more skewed as dispersion drops." title="Four bar charts of probability versus number of events (0 to 30). Panel a: Pois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71550"/>
            <a:ext cx="6007100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Poisson vs. Negative Binomial </a:t>
            </a:r>
            <a:br>
              <a:rPr lang="en-US" sz="40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23433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The Geometric Distribution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3254" y="2017713"/>
            <a:ext cx="1008311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This is a special case of the negative binomial distribution for which </a:t>
            </a:r>
            <a:r>
              <a:rPr lang="en-US" i="1" dirty="0"/>
              <a:t>k </a:t>
            </a:r>
            <a:r>
              <a:rPr lang="en-US" dirty="0"/>
              <a:t>=1 (i.e. the probability of the number of trials </a:t>
            </a:r>
            <a:r>
              <a:rPr lang="en-US" u="sng" dirty="0"/>
              <a:t>or</a:t>
            </a:r>
            <a:r>
              <a:rPr lang="en-US" dirty="0"/>
              <a:t> failures until one success is recorded). </a:t>
            </a:r>
          </a:p>
        </p:txBody>
      </p:sp>
      <p:pic>
        <p:nvPicPr>
          <p:cNvPr id="3" name="Picture 2" descr="Comparison table of two geometric distribution conventions (k trials vs k failures): Support, PMF (1-p)^(k-1)p vs (1-p)^k p, CDF, and Mean 1/p vs (1-p)/p." title="Comparison table of two geometric distribution conventions (k trials vs k failur">
            <a:extLst>
              <a:ext uri="{FF2B5EF4-FFF2-40B4-BE49-F238E27FC236}">
                <a16:creationId xmlns:a16="http://schemas.microsoft.com/office/drawing/2014/main" id="{29811477-F79B-84B5-E2AE-7CCE931CA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595571"/>
            <a:ext cx="6261538" cy="31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2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-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200"/>
              <a:t>Summary of Discrete Distributions</a:t>
            </a:r>
          </a:p>
        </p:txBody>
      </p:sp>
      <p:graphicFrame>
        <p:nvGraphicFramePr>
          <p:cNvPr id="576580" name="Group 6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923578255"/>
              </p:ext>
            </p:extLst>
          </p:nvPr>
        </p:nvGraphicFramePr>
        <p:xfrm>
          <a:off x="1905000" y="1323976"/>
          <a:ext cx="8574088" cy="4848224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Distribution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trials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Random Variable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Parameters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74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Pre-specified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,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 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a given 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r, 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Geometric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one success occurs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 </a:t>
                      </a: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or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trials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Poisson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N/A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occurrences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sym typeface="Symbol" charset="2"/>
                        </a:rPr>
                        <a:t>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51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14021</TotalTime>
  <Words>4108</Words>
  <Application>Microsoft Macintosh PowerPoint</Application>
  <PresentationFormat>Widescreen</PresentationFormat>
  <Paragraphs>377</Paragraphs>
  <Slides>47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Calibri Light</vt:lpstr>
      <vt:lpstr>Cambria</vt:lpstr>
      <vt:lpstr>Consolas</vt:lpstr>
      <vt:lpstr>Tahoma</vt:lpstr>
      <vt:lpstr>Times New Roman</vt:lpstr>
      <vt:lpstr>Wingdings</vt:lpstr>
      <vt:lpstr>Office Theme</vt:lpstr>
      <vt:lpstr>Discrete Probability Distributions </vt:lpstr>
      <vt:lpstr>Binomial Experiments-I</vt:lpstr>
      <vt:lpstr>Binomial Experiments-II</vt:lpstr>
      <vt:lpstr>Binomial Experiments-II (Notation)</vt:lpstr>
      <vt:lpstr>Binomial Probabilities-I</vt:lpstr>
      <vt:lpstr>One Binomial Trial: The Bernoulli Distribution</vt:lpstr>
      <vt:lpstr>PowerPoint Presentation</vt:lpstr>
      <vt:lpstr>PowerPoint Presentation</vt:lpstr>
      <vt:lpstr>PowerPoint Presentation</vt:lpstr>
      <vt:lpstr>PowerPoint Presentation</vt:lpstr>
      <vt:lpstr>Binomial Probabilities-II</vt:lpstr>
      <vt:lpstr>The Binomial Distribution</vt:lpstr>
      <vt:lpstr>Examples of the Binomial Distribution-I</vt:lpstr>
      <vt:lpstr>Examples of the Binomial Distribution-III</vt:lpstr>
      <vt:lpstr>Sneak peak: Maximum likelihood is just doing this in reverse!!!</vt:lpstr>
      <vt:lpstr>PowerPoint Presentation</vt:lpstr>
      <vt:lpstr>Sneak peak: Maximum Likelihood is just doing this in reverse!!!</vt:lpstr>
      <vt:lpstr>Sneak peak: Maximum likelihood is just doing this in reverse!!!</vt:lpstr>
      <vt:lpstr>PowerPoint Presentation</vt:lpstr>
      <vt:lpstr>PowerPoint Presentation</vt:lpstr>
      <vt:lpstr>Back to distributions</vt:lpstr>
      <vt:lpstr>PowerPoint Presentation</vt:lpstr>
      <vt:lpstr>The Poisson Distribution-I</vt:lpstr>
      <vt:lpstr>The Poisson Distribution-I</vt:lpstr>
      <vt:lpstr>The Poisson Distribution - pmf</vt:lpstr>
      <vt:lpstr>Where does the Poisson distribution come from?</vt:lpstr>
      <vt:lpstr>Where does the Poisson distribution come from?</vt:lpstr>
      <vt:lpstr>Zero term of the Poisson Distribution</vt:lpstr>
      <vt:lpstr>First term of the Poisson Distribution</vt:lpstr>
      <vt:lpstr>The Poisson Distribution - pmf</vt:lpstr>
      <vt:lpstr>The Poisson Distribution Graphically</vt:lpstr>
      <vt:lpstr>An Example of the Poisson Distribution-I</vt:lpstr>
      <vt:lpstr>An Example of the Poisson Distribution-II</vt:lpstr>
      <vt:lpstr>An Example of the Poisson Distribution-III</vt:lpstr>
      <vt:lpstr>An Example of the Poisson Distribution-III</vt:lpstr>
      <vt:lpstr>Example of using Poisson Probabilistic Arguments in Research</vt:lpstr>
      <vt:lpstr>The Poisson Distribution - Caveat</vt:lpstr>
      <vt:lpstr>But first: MLE for the Poisson Distribution</vt:lpstr>
      <vt:lpstr>The Negative Binomial Distribution (1) # failures/trials before fixed number of successes</vt:lpstr>
      <vt:lpstr>PowerPoint Presentation</vt:lpstr>
      <vt:lpstr>The Negative Binomial Distribution (2) Poisson with a variable rate parameter </vt:lpstr>
      <vt:lpstr>Quick note on Gamma function</vt:lpstr>
      <vt:lpstr>The Negative Binomial Distribution (2) Poisson with a variable rate parameter </vt:lpstr>
      <vt:lpstr>The Negative Binomial Distribution (2) Poisson with a variable rate parameter </vt:lpstr>
      <vt:lpstr>Poisson vs. Negative Binomial  </vt:lpstr>
      <vt:lpstr>The Geometric Distribution</vt:lpstr>
      <vt:lpstr>Summary of Discrete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Probability Distributions</dc:title>
  <dc:creator>Levi, Taal</dc:creator>
  <cp:lastModifiedBy>Levi, Taal</cp:lastModifiedBy>
  <cp:revision>103</cp:revision>
  <dcterms:created xsi:type="dcterms:W3CDTF">2018-09-30T16:59:02Z</dcterms:created>
  <dcterms:modified xsi:type="dcterms:W3CDTF">2026-08-31T20:27:04Z</dcterms:modified>
</cp:coreProperties>
</file>