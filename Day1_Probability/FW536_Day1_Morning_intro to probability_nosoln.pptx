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4" r:id="rId9"/>
    <p:sldId id="266" r:id="rId10"/>
    <p:sldId id="338" r:id="rId11"/>
    <p:sldId id="267" r:id="rId12"/>
    <p:sldId id="268" r:id="rId13"/>
    <p:sldId id="269" r:id="rId14"/>
    <p:sldId id="271" r:id="rId15"/>
    <p:sldId id="272" r:id="rId16"/>
    <p:sldId id="315" r:id="rId17"/>
    <p:sldId id="316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313" r:id="rId27"/>
    <p:sldId id="314" r:id="rId28"/>
    <p:sldId id="317" r:id="rId29"/>
    <p:sldId id="283" r:id="rId30"/>
    <p:sldId id="284" r:id="rId31"/>
    <p:sldId id="285" r:id="rId32"/>
    <p:sldId id="286" r:id="rId33"/>
    <p:sldId id="287" r:id="rId34"/>
    <p:sldId id="318" r:id="rId35"/>
    <p:sldId id="258" r:id="rId36"/>
    <p:sldId id="340" r:id="rId37"/>
    <p:sldId id="339" r:id="rId38"/>
    <p:sldId id="321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  <p:sldId id="312" r:id="rId48"/>
    <p:sldId id="330" r:id="rId49"/>
    <p:sldId id="331" r:id="rId50"/>
    <p:sldId id="333" r:id="rId51"/>
    <p:sldId id="335" r:id="rId52"/>
    <p:sldId id="265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.jpe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2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1.wm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w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7.w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16.w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6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2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21.w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9.png"/><Relationship Id="rId4" Type="http://schemas.openxmlformats.org/officeDocument/2006/relationships/image" Target="../media/image21.wmf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w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3" Type="http://schemas.openxmlformats.org/officeDocument/2006/relationships/oleObject" Target="../embeddings/oleObject9.bin"/><Relationship Id="rId7" Type="http://schemas.openxmlformats.org/officeDocument/2006/relationships/oleObject" Target="../embeddings/oleObject11.bin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0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29.w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w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5.wmf"/><Relationship Id="rId5" Type="http://schemas.openxmlformats.org/officeDocument/2006/relationships/oleObject" Target="../embeddings/oleObject13.bin"/><Relationship Id="rId4" Type="http://schemas.openxmlformats.org/officeDocument/2006/relationships/image" Target="../media/image36.wmf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FW599 - </a:t>
            </a:r>
            <a:r>
              <a:rPr lang="en-US" altLang="en-US" sz="4000" b="1">
                <a:latin typeface="Arial" charset="0"/>
                <a:ea typeface="Arial" charset="0"/>
                <a:cs typeface="Arial" charset="0"/>
              </a:rPr>
              <a:t>Fall 2024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Participation and group work (100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(200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https://images-na.ssl-images-amazon.com/images/I/31u9N2X5r8L._SX322_BO1,204,203,200_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images-na.ssl-images-amazon.com/images/I/51XOcl4OxJL._SX352_BO1,204,203,200_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images-na.ssl-images-amazon.com/images/I/41kftfun6qL._SX350_BO1,204,203,200_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ttps://images-na.ssl-images-amazon.com/images/I/51WB04KqNOL._SX404_BO1,204,203,200_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https://images-na.ssl-images-amazon.com/images/I/51jDoyeOrDL._SX405_BO1,204,203,200_.jp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https://images-na.ssl-images-amazon.com/images/I/51Qk2MOCfWL._SX312_BO1,204,203,200_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mage result for cookbook julia chil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https://images-na.ssl-images-amazon.com/images/I/41kftfun6qL._SX350_BO1,204,203,200_.jpg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graphicFrame>
        <p:nvGraphicFramePr>
          <p:cNvPr id="55299" name="Object 7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953000" y="2362200"/>
          <a:ext cx="21859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058" imgH="203112" progId="Equation.DSMT4">
                  <p:embed/>
                </p:oleObj>
              </mc:Choice>
              <mc:Fallback>
                <p:oleObj name="Equation" r:id="rId3" imgW="787058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362200"/>
                        <a:ext cx="21859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300" name="Object 9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3763483402"/>
              </p:ext>
            </p:extLst>
          </p:nvPr>
        </p:nvGraphicFramePr>
        <p:xfrm>
          <a:off x="4453759" y="4750676"/>
          <a:ext cx="29718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4100" imgH="203200" progId="Equation.DSMT4">
                  <p:embed/>
                </p:oleObj>
              </mc:Choice>
              <mc:Fallback>
                <p:oleObj name="Equation" r:id="rId5" imgW="10541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3759" y="4750676"/>
                        <a:ext cx="29718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graphicFrame>
        <p:nvGraphicFramePr>
          <p:cNvPr id="69636" name="Object 5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05766225"/>
              </p:ext>
            </p:extLst>
          </p:nvPr>
        </p:nvGraphicFramePr>
        <p:xfrm>
          <a:off x="2393950" y="4096924"/>
          <a:ext cx="6172200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14600" imgH="203200" progId="Equation.DSMT4">
                  <p:embed/>
                </p:oleObj>
              </mc:Choice>
              <mc:Fallback>
                <p:oleObj name="Equation" r:id="rId3" imgW="25146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3950" y="4096924"/>
                        <a:ext cx="6172200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graphicFrame>
        <p:nvGraphicFramePr>
          <p:cNvPr id="7168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1668018776"/>
              </p:ext>
            </p:extLst>
          </p:nvPr>
        </p:nvGraphicFramePr>
        <p:xfrm>
          <a:off x="2779713" y="2743995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38400" imgH="203200" progId="Equation.DSMT4">
                  <p:embed/>
                </p:oleObj>
              </mc:Choice>
              <mc:Fallback>
                <p:oleObj name="Equation" r:id="rId3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9713" y="2743995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9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138061314"/>
              </p:ext>
            </p:extLst>
          </p:nvPr>
        </p:nvGraphicFramePr>
        <p:xfrm>
          <a:off x="4018756" y="4658158"/>
          <a:ext cx="4154487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000" imgH="203200" progId="Equation.DSMT4">
                  <p:embed/>
                </p:oleObj>
              </mc:Choice>
              <mc:Fallback>
                <p:oleObj name="Equation" r:id="rId5" imgW="1524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8756" y="4658158"/>
                        <a:ext cx="4154487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0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813" y="1258888"/>
            <a:ext cx="7823200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3731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3732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2023378143"/>
              </p:ext>
            </p:extLst>
          </p:nvPr>
        </p:nvGraphicFramePr>
        <p:xfrm>
          <a:off x="3086100" y="5715000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38400" imgH="203200" progId="Equation.DSMT4">
                  <p:embed/>
                </p:oleObj>
              </mc:Choice>
              <mc:Fallback>
                <p:oleObj name="Equation" r:id="rId5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5715000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math problem with numbers and symbols&#10;&#10;Description automatically generated with medium confidence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75779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019425" y="28575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8575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80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695825" y="4551363"/>
          <a:ext cx="29718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36033" imgH="203112" progId="Equation.DSMT4">
                  <p:embed/>
                </p:oleObj>
              </mc:Choice>
              <mc:Fallback>
                <p:oleObj name="Equation" r:id="rId5" imgW="1536033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5825" y="4551363"/>
                        <a:ext cx="297180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graphicFrame>
        <p:nvGraphicFramePr>
          <p:cNvPr id="7782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324225" y="24003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4225" y="24003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7828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graphicFrame>
        <p:nvGraphicFramePr>
          <p:cNvPr id="81922" name="Object 4"/>
          <p:cNvGraphicFramePr>
            <a:graphicFrameLocks noGrp="1" noChangeAspect="1"/>
          </p:cNvGraphicFramePr>
          <p:nvPr>
            <p:ph idx="1"/>
          </p:nvPr>
        </p:nvGraphicFramePr>
        <p:xfrm>
          <a:off x="1828800" y="1820863"/>
          <a:ext cx="8686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749800" imgH="2032000" progId="Equation.DSMT4">
                  <p:embed/>
                </p:oleObj>
              </mc:Choice>
              <mc:Fallback>
                <p:oleObj name="Equation" r:id="rId3" imgW="4749800" imgH="2032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1820863"/>
                        <a:ext cx="8686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066" y="2313263"/>
            <a:ext cx="1318548" cy="26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pic>
        <p:nvPicPr>
          <p:cNvPr id="83970" name="Picture 2" descr="mage result for bayes rul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676400"/>
            <a:ext cx="6991350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endParaRPr lang="en-US" i="1" dirty="0"/>
          </a:p>
        </p:txBody>
      </p:sp>
      <p:pic>
        <p:nvPicPr>
          <p:cNvPr id="119810" name="Picture 2" descr="http://fishingnoob.com/wp-content/uploads/2007/11/laterallineontrou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http://3.bp.blogspot.com/_PsKY4RgJMkw/SbcWbL2B9YI/AAAAAAAABEo/SsKPVLnszWs/s400/BlueWhale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http://www.lakesuperiorstreams.org/understanding/images/fatheadminnow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graphicFrame>
        <p:nvGraphicFramePr>
          <p:cNvPr id="12288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9015412" y="2115006"/>
          <a:ext cx="18827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228738" progId="">
                  <p:embed/>
                </p:oleObj>
              </mc:Choice>
              <mc:Fallback>
                <p:oleObj name="Equation" r:id="rId3" imgW="939754" imgH="228738" progId="">
                  <p:embed/>
                  <p:pic>
                    <p:nvPicPr>
                      <p:cNvPr id="12288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15412" y="2115006"/>
                        <a:ext cx="1882775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4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3237707" y="2973387"/>
          <a:ext cx="242252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87078" imgH="228738" progId="">
                  <p:embed/>
                </p:oleObj>
              </mc:Choice>
              <mc:Fallback>
                <p:oleObj name="Equation" r:id="rId5" imgW="787078" imgH="228738" progId="">
                  <p:embed/>
                  <p:pic>
                    <p:nvPicPr>
                      <p:cNvPr id="122884" name="Object 6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7707" y="2973387"/>
                        <a:ext cx="2422525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5" name="Object 8"/>
          <p:cNvGraphicFramePr>
            <a:graphicFrameLocks noChangeAspect="1"/>
          </p:cNvGraphicFramePr>
          <p:nvPr/>
        </p:nvGraphicFramePr>
        <p:xfrm>
          <a:off x="4543426" y="4945064"/>
          <a:ext cx="2286000" cy="131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49047" imgH="431570" progId="">
                  <p:embed/>
                </p:oleObj>
              </mc:Choice>
              <mc:Fallback>
                <p:oleObj name="Equation" r:id="rId7" imgW="749047" imgH="431570" progId="">
                  <p:embed/>
                  <p:pic>
                    <p:nvPicPr>
                      <p:cNvPr id="1228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3426" y="4945064"/>
                        <a:ext cx="2286000" cy="131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pic>
        <p:nvPicPr>
          <p:cNvPr id="124931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257" y="2841168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pic>
        <p:nvPicPr>
          <p:cNvPr id="126979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200" y="2576514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80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656" y="4394200"/>
            <a:ext cx="54483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graphicFrame>
        <p:nvGraphicFramePr>
          <p:cNvPr id="12902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5105400" y="2971800"/>
          <a:ext cx="236220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431570" progId="">
                  <p:embed/>
                </p:oleObj>
              </mc:Choice>
              <mc:Fallback>
                <p:oleObj name="Equation" r:id="rId3" imgW="939754" imgH="431570" progId="">
                  <p:embed/>
                  <p:pic>
                    <p:nvPicPr>
                      <p:cNvPr id="12902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2971800"/>
                        <a:ext cx="236220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graphicFrame>
        <p:nvGraphicFramePr>
          <p:cNvPr id="131076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3802063" y="2617391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24368" imgH="431831" progId="">
                  <p:embed/>
                </p:oleObj>
              </mc:Choice>
              <mc:Fallback>
                <p:oleObj name="Equation" r:id="rId3" imgW="1524368" imgH="431831" progId="">
                  <p:embed/>
                  <p:pic>
                    <p:nvPicPr>
                      <p:cNvPr id="131076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2063" y="2617391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graphicFrame>
        <p:nvGraphicFramePr>
          <p:cNvPr id="13312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881076" y="2434774"/>
          <a:ext cx="285591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6678" imgH="431570" progId="">
                  <p:embed/>
                </p:oleObj>
              </mc:Choice>
              <mc:Fallback>
                <p:oleObj name="Equation" r:id="rId3" imgW="1396678" imgH="431570" progId="">
                  <p:embed/>
                  <p:pic>
                    <p:nvPicPr>
                      <p:cNvPr id="13312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1076" y="2434774"/>
                        <a:ext cx="285591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graphicFrame>
        <p:nvGraphicFramePr>
          <p:cNvPr id="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4985267" y="5561043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368" imgH="431831" progId="">
                  <p:embed/>
                </p:oleObj>
              </mc:Choice>
              <mc:Fallback>
                <p:oleObj name="Equation" r:id="rId5" imgW="1524368" imgH="431831" progId="">
                  <p:embed/>
                  <p:pic>
                    <p:nvPicPr>
                      <p:cNvPr id="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5267" y="5561043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93857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6184</TotalTime>
  <Words>2320</Words>
  <Application>Microsoft Macintosh PowerPoint</Application>
  <PresentationFormat>Widescreen</PresentationFormat>
  <Paragraphs>329</Paragraphs>
  <Slides>52</Slides>
  <Notes>35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2024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Algebra with Expectation and Variance</vt:lpstr>
      <vt:lpstr>Key terms moving forward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78</cp:revision>
  <dcterms:created xsi:type="dcterms:W3CDTF">2020-12-09T20:59:16Z</dcterms:created>
  <dcterms:modified xsi:type="dcterms:W3CDTF">2025-09-19T04:16:28Z</dcterms:modified>
</cp:coreProperties>
</file>