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29" r:id="rId9"/>
    <p:sldId id="276" r:id="rId10"/>
    <p:sldId id="279" r:id="rId11"/>
    <p:sldId id="280" r:id="rId12"/>
    <p:sldId id="282" r:id="rId13"/>
    <p:sldId id="283" r:id="rId14"/>
    <p:sldId id="284" r:id="rId15"/>
    <p:sldId id="285" r:id="rId16"/>
    <p:sldId id="286" r:id="rId17"/>
    <p:sldId id="287" r:id="rId18"/>
    <p:sldId id="288" r:id="rId19"/>
    <p:sldId id="338" r:id="rId20"/>
    <p:sldId id="289" r:id="rId21"/>
    <p:sldId id="290" r:id="rId22"/>
    <p:sldId id="308" r:id="rId23"/>
    <p:sldId id="301" r:id="rId24"/>
    <p:sldId id="302" r:id="rId25"/>
    <p:sldId id="303" r:id="rId26"/>
    <p:sldId id="304" r:id="rId27"/>
    <p:sldId id="291" r:id="rId28"/>
    <p:sldId id="292" r:id="rId29"/>
    <p:sldId id="293" r:id="rId30"/>
    <p:sldId id="294" r:id="rId31"/>
    <p:sldId id="298" r:id="rId32"/>
    <p:sldId id="299" r:id="rId33"/>
    <p:sldId id="318" r:id="rId34"/>
    <p:sldId id="319" r:id="rId35"/>
    <p:sldId id="320" r:id="rId36"/>
    <p:sldId id="322" r:id="rId37"/>
    <p:sldId id="323" r:id="rId38"/>
    <p:sldId id="324" r:id="rId39"/>
    <p:sldId id="326" r:id="rId40"/>
    <p:sldId id="327" r:id="rId41"/>
    <p:sldId id="328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42"/>
    <p:restoredTop sz="94658"/>
  </p:normalViewPr>
  <p:slideViewPr>
    <p:cSldViewPr snapToGrid="0" snapToObjects="1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9/14/25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9/14/25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5.w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wmf"/><Relationship Id="rId4" Type="http://schemas.openxmlformats.org/officeDocument/2006/relationships/image" Target="../media/image7.w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3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4.wmf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Relationship Id="rId4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3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4.wmf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2.wmf"/><Relationship Id="rId4" Type="http://schemas.openxmlformats.org/officeDocument/2006/relationships/image" Target="../media/image23.wmf"/><Relationship Id="rId5" Type="http://schemas.openxmlformats.org/officeDocument/2006/relationships/image" Target="../media/image24.wm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3.wm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sp>
        <p:nvSpPr>
          <p:cNvPr id="143363" name="Rectangle 4"/>
          <p:cNvSpPr>
            <a:spLocks noChangeArrowheads="1"/>
          </p:cNvSpPr>
          <p:nvPr/>
        </p:nvSpPr>
        <p:spPr bwMode="auto">
          <a:xfrm>
            <a:off x="1994852" y="3242628"/>
            <a:ext cx="1525587" cy="1055052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43364" name="TextBox 5"/>
          <p:cNvSpPr txBox="1">
            <a:spLocks noChangeArrowheads="1"/>
          </p:cNvSpPr>
          <p:nvPr/>
        </p:nvSpPr>
        <p:spPr bwMode="auto">
          <a:xfrm>
            <a:off x="814979" y="3283568"/>
            <a:ext cx="9557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New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0690" y="5044827"/>
            <a:ext cx="11001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</a:t>
            </a:r>
            <a:r>
              <a:rPr lang="en-US" sz="2800" i="1" dirty="0"/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2562" y="2104292"/>
            <a:ext cx="111921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N</a:t>
            </a:r>
            <a:endParaRPr lang="en-US" sz="2800" i="1" dirty="0"/>
          </a:p>
        </p:txBody>
      </p:sp>
      <p:sp>
        <p:nvSpPr>
          <p:cNvPr id="143365" name="TextBox 143364"/>
          <p:cNvSpPr txBox="1"/>
          <p:nvPr/>
        </p:nvSpPr>
        <p:spPr>
          <a:xfrm>
            <a:off x="2101534" y="2770188"/>
            <a:ext cx="8801398" cy="2033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>
                <a:latin typeface="Cambria"/>
              </a:rPr>
              <a:t>n            The number of times a trial is repeated</a:t>
            </a:r>
          </a:p>
          <a:p>
            <a:r>
              <a:rPr sz="1700">
                <a:latin typeface="Cambria"/>
              </a:rPr>
              <a:t>p = P(S)     The probability of a success in a single trial</a:t>
            </a:r>
          </a:p>
          <a:p>
            <a:r>
              <a:rPr sz="1700">
                <a:latin typeface="Cambria"/>
              </a:rPr>
              <a:t>q = P(F)     The probability of a failure in a single trial, q = 1 − p</a:t>
            </a:r>
          </a:p>
          <a:p>
            <a:r>
              <a:rPr sz="1700">
                <a:latin typeface="Cambria"/>
              </a:rPr>
              <a:t>x            The number of successes on n trials (x = 0, 1, .., n)</a:t>
            </a:r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  <p:sp>
        <p:nvSpPr>
          <p:cNvPr id="7172" name="TextBox 7171"/>
          <p:cNvSpPr txBox="1"/>
          <p:nvPr/>
        </p:nvSpPr>
        <p:spPr>
          <a:xfrm>
            <a:off x="3733623" y="2011680"/>
            <a:ext cx="6893169" cy="8674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</a:t>
            </a:r>
            <a:r>
              <a:rPr lang="en-US" sz="2600" dirty="0"/>
              <a:t>→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Binomial →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sp>
        <p:nvSpPr>
          <p:cNvPr id="7172" name="TextBox 7171"/>
          <p:cNvSpPr txBox="1"/>
          <p:nvPr/>
        </p:nvSpPr>
        <p:spPr>
          <a:xfrm>
            <a:off x="3703003" y="1617028"/>
            <a:ext cx="6893169" cy="82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. Q1: if X~binom(n,p) and Y~binom(m,p) are independent, X+Y follows (a) binom(n+m,p), (b) binom(nm,p), (c) binom(n+m,2p), (d) other. Q2: X~binom(n,p) and Z~binom(n,q) independent, X+Z follows (a) binom(n,p+q), (b) binom(n,pq), (c) binom(2n,p+q), (d) other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07"/>
          <a:stretch/>
        </p:blipFill>
        <p:spPr>
          <a:xfrm>
            <a:off x="1363335" y="0"/>
            <a:ext cx="9758680" cy="62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oard questions. 1: Prove Var(X)=p(1-p) if X~Bernoulli(p). 2: Prove Var(X)=np(1-p) if X~bin(n,p). 3: X1..Xn independent with standard deviation sigma=2; find the standard deviation of their average X-bar. Solution on next slide.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82" b="61669"/>
          <a:stretch/>
        </p:blipFill>
        <p:spPr>
          <a:xfrm>
            <a:off x="1302657" y="1343608"/>
            <a:ext cx="9473412" cy="17354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  <p:sp>
        <p:nvSpPr>
          <p:cNvPr id="8196" name="TextBox 8195"/>
          <p:cNvSpPr txBox="1"/>
          <p:nvPr/>
        </p:nvSpPr>
        <p:spPr>
          <a:xfrm>
            <a:off x="4924425" y="4114800"/>
            <a:ext cx="25146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= n p</a:t>
            </a:r>
          </a:p>
          <a:p>
            <a:r>
              <a:rPr sz="1800">
                <a:latin typeface="Cambria"/>
              </a:rPr>
              <a:t>Variance : σ</a:t>
            </a:r>
            <a:r>
              <a:rPr sz="1800" baseline="30000">
                <a:latin typeface="Cambria"/>
              </a:rPr>
              <a:t>2</a:t>
            </a:r>
            <a:r>
              <a:rPr sz="1800">
                <a:latin typeface="Cambria"/>
              </a:rPr>
              <a:t> = npq</a:t>
            </a:r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12292" name="TextBox 12291"/>
          <p:cNvSpPr txBox="1"/>
          <p:nvPr/>
        </p:nvSpPr>
        <p:spPr>
          <a:xfrm>
            <a:off x="3468130" y="4590536"/>
            <a:ext cx="6893169" cy="6905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P(x) = </a:t>
            </a:r>
            <a:r>
              <a:rPr sz="1900" baseline="-25000">
                <a:latin typeface="Cambria"/>
              </a:rPr>
              <a:t>n</a:t>
            </a:r>
            <a:r>
              <a:rPr sz="1900">
                <a:latin typeface="Cambria"/>
              </a:rPr>
              <a:t>C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  <a:r>
              <a:rPr sz="1900">
                <a:latin typeface="Cambria"/>
              </a:rPr>
              <a:t> = n! / ((n − x)! x!) · p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q</a:t>
            </a:r>
            <a:r>
              <a:rPr sz="1900" baseline="30000">
                <a:latin typeface="Cambria"/>
              </a:rPr>
              <a:t>n−x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63845" name="TextBox 163844"/>
          <p:cNvSpPr txBox="1"/>
          <p:nvPr/>
        </p:nvSpPr>
        <p:spPr>
          <a:xfrm>
            <a:off x="3631291" y="3812333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ℒ(p | k, N) = (N choose k) p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(1 − p)</a:t>
            </a:r>
            <a:r>
              <a:rPr sz="190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sp>
        <p:nvSpPr>
          <p:cNvPr id="14339" name="TextBox 14338"/>
          <p:cNvSpPr txBox="1"/>
          <p:nvPr/>
        </p:nvSpPr>
        <p:spPr>
          <a:xfrm>
            <a:off x="3265715" y="206323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ℒ(p | k, N) = (N choose k) p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(1 − p)</a:t>
            </a:r>
            <a:r>
              <a:rPr sz="190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</a:t>
            </a:r>
            <a:r>
              <a:rPr lang="en-US" dirty="0"/>
              <a:t>→ </a:t>
            </a:r>
            <a:r>
              <a:rPr lang="en-US" dirty="0"/>
              <a:t>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2357" y="201930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ℒ(p | k, N) = (N choose k) p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(1 − p)</a:t>
            </a:r>
            <a:r>
              <a:rPr sz="1900" baseline="30000">
                <a:latin typeface="Cambria"/>
              </a:rPr>
              <a:t>N −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6750" y="4538568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1465071" y="2303105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 descr="Two log-likelihood curves for p (binomial, constant term dropped). Panel a: 4 successes in 10 trials, wide peak near p=0.4. Panel b: 40 in 100, much narrower peak near 0.4. Larger samples give sharper likelihoods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Multinomial distribution text and formula. Equation: Pr{k | N, p} = N! / (product over i of k_i!) times product over i=1 to n of p_i^(k_i). Extends the binomial to n outcome categori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78756" cy="6631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54780" y="4852386"/>
            <a:ext cx="3178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Alternatively written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5352" y="5330867"/>
            <a:ext cx="3403768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>
                <a:latin typeface="Cambria"/>
              </a:rPr>
              <a:t>n! / (x</a:t>
            </a:r>
            <a:r>
              <a:rPr sz="1600" baseline="-25000">
                <a:latin typeface="Cambria"/>
              </a:rPr>
              <a:t>1</a:t>
            </a:r>
            <a:r>
              <a:rPr sz="1600">
                <a:latin typeface="Cambria"/>
              </a:rPr>
              <a:t>! ⋯ x</a:t>
            </a:r>
            <a:r>
              <a:rPr sz="1600" baseline="-25000">
                <a:latin typeface="Cambria"/>
              </a:rPr>
              <a:t>k</a:t>
            </a:r>
            <a:r>
              <a:rPr sz="1600">
                <a:latin typeface="Cambria"/>
              </a:rPr>
              <a:t>!) · p</a:t>
            </a:r>
            <a:r>
              <a:rPr sz="1600" baseline="-25000">
                <a:latin typeface="Cambria"/>
              </a:rPr>
              <a:t>1</a:t>
            </a:r>
            <a:r>
              <a:rPr sz="1600" baseline="30000">
                <a:latin typeface="Cambria"/>
              </a:rPr>
              <a:t>x₁</a:t>
            </a:r>
            <a:r>
              <a:rPr sz="1600">
                <a:latin typeface="Cambria"/>
              </a:rPr>
              <a:t> ⋯ p</a:t>
            </a:r>
            <a:r>
              <a:rPr sz="1600" baseline="-25000">
                <a:latin typeface="Cambria"/>
              </a:rPr>
              <a:t>k</a:t>
            </a:r>
            <a:r>
              <a:rPr sz="1600" baseline="30000">
                <a:latin typeface="Cambria"/>
              </a:rPr>
              <a:t>xₖ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k</a:t>
            </a:r>
            <a:r>
              <a:rPr sz="1900">
                <a:latin typeface="Cambria"/>
              </a:rPr>
              <a:t>(t) =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9142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>
                <a:latin typeface="Cambria"/>
              </a:rPr>
              <a:t>P(k events in interval) = e</a:t>
            </a:r>
            <a:r>
              <a:rPr sz="1700" baseline="30000">
                <a:latin typeface="Cambria"/>
              </a:rPr>
              <a:t>−λ</a:t>
            </a:r>
            <a:r>
              <a:rPr sz="1700">
                <a:latin typeface="Cambria"/>
              </a:rPr>
              <a:t> · λ</a:t>
            </a:r>
            <a:r>
              <a:rPr sz="1700" baseline="30000">
                <a:latin typeface="Cambria"/>
              </a:rPr>
              <a:t>k</a:t>
            </a:r>
            <a:r>
              <a:rPr sz="1700">
                <a:latin typeface="Cambria"/>
              </a:rPr>
              <a:t> / k!</a:t>
            </a:r>
          </a:p>
        </p:txBody>
      </p:sp>
      <p:sp>
        <p:nvSpPr>
          <p:cNvPr id="191495" name="TextBox 191494"/>
          <p:cNvSpPr txBox="1"/>
          <p:nvPr/>
        </p:nvSpPr>
        <p:spPr>
          <a:xfrm>
            <a:off x="4397471" y="2509997"/>
            <a:ext cx="3094892" cy="7284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  <p:sp>
        <p:nvSpPr>
          <p:cNvPr id="191496" name="TextBox 191495"/>
          <p:cNvSpPr txBox="1"/>
          <p:nvPr/>
        </p:nvSpPr>
        <p:spPr>
          <a:xfrm>
            <a:off x="4297990" y="4872555"/>
            <a:ext cx="3616658" cy="94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(rate per interval)</a:t>
            </a:r>
          </a:p>
          <a:p>
            <a:r>
              <a:rPr sz="1800">
                <a:latin typeface="Cambria"/>
              </a:rPr>
              <a:t>Variance : μ</a:t>
            </a:r>
          </a:p>
        </p:txBody>
      </p:sp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369276" y="4106041"/>
              <a:ext cx="9001125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 dirty="0"/>
                <a:t>Where o(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) represents higher order term of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that can be ignored as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</a:t>
              </a:r>
              <a:r>
                <a:rPr lang="en-US" altLang="en-US" sz="2000" dirty="0"/>
                <a:t>→ 0</a:t>
              </a:r>
              <a:endParaRPr lang="en-US" altLang="en-US" sz="2000" dirty="0"/>
            </a:p>
          </p:txBody>
        </p:sp>
      </p:grpSp>
      <p:sp>
        <p:nvSpPr>
          <p:cNvPr id="179206" name="TextBox 179205"/>
          <p:cNvSpPr txBox="1"/>
          <p:nvPr/>
        </p:nvSpPr>
        <p:spPr>
          <a:xfrm>
            <a:off x="2728913" y="2347914"/>
            <a:ext cx="6172200" cy="1431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>
                <a:latin typeface="Cambria"/>
              </a:rPr>
              <a:t>Pr{no event in the next dt} = 1 − λdt</a:t>
            </a:r>
          </a:p>
          <a:p>
            <a:r>
              <a:rPr sz="2300">
                <a:latin typeface="Cambria"/>
              </a:rPr>
              <a:t>Pr{1 event in the next dt} = λdt</a:t>
            </a:r>
          </a:p>
        </p:txBody>
      </p: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pic>
        <p:nvPicPr>
          <p:cNvPr id="10" name="Picture 9" descr="Equation: p_k(t) = (lambda t)^k / k! times e^(-lambda t). The full Poisson pmf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9900" y="5897173"/>
            <a:ext cx="2963863" cy="582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</p:grpSp>
      <p:sp>
        <p:nvSpPr>
          <p:cNvPr id="181251" name="TextBox 181250"/>
          <p:cNvSpPr txBox="1"/>
          <p:nvPr/>
        </p:nvSpPr>
        <p:spPr>
          <a:xfrm>
            <a:off x="3207885" y="2832085"/>
            <a:ext cx="5671456" cy="6584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>
                <a:latin typeface="Cambria"/>
              </a:rPr>
              <a:t>p</a:t>
            </a:r>
            <a:r>
              <a:rPr sz="2600" baseline="-25000">
                <a:latin typeface="Cambria"/>
              </a:rPr>
              <a:t>0</a:t>
            </a:r>
            <a:r>
              <a:rPr sz="2600">
                <a:latin typeface="Cambria"/>
              </a:rPr>
              <a:t>(t + dt) = p</a:t>
            </a:r>
            <a:r>
              <a:rPr sz="2600" baseline="-25000">
                <a:latin typeface="Cambria"/>
              </a:rPr>
              <a:t>0</a:t>
            </a:r>
            <a:r>
              <a:rPr sz="2600">
                <a:latin typeface="Cambria"/>
              </a:rPr>
              <a:t>(t)(1 − λdt)</a:t>
            </a:r>
          </a:p>
        </p:txBody>
      </p:sp>
      <p:sp>
        <p:nvSpPr>
          <p:cNvPr id="181252" name="TextBox 181251"/>
          <p:cNvSpPr txBox="1"/>
          <p:nvPr/>
        </p:nvSpPr>
        <p:spPr>
          <a:xfrm>
            <a:off x="4640426" y="4125439"/>
            <a:ext cx="2278063" cy="1050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>
                <a:latin typeface="Cambria"/>
              </a:rPr>
              <a:t>dp</a:t>
            </a:r>
            <a:r>
              <a:rPr sz="2000" baseline="-25000">
                <a:latin typeface="Cambria"/>
              </a:rPr>
              <a:t>0</a:t>
            </a:r>
            <a:r>
              <a:rPr sz="2000">
                <a:latin typeface="Cambria"/>
              </a:rPr>
              <a:t> / dt = −λ p</a:t>
            </a:r>
            <a:r>
              <a:rPr sz="2000" baseline="-25000">
                <a:latin typeface="Cambria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  <p:sp>
        <p:nvSpPr>
          <p:cNvPr id="183305" name="TextBox 183304"/>
          <p:cNvSpPr txBox="1"/>
          <p:nvPr/>
        </p:nvSpPr>
        <p:spPr>
          <a:xfrm>
            <a:off x="5916613" y="1713463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k</a:t>
            </a:r>
            <a:r>
              <a:rPr sz="1900">
                <a:latin typeface="Cambria"/>
              </a:rPr>
              <a:t>(t) =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</a:p>
        </p:txBody>
      </p:sp>
      <p:sp>
        <p:nvSpPr>
          <p:cNvPr id="183306" name="TextBox 183305"/>
          <p:cNvSpPr txBox="1"/>
          <p:nvPr/>
        </p:nvSpPr>
        <p:spPr>
          <a:xfrm>
            <a:off x="2335213" y="3158089"/>
            <a:ext cx="6235700" cy="704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>
                <a:latin typeface="Cambria"/>
              </a:rPr>
              <a:t>Pr{no event in 0 to t} = p</a:t>
            </a:r>
            <a:r>
              <a:rPr sz="2300" baseline="-25000">
                <a:latin typeface="Cambria"/>
              </a:rPr>
              <a:t>0</a:t>
            </a:r>
            <a:r>
              <a:rPr sz="2300">
                <a:latin typeface="Cambria"/>
              </a:rPr>
              <a:t>(t) = e</a:t>
            </a:r>
            <a:r>
              <a:rPr sz="2300" baseline="30000">
                <a:latin typeface="Cambria"/>
              </a:rPr>
              <a:t>−λt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 descr="Equation: p_k(t) = (lambda t)^k / k! times e^(-lambda t). The full Poisson pmf.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k</a:t>
            </a:r>
            <a:r>
              <a:rPr sz="1900">
                <a:latin typeface="Cambria"/>
              </a:rPr>
              <a:t>(t) =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9142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>
                <a:latin typeface="Cambria"/>
              </a:rPr>
              <a:t>P(k events in interval) = e</a:t>
            </a:r>
            <a:r>
              <a:rPr sz="1700" baseline="30000">
                <a:latin typeface="Cambria"/>
              </a:rPr>
              <a:t>−λ</a:t>
            </a:r>
            <a:r>
              <a:rPr sz="1700">
                <a:latin typeface="Cambria"/>
              </a:rPr>
              <a:t> · λ</a:t>
            </a:r>
            <a:r>
              <a:rPr sz="1700" baseline="30000">
                <a:latin typeface="Cambria"/>
              </a:rPr>
              <a:t>k</a:t>
            </a:r>
            <a:r>
              <a:rPr sz="1700">
                <a:latin typeface="Cambria"/>
              </a:rPr>
              <a:t> / k!</a:t>
            </a:r>
          </a:p>
        </p:txBody>
      </p:sp>
      <p:sp>
        <p:nvSpPr>
          <p:cNvPr id="191495" name="TextBox 191494"/>
          <p:cNvSpPr txBox="1"/>
          <p:nvPr/>
        </p:nvSpPr>
        <p:spPr>
          <a:xfrm>
            <a:off x="4397471" y="2509997"/>
            <a:ext cx="3094892" cy="7284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  <p:sp>
        <p:nvSpPr>
          <p:cNvPr id="191496" name="TextBox 191495"/>
          <p:cNvSpPr txBox="1"/>
          <p:nvPr/>
        </p:nvSpPr>
        <p:spPr>
          <a:xfrm>
            <a:off x="4297990" y="4872555"/>
            <a:ext cx="3616658" cy="94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Mean : μ (rate per interval)</a:t>
            </a:r>
          </a:p>
          <a:p>
            <a:r>
              <a:rPr sz="1800">
                <a:latin typeface="Cambria"/>
              </a:rPr>
              <a:t>Variance : μ</a:t>
            </a:r>
          </a:p>
        </p:txBody>
      </p:sp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/>
              <a:t>μ=8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  <p:sp>
        <p:nvSpPr>
          <p:cNvPr id="6148" name="TextBox 6147"/>
          <p:cNvSpPr txBox="1"/>
          <p:nvPr/>
        </p:nvSpPr>
        <p:spPr>
          <a:xfrm>
            <a:off x="4818820" y="4919723"/>
            <a:ext cx="3094892" cy="9057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P(X = x) = μ</a:t>
            </a:r>
            <a:r>
              <a:rPr sz="1900" baseline="30000">
                <a:latin typeface="Cambria"/>
              </a:rPr>
              <a:t>x</a:t>
            </a:r>
            <a:r>
              <a:rPr sz="1900">
                <a:latin typeface="Cambria"/>
              </a:rPr>
              <a:t> e</a:t>
            </a:r>
            <a:r>
              <a:rPr sz="1900" baseline="30000">
                <a:latin typeface="Cambria"/>
              </a:rPr>
              <a:t>−μ</a:t>
            </a:r>
            <a:r>
              <a:rPr sz="1900">
                <a:latin typeface="Cambria"/>
              </a:rPr>
              <a:t> / x!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6" name="Picture 5" descr="Journal excerpt: modeling observed attacks as a Poisson process, the probability of zero attacks being seen before 1990 is 0.006, given a rate constant over the 27-year period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0" y="4857687"/>
            <a:ext cx="6896100" cy="180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5" name="Picture 6" descr="Journal article header: 'Killer Whale Predation on Sea Otters Linking Oceanic and Nearshore Ecosystems' by Estes, Tinker, Williams and Doak, with abstract on sea otter decline from killer whale predation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</a:t>
            </a:r>
            <a:r>
              <a:rPr lang="en-US" altLang="en-US" dirty="0"/>
              <a:t>→ Onward to negative binomial!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sp>
        <p:nvSpPr>
          <p:cNvPr id="11268" name="TextBox 11267"/>
          <p:cNvSpPr txBox="1"/>
          <p:nvPr/>
        </p:nvSpPr>
        <p:spPr>
          <a:xfrm>
            <a:off x="4572000" y="1961731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k</a:t>
            </a:r>
            <a:r>
              <a:rPr sz="1900">
                <a:latin typeface="Cambria"/>
              </a:rPr>
              <a:t>(t) =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</a:p>
        </p:txBody>
      </p:sp>
      <p:sp>
        <p:nvSpPr>
          <p:cNvPr id="11269" name="TextBox 11268"/>
          <p:cNvSpPr txBox="1"/>
          <p:nvPr/>
        </p:nvSpPr>
        <p:spPr>
          <a:xfrm>
            <a:off x="1226975" y="5024047"/>
            <a:ext cx="4079630" cy="538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ℒ(p | {X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}) = ∏</a:t>
            </a:r>
            <a:r>
              <a:rPr sz="1900" baseline="-25000">
                <a:latin typeface="Cambria"/>
              </a:rPr>
              <a:t>i=1</a:t>
            </a:r>
            <a:r>
              <a:rPr sz="1900" baseline="30000">
                <a:latin typeface="Cambria"/>
              </a:rPr>
              <a:t>n</a:t>
            </a:r>
            <a:r>
              <a:rPr sz="1900">
                <a:latin typeface="Cambria"/>
              </a:rPr>
              <a:t> f(X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 | p)</a:t>
            </a:r>
          </a:p>
        </p:txBody>
      </p:sp>
      <p:sp>
        <p:nvSpPr>
          <p:cNvPr id="11270" name="TextBox 11269"/>
          <p:cNvSpPr txBox="1"/>
          <p:nvPr/>
        </p:nvSpPr>
        <p:spPr>
          <a:xfrm>
            <a:off x="5903556" y="5027477"/>
            <a:ext cx="506436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L(p | {X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}) = Σ</a:t>
            </a:r>
            <a:r>
              <a:rPr sz="1900" baseline="-25000">
                <a:latin typeface="Cambria"/>
              </a:rPr>
              <a:t>i=1</a:t>
            </a:r>
            <a:r>
              <a:rPr sz="1900" baseline="30000">
                <a:latin typeface="Cambria"/>
              </a:rPr>
              <a:t>n</a:t>
            </a:r>
            <a:r>
              <a:rPr sz="1900">
                <a:latin typeface="Cambria"/>
              </a:rPr>
              <a:t> log( f(X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 | p) )</a:t>
            </a:r>
          </a:p>
        </p:txBody>
      </p:sp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71" name="Picture 3" descr="Text: for the kth success on trial n, we need k-1 successes in the first n-1 trials (binomial with parameters n-1 and p) and a success on trial n with probability p, independently.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046622"/>
            <a:ext cx="914400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6223866"/>
            <a:ext cx="6912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How do we turn this into “failures” instead of “trials”?</a:t>
            </a:r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  <p:sp>
        <p:nvSpPr>
          <p:cNvPr id="211974" name="TextBox 211973"/>
          <p:cNvSpPr txBox="1"/>
          <p:nvPr/>
        </p:nvSpPr>
        <p:spPr>
          <a:xfrm>
            <a:off x="1535113" y="1390986"/>
            <a:ext cx="9144000" cy="4270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>
                <a:latin typeface="Cambria"/>
              </a:rPr>
              <a:t>Pr{N = n | k, p} = Probability that the kth success occurs on trial n</a:t>
            </a:r>
          </a:p>
        </p:txBody>
      </p:sp>
      <p:sp>
        <p:nvSpPr>
          <p:cNvPr id="211975" name="TextBox 211974"/>
          <p:cNvSpPr txBox="1"/>
          <p:nvPr/>
        </p:nvSpPr>
        <p:spPr>
          <a:xfrm>
            <a:off x="1535113" y="4892484"/>
            <a:ext cx="9144000" cy="955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>
                <a:latin typeface="Cambria"/>
              </a:rPr>
              <a:t>Pr{N = n | k, p} = (n−1 choose k−1) p</a:t>
            </a:r>
            <a:r>
              <a:rPr sz="1400" baseline="30000">
                <a:latin typeface="Cambria"/>
              </a:rPr>
              <a:t>k−1</a:t>
            </a:r>
            <a:r>
              <a:rPr sz="1400">
                <a:latin typeface="Cambria"/>
              </a:rPr>
              <a:t> (1 − p)</a:t>
            </a:r>
            <a:r>
              <a:rPr sz="1400" baseline="30000">
                <a:latin typeface="Cambria"/>
              </a:rPr>
              <a:t>n − k</a:t>
            </a:r>
            <a:r>
              <a:rPr sz="1400">
                <a:latin typeface="Cambria"/>
              </a:rPr>
              <a:t> p = (n−1 choose k−1) p</a:t>
            </a:r>
            <a:r>
              <a:rPr sz="1400" baseline="30000">
                <a:latin typeface="Cambria"/>
              </a:rPr>
              <a:t>k</a:t>
            </a:r>
            <a:r>
              <a:rPr sz="1400">
                <a:latin typeface="Cambria"/>
              </a:rPr>
              <a:t> (1 − p)</a:t>
            </a:r>
            <a:r>
              <a:rPr sz="1400" baseline="30000">
                <a:latin typeface="Cambria"/>
              </a:rPr>
              <a:t>n − k</a:t>
            </a:r>
          </a:p>
        </p:txBody>
      </p:sp>
      <p:sp>
        <p:nvSpPr>
          <p:cNvPr id="211976" name="TextBox 211975"/>
          <p:cNvSpPr txBox="1"/>
          <p:nvPr/>
        </p:nvSpPr>
        <p:spPr>
          <a:xfrm>
            <a:off x="7014633" y="6085223"/>
            <a:ext cx="4994487" cy="7926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>
                <a:latin typeface="Cambria"/>
              </a:rPr>
              <a:t>f(k; r, p) ≡ Pr(X = k) = (k+r−1 choose r−1) (1 − p)</a:t>
            </a:r>
            <a:r>
              <a:rPr sz="1200" baseline="30000">
                <a:latin typeface="Cambria"/>
              </a:rPr>
              <a:t>k</a:t>
            </a:r>
            <a:r>
              <a:rPr sz="1200">
                <a:latin typeface="Cambria"/>
              </a:rPr>
              <a:t> p</a:t>
            </a:r>
            <a:r>
              <a:rPr sz="1200" baseline="30000">
                <a:latin typeface="Cambria"/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5548" y="5974765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Because:</a:t>
            </a:r>
          </a:p>
        </p:txBody>
      </p:sp>
      <p:sp>
        <p:nvSpPr>
          <p:cNvPr id="214021" name="TextBox 214020"/>
          <p:cNvSpPr txBox="1"/>
          <p:nvPr/>
        </p:nvSpPr>
        <p:spPr>
          <a:xfrm>
            <a:off x="5081752" y="1149920"/>
            <a:ext cx="6471138" cy="1352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Pr{k events in [0, t] | λ} =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</a:p>
        </p:txBody>
      </p:sp>
      <p:sp>
        <p:nvSpPr>
          <p:cNvPr id="214022" name="TextBox 214021"/>
          <p:cNvSpPr txBox="1"/>
          <p:nvPr/>
        </p:nvSpPr>
        <p:spPr>
          <a:xfrm>
            <a:off x="3134519" y="4045520"/>
            <a:ext cx="7877907" cy="1377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Pr{k events in [0, t]} = ∫</a:t>
            </a:r>
            <a:r>
              <a:rPr sz="1900" baseline="-25000">
                <a:latin typeface="Cambria"/>
              </a:rPr>
              <a:t>0</a:t>
            </a:r>
            <a:r>
              <a:rPr sz="1900" baseline="30000">
                <a:latin typeface="Cambria"/>
              </a:rPr>
              <a:t>∞</a:t>
            </a:r>
            <a:r>
              <a:rPr sz="1900">
                <a:latin typeface="Cambria"/>
              </a:rPr>
              <a:t> (λt)</a:t>
            </a:r>
            <a:r>
              <a:rPr sz="1900" baseline="30000">
                <a:latin typeface="Cambria"/>
              </a:rPr>
              <a:t>k</a:t>
            </a:r>
            <a:r>
              <a:rPr sz="1900">
                <a:latin typeface="Cambria"/>
              </a:rPr>
              <a:t> / k! · e</a:t>
            </a:r>
            <a:r>
              <a:rPr sz="1900" baseline="30000">
                <a:latin typeface="Cambria"/>
              </a:rPr>
              <a:t>−λt</a:t>
            </a:r>
            <a:r>
              <a:rPr sz="1900">
                <a:latin typeface="Cambria"/>
              </a:rPr>
              <a:t> · f(λ) dλ</a:t>
            </a:r>
          </a:p>
        </p:txBody>
      </p:sp>
      <p:sp>
        <p:nvSpPr>
          <p:cNvPr id="214023" name="TextBox 214022"/>
          <p:cNvSpPr txBox="1"/>
          <p:nvPr/>
        </p:nvSpPr>
        <p:spPr>
          <a:xfrm>
            <a:off x="2753519" y="5791131"/>
            <a:ext cx="7033846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X</a:t>
            </a:r>
            <a:r>
              <a:rPr sz="1900">
                <a:latin typeface="Cambria"/>
              </a:rPr>
              <a:t>(x) = ∫</a:t>
            </a:r>
            <a:r>
              <a:rPr sz="1900" baseline="-25000">
                <a:latin typeface="Cambria"/>
              </a:rPr>
              <a:t>y</a:t>
            </a:r>
            <a:r>
              <a:rPr sz="1900">
                <a:latin typeface="Cambria"/>
              </a:rPr>
              <a:t> p</a:t>
            </a:r>
            <a:r>
              <a:rPr sz="1900" baseline="-25000">
                <a:latin typeface="Cambria"/>
              </a:rPr>
              <a:t>X,Y</a:t>
            </a:r>
            <a:r>
              <a:rPr sz="1900">
                <a:latin typeface="Cambria"/>
              </a:rPr>
              <a:t>(x, y) dy = ∫</a:t>
            </a:r>
            <a:r>
              <a:rPr sz="1900" baseline="-25000">
                <a:latin typeface="Cambria"/>
              </a:rPr>
              <a:t>y</a:t>
            </a:r>
            <a:r>
              <a:rPr sz="1900">
                <a:latin typeface="Cambria"/>
              </a:rPr>
              <a:t> p</a:t>
            </a:r>
            <a:r>
              <a:rPr sz="1900" baseline="-25000">
                <a:latin typeface="Cambria"/>
              </a:rPr>
              <a:t>X|Y</a:t>
            </a:r>
            <a:r>
              <a:rPr sz="1900">
                <a:latin typeface="Cambria"/>
              </a:rPr>
              <a:t>(x | y) p</a:t>
            </a:r>
            <a:r>
              <a:rPr sz="1900" baseline="-25000">
                <a:latin typeface="Cambria"/>
              </a:rPr>
              <a:t>Y</a:t>
            </a:r>
            <a:r>
              <a:rPr sz="1900">
                <a:latin typeface="Cambria"/>
              </a:rPr>
              <a:t>(y) dy</a:t>
            </a: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791200" y="2514600"/>
            <a:ext cx="2552700" cy="52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400">
                <a:latin typeface="Cambria"/>
              </a:rPr>
              <a:t>Γ(z) = (z − 1)!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072063" y="3035300"/>
            <a:ext cx="299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>
                <a:latin typeface="Cambria"/>
              </a:rPr>
              <a:t>Γ(z + 1) = z Γ(z)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61113" y="3963988"/>
            <a:ext cx="3416300" cy="181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>
                <a:latin typeface="Cambria"/>
              </a:rPr>
              <a:t>Γ(z) = ∫</a:t>
            </a:r>
            <a:r>
              <a:rPr sz="2200" baseline="-25000">
                <a:latin typeface="Cambria"/>
              </a:rPr>
              <a:t>0</a:t>
            </a:r>
            <a:r>
              <a:rPr sz="2200" baseline="30000">
                <a:latin typeface="Cambria"/>
              </a:rPr>
              <a:t>∞</a:t>
            </a:r>
            <a:r>
              <a:rPr sz="2200">
                <a:latin typeface="Cambria"/>
              </a:rPr>
              <a:t> s</a:t>
            </a:r>
            <a:r>
              <a:rPr sz="2200" baseline="30000">
                <a:latin typeface="Cambria"/>
              </a:rPr>
              <a:t>z−1</a:t>
            </a:r>
            <a:r>
              <a:rPr sz="2200">
                <a:latin typeface="Cambria"/>
              </a:rPr>
              <a:t> e</a:t>
            </a:r>
            <a:r>
              <a:rPr sz="2200" baseline="30000">
                <a:latin typeface="Cambria"/>
              </a:rPr>
              <a:t>−s</a:t>
            </a:r>
            <a:r>
              <a:rPr sz="2200">
                <a:latin typeface="Cambria"/>
              </a:rPr>
              <a:t> ds</a:t>
            </a:r>
          </a:p>
        </p:txBody>
      </p:sp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749778" y="4865511"/>
            <a:ext cx="9662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</a:t>
            </a:r>
            <a:endParaRPr lang="en-US" sz="2400" dirty="0"/>
          </a:p>
        </p:txBody>
      </p:sp>
      <p:sp>
        <p:nvSpPr>
          <p:cNvPr id="220163" name="TextBox 220162"/>
          <p:cNvSpPr txBox="1"/>
          <p:nvPr/>
        </p:nvSpPr>
        <p:spPr>
          <a:xfrm>
            <a:off x="2852351" y="3120729"/>
            <a:ext cx="6670704" cy="1070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>
                <a:latin typeface="Cambria"/>
              </a:rPr>
              <a:t>Pr{N = n} ≡ p</a:t>
            </a:r>
            <a:r>
              <a:rPr sz="1200" baseline="-25000">
                <a:latin typeface="Cambria"/>
              </a:rPr>
              <a:t>n</a:t>
            </a:r>
            <a:r>
              <a:rPr sz="1200">
                <a:latin typeface="Cambria"/>
              </a:rPr>
              <a:t>(m, k) = Γ(k + n) / (n! Γ(k)) · (k / (k + m))</a:t>
            </a:r>
            <a:r>
              <a:rPr sz="1200" baseline="30000">
                <a:latin typeface="Cambria"/>
              </a:rPr>
              <a:t>k</a:t>
            </a:r>
            <a:r>
              <a:rPr sz="1200">
                <a:latin typeface="Cambria"/>
              </a:rPr>
              <a:t> · (m / (k + m))</a:t>
            </a:r>
            <a:r>
              <a:rPr sz="1200" baseline="30000">
                <a:latin typeface="Cambria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  <p:sp>
        <p:nvSpPr>
          <p:cNvPr id="222213" name="TextBox 222212"/>
          <p:cNvSpPr txBox="1"/>
          <p:nvPr/>
        </p:nvSpPr>
        <p:spPr>
          <a:xfrm>
            <a:off x="2943225" y="1360488"/>
            <a:ext cx="5867400" cy="939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>
                <a:latin typeface="Cambria"/>
              </a:rPr>
              <a:t>Pr{N = n} ≡ p</a:t>
            </a:r>
            <a:r>
              <a:rPr sz="1200" baseline="-25000">
                <a:latin typeface="Cambria"/>
              </a:rPr>
              <a:t>n</a:t>
            </a:r>
            <a:r>
              <a:rPr sz="1200">
                <a:latin typeface="Cambria"/>
              </a:rPr>
              <a:t>(m, k) = Γ(k + n) / (n! Γ(k)) · (k / (k + m))</a:t>
            </a:r>
            <a:r>
              <a:rPr sz="1200" baseline="30000">
                <a:latin typeface="Cambria"/>
              </a:rPr>
              <a:t>k</a:t>
            </a:r>
            <a:r>
              <a:rPr sz="1200">
                <a:latin typeface="Cambria"/>
              </a:rPr>
              <a:t> · (m / (k + m))</a:t>
            </a:r>
            <a:r>
              <a:rPr sz="1200" baseline="30000">
                <a:latin typeface="Cambria"/>
              </a:rPr>
              <a:t>n</a:t>
            </a:r>
          </a:p>
        </p:txBody>
      </p:sp>
      <p:sp>
        <p:nvSpPr>
          <p:cNvPr id="222214" name="TextBox 222213"/>
          <p:cNvSpPr txBox="1"/>
          <p:nvPr/>
        </p:nvSpPr>
        <p:spPr>
          <a:xfrm>
            <a:off x="4724400" y="3117850"/>
            <a:ext cx="3516923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>
                <a:latin typeface="Cambria"/>
              </a:rPr>
              <a:t>p</a:t>
            </a:r>
            <a:r>
              <a:rPr sz="1900" baseline="-25000">
                <a:latin typeface="Cambria"/>
              </a:rPr>
              <a:t>0</a:t>
            </a:r>
            <a:r>
              <a:rPr sz="1900">
                <a:latin typeface="Cambria"/>
              </a:rPr>
              <a:t>(m, k) = (k / (k + m))</a:t>
            </a:r>
            <a:r>
              <a:rPr sz="1900" baseline="30000">
                <a:latin typeface="Cambria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 descr="Four bar charts of probability versus number of events (0 to 30). Panel a: Poisson, mean 10, bell-shaped peak near 10. Panels b, c, d: negative binomial, same mean, dispersion 5, 1, 0.5, becoming flatter and more skewed as dispersion drops.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until one success is recorded). </a:t>
            </a:r>
          </a:p>
        </p:txBody>
      </p:sp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13911</TotalTime>
  <Words>2020</Words>
  <Application>Microsoft Macintosh PowerPoint</Application>
  <PresentationFormat>Widescreen</PresentationFormat>
  <Paragraphs>254</Paragraphs>
  <Slides>41</Slides>
  <Notes>37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1" baseType="lpstr">
      <vt:lpstr>Arial</vt:lpstr>
      <vt:lpstr>Calibri</vt:lpstr>
      <vt:lpstr>Calibri Light</vt:lpstr>
      <vt:lpstr>Courier New</vt:lpstr>
      <vt:lpstr>Symbol</vt:lpstr>
      <vt:lpstr>Tahoma</vt:lpstr>
      <vt:lpstr>Times New Roman</vt:lpstr>
      <vt:lpstr>Wingdings</vt:lpstr>
      <vt:lpstr>Office Theme</vt:lpstr>
      <vt:lpstr>Equation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96</cp:revision>
  <dcterms:created xsi:type="dcterms:W3CDTF">2018-09-30T16:59:02Z</dcterms:created>
  <dcterms:modified xsi:type="dcterms:W3CDTF">2025-09-14T18:58:10Z</dcterms:modified>
</cp:coreProperties>
</file>