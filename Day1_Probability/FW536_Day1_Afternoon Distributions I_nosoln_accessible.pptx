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70" r:id="rId2"/>
    <p:sldId id="271" r:id="rId3"/>
    <p:sldId id="272" r:id="rId4"/>
    <p:sldId id="273" r:id="rId5"/>
    <p:sldId id="274" r:id="rId6"/>
    <p:sldId id="275" r:id="rId7"/>
    <p:sldId id="317" r:id="rId8"/>
    <p:sldId id="329" r:id="rId9"/>
    <p:sldId id="276" r:id="rId10"/>
    <p:sldId id="279" r:id="rId11"/>
    <p:sldId id="280" r:id="rId12"/>
    <p:sldId id="282" r:id="rId13"/>
    <p:sldId id="283" r:id="rId14"/>
    <p:sldId id="284" r:id="rId15"/>
    <p:sldId id="285" r:id="rId16"/>
    <p:sldId id="286" r:id="rId17"/>
    <p:sldId id="287" r:id="rId18"/>
    <p:sldId id="288" r:id="rId19"/>
    <p:sldId id="338" r:id="rId20"/>
    <p:sldId id="289" r:id="rId21"/>
    <p:sldId id="290" r:id="rId22"/>
    <p:sldId id="308" r:id="rId23"/>
    <p:sldId id="301" r:id="rId24"/>
    <p:sldId id="302" r:id="rId25"/>
    <p:sldId id="303" r:id="rId26"/>
    <p:sldId id="304" r:id="rId27"/>
    <p:sldId id="291" r:id="rId28"/>
    <p:sldId id="292" r:id="rId29"/>
    <p:sldId id="293" r:id="rId30"/>
    <p:sldId id="294" r:id="rId31"/>
    <p:sldId id="298" r:id="rId32"/>
    <p:sldId id="299" r:id="rId33"/>
    <p:sldId id="318" r:id="rId34"/>
    <p:sldId id="319" r:id="rId35"/>
    <p:sldId id="320" r:id="rId36"/>
    <p:sldId id="322" r:id="rId37"/>
    <p:sldId id="323" r:id="rId38"/>
    <p:sldId id="324" r:id="rId39"/>
    <p:sldId id="326" r:id="rId40"/>
    <p:sldId id="327" r:id="rId41"/>
    <p:sldId id="328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342"/>
    <p:restoredTop sz="94658"/>
  </p:normalViewPr>
  <p:slideViewPr>
    <p:cSldViewPr snapToGrid="0" snapToObjects="1">
      <p:cViewPr varScale="1">
        <p:scale>
          <a:sx n="113" d="100"/>
          <a:sy n="113" d="100"/>
        </p:scale>
        <p:origin x="184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945995-FC3E-D540-94CA-CACDC057E48E}" type="datetimeFigureOut">
              <a:rPr lang="en-US" smtClean="0"/>
              <a:t>9/14/25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8FA766-4199-D741-B79E-9AE53857A0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386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824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9471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029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4414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23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18737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43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0083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643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25111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848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7602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053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8154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667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364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872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9054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281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563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486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33370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691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4527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896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1718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101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35599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305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1428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54776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100663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72600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34160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038428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9016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59673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231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84766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36475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9548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67601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1093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094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3329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299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897677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4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3475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91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60671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11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24212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323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614787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28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818336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733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04437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763783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06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928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41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4298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00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833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165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742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429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1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6257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EB11B70-FC32-704C-A6D2-3B280E37279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86251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601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DB55D25-F998-A748-BD3E-3F04D9B0DB7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30247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4A85E31-6AB6-4544-B38B-96F01BA9DB2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40853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576917" y="2017713"/>
            <a:ext cx="10363200" cy="4114800"/>
          </a:xfrm>
        </p:spPr>
        <p:txBody>
          <a:bodyPr/>
          <a:lstStyle/>
          <a:p>
            <a:pPr lvl="0"/>
            <a:endParaRPr lang="en-AU" noProof="0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90C76F-CEB0-0A40-BA82-0C321A01C5A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8555599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62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.w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w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w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.em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5.wm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wmf"/><Relationship Id="rId4" Type="http://schemas.openxmlformats.org/officeDocument/2006/relationships/image" Target="../media/image7.wm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wm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13.wmf"/><Relationship Id="rId5" Type="http://schemas.openxmlformats.org/officeDocument/2006/relationships/oleObject" Target="../embeddings/oleObject5.bin"/><Relationship Id="rId6" Type="http://schemas.openxmlformats.org/officeDocument/2006/relationships/image" Target="../media/image14.wmf"/><Relationship Id="rId7" Type="http://schemas.openxmlformats.org/officeDocument/2006/relationships/image" Target="../media/image15.png"/><Relationship Id="rId8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Relationship Id="rId4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13.wmf"/><Relationship Id="rId5" Type="http://schemas.openxmlformats.org/officeDocument/2006/relationships/oleObject" Target="../embeddings/oleObject5.bin"/><Relationship Id="rId6" Type="http://schemas.openxmlformats.org/officeDocument/2006/relationships/image" Target="../media/image14.wmf"/><Relationship Id="rId7" Type="http://schemas.openxmlformats.org/officeDocument/2006/relationships/image" Target="../media/image15.png"/><Relationship Id="rId8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2.wmf"/><Relationship Id="rId4" Type="http://schemas.openxmlformats.org/officeDocument/2006/relationships/image" Target="../media/image23.wmf"/><Relationship Id="rId5" Type="http://schemas.openxmlformats.org/officeDocument/2006/relationships/image" Target="../media/image24.wm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13.wm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4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1295400"/>
          </a:xfrm>
        </p:spPr>
        <p:txBody>
          <a:bodyPr/>
          <a:lstStyle/>
          <a:p>
            <a:pPr algn="ctr" eaLnBrk="1" hangingPunct="1"/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Discrete Probability Distributions </a:t>
            </a:r>
            <a:endParaRPr lang="en-AU" altLang="en-US" sz="2400" b="1" dirty="0"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4535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322830" y="9144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Experiments-I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45820" y="1423035"/>
            <a:ext cx="10378440" cy="4687888"/>
          </a:xfrm>
        </p:spPr>
        <p:txBody>
          <a:bodyPr/>
          <a:lstStyle/>
          <a:p>
            <a:pPr marL="609600" indent="-609600">
              <a:defRPr/>
            </a:pPr>
            <a:r>
              <a:rPr lang="en-US" sz="2400" dirty="0"/>
              <a:t>Binomial experiments are those for which the outcome from each trial is one of only two options (“success” or “failure”). The properties of a binomial experiment are: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experiment is repeated for a fixed number of trials, </a:t>
            </a:r>
            <a:r>
              <a:rPr lang="en-US" sz="2400" i="1" dirty="0"/>
              <a:t>N</a:t>
            </a:r>
            <a:r>
              <a:rPr lang="en-US" sz="2400" dirty="0"/>
              <a:t>, where each trial is </a:t>
            </a:r>
            <a:r>
              <a:rPr lang="en-US" sz="2400" i="1" dirty="0">
                <a:solidFill>
                  <a:schemeClr val="hlink"/>
                </a:solidFill>
              </a:rPr>
              <a:t>independent</a:t>
            </a:r>
            <a:r>
              <a:rPr lang="en-US" sz="2400" dirty="0"/>
              <a:t> of all the others.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There are only two possible outcomes for each trial. The outcomes can be classified as a success (S) or a failure (F).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probability of success is the </a:t>
            </a:r>
            <a:r>
              <a:rPr lang="en-US" sz="2400" u="sng" dirty="0"/>
              <a:t>same </a:t>
            </a:r>
            <a:r>
              <a:rPr lang="en-US" sz="2400" dirty="0"/>
              <a:t>for all trials.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random variable </a:t>
            </a:r>
            <a:r>
              <a:rPr lang="en-US" sz="2400" i="1" dirty="0"/>
              <a:t>X</a:t>
            </a:r>
            <a:r>
              <a:rPr lang="en-US" sz="2400" dirty="0"/>
              <a:t> counts the number of </a:t>
            </a:r>
            <a:r>
              <a:rPr lang="en-US" sz="2400" i="1" dirty="0">
                <a:solidFill>
                  <a:schemeClr val="hlink"/>
                </a:solidFill>
              </a:rPr>
              <a:t>successful</a:t>
            </a:r>
            <a:r>
              <a:rPr lang="en-US" sz="2400" dirty="0"/>
              <a:t> trials out of </a:t>
            </a:r>
            <a:r>
              <a:rPr lang="en-US" sz="2400" i="1" dirty="0"/>
              <a:t>N</a:t>
            </a:r>
            <a:r>
              <a:rPr lang="en-US" sz="2400" dirty="0"/>
              <a:t> trials.</a:t>
            </a:r>
          </a:p>
        </p:txBody>
      </p:sp>
    </p:spTree>
    <p:extLst>
      <p:ext uri="{BB962C8B-B14F-4D97-AF65-F5344CB8AC3E}">
        <p14:creationId xmlns:p14="http://schemas.microsoft.com/office/powerpoint/2010/main" val="250771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Experiments-II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601470" y="1621155"/>
            <a:ext cx="9005570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Why is the following a binomial experiment?</a:t>
            </a:r>
          </a:p>
          <a:p>
            <a:pPr eaLnBrk="1" hangingPunct="1">
              <a:defRPr/>
            </a:pPr>
            <a:endParaRPr lang="en-US" sz="3200" dirty="0"/>
          </a:p>
          <a:p>
            <a:pPr lvl="1" eaLnBrk="1" hangingPunct="1">
              <a:defRPr/>
            </a:pPr>
            <a:r>
              <a:rPr lang="en-US" sz="2800" dirty="0"/>
              <a:t>We randomly sample 500 fish from the population.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dirty="0"/>
              <a:t>We record whether each animal is mature or immature.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dirty="0"/>
              <a:t>The random variable </a:t>
            </a:r>
            <a:r>
              <a:rPr lang="en-US" sz="2800" i="1" dirty="0"/>
              <a:t>X</a:t>
            </a:r>
            <a:r>
              <a:rPr lang="en-US" sz="2800" dirty="0"/>
              <a:t> is the number of mature animals.</a:t>
            </a:r>
          </a:p>
        </p:txBody>
      </p:sp>
    </p:spTree>
    <p:extLst>
      <p:ext uri="{BB962C8B-B14F-4D97-AF65-F5344CB8AC3E}">
        <p14:creationId xmlns:p14="http://schemas.microsoft.com/office/powerpoint/2010/main" val="247846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2286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Binomial Experiments-II</a:t>
            </a:r>
            <a:br>
              <a:rPr lang="en-US" sz="4000"/>
            </a:br>
            <a:r>
              <a:rPr lang="en-US" sz="4000"/>
              <a:t>(Notation)</a:t>
            </a:r>
          </a:p>
        </p:txBody>
      </p:sp>
      <p:graphicFrame>
        <p:nvGraphicFramePr>
          <p:cNvPr id="143362" name="Object 4"/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17998080"/>
              </p:ext>
            </p:extLst>
          </p:nvPr>
        </p:nvGraphicFramePr>
        <p:xfrm>
          <a:off x="2101534" y="2770188"/>
          <a:ext cx="8801398" cy="203303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847204" imgH="889046" progId="">
                  <p:embed/>
                </p:oleObj>
              </mc:Choice>
              <mc:Fallback>
                <p:oleObj name="Equation" r:id="rId3" imgW="3847204" imgH="889046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01534" y="2770188"/>
                        <a:ext cx="8801398" cy="203303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363" name="Rectangle 4"/>
          <p:cNvSpPr>
            <a:spLocks noChangeArrowheads="1"/>
          </p:cNvSpPr>
          <p:nvPr/>
        </p:nvSpPr>
        <p:spPr bwMode="auto">
          <a:xfrm>
            <a:off x="1994852" y="3242628"/>
            <a:ext cx="1525587" cy="1055052"/>
          </a:xfrm>
          <a:prstGeom prst="rect">
            <a:avLst/>
          </a:prstGeom>
          <a:noFill/>
          <a:ln w="5715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43364" name="TextBox 5"/>
          <p:cNvSpPr txBox="1">
            <a:spLocks noChangeArrowheads="1"/>
          </p:cNvSpPr>
          <p:nvPr/>
        </p:nvSpPr>
        <p:spPr bwMode="auto">
          <a:xfrm>
            <a:off x="814979" y="3283568"/>
            <a:ext cx="955711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New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terms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0690" y="5044827"/>
            <a:ext cx="1100138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Also </a:t>
            </a:r>
            <a:r>
              <a:rPr lang="en-US" sz="2800" i="1" dirty="0"/>
              <a:t>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2562" y="2104292"/>
            <a:ext cx="1119217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Also N</a:t>
            </a:r>
            <a:endParaRPr lang="en-US" sz="2800" i="1" dirty="0"/>
          </a:p>
        </p:txBody>
      </p:sp>
    </p:spTree>
    <p:extLst>
      <p:ext uri="{BB962C8B-B14F-4D97-AF65-F5344CB8AC3E}">
        <p14:creationId xmlns:p14="http://schemas.microsoft.com/office/powerpoint/2010/main" val="1667011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12382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Binomial Probabilities-I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342900" y="1318260"/>
            <a:ext cx="11567160" cy="4991100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In a binomial experiment, the probability of exactly </a:t>
            </a:r>
            <a:r>
              <a:rPr lang="en-US" sz="2600" i="1" dirty="0"/>
              <a:t>x</a:t>
            </a:r>
            <a:r>
              <a:rPr lang="en-US" sz="2600" dirty="0"/>
              <a:t> successes in </a:t>
            </a:r>
            <a:r>
              <a:rPr lang="en-US" sz="2600" i="1" dirty="0"/>
              <a:t>n</a:t>
            </a:r>
            <a:r>
              <a:rPr lang="en-US" sz="2600" dirty="0"/>
              <a:t> trials is: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This is a probability mass function, </a:t>
            </a:r>
            <a:r>
              <a:rPr lang="en-US" sz="2600" i="1" dirty="0" err="1"/>
              <a:t>pmf</a:t>
            </a:r>
            <a:endParaRPr lang="en-US" sz="2600" i="1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The binomial probability therefore involves the probability of </a:t>
            </a:r>
            <a:r>
              <a:rPr lang="en-US" sz="2600" i="1" dirty="0"/>
              <a:t>x</a:t>
            </a:r>
            <a:r>
              <a:rPr lang="en-US" sz="2600" dirty="0"/>
              <a:t> successes and </a:t>
            </a:r>
            <a:r>
              <a:rPr lang="en-US" sz="2600" i="1" dirty="0"/>
              <a:t>n </a:t>
            </a:r>
            <a:r>
              <a:rPr lang="en-US" sz="2600" dirty="0"/>
              <a:t>- </a:t>
            </a:r>
            <a:r>
              <a:rPr lang="en-US" sz="2600" i="1" dirty="0"/>
              <a:t>x</a:t>
            </a:r>
            <a:r>
              <a:rPr lang="en-US" sz="2600" dirty="0"/>
              <a:t>  failures multiplied by the number of ways choosing </a:t>
            </a:r>
            <a:r>
              <a:rPr lang="en-US" sz="2600" i="1" dirty="0"/>
              <a:t>x</a:t>
            </a:r>
            <a:r>
              <a:rPr lang="en-US" sz="2600" dirty="0"/>
              <a:t> successes out of </a:t>
            </a:r>
            <a:r>
              <a:rPr lang="en-US" sz="2600" i="1" dirty="0"/>
              <a:t>n</a:t>
            </a:r>
            <a:r>
              <a:rPr lang="en-US" sz="2600" dirty="0"/>
              <a:t> trials.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i="1" dirty="0"/>
              <a:t>n</a:t>
            </a:r>
            <a:r>
              <a:rPr lang="en-US" sz="2600" dirty="0"/>
              <a:t> and </a:t>
            </a:r>
            <a:r>
              <a:rPr lang="en-US" sz="2600" i="1" dirty="0"/>
              <a:t>p</a:t>
            </a:r>
            <a:r>
              <a:rPr lang="en-US" sz="2600" dirty="0"/>
              <a:t> are </a:t>
            </a:r>
            <a:r>
              <a:rPr lang="en-US" sz="2600" i="1" dirty="0">
                <a:solidFill>
                  <a:schemeClr val="hlink"/>
                </a:solidFill>
              </a:rPr>
              <a:t>parameters </a:t>
            </a:r>
            <a:r>
              <a:rPr lang="en-US" sz="2600" dirty="0"/>
              <a:t>(</a:t>
            </a:r>
            <a:r>
              <a:rPr lang="en-US" sz="2600" i="1" dirty="0"/>
              <a:t>q = 1 - p</a:t>
            </a:r>
            <a:r>
              <a:rPr lang="en-US" sz="2600" dirty="0"/>
              <a:t>). We will use data to estimate the values for unknown parameters.</a:t>
            </a:r>
          </a:p>
        </p:txBody>
      </p:sp>
      <p:graphicFrame>
        <p:nvGraphicFramePr>
          <p:cNvPr id="145411" name="Object 4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575213071"/>
              </p:ext>
            </p:extLst>
          </p:nvPr>
        </p:nvGraphicFramePr>
        <p:xfrm>
          <a:off x="3733623" y="2011680"/>
          <a:ext cx="4785714" cy="8674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311078" imgH="418893" progId="">
                  <p:embed/>
                </p:oleObj>
              </mc:Choice>
              <mc:Fallback>
                <p:oleObj name="Equation" r:id="rId3" imgW="2311078" imgH="418893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33623" y="2011680"/>
                        <a:ext cx="4785714" cy="86741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" name="Straight Arrow Connector 2"/>
          <p:cNvCxnSpPr/>
          <p:nvPr/>
        </p:nvCxnSpPr>
        <p:spPr>
          <a:xfrm flipH="1" flipV="1">
            <a:off x="7483151" y="2879090"/>
            <a:ext cx="522514" cy="349302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660921" y="3161955"/>
            <a:ext cx="45109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# ways you can have </a:t>
            </a:r>
            <a:r>
              <a:rPr lang="en-US" sz="2000" i="1" dirty="0"/>
              <a:t>x </a:t>
            </a:r>
            <a:r>
              <a:rPr lang="en-US" sz="2000" dirty="0"/>
              <a:t>out of </a:t>
            </a:r>
            <a:r>
              <a:rPr lang="en-US" sz="2000" i="1" dirty="0"/>
              <a:t>n </a:t>
            </a:r>
            <a:r>
              <a:rPr lang="en-US" sz="2000" dirty="0"/>
              <a:t>successes/</a:t>
            </a:r>
          </a:p>
          <a:p>
            <a:r>
              <a:rPr lang="en-US" sz="2000" dirty="0"/>
              <a:t>E.g. HHT, HTH, THH</a:t>
            </a:r>
          </a:p>
        </p:txBody>
      </p:sp>
    </p:spTree>
    <p:extLst>
      <p:ext uri="{BB962C8B-B14F-4D97-AF65-F5344CB8AC3E}">
        <p14:creationId xmlns:p14="http://schemas.microsoft.com/office/powerpoint/2010/main" val="1081432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-59055"/>
            <a:ext cx="1239012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dirty="0"/>
              <a:t>One Binomial Trial: The Bernoulli Distribution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594360" y="1074420"/>
            <a:ext cx="11087100" cy="5029200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In a binomial experiment, the probability of exactly </a:t>
            </a:r>
            <a:r>
              <a:rPr lang="en-US" sz="2600" i="1" dirty="0"/>
              <a:t>x</a:t>
            </a:r>
            <a:r>
              <a:rPr lang="en-US" sz="2600" dirty="0"/>
              <a:t> successes in </a:t>
            </a:r>
            <a:r>
              <a:rPr lang="en-US" sz="2600" i="1" dirty="0"/>
              <a:t>n</a:t>
            </a:r>
            <a:r>
              <a:rPr lang="en-US" sz="2600" dirty="0"/>
              <a:t> trials is: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With </a:t>
            </a:r>
            <a:r>
              <a:rPr lang="en-US" sz="2600" i="1" dirty="0"/>
              <a:t>n </a:t>
            </a:r>
            <a:r>
              <a:rPr lang="en-US" sz="2600" dirty="0"/>
              <a:t>= 1, the Binomial becomes the Bernoulli distribution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600" dirty="0"/>
              <a:t>P(x) = </a:t>
            </a:r>
            <a:r>
              <a:rPr lang="en-US" sz="2600" i="1" dirty="0" err="1"/>
              <a:t>p</a:t>
            </a:r>
            <a:r>
              <a:rPr lang="en-US" sz="2600" i="1" baseline="30000" dirty="0" err="1"/>
              <a:t>x</a:t>
            </a:r>
            <a:r>
              <a:rPr lang="en-US" sz="2600" i="1" baseline="30000" dirty="0"/>
              <a:t> </a:t>
            </a:r>
            <a:r>
              <a:rPr lang="en-US" sz="2600" dirty="0"/>
              <a:t>(1</a:t>
            </a:r>
            <a:r>
              <a:rPr lang="en-US" sz="2600" i="1" dirty="0"/>
              <a:t> - p</a:t>
            </a:r>
            <a:r>
              <a:rPr lang="en-US" sz="2600" dirty="0"/>
              <a:t>)</a:t>
            </a:r>
            <a:r>
              <a:rPr lang="en-US" sz="2600" baseline="30000" dirty="0"/>
              <a:t>1</a:t>
            </a:r>
            <a:r>
              <a:rPr lang="en-US" sz="2600" i="1" baseline="30000" dirty="0"/>
              <a:t> </a:t>
            </a:r>
            <a:r>
              <a:rPr lang="mr-IN" sz="2600" i="1" baseline="30000" dirty="0"/>
              <a:t>–</a:t>
            </a:r>
            <a:r>
              <a:rPr lang="en-US" sz="2600" i="1" baseline="30000" dirty="0"/>
              <a:t> x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600" dirty="0"/>
              <a:t>Where x can take the values of 0 or 1</a:t>
            </a:r>
          </a:p>
          <a:p>
            <a:pPr lvl="1"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Bernoulli </a:t>
            </a:r>
            <a:r>
              <a:rPr lang="en-US" sz="2600" dirty="0">
                <a:sym typeface="Wingdings"/>
              </a:rPr>
              <a:t> probability a single coin flip comes up heads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>
                <a:sym typeface="Wingdings"/>
              </a:rPr>
              <a:t>Binomial  Probability that 10 coin flips yield 3 heads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b="1" dirty="0"/>
              <a:t>So the Binomial is the distribution for the sum of independent Bernoulli trials</a:t>
            </a:r>
            <a:endParaRPr lang="en-US" sz="2600" b="1" dirty="0">
              <a:sym typeface="Wingdings"/>
            </a:endParaRP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</p:txBody>
      </p:sp>
      <p:graphicFrame>
        <p:nvGraphicFramePr>
          <p:cNvPr id="147459" name="Object 4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561546922"/>
              </p:ext>
            </p:extLst>
          </p:nvPr>
        </p:nvGraphicFramePr>
        <p:xfrm>
          <a:off x="3703003" y="1617028"/>
          <a:ext cx="4573752" cy="8289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311078" imgH="418893" progId="">
                  <p:embed/>
                </p:oleObj>
              </mc:Choice>
              <mc:Fallback>
                <p:oleObj name="Equation" r:id="rId3" imgW="2311078" imgH="418893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03003" y="1617028"/>
                        <a:ext cx="4573752" cy="82899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60196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oncept-question slide. Q1: if X~binom(n,p) and Y~binom(m,p) are independent, X+Y follows (a) binom(n+m,p), (b) binom(nm,p), (c) binom(n+m,2p), (d) other. Q2: X~binom(n,p) and Z~binom(n,q) independent, X+Z follows (a) binom(n,p+q), (b) binom(n,pq), (c) binom(2n,p+q), (d) other.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507"/>
          <a:stretch/>
        </p:blipFill>
        <p:spPr>
          <a:xfrm>
            <a:off x="1363335" y="0"/>
            <a:ext cx="9758680" cy="625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11255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oard questions. 1: Prove Var(X)=p(1-p) if X~Bernoulli(p). 2: Prove Var(X)=np(1-p) if X~bin(n,p). 3: X1..Xn independent with standard deviation sigma=2; find the standard deviation of their average X-bar. Solution on next slide.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82" b="61669"/>
          <a:stretch/>
        </p:blipFill>
        <p:spPr>
          <a:xfrm>
            <a:off x="1302657" y="1343608"/>
            <a:ext cx="9473412" cy="17354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97763" y="4086807"/>
            <a:ext cx="862300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Hints: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Make a table with </a:t>
            </a:r>
            <a:r>
              <a:rPr lang="en-US" sz="2400" i="1" dirty="0"/>
              <a:t>X, p</a:t>
            </a:r>
            <a:r>
              <a:rPr lang="en-US" sz="2400" dirty="0"/>
              <a:t>(</a:t>
            </a:r>
            <a:r>
              <a:rPr lang="en-US" sz="2400" i="1" dirty="0"/>
              <a:t>x</a:t>
            </a:r>
            <a:r>
              <a:rPr lang="en-US" sz="2400" dirty="0"/>
              <a:t>)</a:t>
            </a:r>
            <a:r>
              <a:rPr lang="en-US" sz="2400" i="1" dirty="0"/>
              <a:t>, </a:t>
            </a:r>
            <a:r>
              <a:rPr lang="en-US" sz="2400" dirty="0"/>
              <a:t>and (X</a:t>
            </a:r>
            <a:r>
              <a:rPr lang="en-US" sz="2400" i="1" dirty="0"/>
              <a:t> - µ</a:t>
            </a:r>
            <a:r>
              <a:rPr lang="en-US" sz="2400" dirty="0"/>
              <a:t> )</a:t>
            </a:r>
            <a:r>
              <a:rPr lang="en-US" sz="2400" baseline="30000" dirty="0"/>
              <a:t>2</a:t>
            </a:r>
            <a:r>
              <a:rPr lang="en-US" sz="2400" dirty="0"/>
              <a:t>. Remember </a:t>
            </a:r>
            <a:r>
              <a:rPr lang="en-US" sz="2400" i="1" dirty="0"/>
              <a:t>µ = E[X]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Remember that variances of independent random variables add</a:t>
            </a:r>
          </a:p>
          <a:p>
            <a:pPr marL="914400" lvl="1" indent="-457200">
              <a:buFont typeface="Arial" charset="0"/>
              <a:buChar char="•"/>
            </a:pPr>
            <a:r>
              <a:rPr lang="en-US" sz="2400" dirty="0" err="1"/>
              <a:t>Var</a:t>
            </a:r>
            <a:r>
              <a:rPr lang="en-US" sz="2400" dirty="0"/>
              <a:t>(X + Y) = </a:t>
            </a:r>
            <a:r>
              <a:rPr lang="en-US" sz="2400" dirty="0" err="1"/>
              <a:t>Var</a:t>
            </a:r>
            <a:r>
              <a:rPr lang="en-US" sz="2400" dirty="0"/>
              <a:t>(X) + </a:t>
            </a:r>
            <a:r>
              <a:rPr lang="en-US" sz="2400" dirty="0" err="1"/>
              <a:t>Var</a:t>
            </a:r>
            <a:r>
              <a:rPr lang="en-US" sz="2400" dirty="0"/>
              <a:t>(Y)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66A6E4-A3BC-4A0D-F418-A8BA51B09984}"/>
              </a:ext>
            </a:extLst>
          </p:cNvPr>
          <p:cNvSpPr txBox="1"/>
          <p:nvPr/>
        </p:nvSpPr>
        <p:spPr>
          <a:xfrm>
            <a:off x="4550397" y="70314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</p:spTree>
    <p:extLst>
      <p:ext uri="{BB962C8B-B14F-4D97-AF65-F5344CB8AC3E}">
        <p14:creationId xmlns:p14="http://schemas.microsoft.com/office/powerpoint/2010/main" val="20200405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-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Probabilities-II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317751" y="1323976"/>
            <a:ext cx="7580313" cy="4848225"/>
          </a:xfrm>
        </p:spPr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US" dirty="0"/>
              <a:t>Notation: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dirty="0"/>
              <a:t>	We read this as “The random variable </a:t>
            </a:r>
            <a:r>
              <a:rPr lang="en-US" i="1" dirty="0"/>
              <a:t>X</a:t>
            </a:r>
            <a:r>
              <a:rPr lang="en-US" dirty="0"/>
              <a:t> is distributed binomially with parameters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”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dirty="0"/>
              <a:t>		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sz="2000" dirty="0"/>
              <a:t>Recall: </a:t>
            </a:r>
            <a:r>
              <a:rPr lang="en-US" sz="2000" i="1" dirty="0"/>
              <a:t>q</a:t>
            </a:r>
            <a:r>
              <a:rPr lang="en-US" sz="2000" dirty="0"/>
              <a:t> = 1 - </a:t>
            </a:r>
            <a:r>
              <a:rPr lang="en-US" sz="2000" i="1" dirty="0"/>
              <a:t>p</a:t>
            </a:r>
          </a:p>
        </p:txBody>
      </p:sp>
      <p:graphicFrame>
        <p:nvGraphicFramePr>
          <p:cNvPr id="149508" name="Object 9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4924425" y="4114800"/>
          <a:ext cx="2514600" cy="914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57231" imgH="456924" progId="">
                  <p:embed/>
                </p:oleObj>
              </mc:Choice>
              <mc:Fallback>
                <p:oleObj name="Equation" r:id="rId3" imgW="1257231" imgH="456924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24425" y="4114800"/>
                        <a:ext cx="2514600" cy="914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688207" y="1974818"/>
            <a:ext cx="5864106" cy="52322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X ~ B(</a:t>
            </a:r>
            <a:r>
              <a:rPr lang="en-US" sz="2800" dirty="0" err="1"/>
              <a:t>n,p</a:t>
            </a:r>
            <a:r>
              <a:rPr lang="en-US" sz="2800" dirty="0"/>
              <a:t>); X ~ Bin(</a:t>
            </a:r>
            <a:r>
              <a:rPr lang="en-US" sz="2800" i="1" dirty="0" err="1"/>
              <a:t>n</a:t>
            </a:r>
            <a:r>
              <a:rPr lang="en-US" sz="2800" dirty="0" err="1"/>
              <a:t>,</a:t>
            </a:r>
            <a:r>
              <a:rPr lang="en-US" sz="2800" i="1" dirty="0" err="1"/>
              <a:t>p</a:t>
            </a:r>
            <a:r>
              <a:rPr lang="en-US" sz="2800" dirty="0"/>
              <a:t>); X ~ </a:t>
            </a:r>
            <a:r>
              <a:rPr lang="en-US" sz="2800" dirty="0" err="1"/>
              <a:t>Binom</a:t>
            </a:r>
            <a:r>
              <a:rPr lang="en-US" sz="2800" dirty="0"/>
              <a:t>(</a:t>
            </a:r>
            <a:r>
              <a:rPr lang="en-US" sz="2800" i="1" dirty="0" err="1"/>
              <a:t>n</a:t>
            </a:r>
            <a:r>
              <a:rPr lang="en-US" sz="2800" dirty="0" err="1"/>
              <a:t>,</a:t>
            </a:r>
            <a:r>
              <a:rPr lang="en-US" sz="2800" i="1" dirty="0" err="1"/>
              <a:t>p</a:t>
            </a:r>
            <a:r>
              <a:rPr lang="en-US" sz="2800" dirty="0"/>
              <a:t>)</a:t>
            </a:r>
            <a:endParaRPr lang="en-US" sz="2800" i="1" dirty="0"/>
          </a:p>
        </p:txBody>
      </p:sp>
    </p:spTree>
    <p:extLst>
      <p:ext uri="{BB962C8B-B14F-4D97-AF65-F5344CB8AC3E}">
        <p14:creationId xmlns:p14="http://schemas.microsoft.com/office/powerpoint/2010/main" val="1812605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275681" y="21564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The Binomial Distribution</a:t>
            </a:r>
          </a:p>
        </p:txBody>
      </p:sp>
      <p:pic>
        <p:nvPicPr>
          <p:cNvPr id="11267" name="Picture 4"/>
          <p:cNvPicPr>
            <a:picLocks noGrp="1" noChangeAspect="1" noChangeArrowheads="1"/>
          </p:cNvPicPr>
          <p:nvPr>
            <p:ph sz="half" idx="1"/>
          </p:nvPr>
        </p:nvPicPr>
        <p:blipFill>
          <a:blip r:embed="rId3" cstate="print"/>
          <a:srcRect l="1550" t="2330" r="1550" b="2330"/>
          <a:stretch>
            <a:fillRect/>
          </a:stretch>
        </p:blipFill>
        <p:spPr>
          <a:xfrm>
            <a:off x="2074864" y="2598738"/>
            <a:ext cx="3411537" cy="2233612"/>
          </a:xfrm>
        </p:spPr>
      </p:pic>
      <p:pic>
        <p:nvPicPr>
          <p:cNvPr id="11269" name="Picture 8"/>
          <p:cNvPicPr>
            <a:picLocks noGrp="1" noChangeAspect="1" noChangeArrowheads="1"/>
          </p:cNvPicPr>
          <p:nvPr>
            <p:ph sz="quarter" idx="3"/>
          </p:nvPr>
        </p:nvPicPr>
        <p:blipFill>
          <a:blip r:embed="rId4" cstate="print"/>
          <a:srcRect l="1550" t="2330" r="1550" b="2330"/>
          <a:stretch>
            <a:fillRect/>
          </a:stretch>
        </p:blipFill>
        <p:spPr>
          <a:xfrm>
            <a:off x="6172200" y="2589213"/>
            <a:ext cx="3392488" cy="2220912"/>
          </a:xfrm>
        </p:spPr>
      </p:pic>
      <p:sp>
        <p:nvSpPr>
          <p:cNvPr id="155652" name="Text Box 10"/>
          <p:cNvSpPr txBox="1">
            <a:spLocks noChangeArrowheads="1"/>
          </p:cNvSpPr>
          <p:nvPr/>
        </p:nvSpPr>
        <p:spPr bwMode="auto">
          <a:xfrm>
            <a:off x="3163889" y="2849563"/>
            <a:ext cx="17621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i="1" dirty="0"/>
              <a:t>n</a:t>
            </a:r>
            <a:r>
              <a:rPr lang="en-US" altLang="en-US" sz="2400" dirty="0"/>
              <a:t>=6; </a:t>
            </a:r>
            <a:r>
              <a:rPr lang="en-US" altLang="en-US" sz="2400" i="1" dirty="0"/>
              <a:t>p</a:t>
            </a:r>
            <a:r>
              <a:rPr lang="en-US" altLang="en-US" sz="2400" dirty="0"/>
              <a:t>=0.5</a:t>
            </a:r>
          </a:p>
        </p:txBody>
      </p:sp>
      <p:sp>
        <p:nvSpPr>
          <p:cNvPr id="155653" name="Text Box 12"/>
          <p:cNvSpPr txBox="1">
            <a:spLocks noChangeArrowheads="1"/>
          </p:cNvSpPr>
          <p:nvPr/>
        </p:nvSpPr>
        <p:spPr bwMode="auto">
          <a:xfrm>
            <a:off x="6575426" y="2763838"/>
            <a:ext cx="17621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i="1" dirty="0"/>
              <a:t>n</a:t>
            </a:r>
            <a:r>
              <a:rPr lang="en-US" altLang="en-US" sz="2400" dirty="0"/>
              <a:t>=6; </a:t>
            </a:r>
            <a:r>
              <a:rPr lang="en-US" altLang="en-US" sz="2400" i="1" dirty="0"/>
              <a:t>p</a:t>
            </a:r>
            <a:r>
              <a:rPr lang="en-US" altLang="en-US" sz="2400" dirty="0"/>
              <a:t>=0.9</a:t>
            </a:r>
          </a:p>
        </p:txBody>
      </p:sp>
      <p:sp>
        <p:nvSpPr>
          <p:cNvPr id="155654" name="Text Box 13"/>
          <p:cNvSpPr txBox="1">
            <a:spLocks noChangeArrowheads="1"/>
          </p:cNvSpPr>
          <p:nvPr/>
        </p:nvSpPr>
        <p:spPr bwMode="auto">
          <a:xfrm>
            <a:off x="2554288" y="4678364"/>
            <a:ext cx="2895600" cy="1984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en-US" sz="700" dirty="0"/>
              <a:t>0            1              2             3              4              5             6</a:t>
            </a:r>
          </a:p>
        </p:txBody>
      </p:sp>
      <p:sp>
        <p:nvSpPr>
          <p:cNvPr id="155655" name="Text Box 15"/>
          <p:cNvSpPr txBox="1">
            <a:spLocks noChangeArrowheads="1"/>
          </p:cNvSpPr>
          <p:nvPr/>
        </p:nvSpPr>
        <p:spPr bwMode="auto">
          <a:xfrm>
            <a:off x="6651625" y="4622800"/>
            <a:ext cx="2895600" cy="1984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en-US" sz="700"/>
              <a:t>0            1              2             3              4              5             6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1835198" y="5469198"/>
            <a:ext cx="867400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 dirty="0"/>
              <a:t>This is a probability mass function; PMF</a:t>
            </a:r>
          </a:p>
        </p:txBody>
      </p:sp>
    </p:spTree>
    <p:extLst>
      <p:ext uri="{BB962C8B-B14F-4D97-AF65-F5344CB8AC3E}">
        <p14:creationId xmlns:p14="http://schemas.microsoft.com/office/powerpoint/2010/main" val="1798786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036762" y="803276"/>
            <a:ext cx="8131175" cy="1177925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Examples of the Binomial Distribution-I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046288" y="1981201"/>
            <a:ext cx="8108950" cy="4238625"/>
          </a:xfrm>
        </p:spPr>
        <p:txBody>
          <a:bodyPr/>
          <a:lstStyle/>
          <a:p>
            <a:pPr marL="533400" indent="-533400">
              <a:defRPr/>
            </a:pPr>
            <a:r>
              <a:rPr lang="en-US" dirty="0"/>
              <a:t>We examine 12 animals for the presence of a disease (</a:t>
            </a:r>
            <a:r>
              <a:rPr lang="en-US" i="1" dirty="0"/>
              <a:t>p </a:t>
            </a:r>
            <a:r>
              <a:rPr lang="en-US" dirty="0"/>
              <a:t>= 0.1). What is the probability that: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exactly 2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no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2 or more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endParaRPr lang="en-US" dirty="0"/>
          </a:p>
        </p:txBody>
      </p:sp>
      <p:graphicFrame>
        <p:nvGraphicFramePr>
          <p:cNvPr id="157699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73999975"/>
              </p:ext>
            </p:extLst>
          </p:nvPr>
        </p:nvGraphicFramePr>
        <p:xfrm>
          <a:off x="3468130" y="4590536"/>
          <a:ext cx="3810000" cy="690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311078" imgH="418893" progId="">
                  <p:embed/>
                </p:oleObj>
              </mc:Choice>
              <mc:Fallback>
                <p:oleObj name="Equation" r:id="rId3" imgW="2311078" imgH="418893" progId="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68130" y="4590536"/>
                        <a:ext cx="3810000" cy="690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DCCFD75-506D-339F-06DF-088413451C53}"/>
              </a:ext>
            </a:extLst>
          </p:cNvPr>
          <p:cNvSpPr txBox="1"/>
          <p:nvPr/>
        </p:nvSpPr>
        <p:spPr>
          <a:xfrm>
            <a:off x="4764709" y="37011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</p:spTree>
    <p:extLst>
      <p:ext uri="{BB962C8B-B14F-4D97-AF65-F5344CB8AC3E}">
        <p14:creationId xmlns:p14="http://schemas.microsoft.com/office/powerpoint/2010/main" val="1596542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3600" dirty="0"/>
              <a:t>Sneak peak: Maximum likelihood is just doing this in reverse!!!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605480" y="1396480"/>
            <a:ext cx="11319041" cy="3828662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en-US" dirty="0"/>
              <a:t>Instead of knowing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, we often collect data in which </a:t>
            </a:r>
            <a:r>
              <a:rPr lang="en-US" i="1" dirty="0"/>
              <a:t>p </a:t>
            </a:r>
            <a:r>
              <a:rPr lang="en-US" dirty="0"/>
              <a:t>and sometimes also </a:t>
            </a:r>
            <a:r>
              <a:rPr lang="en-US" i="1" dirty="0"/>
              <a:t>N </a:t>
            </a:r>
            <a:r>
              <a:rPr lang="en-US" dirty="0"/>
              <a:t>are unknown.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To understand how the world works, we want to determine </a:t>
            </a:r>
            <a:r>
              <a:rPr lang="en-US" i="1" dirty="0"/>
              <a:t>p </a:t>
            </a:r>
          </a:p>
          <a:p>
            <a:pPr lvl="1">
              <a:defRPr/>
            </a:pPr>
            <a:r>
              <a:rPr lang="en-US" sz="2800" i="1" dirty="0"/>
              <a:t>What is the prevalence of a disease?</a:t>
            </a:r>
          </a:p>
          <a:p>
            <a:pPr lvl="1">
              <a:defRPr/>
            </a:pPr>
            <a:r>
              <a:rPr lang="en-US" sz="2800" i="1" dirty="0"/>
              <a:t>What is the probability of giving birth?</a:t>
            </a:r>
            <a:r>
              <a:rPr lang="en-US" sz="2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886539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373223" y="1371600"/>
            <a:ext cx="11271381" cy="4419600"/>
          </a:xfrm>
        </p:spPr>
        <p:txBody>
          <a:bodyPr/>
          <a:lstStyle/>
          <a:p>
            <a:pPr>
              <a:defRPr/>
            </a:pPr>
            <a:r>
              <a:rPr lang="en-US" dirty="0"/>
              <a:t>Instead of knowing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, we often collect data, </a:t>
            </a:r>
            <a:r>
              <a:rPr lang="en-US" i="1" dirty="0"/>
              <a:t>k #</a:t>
            </a:r>
            <a:r>
              <a:rPr lang="en-US" dirty="0"/>
              <a:t>successes, to determine </a:t>
            </a:r>
            <a:r>
              <a:rPr lang="en-US" i="1" dirty="0"/>
              <a:t>p</a:t>
            </a:r>
            <a:r>
              <a:rPr lang="en-US" dirty="0"/>
              <a:t> and/or </a:t>
            </a:r>
            <a:r>
              <a:rPr lang="en-US" i="1" dirty="0"/>
              <a:t>N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Let’s assume that </a:t>
            </a:r>
            <a:r>
              <a:rPr lang="en-US" i="1" dirty="0"/>
              <a:t>N</a:t>
            </a:r>
            <a:r>
              <a:rPr lang="en-US" dirty="0"/>
              <a:t> is known. Say we conduct </a:t>
            </a:r>
            <a:r>
              <a:rPr lang="en-US" i="1" dirty="0"/>
              <a:t>N</a:t>
            </a:r>
            <a:r>
              <a:rPr lang="en-US" dirty="0"/>
              <a:t> trials, observe </a:t>
            </a:r>
            <a:r>
              <a:rPr lang="en-US" i="1" dirty="0"/>
              <a:t>k</a:t>
            </a:r>
            <a:r>
              <a:rPr lang="en-US" dirty="0"/>
              <a:t> successes, and want to make inference about </a:t>
            </a:r>
            <a:r>
              <a:rPr lang="en-US" i="1" dirty="0"/>
              <a:t>p, </a:t>
            </a:r>
            <a:r>
              <a:rPr lang="en-US" dirty="0"/>
              <a:t>given</a:t>
            </a:r>
            <a:r>
              <a:rPr lang="en-US" i="1" dirty="0"/>
              <a:t> k </a:t>
            </a:r>
            <a:r>
              <a:rPr lang="en-US" dirty="0"/>
              <a:t>and</a:t>
            </a:r>
            <a:r>
              <a:rPr lang="en-US" i="1" dirty="0"/>
              <a:t> N</a:t>
            </a:r>
            <a:endParaRPr lang="en-US" dirty="0"/>
          </a:p>
        </p:txBody>
      </p:sp>
      <p:sp>
        <p:nvSpPr>
          <p:cNvPr id="163844" name="TextBox 3"/>
          <p:cNvSpPr txBox="1">
            <a:spLocks noChangeArrowheads="1"/>
          </p:cNvSpPr>
          <p:nvPr/>
        </p:nvSpPr>
        <p:spPr bwMode="auto">
          <a:xfrm>
            <a:off x="2097249" y="5459040"/>
            <a:ext cx="7524750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among the easiest possible likelihood problems</a:t>
            </a:r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  <p:sp>
        <p:nvSpPr>
          <p:cNvPr id="163845" name="TextBox 163844"/>
          <p:cNvSpPr txBox="1"/>
          <p:nvPr/>
        </p:nvSpPr>
        <p:spPr>
          <a:xfrm>
            <a:off x="3631291" y="3812333"/>
            <a:ext cx="5908430" cy="1257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ℒ(p | k, N) = (N choose k) p</a:t>
            </a:r>
            <a:r>
              <a:rPr sz="1900" baseline="30000">
                <a:latin typeface="Cambria"/>
              </a:rPr>
              <a:t>k</a:t>
            </a:r>
            <a:r>
              <a:rPr sz="1900">
                <a:latin typeface="Cambria"/>
              </a:rPr>
              <a:t> (1 − p)</a:t>
            </a:r>
            <a:r>
              <a:rPr sz="1900" baseline="30000">
                <a:latin typeface="Cambria"/>
              </a:rPr>
              <a:t>N − k</a:t>
            </a:r>
          </a:p>
        </p:txBody>
      </p:sp>
    </p:spTree>
    <p:extLst>
      <p:ext uri="{BB962C8B-B14F-4D97-AF65-F5344CB8AC3E}">
        <p14:creationId xmlns:p14="http://schemas.microsoft.com/office/powerpoint/2010/main" val="3318735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86610" y="-102833"/>
            <a:ext cx="11831216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Sneak peak: Maximum Likelihood is just doing this in reverse!!!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466531" y="1160104"/>
            <a:ext cx="11439329" cy="5501951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en-US" dirty="0"/>
              <a:t>This equation is exactly what we’ve been working with but the interpretation is </a:t>
            </a:r>
            <a:r>
              <a:rPr lang="en-US" b="1" i="1" dirty="0"/>
              <a:t>very</a:t>
            </a:r>
            <a:r>
              <a:rPr lang="en-US" i="1" dirty="0"/>
              <a:t> </a:t>
            </a:r>
            <a:r>
              <a:rPr lang="en-US" dirty="0"/>
              <a:t>different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The binomial probability summed over all values of </a:t>
            </a:r>
            <a:r>
              <a:rPr lang="en-US" i="1" dirty="0"/>
              <a:t>k</a:t>
            </a:r>
            <a:r>
              <a:rPr lang="en-US" dirty="0"/>
              <a:t> equals 1</a:t>
            </a:r>
          </a:p>
          <a:p>
            <a:pPr>
              <a:defRPr/>
            </a:pPr>
            <a:r>
              <a:rPr lang="en-US" dirty="0"/>
              <a:t>But now the Likelihood is a function of </a:t>
            </a:r>
            <a:r>
              <a:rPr lang="en-US" i="1" dirty="0"/>
              <a:t>p </a:t>
            </a:r>
            <a:r>
              <a:rPr lang="en-US" dirty="0"/>
              <a:t>with </a:t>
            </a:r>
            <a:r>
              <a:rPr lang="en-US" i="1" dirty="0"/>
              <a:t>k </a:t>
            </a:r>
            <a:r>
              <a:rPr lang="en-US" dirty="0"/>
              <a:t>fixed. </a:t>
            </a:r>
            <a:r>
              <a:rPr lang="en-US" i="1" dirty="0"/>
              <a:t>k </a:t>
            </a:r>
            <a:r>
              <a:rPr lang="en-US" dirty="0"/>
              <a:t>is our observation.</a:t>
            </a:r>
          </a:p>
          <a:p>
            <a:pPr>
              <a:defRPr/>
            </a:pPr>
            <a:r>
              <a:rPr lang="en-US" dirty="0"/>
              <a:t>The range of </a:t>
            </a:r>
            <a:r>
              <a:rPr lang="en-US" i="1" dirty="0"/>
              <a:t>p </a:t>
            </a:r>
            <a:r>
              <a:rPr lang="en-US" dirty="0"/>
              <a:t>must be 0 to 1, but there is no requirement that the integral of the likelihood from 0 to 1 = 1 (as would be the case for a probability)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Why did I say </a:t>
            </a:r>
            <a:r>
              <a:rPr lang="en-US"/>
              <a:t>“integral” and not “sum”</a:t>
            </a:r>
            <a:endParaRPr lang="en-US" dirty="0"/>
          </a:p>
        </p:txBody>
      </p:sp>
      <p:sp>
        <p:nvSpPr>
          <p:cNvPr id="14339" name="TextBox 14338"/>
          <p:cNvSpPr txBox="1"/>
          <p:nvPr/>
        </p:nvSpPr>
        <p:spPr>
          <a:xfrm>
            <a:off x="3265715" y="2063230"/>
            <a:ext cx="5908430" cy="1257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ℒ(p | k, N) = (N choose k) p</a:t>
            </a:r>
            <a:r>
              <a:rPr sz="1900" baseline="30000">
                <a:latin typeface="Cambria"/>
              </a:rPr>
              <a:t>k</a:t>
            </a:r>
            <a:r>
              <a:rPr sz="1900">
                <a:latin typeface="Cambria"/>
              </a:rPr>
              <a:t> (1 − p)</a:t>
            </a:r>
            <a:r>
              <a:rPr sz="1900" baseline="30000">
                <a:latin typeface="Cambria"/>
              </a:rPr>
              <a:t>N − k</a:t>
            </a:r>
          </a:p>
        </p:txBody>
      </p:sp>
    </p:spTree>
    <p:extLst>
      <p:ext uri="{BB962C8B-B14F-4D97-AF65-F5344CB8AC3E}">
        <p14:creationId xmlns:p14="http://schemas.microsoft.com/office/powerpoint/2010/main" val="1470707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373224" y="1160105"/>
            <a:ext cx="11476653" cy="4419600"/>
          </a:xfrm>
        </p:spPr>
        <p:txBody>
          <a:bodyPr/>
          <a:lstStyle/>
          <a:p>
            <a:pPr>
              <a:defRPr/>
            </a:pPr>
            <a:r>
              <a:rPr lang="en-US" dirty="0"/>
              <a:t>This equation is exactly what we’ve been working with but the interpretation is </a:t>
            </a:r>
            <a:r>
              <a:rPr lang="en-US" b="1" i="1" dirty="0"/>
              <a:t>very</a:t>
            </a:r>
            <a:r>
              <a:rPr lang="en-US" i="1" dirty="0"/>
              <a:t> </a:t>
            </a:r>
            <a:r>
              <a:rPr lang="en-US" dirty="0"/>
              <a:t>different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We usually work with the log-likelihood. Can you find that? </a:t>
            </a:r>
            <a:r>
              <a:rPr lang="en-US" dirty="0">
                <a:sym typeface="Wingdings"/>
              </a:rPr>
              <a:t> </a:t>
            </a:r>
            <a:r>
              <a:rPr lang="en-US" dirty="0"/>
              <a:t>log(a*b) = log(a) + log(b), log(a</a:t>
            </a:r>
            <a:r>
              <a:rPr lang="en-US" baseline="30000" dirty="0"/>
              <a:t>b</a:t>
            </a:r>
            <a:r>
              <a:rPr lang="en-US" dirty="0"/>
              <a:t>)=b*log(a)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3787808" y="5956627"/>
            <a:ext cx="4814887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/>
              <a:t>Should I show you the derivation?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3600" dirty="0"/>
              <a:t>Sneak peak: Maximum likelihood is just doing this in reverse!!!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2357" y="2019300"/>
            <a:ext cx="5908430" cy="1257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ℒ(p | k, N) = (N choose k) p</a:t>
            </a:r>
            <a:r>
              <a:rPr sz="1900" baseline="30000">
                <a:latin typeface="Cambria"/>
              </a:rPr>
              <a:t>k</a:t>
            </a:r>
            <a:r>
              <a:rPr sz="1900">
                <a:latin typeface="Cambria"/>
              </a:rPr>
              <a:t> (1 − p)</a:t>
            </a:r>
            <a:r>
              <a:rPr sz="1900" baseline="30000">
                <a:latin typeface="Cambria"/>
              </a:rPr>
              <a:t>N − 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6750" y="4538568"/>
            <a:ext cx="8581292" cy="1155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L(p | k, N) = log(N choose k) + k log(p) + (N − k) log(1 − p)</a:t>
            </a:r>
          </a:p>
        </p:txBody>
      </p:sp>
    </p:spTree>
    <p:extLst>
      <p:ext uri="{BB962C8B-B14F-4D97-AF65-F5344CB8AC3E}">
        <p14:creationId xmlns:p14="http://schemas.microsoft.com/office/powerpoint/2010/main" val="2019601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1076133" y="1160105"/>
            <a:ext cx="9840686" cy="4419600"/>
          </a:xfrm>
        </p:spPr>
        <p:txBody>
          <a:bodyPr>
            <a:normAutofit/>
          </a:bodyPr>
          <a:lstStyle/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How do we find the “maximum likelihood estimate” (MLE) for </a:t>
            </a:r>
            <a:r>
              <a:rPr lang="en-US" i="1" dirty="0"/>
              <a:t>p</a:t>
            </a:r>
            <a:r>
              <a:rPr lang="en-US" dirty="0"/>
              <a:t>?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Enter Calculus!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Find the MLE for </a:t>
            </a:r>
            <a:r>
              <a:rPr lang="en-US" i="1" dirty="0"/>
              <a:t>p</a:t>
            </a:r>
            <a:r>
              <a:rPr lang="en-US" dirty="0"/>
              <a:t> </a:t>
            </a:r>
          </a:p>
        </p:txBody>
      </p:sp>
      <p:sp>
        <p:nvSpPr>
          <p:cNvPr id="6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  <p:sp>
        <p:nvSpPr>
          <p:cNvPr id="11" name="TextBox 10"/>
          <p:cNvSpPr txBox="1"/>
          <p:nvPr/>
        </p:nvSpPr>
        <p:spPr>
          <a:xfrm>
            <a:off x="1465071" y="2303105"/>
            <a:ext cx="8581292" cy="1155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L(p | k, N) = log(N choose k) + k log(p) + (N − k) log(1 − p)</a:t>
            </a:r>
          </a:p>
        </p:txBody>
      </p:sp>
    </p:spTree>
    <p:extLst>
      <p:ext uri="{BB962C8B-B14F-4D97-AF65-F5344CB8AC3E}">
        <p14:creationId xmlns:p14="http://schemas.microsoft.com/office/powerpoint/2010/main" val="935773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034" name="Picture 4" descr="Two log-likelihood curves for p (binomial, constant term dropped). Panel a: 4 successes in 10 trials, wide peak near p=0.4. Panel b: 40 in 100, much narrower peak near 0.4. Larger samples give sharper likelihoods.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099717"/>
            <a:ext cx="9144000" cy="433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9987" name="TextBox 5"/>
          <p:cNvSpPr txBox="1">
            <a:spLocks noChangeArrowheads="1"/>
          </p:cNvSpPr>
          <p:nvPr/>
        </p:nvSpPr>
        <p:spPr bwMode="auto">
          <a:xfrm>
            <a:off x="1447800" y="5466184"/>
            <a:ext cx="9372600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Hudson (1971) showed that an approximate 95% CI for a single peaked likelihood function occurs 2 log-likelihood units below the peak.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sz="2000" dirty="0"/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Can you see why sample size is so important based on these shapes?</a:t>
            </a:r>
          </a:p>
        </p:txBody>
      </p:sp>
      <p:cxnSp>
        <p:nvCxnSpPr>
          <p:cNvPr id="8" name="Straight Connector 7"/>
          <p:cNvCxnSpPr>
            <a:cxnSpLocks noChangeShapeType="1"/>
          </p:cNvCxnSpPr>
          <p:nvPr/>
        </p:nvCxnSpPr>
        <p:spPr bwMode="auto">
          <a:xfrm>
            <a:off x="6705600" y="2534817"/>
            <a:ext cx="373380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209800" y="2306217"/>
            <a:ext cx="373380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024959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55964" y="-34925"/>
            <a:ext cx="7793037" cy="1143000"/>
          </a:xfrm>
        </p:spPr>
        <p:txBody>
          <a:bodyPr/>
          <a:lstStyle/>
          <a:p>
            <a:pPr>
              <a:defRPr/>
            </a:pPr>
            <a:r>
              <a:rPr lang="en-US" dirty="0"/>
              <a:t>Back to distributions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22514" y="1637523"/>
            <a:ext cx="10860833" cy="4114800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3000" dirty="0"/>
              <a:t>We’ll discuss maximum likelihood later</a:t>
            </a:r>
          </a:p>
          <a:p>
            <a:pPr>
              <a:defRPr/>
            </a:pPr>
            <a:endParaRPr lang="en-US" sz="3000" dirty="0"/>
          </a:p>
          <a:p>
            <a:pPr>
              <a:defRPr/>
            </a:pPr>
            <a:r>
              <a:rPr lang="en-US" sz="3000" dirty="0"/>
              <a:t>Bayesian statistics is very similar - making inference about the parameter given the data - but the inference will be a real probability rather than a point estimate and confidence interval.</a:t>
            </a:r>
          </a:p>
        </p:txBody>
      </p:sp>
    </p:spTree>
    <p:extLst>
      <p:ext uri="{BB962C8B-B14F-4D97-AF65-F5344CB8AC3E}">
        <p14:creationId xmlns:p14="http://schemas.microsoft.com/office/powerpoint/2010/main" val="810169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Multinomial distribution text and formula. Equation: Pr{k | N, p} = N! / (product over i of k_i!) times product over i=1 to n of p_i^(k_i). Extends the binomial to n outcome categori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378756" cy="66310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54780" y="4852386"/>
            <a:ext cx="31781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Alternatively written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05352" y="5330867"/>
            <a:ext cx="3403768" cy="952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>
                <a:latin typeface="Cambria"/>
              </a:rPr>
              <a:t>n! / (x</a:t>
            </a:r>
            <a:r>
              <a:rPr sz="1600" baseline="-25000">
                <a:latin typeface="Cambria"/>
              </a:rPr>
              <a:t>1</a:t>
            </a:r>
            <a:r>
              <a:rPr sz="1600">
                <a:latin typeface="Cambria"/>
              </a:rPr>
              <a:t>! ⋯ x</a:t>
            </a:r>
            <a:r>
              <a:rPr sz="1600" baseline="-25000">
                <a:latin typeface="Cambria"/>
              </a:rPr>
              <a:t>k</a:t>
            </a:r>
            <a:r>
              <a:rPr sz="1600">
                <a:latin typeface="Cambria"/>
              </a:rPr>
              <a:t>!) · p</a:t>
            </a:r>
            <a:r>
              <a:rPr sz="1600" baseline="-25000">
                <a:latin typeface="Cambria"/>
              </a:rPr>
              <a:t>1</a:t>
            </a:r>
            <a:r>
              <a:rPr sz="1600" baseline="30000">
                <a:latin typeface="Cambria"/>
              </a:rPr>
              <a:t>x₁</a:t>
            </a:r>
            <a:r>
              <a:rPr sz="1600">
                <a:latin typeface="Cambria"/>
              </a:rPr>
              <a:t> ⋯ p</a:t>
            </a:r>
            <a:r>
              <a:rPr sz="1600" baseline="-25000">
                <a:latin typeface="Cambria"/>
              </a:rPr>
              <a:t>k</a:t>
            </a:r>
            <a:r>
              <a:rPr sz="1600" baseline="30000">
                <a:latin typeface="Cambria"/>
              </a:rPr>
              <a:t>xₖ</a:t>
            </a:r>
          </a:p>
        </p:txBody>
      </p:sp>
    </p:spTree>
    <p:extLst>
      <p:ext uri="{BB962C8B-B14F-4D97-AF65-F5344CB8AC3E}">
        <p14:creationId xmlns:p14="http://schemas.microsoft.com/office/powerpoint/2010/main" val="20233640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The Poisson Distribution-I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79918" y="1334277"/>
            <a:ext cx="11527405" cy="4953000"/>
          </a:xfrm>
        </p:spPr>
        <p:txBody>
          <a:bodyPr>
            <a:noAutofit/>
          </a:bodyPr>
          <a:lstStyle/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The Poisson distribution is used to determine the probability that a specific number of occurrences takes place within a given unit of time or space. </a:t>
            </a:r>
          </a:p>
          <a:p>
            <a:pPr marL="457200" indent="-457200">
              <a:lnSpc>
                <a:spcPct val="80000"/>
              </a:lnSpc>
              <a:defRPr/>
            </a:pPr>
            <a:endParaRPr lang="en-US" altLang="en-US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A random variable </a:t>
            </a:r>
            <a:r>
              <a:rPr lang="en-US" altLang="en-US" i="1" dirty="0"/>
              <a:t>X</a:t>
            </a:r>
            <a:r>
              <a:rPr lang="en-US" altLang="en-US" dirty="0"/>
              <a:t> is Poisson distributed if: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experiment consists of counting the number of times, </a:t>
            </a:r>
            <a:r>
              <a:rPr lang="en-US" altLang="en-US" i="1" dirty="0"/>
              <a:t>x</a:t>
            </a:r>
            <a:r>
              <a:rPr lang="en-US" altLang="en-US" dirty="0"/>
              <a:t>, an event occurs in a given interval (the interval can relate to e.g. time, area, volume).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probability of the event occurring is the same for each interval.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number of occurrences in one interval is independent of the number of occurrences in other intervals.</a:t>
            </a:r>
          </a:p>
        </p:txBody>
      </p:sp>
    </p:spTree>
    <p:extLst>
      <p:ext uri="{BB962C8B-B14F-4D97-AF65-F5344CB8AC3E}">
        <p14:creationId xmlns:p14="http://schemas.microsoft.com/office/powerpoint/2010/main" val="146859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The Poisson Distribution-I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21095" y="1240973"/>
            <a:ext cx="10618236" cy="4953000"/>
          </a:xfrm>
        </p:spPr>
        <p:txBody>
          <a:bodyPr>
            <a:noAutofit/>
          </a:bodyPr>
          <a:lstStyle/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In short </a:t>
            </a:r>
            <a:r>
              <a:rPr lang="mr-IN" altLang="en-US" dirty="0"/>
              <a:t>–</a:t>
            </a:r>
            <a:r>
              <a:rPr lang="en-US" altLang="en-US" dirty="0"/>
              <a:t> Poisson models ”random” count data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ladybugs or leaves per bush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prey encountered per unit time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eggs produced by a fish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This is different from </a:t>
            </a:r>
            <a:r>
              <a:rPr lang="en-US" altLang="en-US" i="1" dirty="0"/>
              <a:t>bounded</a:t>
            </a:r>
            <a:r>
              <a:rPr lang="en-US" altLang="en-US" dirty="0"/>
              <a:t> count data, which is binomial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# offspring that survive out of N offspring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#cameras that detect wolves out of N cameras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You might think that the Poisson could be a good approximation of the binomial if N is large and p is small. You are right!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91959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The Poisson Distribution - </a:t>
            </a:r>
            <a:r>
              <a:rPr lang="en-US" altLang="en-US" i="1" dirty="0" err="1"/>
              <a:t>pmf</a:t>
            </a:r>
            <a:endParaRPr lang="en-US" altLang="en-US" i="1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470151" y="1704975"/>
            <a:ext cx="824164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Various notations: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r>
              <a:rPr lang="en-US" altLang="en-US" dirty="0"/>
              <a:t> Note that </a:t>
            </a:r>
            <a:r>
              <a:rPr lang="en-US" altLang="en-US" i="1" dirty="0"/>
              <a:t>x</a:t>
            </a:r>
            <a:r>
              <a:rPr lang="en-US" altLang="en-US" dirty="0"/>
              <a:t> (or </a:t>
            </a:r>
            <a:r>
              <a:rPr lang="en-US" altLang="en-US" i="1" dirty="0"/>
              <a:t>k</a:t>
            </a:r>
            <a:r>
              <a:rPr lang="en-US" altLang="en-US" dirty="0"/>
              <a:t>) can be any non-negative integer.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</p:txBody>
      </p:sp>
      <p:graphicFrame>
        <p:nvGraphicFramePr>
          <p:cNvPr id="189443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4397471" y="2509997"/>
          <a:ext cx="2054225" cy="728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80588" imgH="418918" progId="Equation.DSMT4">
                  <p:embed/>
                </p:oleObj>
              </mc:Choice>
              <mc:Fallback>
                <p:oleObj name="Equation" r:id="rId3" imgW="1180588" imgH="418918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7471" y="2509997"/>
                        <a:ext cx="2054225" cy="7284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1492" name="Object 6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4297990" y="4872555"/>
          <a:ext cx="3616658" cy="9472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651000" imgH="431800" progId="Equation.DSMT4">
                  <p:embed/>
                </p:oleObj>
              </mc:Choice>
              <mc:Fallback>
                <p:oleObj name="Equation" r:id="rId5" imgW="1651000" imgH="4318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97990" y="4872555"/>
                        <a:ext cx="3616658" cy="94722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1493" name="TextBox 191492"/>
          <p:cNvSpPr txBox="1"/>
          <p:nvPr/>
        </p:nvSpPr>
        <p:spPr>
          <a:xfrm>
            <a:off x="1099295" y="2277675"/>
            <a:ext cx="3516923" cy="1193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</a:t>
            </a:r>
            <a:r>
              <a:rPr sz="1900" baseline="-25000">
                <a:latin typeface="Cambria"/>
              </a:rPr>
              <a:t>k</a:t>
            </a:r>
            <a:r>
              <a:rPr sz="1900">
                <a:latin typeface="Cambria"/>
              </a:rPr>
              <a:t>(t) = (λt)</a:t>
            </a:r>
            <a:r>
              <a:rPr sz="1900" baseline="30000">
                <a:latin typeface="Cambria"/>
              </a:rPr>
              <a:t>k</a:t>
            </a:r>
            <a:r>
              <a:rPr sz="1900">
                <a:latin typeface="Cambria"/>
              </a:rPr>
              <a:t> / k! · e</a:t>
            </a:r>
            <a:r>
              <a:rPr sz="1900" baseline="30000">
                <a:latin typeface="Cambria"/>
              </a:rPr>
              <a:t>−λt</a:t>
            </a:r>
          </a:p>
        </p:txBody>
      </p:sp>
      <p:sp>
        <p:nvSpPr>
          <p:cNvPr id="191494" name="TextBox 191493"/>
          <p:cNvSpPr txBox="1"/>
          <p:nvPr/>
        </p:nvSpPr>
        <p:spPr>
          <a:xfrm>
            <a:off x="7117699" y="2509997"/>
            <a:ext cx="4891421" cy="7445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>
                <a:latin typeface="Cambria"/>
              </a:rPr>
              <a:t>P(k events in interval) = e</a:t>
            </a:r>
            <a:r>
              <a:rPr sz="1700" baseline="30000">
                <a:latin typeface="Cambria"/>
              </a:rPr>
              <a:t>−λ</a:t>
            </a:r>
            <a:r>
              <a:rPr sz="1700">
                <a:latin typeface="Cambria"/>
              </a:rPr>
              <a:t> · λ</a:t>
            </a:r>
            <a:r>
              <a:rPr sz="1700" baseline="30000">
                <a:latin typeface="Cambria"/>
              </a:rPr>
              <a:t>k</a:t>
            </a:r>
            <a:r>
              <a:rPr sz="1700">
                <a:latin typeface="Cambria"/>
              </a:rPr>
              <a:t> / k!</a:t>
            </a:r>
          </a:p>
        </p:txBody>
      </p:sp>
    </p:spTree>
    <p:extLst>
      <p:ext uri="{BB962C8B-B14F-4D97-AF65-F5344CB8AC3E}">
        <p14:creationId xmlns:p14="http://schemas.microsoft.com/office/powerpoint/2010/main" val="1362735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1524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Where does the Poisson distribution come from?</a:t>
            </a:r>
          </a:p>
        </p:txBody>
      </p:sp>
      <p:sp>
        <p:nvSpPr>
          <p:cNvPr id="179205" name="TextBox 5"/>
          <p:cNvSpPr txBox="1">
            <a:spLocks noChangeArrowheads="1"/>
          </p:cNvSpPr>
          <p:nvPr/>
        </p:nvSpPr>
        <p:spPr bwMode="auto">
          <a:xfrm>
            <a:off x="1369276" y="1621602"/>
            <a:ext cx="889147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In a very small interval of time, either nothing happens or one event happens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F54582F-1051-3E68-6212-788C38D1A9D2}"/>
              </a:ext>
            </a:extLst>
          </p:cNvPr>
          <p:cNvGrpSpPr/>
          <p:nvPr/>
        </p:nvGrpSpPr>
        <p:grpSpPr>
          <a:xfrm>
            <a:off x="0" y="2748024"/>
            <a:ext cx="13615409" cy="3406115"/>
            <a:chOff x="602166" y="2347914"/>
            <a:chExt cx="9946888" cy="2488375"/>
          </a:xfrm>
        </p:grpSpPr>
        <p:sp>
          <p:nvSpPr>
            <p:cNvPr id="179203" name="TextBox 3"/>
            <p:cNvSpPr txBox="1">
              <a:spLocks noChangeArrowheads="1"/>
            </p:cNvSpPr>
            <p:nvPr/>
          </p:nvSpPr>
          <p:spPr bwMode="auto">
            <a:xfrm>
              <a:off x="1369276" y="4106041"/>
              <a:ext cx="9001125" cy="4000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charset="2"/>
                <a:buChar char="n"/>
                <a:defRPr sz="3200">
                  <a:solidFill>
                    <a:schemeClr val="tx1"/>
                  </a:solidFill>
                  <a:latin typeface="Tahoma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charset="2"/>
                <a:buChar char="n"/>
                <a:defRPr sz="2800">
                  <a:solidFill>
                    <a:schemeClr val="tx1"/>
                  </a:solidFill>
                  <a:latin typeface="Tahoma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charset="2"/>
                <a:buChar char="n"/>
                <a:defRPr sz="2400">
                  <a:solidFill>
                    <a:schemeClr val="tx1"/>
                  </a:solidFill>
                  <a:latin typeface="Tahoma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 dirty="0"/>
                <a:t>Where o(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) represents higher order term of 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 that can be ignored as 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 </a:t>
              </a:r>
              <a:r>
                <a:rPr lang="en-US" altLang="en-US" sz="2000" dirty="0">
                  <a:sym typeface="Wingdings" charset="2"/>
                </a:rPr>
                <a:t> 0</a:t>
              </a:r>
              <a:endParaRPr lang="en-US" altLang="en-US" sz="2000" dirty="0"/>
            </a:p>
          </p:txBody>
        </p:sp>
      </p:grpSp>
      <p:sp>
        <p:nvSpPr>
          <p:cNvPr id="179206" name="TextBox 179205"/>
          <p:cNvSpPr txBox="1"/>
          <p:nvPr/>
        </p:nvSpPr>
        <p:spPr>
          <a:xfrm>
            <a:off x="2728913" y="2347914"/>
            <a:ext cx="6172200" cy="14319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>
                <a:latin typeface="Cambria"/>
              </a:rPr>
              <a:t>Pr{no event in the next dt} = 1 − λdt</a:t>
            </a:r>
          </a:p>
          <a:p>
            <a:r>
              <a:rPr sz="2300">
                <a:latin typeface="Cambria"/>
              </a:rPr>
              <a:t>Pr{1 event in the next dt} = λdt</a:t>
            </a:r>
          </a:p>
        </p:txBody>
      </p:sp>
    </p:spTree>
    <p:extLst>
      <p:ext uri="{BB962C8B-B14F-4D97-AF65-F5344CB8AC3E}">
        <p14:creationId xmlns:p14="http://schemas.microsoft.com/office/powerpoint/2010/main" val="18536751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5630" y="-85756"/>
            <a:ext cx="1189342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altLang="en-US" dirty="0"/>
              <a:t>Where does the Poisson distribution come from?</a:t>
            </a:r>
          </a:p>
        </p:txBody>
      </p:sp>
      <p:sp>
        <p:nvSpPr>
          <p:cNvPr id="181250" name="TextBox 5"/>
          <p:cNvSpPr txBox="1">
            <a:spLocks noChangeArrowheads="1"/>
          </p:cNvSpPr>
          <p:nvPr/>
        </p:nvSpPr>
        <p:spPr bwMode="auto">
          <a:xfrm>
            <a:off x="1554163" y="1447800"/>
            <a:ext cx="89789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>
                <a:solidFill>
                  <a:srgbClr val="000000"/>
                </a:solidFill>
              </a:rPr>
              <a:t>What we want is the probability of </a:t>
            </a:r>
            <a:r>
              <a:rPr lang="en-US" altLang="en-US" sz="2000" i="1">
                <a:solidFill>
                  <a:srgbClr val="000000"/>
                </a:solidFill>
              </a:rPr>
              <a:t>k </a:t>
            </a:r>
            <a:r>
              <a:rPr lang="en-US" altLang="en-US" sz="2000">
                <a:solidFill>
                  <a:srgbClr val="000000"/>
                </a:solidFill>
              </a:rPr>
              <a:t>events in a a longer interval, say time = </a:t>
            </a:r>
            <a:r>
              <a:rPr lang="en-US" altLang="en-US" sz="2000" i="1">
                <a:solidFill>
                  <a:srgbClr val="000000"/>
                </a:solidFill>
              </a:rPr>
              <a:t>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514476" y="2203854"/>
            <a:ext cx="9215728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How could we have no events up to time t + </a:t>
            </a:r>
            <a:r>
              <a:rPr lang="en-US" sz="2200" dirty="0" err="1"/>
              <a:t>dt</a:t>
            </a:r>
            <a:r>
              <a:rPr lang="en-US" sz="2200" dirty="0"/>
              <a:t>? </a:t>
            </a:r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Use the definition of the derivative to show that this leads to</a:t>
            </a:r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Solve to find the zero term of the Poisson, </a:t>
            </a:r>
            <a:r>
              <a:rPr lang="en-US" sz="2200" dirty="0" err="1"/>
              <a:t>Pr</a:t>
            </a:r>
            <a:r>
              <a:rPr lang="en-US" sz="2200" dirty="0"/>
              <a:t>(no events)</a:t>
            </a:r>
          </a:p>
          <a:p>
            <a:pPr eaLnBrk="1" hangingPunct="1">
              <a:defRPr/>
            </a:pPr>
            <a:endParaRPr lang="en-US" sz="2200" dirty="0"/>
          </a:p>
        </p:txBody>
      </p:sp>
      <p:pic>
        <p:nvPicPr>
          <p:cNvPr id="10" name="Picture 9" descr="Equation: p_k(t) = (lambda t)^k / k! times e^(-lambda t). The full Poisson pmf.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9900" y="5897173"/>
            <a:ext cx="2963863" cy="582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29A4099D-0DFA-1F81-90B8-6EC02088523B}"/>
              </a:ext>
            </a:extLst>
          </p:cNvPr>
          <p:cNvGrpSpPr/>
          <p:nvPr/>
        </p:nvGrpSpPr>
        <p:grpSpPr>
          <a:xfrm>
            <a:off x="3207885" y="2659084"/>
            <a:ext cx="5671456" cy="831407"/>
            <a:chOff x="3207885" y="2659084"/>
            <a:chExt cx="5671456" cy="831407"/>
          </a:xfrm>
        </p:grpSpPr>
      </p:grpSp>
      <p:sp>
        <p:nvSpPr>
          <p:cNvPr id="181251" name="TextBox 181250"/>
          <p:cNvSpPr txBox="1"/>
          <p:nvPr/>
        </p:nvSpPr>
        <p:spPr>
          <a:xfrm>
            <a:off x="3207885" y="2832085"/>
            <a:ext cx="5671456" cy="6584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>
                <a:latin typeface="Cambria"/>
              </a:rPr>
              <a:t>p</a:t>
            </a:r>
            <a:r>
              <a:rPr sz="2600" baseline="-25000">
                <a:latin typeface="Cambria"/>
              </a:rPr>
              <a:t>0</a:t>
            </a:r>
            <a:r>
              <a:rPr sz="2600">
                <a:latin typeface="Cambria"/>
              </a:rPr>
              <a:t>(t + dt) = p</a:t>
            </a:r>
            <a:r>
              <a:rPr sz="2600" baseline="-25000">
                <a:latin typeface="Cambria"/>
              </a:rPr>
              <a:t>0</a:t>
            </a:r>
            <a:r>
              <a:rPr sz="2600">
                <a:latin typeface="Cambria"/>
              </a:rPr>
              <a:t>(t)(1 − λdt)</a:t>
            </a:r>
          </a:p>
        </p:txBody>
      </p:sp>
      <p:sp>
        <p:nvSpPr>
          <p:cNvPr id="181252" name="TextBox 181251"/>
          <p:cNvSpPr txBox="1"/>
          <p:nvPr/>
        </p:nvSpPr>
        <p:spPr>
          <a:xfrm>
            <a:off x="4640426" y="4125439"/>
            <a:ext cx="2278063" cy="10509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>
                <a:latin typeface="Cambria"/>
              </a:rPr>
              <a:t>dp</a:t>
            </a:r>
            <a:r>
              <a:rPr sz="2000" baseline="-25000">
                <a:latin typeface="Cambria"/>
              </a:rPr>
              <a:t>0</a:t>
            </a:r>
            <a:r>
              <a:rPr sz="2000">
                <a:latin typeface="Cambria"/>
              </a:rPr>
              <a:t> / dt = −λ p</a:t>
            </a:r>
            <a:r>
              <a:rPr sz="2000" baseline="-25000">
                <a:latin typeface="Cambria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835507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3048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Zero term of the Poisson Distribution</a:t>
            </a:r>
          </a:p>
        </p:txBody>
      </p:sp>
      <p:sp>
        <p:nvSpPr>
          <p:cNvPr id="183304" name="TextBox 9"/>
          <p:cNvSpPr txBox="1">
            <a:spLocks noChangeArrowheads="1"/>
          </p:cNvSpPr>
          <p:nvPr/>
        </p:nvSpPr>
        <p:spPr bwMode="auto">
          <a:xfrm>
            <a:off x="2225676" y="2029375"/>
            <a:ext cx="3732213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Probability Mass Function:</a:t>
            </a:r>
          </a:p>
        </p:txBody>
      </p:sp>
      <p:sp>
        <p:nvSpPr>
          <p:cNvPr id="183305" name="TextBox 183304"/>
          <p:cNvSpPr txBox="1"/>
          <p:nvPr/>
        </p:nvSpPr>
        <p:spPr>
          <a:xfrm>
            <a:off x="5916613" y="1713463"/>
            <a:ext cx="3516923" cy="1095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</a:t>
            </a:r>
            <a:r>
              <a:rPr sz="1900" baseline="-25000">
                <a:latin typeface="Cambria"/>
              </a:rPr>
              <a:t>k</a:t>
            </a:r>
            <a:r>
              <a:rPr sz="1900">
                <a:latin typeface="Cambria"/>
              </a:rPr>
              <a:t>(t) = (λt)</a:t>
            </a:r>
            <a:r>
              <a:rPr sz="1900" baseline="30000">
                <a:latin typeface="Cambria"/>
              </a:rPr>
              <a:t>k</a:t>
            </a:r>
            <a:r>
              <a:rPr sz="1900">
                <a:latin typeface="Cambria"/>
              </a:rPr>
              <a:t> / k! · e</a:t>
            </a:r>
            <a:r>
              <a:rPr sz="1900" baseline="30000">
                <a:latin typeface="Cambria"/>
              </a:rPr>
              <a:t>−λt</a:t>
            </a:r>
          </a:p>
        </p:txBody>
      </p:sp>
      <p:sp>
        <p:nvSpPr>
          <p:cNvPr id="183306" name="TextBox 183305"/>
          <p:cNvSpPr txBox="1"/>
          <p:nvPr/>
        </p:nvSpPr>
        <p:spPr>
          <a:xfrm>
            <a:off x="2335213" y="3158089"/>
            <a:ext cx="6235700" cy="704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>
                <a:latin typeface="Cambria"/>
              </a:rPr>
              <a:t>Pr{no event in 0 to t} = p</a:t>
            </a:r>
            <a:r>
              <a:rPr sz="2300" baseline="-25000">
                <a:latin typeface="Cambria"/>
              </a:rPr>
              <a:t>0</a:t>
            </a:r>
            <a:r>
              <a:rPr sz="2300">
                <a:latin typeface="Cambria"/>
              </a:rPr>
              <a:t>(t) = e</a:t>
            </a:r>
            <a:r>
              <a:rPr sz="2300" baseline="30000">
                <a:latin typeface="Cambria"/>
              </a:rPr>
              <a:t>−λt</a:t>
            </a:r>
          </a:p>
        </p:txBody>
      </p:sp>
    </p:spTree>
    <p:extLst>
      <p:ext uri="{BB962C8B-B14F-4D97-AF65-F5344CB8AC3E}">
        <p14:creationId xmlns:p14="http://schemas.microsoft.com/office/powerpoint/2010/main" val="9810561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09825" y="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First term of the Poisson Distribution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788193" y="1447800"/>
            <a:ext cx="11024361" cy="1828799"/>
          </a:xfrm>
        </p:spPr>
        <p:txBody>
          <a:bodyPr>
            <a:noAutofit/>
          </a:bodyPr>
          <a:lstStyle/>
          <a:p>
            <a:pPr eaLnBrk="1" hangingPunct="1">
              <a:defRPr/>
            </a:pPr>
            <a:r>
              <a:rPr lang="en-US" altLang="en-US" sz="2600" dirty="0"/>
              <a:t>How can you have </a:t>
            </a:r>
            <a:r>
              <a:rPr lang="en-US" altLang="en-US" sz="2600" u="sng" dirty="0"/>
              <a:t>one</a:t>
            </a:r>
            <a:r>
              <a:rPr lang="en-US" altLang="en-US" sz="2600" dirty="0"/>
              <a:t> event in time 0 to </a:t>
            </a:r>
            <a:r>
              <a:rPr lang="en-US" altLang="en-US" sz="2600" i="1" dirty="0"/>
              <a:t>t </a:t>
            </a:r>
            <a:r>
              <a:rPr lang="en-US" altLang="en-US" sz="2600" dirty="0"/>
              <a:t>+ </a:t>
            </a:r>
            <a:r>
              <a:rPr lang="en-US" altLang="en-US" sz="2600" i="1" dirty="0"/>
              <a:t>dt</a:t>
            </a:r>
            <a:r>
              <a:rPr lang="en-US" altLang="en-US" sz="2600" dirty="0"/>
              <a:t>?</a:t>
            </a:r>
          </a:p>
          <a:p>
            <a:pPr eaLnBrk="1" hangingPunct="1">
              <a:defRPr/>
            </a:pPr>
            <a:endParaRPr lang="en-US" altLang="en-US" sz="2600" dirty="0"/>
          </a:p>
          <a:p>
            <a:pPr>
              <a:defRPr/>
            </a:pPr>
            <a:r>
              <a:rPr lang="en-US" sz="2600" dirty="0"/>
              <a:t>Either we had no event in 0 to </a:t>
            </a:r>
            <a:r>
              <a:rPr lang="en-US" sz="2600" i="1" dirty="0"/>
              <a:t>t</a:t>
            </a:r>
            <a:r>
              <a:rPr lang="en-US" sz="2600" dirty="0"/>
              <a:t> and one event in </a:t>
            </a:r>
            <a:r>
              <a:rPr lang="en-US" sz="2600" i="1" dirty="0"/>
              <a:t>t</a:t>
            </a:r>
            <a:r>
              <a:rPr lang="en-US" sz="2600" dirty="0"/>
              <a:t> to </a:t>
            </a:r>
            <a:r>
              <a:rPr lang="en-US" sz="2600" i="1" dirty="0"/>
              <a:t>t</a:t>
            </a:r>
            <a:r>
              <a:rPr lang="en-US" sz="2600" dirty="0"/>
              <a:t> + </a:t>
            </a:r>
            <a:r>
              <a:rPr lang="en-US" sz="2600" i="1" dirty="0"/>
              <a:t>dt</a:t>
            </a:r>
            <a:r>
              <a:rPr lang="en-US" sz="2600" dirty="0"/>
              <a:t> or we had one event in 0 to </a:t>
            </a:r>
            <a:r>
              <a:rPr lang="en-US" sz="2600" i="1" dirty="0"/>
              <a:t>t</a:t>
            </a:r>
            <a:r>
              <a:rPr lang="en-US" sz="2600" dirty="0"/>
              <a:t> and no event in </a:t>
            </a:r>
            <a:r>
              <a:rPr lang="en-US" sz="2600" i="1" dirty="0"/>
              <a:t>t</a:t>
            </a:r>
            <a:r>
              <a:rPr lang="en-US" sz="2600" dirty="0"/>
              <a:t> to </a:t>
            </a:r>
            <a:r>
              <a:rPr lang="en-US" sz="2600" i="1" dirty="0"/>
              <a:t>t</a:t>
            </a:r>
            <a:r>
              <a:rPr lang="en-US" sz="2600" dirty="0"/>
              <a:t> + </a:t>
            </a:r>
            <a:r>
              <a:rPr lang="en-US" sz="2600" i="1" dirty="0"/>
              <a:t>dt</a:t>
            </a:r>
            <a:r>
              <a:rPr lang="en-US" sz="2600" dirty="0"/>
              <a:t> </a:t>
            </a:r>
          </a:p>
          <a:p>
            <a:pPr>
              <a:defRPr/>
            </a:pPr>
            <a:endParaRPr lang="en-US" sz="2600" dirty="0"/>
          </a:p>
          <a:p>
            <a:pPr>
              <a:defRPr/>
            </a:pPr>
            <a:r>
              <a:rPr lang="en-US" sz="2600" dirty="0"/>
              <a:t>Continue like this to derive other terms</a:t>
            </a:r>
          </a:p>
          <a:p>
            <a:pPr>
              <a:defRPr/>
            </a:pPr>
            <a:endParaRPr lang="en-US" sz="2600" dirty="0"/>
          </a:p>
          <a:p>
            <a:pPr>
              <a:defRPr/>
            </a:pPr>
            <a:r>
              <a:rPr lang="en-US" sz="2600" dirty="0"/>
              <a:t>Another derivation starts with the Binomial distribution where the average number of successes, </a:t>
            </a:r>
            <a:r>
              <a:rPr lang="en-US" sz="2600" i="1" dirty="0"/>
              <a:t>Np</a:t>
            </a:r>
            <a:r>
              <a:rPr lang="en-US" sz="2600" dirty="0"/>
              <a:t>, is replaced by.    and N approaches infinity</a:t>
            </a:r>
          </a:p>
        </p:txBody>
      </p:sp>
      <p:pic>
        <p:nvPicPr>
          <p:cNvPr id="2" name="Picture 1" descr="Equation: p_k(t) = (lambda t)^k / k! times e^(-lambda t). The full Poisson pmf.">
            <a:extLst>
              <a:ext uri="{FF2B5EF4-FFF2-40B4-BE49-F238E27FC236}">
                <a16:creationId xmlns:a16="http://schemas.microsoft.com/office/drawing/2014/main" id="{61487007-FEC4-C45B-86F4-A9C2B585E78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380" t="-1602" r="8590" b="17386"/>
          <a:stretch/>
        </p:blipFill>
        <p:spPr bwMode="auto">
          <a:xfrm>
            <a:off x="6423104" y="5075663"/>
            <a:ext cx="267629" cy="4906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13105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The Poisson Distribution - </a:t>
            </a:r>
            <a:r>
              <a:rPr lang="en-US" altLang="en-US" i="1" dirty="0" err="1"/>
              <a:t>pmf</a:t>
            </a:r>
            <a:endParaRPr lang="en-US" altLang="en-US" i="1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470151" y="1704975"/>
            <a:ext cx="824164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Various notations: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r>
              <a:rPr lang="en-US" altLang="en-US" dirty="0"/>
              <a:t> Note that </a:t>
            </a:r>
            <a:r>
              <a:rPr lang="en-US" altLang="en-US" i="1" dirty="0"/>
              <a:t>x</a:t>
            </a:r>
            <a:r>
              <a:rPr lang="en-US" altLang="en-US" dirty="0"/>
              <a:t> (or </a:t>
            </a:r>
            <a:r>
              <a:rPr lang="en-US" altLang="en-US" i="1" dirty="0"/>
              <a:t>k</a:t>
            </a:r>
            <a:r>
              <a:rPr lang="en-US" altLang="en-US" dirty="0"/>
              <a:t>) can be any non-negative integer.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</p:txBody>
      </p:sp>
      <p:graphicFrame>
        <p:nvGraphicFramePr>
          <p:cNvPr id="189443" name="Object 4"/>
          <p:cNvGraphicFramePr>
            <a:graphicFrameLocks noGrp="1" noChangeAspect="1"/>
          </p:cNvGraphicFramePr>
          <p:nvPr>
            <p:ph sz="quarter" idx="2"/>
            <p:extLst>
              <p:ext uri="{D42A27DB-BD31-4B8C-83A1-F6EECF244321}">
                <p14:modId xmlns:p14="http://schemas.microsoft.com/office/powerpoint/2010/main" val="368061340"/>
              </p:ext>
            </p:extLst>
          </p:nvPr>
        </p:nvGraphicFramePr>
        <p:xfrm>
          <a:off x="4397471" y="2509997"/>
          <a:ext cx="2054225" cy="728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80588" imgH="418918" progId="Equation.DSMT4">
                  <p:embed/>
                </p:oleObj>
              </mc:Choice>
              <mc:Fallback>
                <p:oleObj name="Equation" r:id="rId3" imgW="1180588" imgH="418918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7471" y="2509997"/>
                        <a:ext cx="2054225" cy="7284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1492" name="Object 6"/>
          <p:cNvGraphicFramePr>
            <a:graphicFrameLocks noGrp="1" noChangeAspect="1"/>
          </p:cNvGraphicFramePr>
          <p:nvPr>
            <p:ph sz="quarter" idx="3"/>
            <p:extLst>
              <p:ext uri="{D42A27DB-BD31-4B8C-83A1-F6EECF244321}">
                <p14:modId xmlns:p14="http://schemas.microsoft.com/office/powerpoint/2010/main" val="276206557"/>
              </p:ext>
            </p:extLst>
          </p:nvPr>
        </p:nvGraphicFramePr>
        <p:xfrm>
          <a:off x="4297990" y="4872555"/>
          <a:ext cx="3616658" cy="9472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651000" imgH="431800" progId="Equation.DSMT4">
                  <p:embed/>
                </p:oleObj>
              </mc:Choice>
              <mc:Fallback>
                <p:oleObj name="Equation" r:id="rId5" imgW="1651000" imgH="4318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97990" y="4872555"/>
                        <a:ext cx="3616658" cy="94722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1493" name="TextBox 191492"/>
          <p:cNvSpPr txBox="1"/>
          <p:nvPr/>
        </p:nvSpPr>
        <p:spPr>
          <a:xfrm>
            <a:off x="1099295" y="2277675"/>
            <a:ext cx="3516923" cy="1193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</a:t>
            </a:r>
            <a:r>
              <a:rPr sz="1900" baseline="-25000">
                <a:latin typeface="Cambria"/>
              </a:rPr>
              <a:t>k</a:t>
            </a:r>
            <a:r>
              <a:rPr sz="1900">
                <a:latin typeface="Cambria"/>
              </a:rPr>
              <a:t>(t) = (λt)</a:t>
            </a:r>
            <a:r>
              <a:rPr sz="1900" baseline="30000">
                <a:latin typeface="Cambria"/>
              </a:rPr>
              <a:t>k</a:t>
            </a:r>
            <a:r>
              <a:rPr sz="1900">
                <a:latin typeface="Cambria"/>
              </a:rPr>
              <a:t> / k! · e</a:t>
            </a:r>
            <a:r>
              <a:rPr sz="1900" baseline="30000">
                <a:latin typeface="Cambria"/>
              </a:rPr>
              <a:t>−λt</a:t>
            </a:r>
          </a:p>
        </p:txBody>
      </p:sp>
      <p:sp>
        <p:nvSpPr>
          <p:cNvPr id="191494" name="TextBox 191493"/>
          <p:cNvSpPr txBox="1"/>
          <p:nvPr/>
        </p:nvSpPr>
        <p:spPr>
          <a:xfrm>
            <a:off x="7117699" y="2509997"/>
            <a:ext cx="4891421" cy="7445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>
                <a:latin typeface="Cambria"/>
              </a:rPr>
              <a:t>P(k events in interval) = e</a:t>
            </a:r>
            <a:r>
              <a:rPr sz="1700" baseline="30000">
                <a:latin typeface="Cambria"/>
              </a:rPr>
              <a:t>−λ</a:t>
            </a:r>
            <a:r>
              <a:rPr sz="1700">
                <a:latin typeface="Cambria"/>
              </a:rPr>
              <a:t> · λ</a:t>
            </a:r>
            <a:r>
              <a:rPr sz="1700" baseline="30000">
                <a:latin typeface="Cambria"/>
              </a:rPr>
              <a:t>k</a:t>
            </a:r>
            <a:r>
              <a:rPr sz="1700">
                <a:latin typeface="Cambria"/>
              </a:rPr>
              <a:t> / k!</a:t>
            </a:r>
          </a:p>
        </p:txBody>
      </p:sp>
    </p:spTree>
    <p:extLst>
      <p:ext uri="{BB962C8B-B14F-4D97-AF65-F5344CB8AC3E}">
        <p14:creationId xmlns:p14="http://schemas.microsoft.com/office/powerpoint/2010/main" val="1609431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0"/>
          <p:cNvPicPr>
            <a:picLocks noGrp="1" noChangeAspect="1" noChangeArrowheads="1"/>
          </p:cNvPicPr>
          <p:nvPr>
            <p:ph sz="quarter" idx="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6507132" y="4119468"/>
            <a:ext cx="3857625" cy="2165350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sp>
        <p:nvSpPr>
          <p:cNvPr id="12291" name="Rectangle 2"/>
          <p:cNvSpPr>
            <a:spLocks noGrp="1" noChangeArrowheads="1"/>
          </p:cNvSpPr>
          <p:nvPr>
            <p:ph type="title"/>
          </p:nvPr>
        </p:nvSpPr>
        <p:spPr>
          <a:xfrm>
            <a:off x="1459941" y="393606"/>
            <a:ext cx="10390716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The Poisson Distribution Graphically</a:t>
            </a:r>
          </a:p>
        </p:txBody>
      </p:sp>
      <p:pic>
        <p:nvPicPr>
          <p:cNvPr id="12292" name="Picture 13"/>
          <p:cNvPicPr>
            <a:picLocks noGrp="1" noChangeAspect="1" noChangeArrowheads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6478556" y="1757268"/>
            <a:ext cx="3810000" cy="2185988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pic>
        <p:nvPicPr>
          <p:cNvPr id="12293" name="Picture 16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1906557" y="1757269"/>
            <a:ext cx="3757613" cy="2155825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sp>
        <p:nvSpPr>
          <p:cNvPr id="12294" name="Text Box 10"/>
          <p:cNvSpPr txBox="1">
            <a:spLocks noChangeArrowheads="1"/>
          </p:cNvSpPr>
          <p:nvPr/>
        </p:nvSpPr>
        <p:spPr bwMode="auto">
          <a:xfrm>
            <a:off x="4891056" y="19096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>
                <a:sym typeface="Symbol" charset="2"/>
              </a:rPr>
              <a:t>=2</a:t>
            </a:r>
          </a:p>
        </p:txBody>
      </p:sp>
      <p:sp>
        <p:nvSpPr>
          <p:cNvPr id="12295" name="Text Box 11"/>
          <p:cNvSpPr txBox="1">
            <a:spLocks noChangeArrowheads="1"/>
          </p:cNvSpPr>
          <p:nvPr/>
        </p:nvSpPr>
        <p:spPr bwMode="auto">
          <a:xfrm>
            <a:off x="9526556" y="19096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>
                <a:sym typeface="Symbol" charset="2"/>
              </a:rPr>
              <a:t>=5</a:t>
            </a:r>
          </a:p>
        </p:txBody>
      </p:sp>
      <p:sp>
        <p:nvSpPr>
          <p:cNvPr id="12296" name="Text Box 12"/>
          <p:cNvSpPr txBox="1">
            <a:spLocks noChangeArrowheads="1"/>
          </p:cNvSpPr>
          <p:nvPr/>
        </p:nvSpPr>
        <p:spPr bwMode="auto">
          <a:xfrm>
            <a:off x="9539256" y="42718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>
                <a:sym typeface="Symbol" charset="2"/>
              </a:rPr>
              <a:t>=8</a:t>
            </a:r>
          </a:p>
        </p:txBody>
      </p:sp>
    </p:spTree>
    <p:extLst>
      <p:ext uri="{BB962C8B-B14F-4D97-AF65-F5344CB8AC3E}">
        <p14:creationId xmlns:p14="http://schemas.microsoft.com/office/powerpoint/2010/main" val="8218531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865771" y="535810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dirty="0"/>
              <a:t>An Example of the Poisson Distribution-I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2788" y="1679857"/>
            <a:ext cx="11364686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u="sng" dirty="0"/>
              <a:t>The mean bycatch of dolphins per month in the Eastern Tropical Pacific is 3</a:t>
            </a:r>
          </a:p>
          <a:p>
            <a:pPr eaLnBrk="1" hangingPunct="1">
              <a:defRPr/>
            </a:pPr>
            <a:endParaRPr lang="en-US" altLang="en-US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the catch will be 4 in a given month?</a:t>
            </a:r>
          </a:p>
          <a:p>
            <a:pPr lvl="1" eaLnBrk="1" hangingPunct="1">
              <a:defRPr/>
            </a:pPr>
            <a:endParaRPr lang="en-US" altLang="en-US" sz="2600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the catch will be 2 or less in a given month?</a:t>
            </a:r>
          </a:p>
          <a:p>
            <a:pPr lvl="1" eaLnBrk="1" hangingPunct="1">
              <a:defRPr/>
            </a:pPr>
            <a:endParaRPr lang="en-US" altLang="en-US" sz="2600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at least one dolphin is killed?</a:t>
            </a:r>
          </a:p>
        </p:txBody>
      </p:sp>
      <p:graphicFrame>
        <p:nvGraphicFramePr>
          <p:cNvPr id="4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64011272"/>
              </p:ext>
            </p:extLst>
          </p:nvPr>
        </p:nvGraphicFramePr>
        <p:xfrm>
          <a:off x="4818820" y="4919723"/>
          <a:ext cx="2554360" cy="90575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80588" imgH="418918" progId="Equation.DSMT4">
                  <p:embed/>
                </p:oleObj>
              </mc:Choice>
              <mc:Fallback>
                <p:oleObj name="Equation" r:id="rId3" imgW="1180588" imgH="418918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18820" y="4919723"/>
                        <a:ext cx="2554360" cy="90575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356815" y="6265335"/>
            <a:ext cx="117808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Breakout groups: Try to find analytical solutions AND a solution using built in functions in 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4936B6-5259-DADB-50C3-AAE367567E04}"/>
              </a:ext>
            </a:extLst>
          </p:cNvPr>
          <p:cNvSpPr txBox="1"/>
          <p:nvPr/>
        </p:nvSpPr>
        <p:spPr>
          <a:xfrm>
            <a:off x="4550397" y="70314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</p:spTree>
    <p:extLst>
      <p:ext uri="{BB962C8B-B14F-4D97-AF65-F5344CB8AC3E}">
        <p14:creationId xmlns:p14="http://schemas.microsoft.com/office/powerpoint/2010/main" val="942259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87676" y="15875"/>
            <a:ext cx="11774185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 dirty="0"/>
              <a:t>Example of using Poisson Probabilistic Arguments in Research</a:t>
            </a:r>
          </a:p>
        </p:txBody>
      </p:sp>
      <p:pic>
        <p:nvPicPr>
          <p:cNvPr id="6" name="Picture 5" descr="Journal excerpt: modeling observed attacks as a Poisson process, the probability of zero attacks being seen before 1990 is 0.006, given a rate constant over the 27-year period.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8750" y="4857687"/>
            <a:ext cx="6896100" cy="180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7635" name="Picture 6" descr="Journal article header: 'Killer Whale Predation on Sea Otters Linking Oceanic and Nearshore Ecosystems' by Estes, Tinker, Williams and Doak, with abstract on sea otter decline from killer whale predation.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927395"/>
            <a:ext cx="5283200" cy="360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35136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-250373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dirty="0"/>
              <a:t>The Poisson Distribution - Caveat</a:t>
            </a:r>
            <a:endParaRPr lang="en-US" altLang="en-US" sz="3200" dirty="0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1149802"/>
            <a:ext cx="1043162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Poisson distribution would seem to be a good distribution to assume for catch data in fisheries. However, fish school. What does this imply regarding the assumptions of the Poisson distribution?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Variance would be high relative to the mean</a:t>
            </a:r>
          </a:p>
          <a:p>
            <a:pPr lvl="1" eaLnBrk="1" hangingPunct="1">
              <a:defRPr/>
            </a:pPr>
            <a:r>
              <a:rPr lang="en-US" altLang="en-US" dirty="0"/>
              <a:t>You catch zero or a shit ton!!!</a:t>
            </a:r>
          </a:p>
          <a:p>
            <a:pPr lvl="1" eaLnBrk="1" hangingPunct="1">
              <a:defRPr/>
            </a:pPr>
            <a:r>
              <a:rPr lang="en-US" altLang="en-US" dirty="0"/>
              <a:t>This is called </a:t>
            </a:r>
            <a:r>
              <a:rPr lang="en-US" altLang="en-US" dirty="0" err="1"/>
              <a:t>overdispersion</a:t>
            </a:r>
            <a:r>
              <a:rPr lang="en-US" altLang="en-US" dirty="0"/>
              <a:t> </a:t>
            </a:r>
            <a:r>
              <a:rPr lang="en-US" altLang="en-US" dirty="0">
                <a:sym typeface="Wingdings"/>
              </a:rPr>
              <a:t> Onward to negative binomial!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544515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927654" y="-250373"/>
            <a:ext cx="835316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 dirty="0"/>
              <a:t>But </a:t>
            </a:r>
            <a:r>
              <a:rPr lang="en-US" altLang="en-US" sz="4000"/>
              <a:t>first: MLE </a:t>
            </a:r>
            <a:r>
              <a:rPr lang="en-US" altLang="en-US" sz="4000" dirty="0"/>
              <a:t>for the Poisson Distribution</a:t>
            </a:r>
            <a:endParaRPr lang="en-US" altLang="en-US" sz="3200" dirty="0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78498" y="1149802"/>
            <a:ext cx="1099146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Let’s find the MLE of the Poisson distribution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Let’s do it for a dataset of </a:t>
            </a:r>
            <a:r>
              <a:rPr lang="en-US" altLang="en-US" i="1" dirty="0"/>
              <a:t>n</a:t>
            </a:r>
            <a:r>
              <a:rPr lang="en-US" altLang="en-US" dirty="0"/>
              <a:t> Poisson distributed observations. (very common to assume that </a:t>
            </a:r>
            <a:r>
              <a:rPr lang="en-US" altLang="en-US" i="1" dirty="0"/>
              <a:t>t</a:t>
            </a:r>
            <a:r>
              <a:rPr lang="en-US" altLang="en-US" dirty="0"/>
              <a:t> =1 since counts per period is typically desired)</a:t>
            </a:r>
          </a:p>
        </p:txBody>
      </p:sp>
      <p:sp>
        <p:nvSpPr>
          <p:cNvPr id="11268" name="TextBox 11267"/>
          <p:cNvSpPr txBox="1"/>
          <p:nvPr/>
        </p:nvSpPr>
        <p:spPr>
          <a:xfrm>
            <a:off x="4572000" y="1961731"/>
            <a:ext cx="3516923" cy="1095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</a:t>
            </a:r>
            <a:r>
              <a:rPr sz="1900" baseline="-25000">
                <a:latin typeface="Cambria"/>
              </a:rPr>
              <a:t>k</a:t>
            </a:r>
            <a:r>
              <a:rPr sz="1900">
                <a:latin typeface="Cambria"/>
              </a:rPr>
              <a:t>(t) = (λt)</a:t>
            </a:r>
            <a:r>
              <a:rPr sz="1900" baseline="30000">
                <a:latin typeface="Cambria"/>
              </a:rPr>
              <a:t>k</a:t>
            </a:r>
            <a:r>
              <a:rPr sz="1900">
                <a:latin typeface="Cambria"/>
              </a:rPr>
              <a:t> / k! · e</a:t>
            </a:r>
            <a:r>
              <a:rPr sz="1900" baseline="30000">
                <a:latin typeface="Cambria"/>
              </a:rPr>
              <a:t>−λt</a:t>
            </a:r>
          </a:p>
        </p:txBody>
      </p:sp>
      <p:sp>
        <p:nvSpPr>
          <p:cNvPr id="11269" name="TextBox 11268"/>
          <p:cNvSpPr txBox="1"/>
          <p:nvPr/>
        </p:nvSpPr>
        <p:spPr>
          <a:xfrm>
            <a:off x="1226975" y="5024047"/>
            <a:ext cx="4079630" cy="5381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ℒ(p | {X</a:t>
            </a:r>
            <a:r>
              <a:rPr sz="1900" baseline="-25000">
                <a:latin typeface="Cambria"/>
              </a:rPr>
              <a:t>i</a:t>
            </a:r>
            <a:r>
              <a:rPr sz="1900">
                <a:latin typeface="Cambria"/>
              </a:rPr>
              <a:t>}) = ∏</a:t>
            </a:r>
            <a:r>
              <a:rPr sz="1900" baseline="-25000">
                <a:latin typeface="Cambria"/>
              </a:rPr>
              <a:t>i=1</a:t>
            </a:r>
            <a:r>
              <a:rPr sz="1900" baseline="30000">
                <a:latin typeface="Cambria"/>
              </a:rPr>
              <a:t>n</a:t>
            </a:r>
            <a:r>
              <a:rPr sz="1900">
                <a:latin typeface="Cambria"/>
              </a:rPr>
              <a:t> f(X</a:t>
            </a:r>
            <a:r>
              <a:rPr sz="1900" baseline="-25000">
                <a:latin typeface="Cambria"/>
              </a:rPr>
              <a:t>i</a:t>
            </a:r>
            <a:r>
              <a:rPr sz="1900">
                <a:latin typeface="Cambria"/>
              </a:rPr>
              <a:t> | p)</a:t>
            </a:r>
          </a:p>
        </p:txBody>
      </p:sp>
      <p:sp>
        <p:nvSpPr>
          <p:cNvPr id="11270" name="TextBox 11269"/>
          <p:cNvSpPr txBox="1"/>
          <p:nvPr/>
        </p:nvSpPr>
        <p:spPr>
          <a:xfrm>
            <a:off x="5903556" y="5027477"/>
            <a:ext cx="5064369" cy="54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L(p | {X</a:t>
            </a:r>
            <a:r>
              <a:rPr sz="1900" baseline="-25000">
                <a:latin typeface="Cambria"/>
              </a:rPr>
              <a:t>i</a:t>
            </a:r>
            <a:r>
              <a:rPr sz="1900">
                <a:latin typeface="Cambria"/>
              </a:rPr>
              <a:t>}) = Σ</a:t>
            </a:r>
            <a:r>
              <a:rPr sz="1900" baseline="-25000">
                <a:latin typeface="Cambria"/>
              </a:rPr>
              <a:t>i=1</a:t>
            </a:r>
            <a:r>
              <a:rPr sz="1900" baseline="30000">
                <a:latin typeface="Cambria"/>
              </a:rPr>
              <a:t>n</a:t>
            </a:r>
            <a:r>
              <a:rPr sz="1900">
                <a:latin typeface="Cambria"/>
              </a:rPr>
              <a:t> log( f(X</a:t>
            </a:r>
            <a:r>
              <a:rPr sz="1900" baseline="-25000">
                <a:latin typeface="Cambria"/>
              </a:rPr>
              <a:t>i</a:t>
            </a:r>
            <a:r>
              <a:rPr sz="1900">
                <a:latin typeface="Cambria"/>
              </a:rPr>
              <a:t> | p) )</a:t>
            </a:r>
          </a:p>
        </p:txBody>
      </p:sp>
    </p:spTree>
    <p:extLst>
      <p:ext uri="{BB962C8B-B14F-4D97-AF65-F5344CB8AC3E}">
        <p14:creationId xmlns:p14="http://schemas.microsoft.com/office/powerpoint/2010/main" val="1434781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3463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(1) # failures/trials before fixed number of successes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840259" y="1434805"/>
            <a:ext cx="10552671" cy="4114800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sz="3000" dirty="0"/>
              <a:t>We have an experiment with two outcomes: success (with probability </a:t>
            </a:r>
            <a:r>
              <a:rPr lang="en-US" sz="3000" i="1" dirty="0"/>
              <a:t>p</a:t>
            </a:r>
            <a:r>
              <a:rPr lang="en-US" sz="3000" dirty="0"/>
              <a:t>) and failure (with probability </a:t>
            </a:r>
            <a:r>
              <a:rPr lang="en-US" sz="3000" i="1" dirty="0"/>
              <a:t>q </a:t>
            </a:r>
            <a:r>
              <a:rPr lang="en-US" sz="3000" dirty="0"/>
              <a:t>=1-</a:t>
            </a:r>
            <a:r>
              <a:rPr lang="en-US" sz="3000" i="1" dirty="0"/>
              <a:t>p</a:t>
            </a:r>
            <a:r>
              <a:rPr lang="en-US" sz="3000" dirty="0"/>
              <a:t>).</a:t>
            </a:r>
          </a:p>
          <a:p>
            <a:pPr eaLnBrk="1" hangingPunct="1">
              <a:defRPr/>
            </a:pPr>
            <a:endParaRPr lang="en-US" sz="3000" dirty="0"/>
          </a:p>
          <a:p>
            <a:pPr eaLnBrk="1" hangingPunct="1">
              <a:defRPr/>
            </a:pPr>
            <a:r>
              <a:rPr lang="en-US" sz="3000" dirty="0"/>
              <a:t>Let </a:t>
            </a:r>
            <a:r>
              <a:rPr lang="en-US" sz="3000" i="1" dirty="0"/>
              <a:t>N</a:t>
            </a:r>
            <a:r>
              <a:rPr lang="en-US" sz="3000" dirty="0"/>
              <a:t>  be the number of trials to achieve </a:t>
            </a:r>
            <a:r>
              <a:rPr lang="en-US" sz="3000" i="1" dirty="0"/>
              <a:t>k</a:t>
            </a:r>
            <a:r>
              <a:rPr lang="en-US" sz="3000" dirty="0"/>
              <a:t> successes, each with probability </a:t>
            </a:r>
            <a:r>
              <a:rPr lang="en-US" sz="3000" i="1" dirty="0"/>
              <a:t>p</a:t>
            </a:r>
          </a:p>
          <a:p>
            <a:pPr eaLnBrk="1" hangingPunct="1">
              <a:defRPr/>
            </a:pPr>
            <a:endParaRPr lang="en-US" sz="3000" i="1" dirty="0"/>
          </a:p>
          <a:p>
            <a:pPr eaLnBrk="1" hangingPunct="1">
              <a:defRPr/>
            </a:pPr>
            <a:r>
              <a:rPr lang="en-US" sz="3000" dirty="0"/>
              <a:t>Number of trials, </a:t>
            </a:r>
            <a:r>
              <a:rPr lang="en-US" sz="3000" i="1" dirty="0"/>
              <a:t>N</a:t>
            </a:r>
            <a:r>
              <a:rPr lang="en-US" sz="3000" dirty="0"/>
              <a:t>,</a:t>
            </a:r>
            <a:r>
              <a:rPr lang="en-US" sz="3000" i="1" dirty="0"/>
              <a:t> </a:t>
            </a:r>
            <a:r>
              <a:rPr lang="en-US" sz="3000" dirty="0"/>
              <a:t>is now the random variable!</a:t>
            </a:r>
          </a:p>
          <a:p>
            <a:pPr lvl="1" eaLnBrk="1" hangingPunct="1">
              <a:defRPr/>
            </a:pPr>
            <a:r>
              <a:rPr lang="en-US" sz="3000" dirty="0"/>
              <a:t>Recall, </a:t>
            </a:r>
            <a:r>
              <a:rPr lang="en-US" sz="3000" i="1" dirty="0"/>
              <a:t>k</a:t>
            </a:r>
            <a:r>
              <a:rPr lang="en-US" sz="3000" dirty="0"/>
              <a:t>, was the R.V. in the binomial case</a:t>
            </a:r>
          </a:p>
        </p:txBody>
      </p:sp>
    </p:spTree>
    <p:extLst>
      <p:ext uri="{BB962C8B-B14F-4D97-AF65-F5344CB8AC3E}">
        <p14:creationId xmlns:p14="http://schemas.microsoft.com/office/powerpoint/2010/main" val="14323602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971" name="Picture 3" descr="Text: for the kth success on trial n, we need k-1 successes in the first n-1 trials (binomial with parameters n-1 and p) and a success on trial n with probability p, independently.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2046622"/>
            <a:ext cx="9144000" cy="2724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1973" name="TextBox 6"/>
          <p:cNvSpPr txBox="1">
            <a:spLocks noChangeArrowheads="1"/>
          </p:cNvSpPr>
          <p:nvPr/>
        </p:nvSpPr>
        <p:spPr bwMode="auto">
          <a:xfrm>
            <a:off x="3141663" y="4437929"/>
            <a:ext cx="54721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Try to derive it based on this argument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0" y="6223866"/>
            <a:ext cx="69129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How do we turn this into “failures” instead of “trials”?</a:t>
            </a:r>
          </a:p>
        </p:txBody>
      </p:sp>
      <p:sp>
        <p:nvSpPr>
          <p:cNvPr id="10" name="Rectangle 2"/>
          <p:cNvSpPr txBox="1">
            <a:spLocks noChangeArrowheads="1"/>
          </p:cNvSpPr>
          <p:nvPr/>
        </p:nvSpPr>
        <p:spPr>
          <a:xfrm>
            <a:off x="1524000" y="34630"/>
            <a:ext cx="870743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4000"/>
              <a:t>The Negative Binomial Distribution</a:t>
            </a:r>
            <a:br>
              <a:rPr lang="en-US" sz="4000"/>
            </a:br>
            <a:r>
              <a:rPr lang="en-US" sz="2400"/>
              <a:t>(1) # failures/trials before fixed number of successes</a:t>
            </a:r>
            <a:endParaRPr lang="en-US" sz="2400" dirty="0"/>
          </a:p>
        </p:txBody>
      </p:sp>
      <p:sp>
        <p:nvSpPr>
          <p:cNvPr id="211974" name="TextBox 211973"/>
          <p:cNvSpPr txBox="1"/>
          <p:nvPr/>
        </p:nvSpPr>
        <p:spPr>
          <a:xfrm>
            <a:off x="1535113" y="1390986"/>
            <a:ext cx="9144000" cy="4270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>
                <a:latin typeface="Cambria"/>
              </a:rPr>
              <a:t>Pr{N = n | k, p} = Probability that the kth success occurs on trial n</a:t>
            </a:r>
          </a:p>
        </p:txBody>
      </p:sp>
      <p:sp>
        <p:nvSpPr>
          <p:cNvPr id="211975" name="TextBox 211974"/>
          <p:cNvSpPr txBox="1"/>
          <p:nvPr/>
        </p:nvSpPr>
        <p:spPr>
          <a:xfrm>
            <a:off x="1535113" y="4892484"/>
            <a:ext cx="9144000" cy="955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>
                <a:latin typeface="Cambria"/>
              </a:rPr>
              <a:t>Pr{N = n | k, p} = (n−1 choose k−1) p</a:t>
            </a:r>
            <a:r>
              <a:rPr sz="1400" baseline="30000">
                <a:latin typeface="Cambria"/>
              </a:rPr>
              <a:t>k−1</a:t>
            </a:r>
            <a:r>
              <a:rPr sz="1400">
                <a:latin typeface="Cambria"/>
              </a:rPr>
              <a:t> (1 − p)</a:t>
            </a:r>
            <a:r>
              <a:rPr sz="1400" baseline="30000">
                <a:latin typeface="Cambria"/>
              </a:rPr>
              <a:t>n − k</a:t>
            </a:r>
            <a:r>
              <a:rPr sz="1400">
                <a:latin typeface="Cambria"/>
              </a:rPr>
              <a:t> p = (n−1 choose k−1) p</a:t>
            </a:r>
            <a:r>
              <a:rPr sz="1400" baseline="30000">
                <a:latin typeface="Cambria"/>
              </a:rPr>
              <a:t>k</a:t>
            </a:r>
            <a:r>
              <a:rPr sz="1400">
                <a:latin typeface="Cambria"/>
              </a:rPr>
              <a:t> (1 − p)</a:t>
            </a:r>
            <a:r>
              <a:rPr sz="1400" baseline="30000">
                <a:latin typeface="Cambria"/>
              </a:rPr>
              <a:t>n − k</a:t>
            </a:r>
          </a:p>
        </p:txBody>
      </p:sp>
      <p:sp>
        <p:nvSpPr>
          <p:cNvPr id="211976" name="TextBox 211975"/>
          <p:cNvSpPr txBox="1"/>
          <p:nvPr/>
        </p:nvSpPr>
        <p:spPr>
          <a:xfrm>
            <a:off x="7014633" y="6085223"/>
            <a:ext cx="4994487" cy="7926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>
                <a:latin typeface="Cambria"/>
              </a:rPr>
              <a:t>f(k; r, p) ≡ Pr(X = k) = (k+r−1 choose r−1) (1 − p)</a:t>
            </a:r>
            <a:r>
              <a:rPr sz="1200" baseline="30000">
                <a:latin typeface="Cambria"/>
              </a:rPr>
              <a:t>k</a:t>
            </a:r>
            <a:r>
              <a:rPr sz="1200">
                <a:latin typeface="Cambria"/>
              </a:rPr>
              <a:t> p</a:t>
            </a:r>
            <a:r>
              <a:rPr sz="1200" baseline="30000">
                <a:latin typeface="Cambria"/>
              </a:rPr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1255430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692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798638" y="1378520"/>
            <a:ext cx="8793162" cy="2667000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dirty="0"/>
              <a:t>Start with Poisson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But let’s give lambda a continuous probability (continuous distributions come soon!) and then integrate over all possible values of lambda (this is called “marginalizing”)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5548" y="5974765"/>
            <a:ext cx="10179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Because:</a:t>
            </a:r>
          </a:p>
        </p:txBody>
      </p:sp>
      <p:sp>
        <p:nvSpPr>
          <p:cNvPr id="214021" name="TextBox 214020"/>
          <p:cNvSpPr txBox="1"/>
          <p:nvPr/>
        </p:nvSpPr>
        <p:spPr>
          <a:xfrm>
            <a:off x="5081752" y="1149920"/>
            <a:ext cx="6471138" cy="1352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Pr{k events in [0, t] | λ} = (λt)</a:t>
            </a:r>
            <a:r>
              <a:rPr sz="1900" baseline="30000">
                <a:latin typeface="Cambria"/>
              </a:rPr>
              <a:t>k</a:t>
            </a:r>
            <a:r>
              <a:rPr sz="1900">
                <a:latin typeface="Cambria"/>
              </a:rPr>
              <a:t> / k! · e</a:t>
            </a:r>
            <a:r>
              <a:rPr sz="1900" baseline="30000">
                <a:latin typeface="Cambria"/>
              </a:rPr>
              <a:t>−λt</a:t>
            </a:r>
          </a:p>
        </p:txBody>
      </p:sp>
      <p:sp>
        <p:nvSpPr>
          <p:cNvPr id="214022" name="TextBox 214021"/>
          <p:cNvSpPr txBox="1"/>
          <p:nvPr/>
        </p:nvSpPr>
        <p:spPr>
          <a:xfrm>
            <a:off x="3134519" y="4045520"/>
            <a:ext cx="7877907" cy="13779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Pr{k events in [0, t]} = ∫</a:t>
            </a:r>
            <a:r>
              <a:rPr sz="1900" baseline="-25000">
                <a:latin typeface="Cambria"/>
              </a:rPr>
              <a:t>0</a:t>
            </a:r>
            <a:r>
              <a:rPr sz="1900" baseline="30000">
                <a:latin typeface="Cambria"/>
              </a:rPr>
              <a:t>∞</a:t>
            </a:r>
            <a:r>
              <a:rPr sz="1900">
                <a:latin typeface="Cambria"/>
              </a:rPr>
              <a:t> (λt)</a:t>
            </a:r>
            <a:r>
              <a:rPr sz="1900" baseline="30000">
                <a:latin typeface="Cambria"/>
              </a:rPr>
              <a:t>k</a:t>
            </a:r>
            <a:r>
              <a:rPr sz="1900">
                <a:latin typeface="Cambria"/>
              </a:rPr>
              <a:t> / k! · e</a:t>
            </a:r>
            <a:r>
              <a:rPr sz="1900" baseline="30000">
                <a:latin typeface="Cambria"/>
              </a:rPr>
              <a:t>−λt</a:t>
            </a:r>
            <a:r>
              <a:rPr sz="1900">
                <a:latin typeface="Cambria"/>
              </a:rPr>
              <a:t> · f(λ) dλ</a:t>
            </a:r>
          </a:p>
        </p:txBody>
      </p:sp>
      <p:sp>
        <p:nvSpPr>
          <p:cNvPr id="214023" name="TextBox 214022"/>
          <p:cNvSpPr txBox="1"/>
          <p:nvPr/>
        </p:nvSpPr>
        <p:spPr>
          <a:xfrm>
            <a:off x="2753519" y="5791131"/>
            <a:ext cx="7033846" cy="736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</a:t>
            </a:r>
            <a:r>
              <a:rPr sz="1900" baseline="-25000">
                <a:latin typeface="Cambria"/>
              </a:rPr>
              <a:t>X</a:t>
            </a:r>
            <a:r>
              <a:rPr sz="1900">
                <a:latin typeface="Cambria"/>
              </a:rPr>
              <a:t>(x) = ∫</a:t>
            </a:r>
            <a:r>
              <a:rPr sz="1900" baseline="-25000">
                <a:latin typeface="Cambria"/>
              </a:rPr>
              <a:t>y</a:t>
            </a:r>
            <a:r>
              <a:rPr sz="1900">
                <a:latin typeface="Cambria"/>
              </a:rPr>
              <a:t> p</a:t>
            </a:r>
            <a:r>
              <a:rPr sz="1900" baseline="-25000">
                <a:latin typeface="Cambria"/>
              </a:rPr>
              <a:t>X,Y</a:t>
            </a:r>
            <a:r>
              <a:rPr sz="1900">
                <a:latin typeface="Cambria"/>
              </a:rPr>
              <a:t>(x, y) dy = ∫</a:t>
            </a:r>
            <a:r>
              <a:rPr sz="1900" baseline="-25000">
                <a:latin typeface="Cambria"/>
              </a:rPr>
              <a:t>y</a:t>
            </a:r>
            <a:r>
              <a:rPr sz="1900">
                <a:latin typeface="Cambria"/>
              </a:rPr>
              <a:t> p</a:t>
            </a:r>
            <a:r>
              <a:rPr sz="1900" baseline="-25000">
                <a:latin typeface="Cambria"/>
              </a:rPr>
              <a:t>X|Y</a:t>
            </a:r>
            <a:r>
              <a:rPr sz="1900">
                <a:latin typeface="Cambria"/>
              </a:rPr>
              <a:t>(x | y) p</a:t>
            </a:r>
            <a:r>
              <a:rPr sz="1900" baseline="-25000">
                <a:latin typeface="Cambria"/>
              </a:rPr>
              <a:t>Y</a:t>
            </a:r>
            <a:r>
              <a:rPr sz="1900">
                <a:latin typeface="Cambria"/>
              </a:rPr>
              <a:t>(y) dy</a:t>
            </a:r>
          </a:p>
        </p:txBody>
      </p:sp>
    </p:spTree>
    <p:extLst>
      <p:ext uri="{BB962C8B-B14F-4D97-AF65-F5344CB8AC3E}">
        <p14:creationId xmlns:p14="http://schemas.microsoft.com/office/powerpoint/2010/main" val="1231934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1" y="381000"/>
            <a:ext cx="8639175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Quick note </a:t>
            </a:r>
            <a:r>
              <a:rPr lang="en-US" dirty="0"/>
              <a:t>on Gamma function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2017713"/>
            <a:ext cx="72755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Continuous version of factorial</a:t>
            </a:r>
          </a:p>
          <a:p>
            <a:pPr eaLnBrk="1" hangingPunct="1">
              <a:defRPr/>
            </a:pPr>
            <a:r>
              <a:rPr lang="en-US" dirty="0"/>
              <a:t>For integers, </a:t>
            </a:r>
            <a:r>
              <a:rPr lang="en-US" i="1" dirty="0"/>
              <a:t>z</a:t>
            </a:r>
            <a:r>
              <a:rPr lang="en-US" dirty="0"/>
              <a:t>,</a:t>
            </a:r>
          </a:p>
          <a:p>
            <a:pPr eaLnBrk="1" hangingPunct="1">
              <a:defRPr/>
            </a:pPr>
            <a:r>
              <a:rPr lang="en-US" dirty="0"/>
              <a:t>In general</a:t>
            </a:r>
          </a:p>
          <a:p>
            <a:pPr eaLnBrk="1" hangingPunct="1">
              <a:defRPr/>
            </a:pPr>
            <a:endParaRPr lang="en-US" dirty="0"/>
          </a:p>
          <a:p>
            <a:pPr eaLnBrk="1" hangingPunct="1">
              <a:defRPr/>
            </a:pPr>
            <a:r>
              <a:rPr lang="en-US" dirty="0"/>
              <a:t>Defined (for z &gt; 0): 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791200" y="2514600"/>
            <a:ext cx="2552700" cy="520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400">
                <a:latin typeface="Cambria"/>
              </a:rPr>
              <a:t>Γ(z) = (z − 1)!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072063" y="3035300"/>
            <a:ext cx="2997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>
                <a:latin typeface="Cambria"/>
              </a:rPr>
              <a:t>Γ(z + 1) = z Γ(z)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361113" y="3963988"/>
            <a:ext cx="3416300" cy="181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>
                <a:latin typeface="Cambria"/>
              </a:rPr>
              <a:t>Γ(z) = ∫</a:t>
            </a:r>
            <a:r>
              <a:rPr sz="2200" baseline="-25000">
                <a:latin typeface="Cambria"/>
              </a:rPr>
              <a:t>0</a:t>
            </a:r>
            <a:r>
              <a:rPr sz="2200" baseline="30000">
                <a:latin typeface="Cambria"/>
              </a:rPr>
              <a:t>∞</a:t>
            </a:r>
            <a:r>
              <a:rPr sz="2200">
                <a:latin typeface="Cambria"/>
              </a:rPr>
              <a:t> s</a:t>
            </a:r>
            <a:r>
              <a:rPr sz="2200" baseline="30000">
                <a:latin typeface="Cambria"/>
              </a:rPr>
              <a:t>z−1</a:t>
            </a:r>
            <a:r>
              <a:rPr sz="2200">
                <a:latin typeface="Cambria"/>
              </a:rPr>
              <a:t> e</a:t>
            </a:r>
            <a:r>
              <a:rPr sz="2200" baseline="30000">
                <a:latin typeface="Cambria"/>
              </a:rPr>
              <a:t>−s</a:t>
            </a:r>
            <a:r>
              <a:rPr sz="2200">
                <a:latin typeface="Cambria"/>
              </a:rPr>
              <a:t> ds</a:t>
            </a:r>
          </a:p>
        </p:txBody>
      </p:sp>
    </p:spTree>
    <p:extLst>
      <p:ext uri="{BB962C8B-B14F-4D97-AF65-F5344CB8AC3E}">
        <p14:creationId xmlns:p14="http://schemas.microsoft.com/office/powerpoint/2010/main" val="1486909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20162" name="TextBox 7"/>
          <p:cNvSpPr txBox="1">
            <a:spLocks noChangeArrowheads="1"/>
          </p:cNvSpPr>
          <p:nvPr/>
        </p:nvSpPr>
        <p:spPr bwMode="auto">
          <a:xfrm>
            <a:off x="1139218" y="2516189"/>
            <a:ext cx="983737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Common parameterization in ecology with the mean as a parameter: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7B4B51-8AF6-F8EA-03D4-2A3C1E59E5EB}"/>
              </a:ext>
            </a:extLst>
          </p:cNvPr>
          <p:cNvSpPr txBox="1"/>
          <p:nvPr/>
        </p:nvSpPr>
        <p:spPr>
          <a:xfrm>
            <a:off x="1749778" y="4865511"/>
            <a:ext cx="96626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We model </a:t>
            </a:r>
            <a:r>
              <a:rPr lang="en-US" sz="2400" i="1" dirty="0"/>
              <a:t>N </a:t>
            </a:r>
            <a:r>
              <a:rPr lang="en-US" sz="2400" dirty="0" err="1"/>
              <a:t>overdispersed</a:t>
            </a:r>
            <a:r>
              <a:rPr lang="en-US" sz="2400" dirty="0"/>
              <a:t> counts as function of mean, </a:t>
            </a:r>
            <a:r>
              <a:rPr lang="en-US" sz="2400" i="1" dirty="0"/>
              <a:t>m</a:t>
            </a:r>
            <a:r>
              <a:rPr lang="en-US" sz="2400" dirty="0"/>
              <a:t>, and dispersion, </a:t>
            </a:r>
            <a:r>
              <a:rPr lang="en-US" sz="2400" i="1" dirty="0"/>
              <a:t>k</a:t>
            </a:r>
            <a:endParaRPr lang="en-US" sz="2400" dirty="0"/>
          </a:p>
        </p:txBody>
      </p:sp>
      <p:sp>
        <p:nvSpPr>
          <p:cNvPr id="220163" name="TextBox 220162"/>
          <p:cNvSpPr txBox="1"/>
          <p:nvPr/>
        </p:nvSpPr>
        <p:spPr>
          <a:xfrm>
            <a:off x="2852351" y="3120729"/>
            <a:ext cx="6670704" cy="1070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>
                <a:latin typeface="Cambria"/>
              </a:rPr>
              <a:t>Pr{N = n} ≡ p</a:t>
            </a:r>
            <a:r>
              <a:rPr sz="1200" baseline="-25000">
                <a:latin typeface="Cambria"/>
              </a:rPr>
              <a:t>n</a:t>
            </a:r>
            <a:r>
              <a:rPr sz="1200">
                <a:latin typeface="Cambria"/>
              </a:rPr>
              <a:t>(m, k) = Γ(k + n) / (n! Γ(k)) · (k / (k + m))</a:t>
            </a:r>
            <a:r>
              <a:rPr sz="1200" baseline="30000">
                <a:latin typeface="Cambria"/>
              </a:rPr>
              <a:t>k</a:t>
            </a:r>
            <a:r>
              <a:rPr sz="1200">
                <a:latin typeface="Cambria"/>
              </a:rPr>
              <a:t> · (m / (k + m))</a:t>
            </a:r>
            <a:r>
              <a:rPr sz="1200" baseline="30000">
                <a:latin typeface="Cambria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57066503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22212" name="TextBox 8"/>
          <p:cNvSpPr txBox="1">
            <a:spLocks noChangeArrowheads="1"/>
          </p:cNvSpPr>
          <p:nvPr/>
        </p:nvSpPr>
        <p:spPr bwMode="auto">
          <a:xfrm>
            <a:off x="3292475" y="2478088"/>
            <a:ext cx="5170488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What is the probability of no events?</a:t>
            </a:r>
          </a:p>
        </p:txBody>
      </p:sp>
      <p:sp>
        <p:nvSpPr>
          <p:cNvPr id="14" name="TextBox 13"/>
          <p:cNvSpPr txBox="1">
            <a:spLocks noChangeArrowheads="1"/>
          </p:cNvSpPr>
          <p:nvPr/>
        </p:nvSpPr>
        <p:spPr bwMode="auto">
          <a:xfrm>
            <a:off x="2201864" y="4724401"/>
            <a:ext cx="781367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probability can be large if </a:t>
            </a:r>
            <a:r>
              <a:rPr lang="en-US" altLang="en-US" sz="2400" i="1"/>
              <a:t>k </a:t>
            </a:r>
            <a:r>
              <a:rPr lang="en-US" altLang="en-US" sz="2400"/>
              <a:t>is small even if </a:t>
            </a:r>
            <a:r>
              <a:rPr lang="en-US" altLang="en-US" sz="2400" i="1"/>
              <a:t>m </a:t>
            </a:r>
            <a:r>
              <a:rPr lang="en-US" altLang="en-US" sz="2400"/>
              <a:t>is big</a:t>
            </a:r>
          </a:p>
        </p:txBody>
      </p:sp>
      <p:sp>
        <p:nvSpPr>
          <p:cNvPr id="222213" name="TextBox 222212"/>
          <p:cNvSpPr txBox="1"/>
          <p:nvPr/>
        </p:nvSpPr>
        <p:spPr>
          <a:xfrm>
            <a:off x="2943225" y="1360488"/>
            <a:ext cx="5867400" cy="939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>
                <a:latin typeface="Cambria"/>
              </a:rPr>
              <a:t>Pr{N = n} ≡ p</a:t>
            </a:r>
            <a:r>
              <a:rPr sz="1200" baseline="-25000">
                <a:latin typeface="Cambria"/>
              </a:rPr>
              <a:t>n</a:t>
            </a:r>
            <a:r>
              <a:rPr sz="1200">
                <a:latin typeface="Cambria"/>
              </a:rPr>
              <a:t>(m, k) = Γ(k + n) / (n! Γ(k)) · (k / (k + m))</a:t>
            </a:r>
            <a:r>
              <a:rPr sz="1200" baseline="30000">
                <a:latin typeface="Cambria"/>
              </a:rPr>
              <a:t>k</a:t>
            </a:r>
            <a:r>
              <a:rPr sz="1200">
                <a:latin typeface="Cambria"/>
              </a:rPr>
              <a:t> · (m / (k + m))</a:t>
            </a:r>
            <a:r>
              <a:rPr sz="1200" baseline="30000">
                <a:latin typeface="Cambria"/>
              </a:rPr>
              <a:t>n</a:t>
            </a:r>
          </a:p>
        </p:txBody>
      </p:sp>
      <p:sp>
        <p:nvSpPr>
          <p:cNvPr id="222214" name="TextBox 222213"/>
          <p:cNvSpPr txBox="1"/>
          <p:nvPr/>
        </p:nvSpPr>
        <p:spPr>
          <a:xfrm>
            <a:off x="4724400" y="3117850"/>
            <a:ext cx="3516923" cy="1066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</a:t>
            </a:r>
            <a:r>
              <a:rPr sz="1900" baseline="-25000">
                <a:latin typeface="Cambria"/>
              </a:rPr>
              <a:t>0</a:t>
            </a:r>
            <a:r>
              <a:rPr sz="1900">
                <a:latin typeface="Cambria"/>
              </a:rPr>
              <a:t>(m, k) = (k / (k + m))</a:t>
            </a:r>
            <a:r>
              <a:rPr sz="1900" baseline="30000">
                <a:latin typeface="Cambria"/>
              </a:rPr>
              <a:t>k</a:t>
            </a:r>
          </a:p>
        </p:txBody>
      </p:sp>
    </p:spTree>
    <p:extLst>
      <p:ext uri="{BB962C8B-B14F-4D97-AF65-F5344CB8AC3E}">
        <p14:creationId xmlns:p14="http://schemas.microsoft.com/office/powerpoint/2010/main" val="255839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257" name="Picture 2" descr="Four bar charts of probability versus number of events (0 to 30). Panel a: Poisson, mean 10, bell-shaped peak near 10. Panels b, c, d: negative binomial, same mean, dispersion 5, 1, 0.5, becoming flatter and more skewed as dispersion drops.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00" y="971550"/>
            <a:ext cx="6007100" cy="5886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Poisson vs. Negative Binomial </a:t>
            </a:r>
            <a:br>
              <a:rPr lang="en-US" sz="4000" dirty="0"/>
            </a:b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323433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US" dirty="0"/>
              <a:t>The Geometric Distribution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13254" y="2017713"/>
            <a:ext cx="1008311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This is a special case of the negative binomial distribution for which </a:t>
            </a:r>
            <a:r>
              <a:rPr lang="en-US" i="1" dirty="0"/>
              <a:t>k </a:t>
            </a:r>
            <a:r>
              <a:rPr lang="en-US" dirty="0"/>
              <a:t>=1 (i.e. the probability of the number of trials until one success is recorded). </a:t>
            </a:r>
          </a:p>
        </p:txBody>
      </p:sp>
    </p:spTree>
    <p:extLst>
      <p:ext uri="{BB962C8B-B14F-4D97-AF65-F5344CB8AC3E}">
        <p14:creationId xmlns:p14="http://schemas.microsoft.com/office/powerpoint/2010/main" val="12778245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-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3200"/>
              <a:t>Summary of Discrete Distributions</a:t>
            </a:r>
          </a:p>
        </p:txBody>
      </p:sp>
      <p:graphicFrame>
        <p:nvGraphicFramePr>
          <p:cNvPr id="576580" name="Group 68"/>
          <p:cNvGraphicFramePr>
            <a:graphicFrameLocks noGrp="1"/>
          </p:cNvGraphicFramePr>
          <p:nvPr>
            <p:ph type="tbl" idx="1"/>
          </p:nvPr>
        </p:nvGraphicFramePr>
        <p:xfrm>
          <a:off x="1905000" y="1323976"/>
          <a:ext cx="8574088" cy="4848224"/>
        </p:xfrm>
        <a:graphic>
          <a:graphicData uri="http://schemas.openxmlformats.org/drawingml/2006/table">
            <a:tbl>
              <a:tblPr/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7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22999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Distribution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trials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Random Variable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Parameters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3974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Binomial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Pre-specified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successes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</a:t>
                      </a: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, </a:t>
                      </a: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9126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Negative Binomial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Repeated until a given number of successes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failures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r, p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9126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Geometric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Repeated until one success occurs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failures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99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Poisson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N/A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occurrences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  <a:sym typeface="Symbol" charset="2"/>
                        </a:rPr>
                        <a:t>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79510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13911</TotalTime>
  <Words>2020</Words>
  <Application>Microsoft Macintosh PowerPoint</Application>
  <PresentationFormat>Widescreen</PresentationFormat>
  <Paragraphs>254</Paragraphs>
  <Slides>41</Slides>
  <Notes>37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51" baseType="lpstr">
      <vt:lpstr>Arial</vt:lpstr>
      <vt:lpstr>Calibri</vt:lpstr>
      <vt:lpstr>Calibri Light</vt:lpstr>
      <vt:lpstr>Courier New</vt:lpstr>
      <vt:lpstr>Symbol</vt:lpstr>
      <vt:lpstr>Tahoma</vt:lpstr>
      <vt:lpstr>Times New Roman</vt:lpstr>
      <vt:lpstr>Wingdings</vt:lpstr>
      <vt:lpstr>Office Theme</vt:lpstr>
      <vt:lpstr>Equation</vt:lpstr>
      <vt:lpstr>Discrete Probability Distributions </vt:lpstr>
      <vt:lpstr>Binomial Experiments-I</vt:lpstr>
      <vt:lpstr>Binomial Experiments-II</vt:lpstr>
      <vt:lpstr>Binomial Experiments-II (Notation)</vt:lpstr>
      <vt:lpstr>Binomial Probabilities-I</vt:lpstr>
      <vt:lpstr>One Binomial Trial: The Bernoulli Distribution</vt:lpstr>
      <vt:lpstr>PowerPoint Presentation</vt:lpstr>
      <vt:lpstr>PowerPoint Presentation</vt:lpstr>
      <vt:lpstr>Binomial Probabilities-II</vt:lpstr>
      <vt:lpstr>The Binomial Distribution</vt:lpstr>
      <vt:lpstr>Examples of the Binomial Distribution-I</vt:lpstr>
      <vt:lpstr>Sneak peak: Maximum likelihood is just doing this in reverse!!!</vt:lpstr>
      <vt:lpstr>PowerPoint Presentation</vt:lpstr>
      <vt:lpstr>Sneak peak: Maximum Likelihood is just doing this in reverse!!!</vt:lpstr>
      <vt:lpstr>Sneak peak: Maximum likelihood is just doing this in reverse!!!</vt:lpstr>
      <vt:lpstr>PowerPoint Presentation</vt:lpstr>
      <vt:lpstr>PowerPoint Presentation</vt:lpstr>
      <vt:lpstr>Back to distributions</vt:lpstr>
      <vt:lpstr>PowerPoint Presentation</vt:lpstr>
      <vt:lpstr>The Poisson Distribution-I</vt:lpstr>
      <vt:lpstr>The Poisson Distribution-I</vt:lpstr>
      <vt:lpstr>The Poisson Distribution - pmf</vt:lpstr>
      <vt:lpstr>Where does the Poisson distribution come from?</vt:lpstr>
      <vt:lpstr>Where does the Poisson distribution come from?</vt:lpstr>
      <vt:lpstr>Zero term of the Poisson Distribution</vt:lpstr>
      <vt:lpstr>First term of the Poisson Distribution</vt:lpstr>
      <vt:lpstr>The Poisson Distribution - pmf</vt:lpstr>
      <vt:lpstr>The Poisson Distribution Graphically</vt:lpstr>
      <vt:lpstr>An Example of the Poisson Distribution-I</vt:lpstr>
      <vt:lpstr>Example of using Poisson Probabilistic Arguments in Research</vt:lpstr>
      <vt:lpstr>The Poisson Distribution - Caveat</vt:lpstr>
      <vt:lpstr>But first: MLE for the Poisson Distribution</vt:lpstr>
      <vt:lpstr>The Negative Binomial Distribution (1) # failures/trials before fixed number of successes</vt:lpstr>
      <vt:lpstr>PowerPoint Presentation</vt:lpstr>
      <vt:lpstr>The Negative Binomial Distribution (2) Poisson with a variable rate parameter </vt:lpstr>
      <vt:lpstr>Quick note on Gamma function</vt:lpstr>
      <vt:lpstr>The Negative Binomial Distribution (2) Poisson with a variable rate parameter </vt:lpstr>
      <vt:lpstr>The Negative Binomial Distribution (2) Poisson with a variable rate parameter </vt:lpstr>
      <vt:lpstr>Poisson vs. Negative Binomial  </vt:lpstr>
      <vt:lpstr>The Geometric Distribution</vt:lpstr>
      <vt:lpstr>Summary of Discrete Distributions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Probability Distributions</dc:title>
  <dc:creator>Levi, Taal</dc:creator>
  <cp:lastModifiedBy>Levi, Taal</cp:lastModifiedBy>
  <cp:revision>96</cp:revision>
  <dcterms:created xsi:type="dcterms:W3CDTF">2018-09-30T16:59:02Z</dcterms:created>
  <dcterms:modified xsi:type="dcterms:W3CDTF">2025-09-14T18:58:10Z</dcterms:modified>
</cp:coreProperties>
</file>