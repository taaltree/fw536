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70" r:id="rId2"/>
    <p:sldId id="271" r:id="rId3"/>
    <p:sldId id="272" r:id="rId4"/>
    <p:sldId id="273" r:id="rId5"/>
    <p:sldId id="274" r:id="rId6"/>
    <p:sldId id="275" r:id="rId7"/>
    <p:sldId id="317" r:id="rId8"/>
    <p:sldId id="331" r:id="rId9"/>
    <p:sldId id="329" r:id="rId10"/>
    <p:sldId id="339" r:id="rId11"/>
    <p:sldId id="276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338" r:id="rId23"/>
    <p:sldId id="289" r:id="rId24"/>
    <p:sldId id="290" r:id="rId25"/>
    <p:sldId id="308" r:id="rId26"/>
    <p:sldId id="301" r:id="rId27"/>
    <p:sldId id="302" r:id="rId28"/>
    <p:sldId id="303" r:id="rId29"/>
    <p:sldId id="304" r:id="rId30"/>
    <p:sldId id="291" r:id="rId31"/>
    <p:sldId id="292" r:id="rId32"/>
    <p:sldId id="293" r:id="rId33"/>
    <p:sldId id="296" r:id="rId34"/>
    <p:sldId id="297" r:id="rId35"/>
    <p:sldId id="300" r:id="rId36"/>
    <p:sldId id="294" r:id="rId37"/>
    <p:sldId id="298" r:id="rId38"/>
    <p:sldId id="299" r:id="rId39"/>
    <p:sldId id="318" r:id="rId40"/>
    <p:sldId id="319" r:id="rId41"/>
    <p:sldId id="320" r:id="rId42"/>
    <p:sldId id="322" r:id="rId43"/>
    <p:sldId id="323" r:id="rId44"/>
    <p:sldId id="324" r:id="rId45"/>
    <p:sldId id="326" r:id="rId46"/>
    <p:sldId id="327" r:id="rId47"/>
    <p:sldId id="328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404"/>
    <p:restoredTop sz="94658"/>
  </p:normalViewPr>
  <p:slideViewPr>
    <p:cSldViewPr snapToGrid="0" snapToObjects="1">
      <p:cViewPr varScale="1">
        <p:scale>
          <a:sx n="113" d="100"/>
          <a:sy n="113" d="100"/>
        </p:scale>
        <p:origin x="184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945995-FC3E-D540-94CA-CACDC057E48E}" type="datetimeFigureOut">
              <a:rPr lang="en-US" smtClean="0"/>
              <a:t>9/13/26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8FA766-4199-D741-B79E-9AE53857A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386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471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0290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441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2338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18737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4386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0083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6434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5111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8482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602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0530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8154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6674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3646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8722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9054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0770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9498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2818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563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4866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3370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6914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4527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8962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718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1010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35599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3058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428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4776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10066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2600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4160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03842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9016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59673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2316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476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3647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117214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500534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02321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95480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76010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0931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0946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3298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2994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dirty="0">
                <a:latin typeface="Times New Roman" charset="0"/>
              </a:rPr>
              <a:t>Examples? Number of foraging bouts before r successes. Number of surveys before r detections.</a:t>
            </a:r>
          </a:p>
          <a:p>
            <a:endParaRPr lang="en-US" altLang="en-US" dirty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897677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42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3475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9138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0671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1186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524212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3234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614787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282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18336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7330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104437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7637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33797-E749-0F4D-9D43-8EDD7194A7C5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A0A-82D5-BD4A-8AFC-734EBE5B0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006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33797-E749-0F4D-9D43-8EDD7194A7C5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A0A-82D5-BD4A-8AFC-734EBE5B0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928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33797-E749-0F4D-9D43-8EDD7194A7C5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A0A-82D5-BD4A-8AFC-734EBE5B0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541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33797-E749-0F4D-9D43-8EDD7194A7C5}" type="datetimeFigureOut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A0A-82D5-BD4A-8AFC-734EBE5B0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9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33797-E749-0F4D-9D43-8EDD7194A7C5}" type="datetimeFigureOut">
              <a:rPr lang="en-US" smtClean="0"/>
              <a:t>9/13/26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A0A-82D5-BD4A-8AFC-734EBE5B0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00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33797-E749-0F4D-9D43-8EDD7194A7C5}" type="datetimeFigureOut">
              <a:rPr lang="en-US" smtClean="0"/>
              <a:t>9/13/26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A0A-82D5-BD4A-8AFC-734EBE5B0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833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33797-E749-0F4D-9D43-8EDD7194A7C5}" type="datetimeFigureOut">
              <a:rPr lang="en-US" smtClean="0"/>
              <a:t>9/13/26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A0A-82D5-BD4A-8AFC-734EBE5B0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165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33797-E749-0F4D-9D43-8EDD7194A7C5}" type="datetimeFigureOut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A0A-82D5-BD4A-8AFC-734EBE5B0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742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33797-E749-0F4D-9D43-8EDD7194A7C5}" type="datetimeFigureOut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A0A-82D5-BD4A-8AFC-734EBE5B0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429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33797-E749-0F4D-9D43-8EDD7194A7C5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A0A-82D5-BD4A-8AFC-734EBE5B0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1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33797-E749-0F4D-9D43-8EDD7194A7C5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A0A-82D5-BD4A-8AFC-734EBE5B0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6257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860117" y="2017713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860117" y="4151313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B11B70-FC32-704C-A6D2-3B280E37279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6251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B55D25-F998-A748-BD3E-3F04D9B0DB7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0247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860117" y="2017713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860117" y="4151313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A85E31-6AB6-4544-B38B-96F01BA9DB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08536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576917" y="2017713"/>
            <a:ext cx="10363200" cy="4114800"/>
          </a:xfrm>
        </p:spPr>
        <p:txBody>
          <a:bodyPr/>
          <a:lstStyle/>
          <a:p>
            <a:pPr lvl="0"/>
            <a:endParaRPr lang="en-AU" noProof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90C76F-CEB0-0A40-BA82-0C321A01C5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5555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F33797-E749-0F4D-9D43-8EDD7194A7C5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2BA0A-82D5-BD4A-8AFC-734EBE5B0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62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oleObject" Target="../embeddings/oleObject4.bin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9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oleObject" Target="../embeddings/oleObject6.bin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8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oleObject" Target="../embeddings/oleObject6.bin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8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9.wmf"/><Relationship Id="rId4" Type="http://schemas.openxmlformats.org/officeDocument/2006/relationships/image" Target="../media/image28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1.png"/><Relationship Id="rId4" Type="http://schemas.openxmlformats.org/officeDocument/2006/relationships/image" Target="../media/image30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3.png"/><Relationship Id="rId4" Type="http://schemas.openxmlformats.org/officeDocument/2006/relationships/image" Target="../media/image32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05000" y="1981200"/>
            <a:ext cx="8763000" cy="1295400"/>
          </a:xfrm>
        </p:spPr>
        <p:txBody>
          <a:bodyPr/>
          <a:lstStyle/>
          <a:p>
            <a:pPr algn="ctr" eaLnBrk="1" hangingPunct="1"/>
            <a:r>
              <a:rPr lang="en-US" altLang="en-US" sz="4000" b="1" dirty="0">
                <a:latin typeface="Arial" charset="0"/>
                <a:ea typeface="Arial" charset="0"/>
                <a:cs typeface="Arial" charset="0"/>
              </a:rPr>
              <a:t>Discrete Probability Distributions </a:t>
            </a:r>
            <a:endParaRPr lang="en-AU" altLang="en-US" sz="2400" b="1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4535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322830" y="9144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/>
              <a:t>Binomial Experiments-I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5820" y="1423035"/>
            <a:ext cx="10378440" cy="4687888"/>
          </a:xfrm>
        </p:spPr>
        <p:txBody>
          <a:bodyPr/>
          <a:lstStyle/>
          <a:p>
            <a:pPr marL="609600" indent="-609600">
              <a:defRPr/>
            </a:pPr>
            <a:r>
              <a:rPr lang="en-US" sz="2400" dirty="0"/>
              <a:t>Binomial experiments are those for which the outcome from each trial is one of only two options (“success” or “failure”). The properties of a binomial experiment are:</a:t>
            </a:r>
          </a:p>
          <a:p>
            <a:pPr marL="609600" indent="-609600">
              <a:buFont typeface="Wingdings" pitchFamily="2" charset="2"/>
              <a:buAutoNum type="arabicPeriod"/>
              <a:defRPr/>
            </a:pPr>
            <a:r>
              <a:rPr lang="en-US" sz="2400" dirty="0"/>
              <a:t>The experiment is repeated for a fixed number of trials, </a:t>
            </a:r>
            <a:r>
              <a:rPr lang="en-US" sz="2400" i="1" dirty="0"/>
              <a:t>N</a:t>
            </a:r>
            <a:r>
              <a:rPr lang="en-US" sz="2400" dirty="0"/>
              <a:t>, where each trial is </a:t>
            </a:r>
            <a:r>
              <a:rPr lang="en-US" sz="2400" i="1" dirty="0">
                <a:solidFill>
                  <a:schemeClr val="hlink"/>
                </a:solidFill>
              </a:rPr>
              <a:t>independent</a:t>
            </a:r>
            <a:r>
              <a:rPr lang="en-US" sz="2400" dirty="0"/>
              <a:t> of all the others.</a:t>
            </a:r>
          </a:p>
          <a:p>
            <a:pPr marL="609600" indent="-609600">
              <a:buFont typeface="Wingdings" pitchFamily="2" charset="2"/>
              <a:buAutoNum type="arabicPeriod"/>
              <a:defRPr/>
            </a:pPr>
            <a:r>
              <a:rPr lang="en-US" sz="2400" dirty="0"/>
              <a:t>There are only two possible outcomes for each trial. The outcomes can be classified as a success (S) or a failure (F).</a:t>
            </a:r>
          </a:p>
          <a:p>
            <a:pPr marL="609600" indent="-609600">
              <a:buFont typeface="Wingdings" pitchFamily="2" charset="2"/>
              <a:buAutoNum type="arabicPeriod"/>
              <a:defRPr/>
            </a:pPr>
            <a:r>
              <a:rPr lang="en-US" sz="2400" dirty="0"/>
              <a:t>The probability of success is the </a:t>
            </a:r>
            <a:r>
              <a:rPr lang="en-US" sz="2400" u="sng" dirty="0"/>
              <a:t>same </a:t>
            </a:r>
            <a:r>
              <a:rPr lang="en-US" sz="2400" dirty="0"/>
              <a:t>for all trials.</a:t>
            </a:r>
          </a:p>
          <a:p>
            <a:pPr marL="609600" indent="-609600">
              <a:buFont typeface="Wingdings" pitchFamily="2" charset="2"/>
              <a:buAutoNum type="arabicPeriod"/>
              <a:defRPr/>
            </a:pPr>
            <a:r>
              <a:rPr lang="en-US" sz="2400" dirty="0"/>
              <a:t>The random variable </a:t>
            </a:r>
            <a:r>
              <a:rPr lang="en-US" sz="2400" i="1" dirty="0"/>
              <a:t>X</a:t>
            </a:r>
            <a:r>
              <a:rPr lang="en-US" sz="2400" dirty="0"/>
              <a:t> counts the number of </a:t>
            </a:r>
            <a:r>
              <a:rPr lang="en-US" sz="2400" i="1" dirty="0">
                <a:solidFill>
                  <a:schemeClr val="hlink"/>
                </a:solidFill>
              </a:rPr>
              <a:t>successful</a:t>
            </a:r>
            <a:r>
              <a:rPr lang="en-US" sz="2400" dirty="0"/>
              <a:t> trials out of </a:t>
            </a:r>
            <a:r>
              <a:rPr lang="en-US" sz="2400" i="1" dirty="0"/>
              <a:t>N</a:t>
            </a:r>
            <a:r>
              <a:rPr lang="en-US" sz="2400" dirty="0"/>
              <a:t> trials.</a:t>
            </a:r>
          </a:p>
        </p:txBody>
      </p:sp>
    </p:spTree>
    <p:extLst>
      <p:ext uri="{BB962C8B-B14F-4D97-AF65-F5344CB8AC3E}">
        <p14:creationId xmlns:p14="http://schemas.microsoft.com/office/powerpoint/2010/main" val="250771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00" y="15240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/>
              <a:t>Binomial Experiments-II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1470" y="1621155"/>
            <a:ext cx="9005570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dirty="0"/>
              <a:t>Why is the following a binomial experiment?</a:t>
            </a:r>
          </a:p>
          <a:p>
            <a:pPr eaLnBrk="1" hangingPunct="1">
              <a:defRPr/>
            </a:pPr>
            <a:endParaRPr lang="en-US" sz="3200" dirty="0"/>
          </a:p>
          <a:p>
            <a:pPr lvl="1" eaLnBrk="1" hangingPunct="1">
              <a:defRPr/>
            </a:pPr>
            <a:r>
              <a:rPr lang="en-US" sz="2800" dirty="0"/>
              <a:t>We randomly sample 500 fish from the population.</a:t>
            </a:r>
          </a:p>
          <a:p>
            <a:pPr lvl="1" eaLnBrk="1" hangingPunct="1">
              <a:defRPr/>
            </a:pPr>
            <a:endParaRPr lang="en-US" sz="2800" dirty="0"/>
          </a:p>
          <a:p>
            <a:pPr lvl="1" eaLnBrk="1" hangingPunct="1">
              <a:defRPr/>
            </a:pPr>
            <a:r>
              <a:rPr lang="en-US" sz="2800" dirty="0"/>
              <a:t>We record whether each animal is mature or immature.</a:t>
            </a:r>
          </a:p>
          <a:p>
            <a:pPr lvl="1" eaLnBrk="1" hangingPunct="1">
              <a:defRPr/>
            </a:pPr>
            <a:endParaRPr lang="en-US" sz="2800" dirty="0"/>
          </a:p>
          <a:p>
            <a:pPr lvl="1" eaLnBrk="1" hangingPunct="1">
              <a:defRPr/>
            </a:pPr>
            <a:r>
              <a:rPr lang="en-US" sz="2800" dirty="0"/>
              <a:t>The random variable </a:t>
            </a:r>
            <a:r>
              <a:rPr lang="en-US" sz="2800" i="1" dirty="0"/>
              <a:t>X</a:t>
            </a:r>
            <a:r>
              <a:rPr lang="en-US" sz="2800" dirty="0"/>
              <a:t> is the number of mature animals.</a:t>
            </a:r>
          </a:p>
        </p:txBody>
      </p:sp>
    </p:spTree>
    <p:extLst>
      <p:ext uri="{BB962C8B-B14F-4D97-AF65-F5344CB8AC3E}">
        <p14:creationId xmlns:p14="http://schemas.microsoft.com/office/powerpoint/2010/main" val="24784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674939" y="228600"/>
            <a:ext cx="7793037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sz="4000"/>
              <a:t>Binomial Experiments-II</a:t>
            </a:r>
            <a:br>
              <a:rPr lang="en-US" sz="4000"/>
            </a:br>
            <a:r>
              <a:rPr lang="en-US" sz="4000"/>
              <a:t>(Notation)</a:t>
            </a:r>
          </a:p>
        </p:txBody>
      </p:sp>
      <p:graphicFrame>
        <p:nvGraphicFramePr>
          <p:cNvPr id="143362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7998080"/>
              </p:ext>
            </p:extLst>
          </p:nvPr>
        </p:nvGraphicFramePr>
        <p:xfrm>
          <a:off x="2101534" y="2770188"/>
          <a:ext cx="8801398" cy="20330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847204" imgH="889046" progId="">
                  <p:embed/>
                </p:oleObj>
              </mc:Choice>
              <mc:Fallback>
                <p:oleObj name="Equation" r:id="rId3" imgW="3847204" imgH="889046" progId="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1534" y="2770188"/>
                        <a:ext cx="8801398" cy="20330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63" name="Rectangle 4"/>
          <p:cNvSpPr>
            <a:spLocks noChangeArrowheads="1"/>
          </p:cNvSpPr>
          <p:nvPr/>
        </p:nvSpPr>
        <p:spPr bwMode="auto">
          <a:xfrm>
            <a:off x="1994852" y="3242628"/>
            <a:ext cx="1525587" cy="1055052"/>
          </a:xfrm>
          <a:prstGeom prst="rect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43364" name="TextBox 5"/>
          <p:cNvSpPr txBox="1">
            <a:spLocks noChangeArrowheads="1"/>
          </p:cNvSpPr>
          <p:nvPr/>
        </p:nvSpPr>
        <p:spPr bwMode="auto">
          <a:xfrm>
            <a:off x="814979" y="3283568"/>
            <a:ext cx="95571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</a:rPr>
              <a:t>New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</a:rPr>
              <a:t>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70690" y="5044827"/>
            <a:ext cx="1100138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n-US" sz="2800" dirty="0"/>
              <a:t>Also </a:t>
            </a:r>
            <a:r>
              <a:rPr lang="en-US" sz="2800" i="1" dirty="0"/>
              <a:t>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2562" y="2104292"/>
            <a:ext cx="1119217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sz="2800" dirty="0"/>
              <a:t>Also N</a:t>
            </a:r>
            <a:endParaRPr 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1667011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514600" y="123825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dirty="0"/>
              <a:t>Binomial Probabilities-I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42900" y="1318260"/>
            <a:ext cx="11567160" cy="4991100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600" dirty="0"/>
              <a:t>In a binomial experiment, the probability of exactly </a:t>
            </a:r>
            <a:r>
              <a:rPr lang="en-US" sz="2600" i="1" dirty="0"/>
              <a:t>x</a:t>
            </a:r>
            <a:r>
              <a:rPr lang="en-US" sz="2600" dirty="0"/>
              <a:t> successes in </a:t>
            </a:r>
            <a:r>
              <a:rPr lang="en-US" sz="2600" i="1" dirty="0"/>
              <a:t>n</a:t>
            </a:r>
            <a:r>
              <a:rPr lang="en-US" sz="2600" dirty="0"/>
              <a:t> trials is: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600" dirty="0"/>
          </a:p>
          <a:p>
            <a:pPr eaLnBrk="1" hangingPunct="1">
              <a:lnSpc>
                <a:spcPct val="90000"/>
              </a:lnSpc>
              <a:defRPr/>
            </a:pPr>
            <a:endParaRPr lang="en-US" sz="2600" dirty="0"/>
          </a:p>
          <a:p>
            <a:pPr eaLnBrk="1" hangingPunct="1">
              <a:lnSpc>
                <a:spcPct val="90000"/>
              </a:lnSpc>
              <a:defRPr/>
            </a:pPr>
            <a:endParaRPr lang="en-US" sz="2600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sz="2600" dirty="0"/>
              <a:t>This is a probability mass function, </a:t>
            </a:r>
            <a:r>
              <a:rPr lang="en-US" sz="2600" i="1" dirty="0" err="1"/>
              <a:t>pmf</a:t>
            </a:r>
            <a:endParaRPr lang="en-US" sz="2600" i="1" dirty="0"/>
          </a:p>
          <a:p>
            <a:pPr eaLnBrk="1" hangingPunct="1">
              <a:lnSpc>
                <a:spcPct val="90000"/>
              </a:lnSpc>
              <a:defRPr/>
            </a:pPr>
            <a:endParaRPr lang="en-US" sz="2600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sz="2600" dirty="0"/>
              <a:t>The binomial probability therefore involves the probability of </a:t>
            </a:r>
            <a:r>
              <a:rPr lang="en-US" sz="2600" i="1" dirty="0"/>
              <a:t>x</a:t>
            </a:r>
            <a:r>
              <a:rPr lang="en-US" sz="2600" dirty="0"/>
              <a:t> successes and </a:t>
            </a:r>
            <a:r>
              <a:rPr lang="en-US" sz="2600" i="1" dirty="0"/>
              <a:t>n </a:t>
            </a:r>
            <a:r>
              <a:rPr lang="en-US" sz="2600" dirty="0"/>
              <a:t>- </a:t>
            </a:r>
            <a:r>
              <a:rPr lang="en-US" sz="2600" i="1" dirty="0"/>
              <a:t>x</a:t>
            </a:r>
            <a:r>
              <a:rPr lang="en-US" sz="2600" dirty="0"/>
              <a:t>  failures multiplied by the number of ways choosing </a:t>
            </a:r>
            <a:r>
              <a:rPr lang="en-US" sz="2600" i="1" dirty="0"/>
              <a:t>x</a:t>
            </a:r>
            <a:r>
              <a:rPr lang="en-US" sz="2600" dirty="0"/>
              <a:t> successes out of </a:t>
            </a:r>
            <a:r>
              <a:rPr lang="en-US" sz="2600" i="1" dirty="0"/>
              <a:t>n</a:t>
            </a:r>
            <a:r>
              <a:rPr lang="en-US" sz="2600" dirty="0"/>
              <a:t> trials.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600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sz="2600" i="1" dirty="0"/>
              <a:t>n</a:t>
            </a:r>
            <a:r>
              <a:rPr lang="en-US" sz="2600" dirty="0"/>
              <a:t> and </a:t>
            </a:r>
            <a:r>
              <a:rPr lang="en-US" sz="2600" i="1" dirty="0"/>
              <a:t>p</a:t>
            </a:r>
            <a:r>
              <a:rPr lang="en-US" sz="2600" dirty="0"/>
              <a:t> are </a:t>
            </a:r>
            <a:r>
              <a:rPr lang="en-US" sz="2600" i="1" dirty="0">
                <a:solidFill>
                  <a:schemeClr val="hlink"/>
                </a:solidFill>
              </a:rPr>
              <a:t>parameters </a:t>
            </a:r>
            <a:r>
              <a:rPr lang="en-US" sz="2600" dirty="0"/>
              <a:t>(</a:t>
            </a:r>
            <a:r>
              <a:rPr lang="en-US" sz="2600" i="1" dirty="0"/>
              <a:t>q = 1 - p</a:t>
            </a:r>
            <a:r>
              <a:rPr lang="en-US" sz="2600" dirty="0"/>
              <a:t>). We will use data to estimate the values for unknown parameters.</a:t>
            </a:r>
          </a:p>
        </p:txBody>
      </p:sp>
      <p:graphicFrame>
        <p:nvGraphicFramePr>
          <p:cNvPr id="145411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75213071"/>
              </p:ext>
            </p:extLst>
          </p:nvPr>
        </p:nvGraphicFramePr>
        <p:xfrm>
          <a:off x="3733623" y="2011680"/>
          <a:ext cx="4785714" cy="867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11078" imgH="418893" progId="">
                  <p:embed/>
                </p:oleObj>
              </mc:Choice>
              <mc:Fallback>
                <p:oleObj name="Equation" r:id="rId3" imgW="2311078" imgH="418893" progId="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623" y="2011680"/>
                        <a:ext cx="4785714" cy="8674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Straight Arrow Connector 2"/>
          <p:cNvCxnSpPr/>
          <p:nvPr/>
        </p:nvCxnSpPr>
        <p:spPr>
          <a:xfrm flipH="1" flipV="1">
            <a:off x="7483151" y="2879090"/>
            <a:ext cx="522514" cy="349302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660921" y="3161955"/>
            <a:ext cx="45109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# ways you can have </a:t>
            </a:r>
            <a:r>
              <a:rPr lang="en-US" sz="2000" i="1" dirty="0"/>
              <a:t>x </a:t>
            </a:r>
            <a:r>
              <a:rPr lang="en-US" sz="2000" dirty="0"/>
              <a:t>out of </a:t>
            </a:r>
            <a:r>
              <a:rPr lang="en-US" sz="2000" i="1" dirty="0"/>
              <a:t>n </a:t>
            </a:r>
            <a:r>
              <a:rPr lang="en-US" sz="2000" dirty="0"/>
              <a:t>successes/</a:t>
            </a:r>
          </a:p>
          <a:p>
            <a:r>
              <a:rPr lang="en-US" sz="2000" dirty="0"/>
              <a:t>E.g. HHT, HTH, THH</a:t>
            </a:r>
          </a:p>
        </p:txBody>
      </p:sp>
    </p:spTree>
    <p:extLst>
      <p:ext uri="{BB962C8B-B14F-4D97-AF65-F5344CB8AC3E}">
        <p14:creationId xmlns:p14="http://schemas.microsoft.com/office/powerpoint/2010/main" val="1081432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59055"/>
            <a:ext cx="12390120" cy="114300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dirty="0"/>
              <a:t>One Binomial Trial: The Bernoulli Distribution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94360" y="1074420"/>
            <a:ext cx="11087100" cy="5029200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600" dirty="0"/>
              <a:t>In a binomial experiment, the probability of exactly </a:t>
            </a:r>
            <a:r>
              <a:rPr lang="en-US" sz="2600" i="1" dirty="0"/>
              <a:t>x</a:t>
            </a:r>
            <a:r>
              <a:rPr lang="en-US" sz="2600" dirty="0"/>
              <a:t> successes in </a:t>
            </a:r>
            <a:r>
              <a:rPr lang="en-US" sz="2600" i="1" dirty="0"/>
              <a:t>n</a:t>
            </a:r>
            <a:r>
              <a:rPr lang="en-US" sz="2600" dirty="0"/>
              <a:t> trials is: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600" dirty="0"/>
          </a:p>
          <a:p>
            <a:pPr eaLnBrk="1" hangingPunct="1">
              <a:lnSpc>
                <a:spcPct val="90000"/>
              </a:lnSpc>
              <a:defRPr/>
            </a:pPr>
            <a:endParaRPr lang="en-US" sz="2600" dirty="0"/>
          </a:p>
          <a:p>
            <a:pPr eaLnBrk="1" hangingPunct="1">
              <a:lnSpc>
                <a:spcPct val="90000"/>
              </a:lnSpc>
              <a:defRPr/>
            </a:pPr>
            <a:endParaRPr lang="en-US" sz="2600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sz="2600" dirty="0"/>
              <a:t>With </a:t>
            </a:r>
            <a:r>
              <a:rPr lang="en-US" sz="2600" i="1" dirty="0"/>
              <a:t>n </a:t>
            </a:r>
            <a:r>
              <a:rPr lang="en-US" sz="2600" dirty="0"/>
              <a:t>= 1, the Binomial becomes the Bernoulli distribution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600" dirty="0"/>
              <a:t>P(x) = </a:t>
            </a:r>
            <a:r>
              <a:rPr lang="en-US" sz="2600" i="1" dirty="0" err="1"/>
              <a:t>p</a:t>
            </a:r>
            <a:r>
              <a:rPr lang="en-US" sz="2600" i="1" baseline="30000" dirty="0" err="1"/>
              <a:t>x</a:t>
            </a:r>
            <a:r>
              <a:rPr lang="en-US" sz="2600" i="1" baseline="30000" dirty="0"/>
              <a:t> </a:t>
            </a:r>
            <a:r>
              <a:rPr lang="en-US" sz="2600" dirty="0"/>
              <a:t>(1</a:t>
            </a:r>
            <a:r>
              <a:rPr lang="en-US" sz="2600" i="1" dirty="0"/>
              <a:t> - p</a:t>
            </a:r>
            <a:r>
              <a:rPr lang="en-US" sz="2600" dirty="0"/>
              <a:t>)</a:t>
            </a:r>
            <a:r>
              <a:rPr lang="en-US" sz="2600" baseline="30000" dirty="0"/>
              <a:t>1</a:t>
            </a:r>
            <a:r>
              <a:rPr lang="en-US" sz="2600" i="1" baseline="30000" dirty="0"/>
              <a:t> </a:t>
            </a:r>
            <a:r>
              <a:rPr lang="mr-IN" sz="2600" i="1" baseline="30000" dirty="0"/>
              <a:t>–</a:t>
            </a:r>
            <a:r>
              <a:rPr lang="en-US" sz="2600" i="1" baseline="30000" dirty="0"/>
              <a:t> x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600" dirty="0"/>
              <a:t>Where x can take the values of 0 or 1</a:t>
            </a:r>
          </a:p>
          <a:p>
            <a:pPr lvl="1" eaLnBrk="1" hangingPunct="1">
              <a:lnSpc>
                <a:spcPct val="90000"/>
              </a:lnSpc>
              <a:defRPr/>
            </a:pPr>
            <a:endParaRPr lang="en-US" sz="2600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sz="2600" dirty="0"/>
              <a:t>Bernoulli </a:t>
            </a:r>
            <a:r>
              <a:rPr lang="en-US" sz="2600" dirty="0">
                <a:sym typeface="Wingdings"/>
              </a:rPr>
              <a:t> probability a single coin flip comes up heads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600" dirty="0">
                <a:sym typeface="Wingdings"/>
              </a:rPr>
              <a:t>Binomial  Probability that 10 coin flips yield 3 heads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600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sz="2600" b="1" dirty="0"/>
              <a:t>So the Binomial is the distribution for the sum of independent Bernoulli trials</a:t>
            </a:r>
            <a:endParaRPr lang="en-US" sz="2600" b="1" dirty="0">
              <a:sym typeface="Wingdings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sz="2600" dirty="0"/>
          </a:p>
        </p:txBody>
      </p:sp>
      <p:graphicFrame>
        <p:nvGraphicFramePr>
          <p:cNvPr id="147459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61546922"/>
              </p:ext>
            </p:extLst>
          </p:nvPr>
        </p:nvGraphicFramePr>
        <p:xfrm>
          <a:off x="3703003" y="1617028"/>
          <a:ext cx="4573752" cy="8289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11078" imgH="418893" progId="">
                  <p:embed/>
                </p:oleObj>
              </mc:Choice>
              <mc:Fallback>
                <p:oleObj name="Equation" r:id="rId3" imgW="2311078" imgH="418893" progId="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3003" y="1617028"/>
                        <a:ext cx="4573752" cy="8289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60196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507"/>
          <a:stretch/>
        </p:blipFill>
        <p:spPr>
          <a:xfrm>
            <a:off x="1363335" y="0"/>
            <a:ext cx="9758680" cy="6251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125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76"/>
          <a:stretch/>
        </p:blipFill>
        <p:spPr>
          <a:xfrm>
            <a:off x="1489269" y="134256"/>
            <a:ext cx="8681098" cy="6285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24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82" b="61669"/>
          <a:stretch/>
        </p:blipFill>
        <p:spPr>
          <a:xfrm>
            <a:off x="1302657" y="1343608"/>
            <a:ext cx="9473412" cy="17354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097763" y="4086807"/>
            <a:ext cx="862300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Hints: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Make a table with </a:t>
            </a:r>
            <a:r>
              <a:rPr lang="en-US" sz="2400" i="1" dirty="0"/>
              <a:t>X, p</a:t>
            </a:r>
            <a:r>
              <a:rPr lang="en-US" sz="2400" dirty="0"/>
              <a:t>(</a:t>
            </a:r>
            <a:r>
              <a:rPr lang="en-US" sz="2400" i="1" dirty="0"/>
              <a:t>x</a:t>
            </a:r>
            <a:r>
              <a:rPr lang="en-US" sz="2400" dirty="0"/>
              <a:t>)</a:t>
            </a:r>
            <a:r>
              <a:rPr lang="en-US" sz="2400" i="1" dirty="0"/>
              <a:t>, </a:t>
            </a:r>
            <a:r>
              <a:rPr lang="en-US" sz="2400" dirty="0"/>
              <a:t>and (X</a:t>
            </a:r>
            <a:r>
              <a:rPr lang="en-US" sz="2400" i="1" dirty="0"/>
              <a:t> - µ</a:t>
            </a:r>
            <a:r>
              <a:rPr lang="en-US" sz="2400" dirty="0"/>
              <a:t> )</a:t>
            </a:r>
            <a:r>
              <a:rPr lang="en-US" sz="2400" baseline="30000" dirty="0"/>
              <a:t>2</a:t>
            </a:r>
            <a:r>
              <a:rPr lang="en-US" sz="2400" dirty="0"/>
              <a:t>. Remember </a:t>
            </a:r>
            <a:r>
              <a:rPr lang="en-US" sz="2400" i="1" dirty="0"/>
              <a:t>µ = E[X]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Remember that variances of independent random variables add</a:t>
            </a:r>
          </a:p>
          <a:p>
            <a:pPr marL="914400" lvl="1" indent="-457200">
              <a:buFont typeface="Arial" charset="0"/>
              <a:buChar char="•"/>
            </a:pPr>
            <a:r>
              <a:rPr lang="en-US" sz="2400" dirty="0" err="1"/>
              <a:t>Var</a:t>
            </a:r>
            <a:r>
              <a:rPr lang="en-US" sz="2400" dirty="0"/>
              <a:t>(X + Y) = </a:t>
            </a:r>
            <a:r>
              <a:rPr lang="en-US" sz="2400" dirty="0" err="1"/>
              <a:t>Var</a:t>
            </a:r>
            <a:r>
              <a:rPr lang="en-US" sz="2400" dirty="0"/>
              <a:t>(X) + </a:t>
            </a:r>
            <a:r>
              <a:rPr lang="en-US" sz="2400" dirty="0" err="1"/>
              <a:t>Var</a:t>
            </a:r>
            <a:r>
              <a:rPr lang="en-US" sz="2400" dirty="0"/>
              <a:t>(Y)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66A6E4-A3BC-4A0D-F418-A8BA51B09984}"/>
              </a:ext>
            </a:extLst>
          </p:cNvPr>
          <p:cNvSpPr txBox="1"/>
          <p:nvPr/>
        </p:nvSpPr>
        <p:spPr>
          <a:xfrm>
            <a:off x="4550397" y="70314"/>
            <a:ext cx="297793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0070C0"/>
                </a:solidFill>
              </a:rPr>
              <a:t>Group Work</a:t>
            </a:r>
          </a:p>
        </p:txBody>
      </p:sp>
    </p:spTree>
    <p:extLst>
      <p:ext uri="{BB962C8B-B14F-4D97-AF65-F5344CB8AC3E}">
        <p14:creationId xmlns:p14="http://schemas.microsoft.com/office/powerpoint/2010/main" val="2020040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97877" y="429477"/>
            <a:ext cx="9204741" cy="534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0">
                <a:solidFill>
                  <a:srgbClr val="3333CC"/>
                </a:solidFill>
                <a:latin typeface="Calibri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97877" y="1238721"/>
            <a:ext cx="920474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0">
                <a:latin typeface="Calibri"/>
              </a:rPr>
              <a:t>1. For X ~ Bernoulli(p) we use a table. (We know E(X) = p.)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97877" y="1711923"/>
          <a:ext cx="4206240" cy="960120"/>
        </p:xfrm>
        <a:graphic>
          <a:graphicData uri="http://schemas.openxmlformats.org/drawingml/2006/table">
            <a:tbl>
              <a:tblPr firstCol="1">
                <a:tableStyleId>{5C22544A-7EE6-4342-B048-85BDC9FD1C3A}</a:tableStyleId>
              </a:tblPr>
              <a:tblGrid>
                <a:gridCol w="1402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latin typeface="Cambria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Cambria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Cambria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latin typeface="Cambria"/>
                        </a:rPr>
                        <a:t>p(x)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Cambria"/>
                        </a:rPr>
                        <a:t>1 −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Cambria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latin typeface="Cambria"/>
                        </a:rPr>
                        <a:t>(X − μ)</a:t>
                      </a:r>
                      <a:r>
                        <a:rPr sz="1500" b="1" baseline="30000">
                          <a:latin typeface="Cambria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Cambria"/>
                        </a:rPr>
                        <a:t>p</a:t>
                      </a:r>
                      <a:r>
                        <a:rPr sz="1500" b="0" baseline="30000">
                          <a:latin typeface="Cambria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Cambria"/>
                        </a:rPr>
                        <a:t>(1 − p)</a:t>
                      </a:r>
                      <a:r>
                        <a:rPr sz="1500" b="0" baseline="30000">
                          <a:latin typeface="Cambria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597877" y="2931498"/>
            <a:ext cx="920474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latin typeface="Cambria"/>
              </a:rPr>
              <a:t>Var(X) = E((X − μ)</a:t>
            </a:r>
            <a:r>
              <a:rPr sz="2000" b="0" baseline="30000">
                <a:latin typeface="Cambria"/>
              </a:rPr>
              <a:t>2</a:t>
            </a:r>
            <a:r>
              <a:rPr sz="2000" b="0">
                <a:latin typeface="Cambria"/>
              </a:rPr>
              <a:t>) = (1 − p)p</a:t>
            </a:r>
            <a:r>
              <a:rPr sz="2000" b="0" baseline="30000">
                <a:latin typeface="Cambria"/>
              </a:rPr>
              <a:t>2</a:t>
            </a:r>
            <a:r>
              <a:rPr sz="2000" b="0">
                <a:latin typeface="Cambria"/>
              </a:rPr>
              <a:t> + p(1 − p)</a:t>
            </a:r>
            <a:r>
              <a:rPr sz="2000" b="0" baseline="30000">
                <a:latin typeface="Cambria"/>
              </a:rPr>
              <a:t>2</a:t>
            </a:r>
            <a:r>
              <a:rPr sz="2000" b="0">
                <a:latin typeface="Cambria"/>
              </a:rPr>
              <a:t> = p(1 − 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7877" y="3741930"/>
            <a:ext cx="9204741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0" dirty="0">
                <a:latin typeface="Calibri"/>
              </a:rPr>
              <a:t>2. X ~ bin(n, p) means X is the sum of n independent Bernoulli(p) random variables X</a:t>
            </a:r>
            <a:r>
              <a:rPr sz="2000" b="0" baseline="-25000" dirty="0">
                <a:latin typeface="Calibri"/>
              </a:rPr>
              <a:t>1</a:t>
            </a:r>
            <a:r>
              <a:rPr sz="2000" b="0" dirty="0">
                <a:latin typeface="Calibri"/>
              </a:rPr>
              <a:t>, X</a:t>
            </a:r>
            <a:r>
              <a:rPr sz="2000" b="0" baseline="-25000" dirty="0">
                <a:latin typeface="Calibri"/>
              </a:rPr>
              <a:t>2</a:t>
            </a:r>
            <a:r>
              <a:rPr sz="2000" b="0" dirty="0">
                <a:latin typeface="Calibri"/>
              </a:rPr>
              <a:t>, …, </a:t>
            </a:r>
            <a:r>
              <a:rPr sz="2000" b="0" dirty="0" err="1">
                <a:latin typeface="Calibri"/>
              </a:rPr>
              <a:t>X</a:t>
            </a:r>
            <a:r>
              <a:rPr sz="2000" b="0" baseline="-25000" dirty="0" err="1">
                <a:latin typeface="Calibri"/>
              </a:rPr>
              <a:t>n</a:t>
            </a:r>
            <a:r>
              <a:rPr sz="2000" b="0" dirty="0">
                <a:latin typeface="Calibri"/>
              </a:rPr>
              <a:t>. For independent variables, the variances add. Since Var(</a:t>
            </a:r>
            <a:r>
              <a:rPr sz="2000" b="0" dirty="0" err="1">
                <a:latin typeface="Calibri"/>
              </a:rPr>
              <a:t>X</a:t>
            </a:r>
            <a:r>
              <a:rPr sz="2000" b="0" baseline="-25000" dirty="0" err="1">
                <a:latin typeface="Calibri"/>
              </a:rPr>
              <a:t>j</a:t>
            </a:r>
            <a:r>
              <a:rPr sz="2000" b="0" dirty="0">
                <a:latin typeface="Calibri"/>
              </a:rPr>
              <a:t>) = p(1 − p) we have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97877" y="4560318"/>
            <a:ext cx="920474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dirty="0">
                <a:latin typeface="Cambria"/>
              </a:rPr>
              <a:t>Var(X) = Var(X</a:t>
            </a:r>
            <a:r>
              <a:rPr sz="2000" b="0" baseline="-25000" dirty="0">
                <a:latin typeface="Cambria"/>
              </a:rPr>
              <a:t>1</a:t>
            </a:r>
            <a:r>
              <a:rPr sz="2000" b="0" dirty="0">
                <a:latin typeface="Cambria"/>
              </a:rPr>
              <a:t>) + Var(X</a:t>
            </a:r>
            <a:r>
              <a:rPr sz="2000" b="0" baseline="-25000" dirty="0">
                <a:latin typeface="Cambria"/>
              </a:rPr>
              <a:t>2</a:t>
            </a:r>
            <a:r>
              <a:rPr sz="2000" b="0" dirty="0">
                <a:latin typeface="Cambria"/>
              </a:rPr>
              <a:t>) + … + Var(</a:t>
            </a:r>
            <a:r>
              <a:rPr sz="2000" b="0" dirty="0" err="1">
                <a:latin typeface="Cambria"/>
              </a:rPr>
              <a:t>X</a:t>
            </a:r>
            <a:r>
              <a:rPr sz="2000" b="0" baseline="-25000" dirty="0" err="1">
                <a:latin typeface="Cambria"/>
              </a:rPr>
              <a:t>n</a:t>
            </a:r>
            <a:r>
              <a:rPr sz="2000" b="0" dirty="0">
                <a:latin typeface="Cambria"/>
              </a:rPr>
              <a:t>) = </a:t>
            </a:r>
            <a:r>
              <a:rPr sz="2000" b="0">
                <a:latin typeface="Cambria"/>
              </a:rPr>
              <a:t>np(</a:t>
            </a:r>
            <a:r>
              <a:rPr lang="en-US" sz="2000" b="0">
                <a:latin typeface="Cambria"/>
              </a:rPr>
              <a:t>1</a:t>
            </a:r>
            <a:r>
              <a:rPr sz="2000" b="0">
                <a:latin typeface="Cambria"/>
              </a:rPr>
              <a:t> − </a:t>
            </a:r>
            <a:r>
              <a:rPr lang="en-US" sz="2000" b="0">
                <a:latin typeface="Cambria"/>
              </a:rPr>
              <a:t>p</a:t>
            </a:r>
            <a:r>
              <a:rPr sz="2000" b="0">
                <a:latin typeface="Cambria"/>
              </a:rPr>
              <a:t>).</a:t>
            </a:r>
            <a:endParaRPr sz="2000" b="0" dirty="0">
              <a:latin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603591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-7620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/>
              <a:t>Binomial Probabilities-II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317751" y="1323976"/>
            <a:ext cx="7580313" cy="48482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dirty="0"/>
              <a:t>Notation: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dirty="0"/>
          </a:p>
          <a:p>
            <a:pPr eaLnBrk="1" hangingPunct="1">
              <a:lnSpc>
                <a:spcPct val="90000"/>
              </a:lnSpc>
              <a:defRPr/>
            </a:pPr>
            <a:endParaRPr lang="en-US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dirty="0"/>
              <a:t>	We read this as “The random variable </a:t>
            </a:r>
            <a:r>
              <a:rPr lang="en-US" i="1" dirty="0"/>
              <a:t>X</a:t>
            </a:r>
            <a:r>
              <a:rPr lang="en-US" dirty="0"/>
              <a:t> is distributed binomially with parameters </a:t>
            </a:r>
            <a:r>
              <a:rPr lang="en-US" i="1" dirty="0"/>
              <a:t>n</a:t>
            </a:r>
            <a:r>
              <a:rPr lang="en-US" dirty="0"/>
              <a:t> and </a:t>
            </a:r>
            <a:r>
              <a:rPr lang="en-US" i="1" dirty="0"/>
              <a:t>p</a:t>
            </a:r>
            <a:r>
              <a:rPr lang="en-US" dirty="0"/>
              <a:t>”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endParaRPr lang="en-US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dirty="0"/>
              <a:t>		</a:t>
            </a:r>
          </a:p>
          <a:p>
            <a:pPr algn="ctr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dirty="0"/>
              <a:t>Recall: </a:t>
            </a:r>
            <a:r>
              <a:rPr lang="en-US" sz="2000" i="1" dirty="0"/>
              <a:t>q</a:t>
            </a:r>
            <a:r>
              <a:rPr lang="en-US" sz="2000" dirty="0"/>
              <a:t> = 1 - </a:t>
            </a:r>
            <a:r>
              <a:rPr lang="en-US" sz="2000" i="1" dirty="0"/>
              <a:t>p</a:t>
            </a:r>
          </a:p>
        </p:txBody>
      </p:sp>
      <p:graphicFrame>
        <p:nvGraphicFramePr>
          <p:cNvPr id="149508" name="Object 9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924425" y="4114800"/>
          <a:ext cx="2514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57231" imgH="456924" progId="">
                  <p:embed/>
                </p:oleObj>
              </mc:Choice>
              <mc:Fallback>
                <p:oleObj name="Equation" r:id="rId3" imgW="1257231" imgH="456924" progId="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4425" y="4114800"/>
                        <a:ext cx="25146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688207" y="1974818"/>
            <a:ext cx="5864106" cy="52322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sz="2800" dirty="0"/>
              <a:t>X ~ B(</a:t>
            </a:r>
            <a:r>
              <a:rPr lang="en-US" sz="2800" dirty="0" err="1"/>
              <a:t>n,p</a:t>
            </a:r>
            <a:r>
              <a:rPr lang="en-US" sz="2800" dirty="0"/>
              <a:t>); X ~ Bin(</a:t>
            </a:r>
            <a:r>
              <a:rPr lang="en-US" sz="2800" i="1" dirty="0" err="1"/>
              <a:t>n</a:t>
            </a:r>
            <a:r>
              <a:rPr lang="en-US" sz="2800" dirty="0" err="1"/>
              <a:t>,</a:t>
            </a:r>
            <a:r>
              <a:rPr lang="en-US" sz="2800" i="1" dirty="0" err="1"/>
              <a:t>p</a:t>
            </a:r>
            <a:r>
              <a:rPr lang="en-US" sz="2800" dirty="0"/>
              <a:t>); X ~ </a:t>
            </a:r>
            <a:r>
              <a:rPr lang="en-US" sz="2800" dirty="0" err="1"/>
              <a:t>Binom</a:t>
            </a:r>
            <a:r>
              <a:rPr lang="en-US" sz="2800" dirty="0"/>
              <a:t>(</a:t>
            </a:r>
            <a:r>
              <a:rPr lang="en-US" sz="2800" i="1" dirty="0" err="1"/>
              <a:t>n</a:t>
            </a:r>
            <a:r>
              <a:rPr lang="en-US" sz="2800" dirty="0" err="1"/>
              <a:t>,</a:t>
            </a:r>
            <a:r>
              <a:rPr lang="en-US" sz="2800" i="1" dirty="0" err="1"/>
              <a:t>p</a:t>
            </a:r>
            <a:r>
              <a:rPr lang="en-US" sz="2800" dirty="0"/>
              <a:t>)</a:t>
            </a:r>
            <a:endParaRPr 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1812605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75681" y="21564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/>
              <a:t>The Binomial Distribution</a:t>
            </a:r>
          </a:p>
        </p:txBody>
      </p:sp>
      <p:pic>
        <p:nvPicPr>
          <p:cNvPr id="11267" name="Picture 4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print"/>
          <a:srcRect l="1550" t="2330" r="1550" b="2330"/>
          <a:stretch>
            <a:fillRect/>
          </a:stretch>
        </p:blipFill>
        <p:spPr>
          <a:xfrm>
            <a:off x="2074864" y="2598738"/>
            <a:ext cx="3411537" cy="2233612"/>
          </a:xfrm>
        </p:spPr>
      </p:pic>
      <p:pic>
        <p:nvPicPr>
          <p:cNvPr id="11269" name="Picture 8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 cstate="print"/>
          <a:srcRect l="1550" t="2330" r="1550" b="2330"/>
          <a:stretch>
            <a:fillRect/>
          </a:stretch>
        </p:blipFill>
        <p:spPr>
          <a:xfrm>
            <a:off x="6172200" y="2589213"/>
            <a:ext cx="3392488" cy="2220912"/>
          </a:xfrm>
        </p:spPr>
      </p:pic>
      <p:sp>
        <p:nvSpPr>
          <p:cNvPr id="155652" name="Text Box 10"/>
          <p:cNvSpPr txBox="1">
            <a:spLocks noChangeArrowheads="1"/>
          </p:cNvSpPr>
          <p:nvPr/>
        </p:nvSpPr>
        <p:spPr bwMode="auto">
          <a:xfrm>
            <a:off x="3163889" y="2849563"/>
            <a:ext cx="176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1" dirty="0"/>
              <a:t>n</a:t>
            </a:r>
            <a:r>
              <a:rPr lang="en-US" altLang="en-US" sz="2400" dirty="0"/>
              <a:t>=6; </a:t>
            </a:r>
            <a:r>
              <a:rPr lang="en-US" altLang="en-US" sz="2400" i="1" dirty="0"/>
              <a:t>p</a:t>
            </a:r>
            <a:r>
              <a:rPr lang="en-US" altLang="en-US" sz="2400" dirty="0"/>
              <a:t>=0.5</a:t>
            </a:r>
          </a:p>
        </p:txBody>
      </p:sp>
      <p:sp>
        <p:nvSpPr>
          <p:cNvPr id="155653" name="Text Box 12"/>
          <p:cNvSpPr txBox="1">
            <a:spLocks noChangeArrowheads="1"/>
          </p:cNvSpPr>
          <p:nvPr/>
        </p:nvSpPr>
        <p:spPr bwMode="auto">
          <a:xfrm>
            <a:off x="6575426" y="2763838"/>
            <a:ext cx="176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1" dirty="0"/>
              <a:t>n</a:t>
            </a:r>
            <a:r>
              <a:rPr lang="en-US" altLang="en-US" sz="2400" dirty="0"/>
              <a:t>=6; </a:t>
            </a:r>
            <a:r>
              <a:rPr lang="en-US" altLang="en-US" sz="2400" i="1" dirty="0"/>
              <a:t>p</a:t>
            </a:r>
            <a:r>
              <a:rPr lang="en-US" altLang="en-US" sz="2400" dirty="0"/>
              <a:t>=0.9</a:t>
            </a:r>
          </a:p>
        </p:txBody>
      </p:sp>
      <p:sp>
        <p:nvSpPr>
          <p:cNvPr id="155654" name="Text Box 13"/>
          <p:cNvSpPr txBox="1">
            <a:spLocks noChangeArrowheads="1"/>
          </p:cNvSpPr>
          <p:nvPr/>
        </p:nvSpPr>
        <p:spPr bwMode="auto">
          <a:xfrm>
            <a:off x="2554288" y="4678364"/>
            <a:ext cx="2895600" cy="1984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700" dirty="0"/>
              <a:t>0            1              2             3              4              5             6</a:t>
            </a:r>
          </a:p>
        </p:txBody>
      </p:sp>
      <p:sp>
        <p:nvSpPr>
          <p:cNvPr id="155655" name="Text Box 15"/>
          <p:cNvSpPr txBox="1">
            <a:spLocks noChangeArrowheads="1"/>
          </p:cNvSpPr>
          <p:nvPr/>
        </p:nvSpPr>
        <p:spPr bwMode="auto">
          <a:xfrm>
            <a:off x="6651625" y="4622800"/>
            <a:ext cx="2895600" cy="1984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700"/>
              <a:t>0            1              2             3              4              5             6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1835198" y="5469198"/>
            <a:ext cx="867400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3600" dirty="0"/>
              <a:t>This is a probability mass function; PMF</a:t>
            </a:r>
          </a:p>
        </p:txBody>
      </p:sp>
    </p:spTree>
    <p:extLst>
      <p:ext uri="{BB962C8B-B14F-4D97-AF65-F5344CB8AC3E}">
        <p14:creationId xmlns:p14="http://schemas.microsoft.com/office/powerpoint/2010/main" val="1798786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036762" y="803276"/>
            <a:ext cx="8131175" cy="1177925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sz="4000" dirty="0"/>
              <a:t>Examples of the Binomial Distribution-I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46288" y="1981201"/>
            <a:ext cx="8108950" cy="4238625"/>
          </a:xfrm>
        </p:spPr>
        <p:txBody>
          <a:bodyPr/>
          <a:lstStyle/>
          <a:p>
            <a:pPr marL="533400" indent="-533400">
              <a:defRPr/>
            </a:pPr>
            <a:r>
              <a:rPr lang="en-US" dirty="0"/>
              <a:t>We examine 12 animals for the presence of a disease (</a:t>
            </a:r>
            <a:r>
              <a:rPr lang="en-US" i="1" dirty="0"/>
              <a:t>p </a:t>
            </a:r>
            <a:r>
              <a:rPr lang="en-US" dirty="0"/>
              <a:t>= 0.1). What is the probability that:</a:t>
            </a:r>
          </a:p>
          <a:p>
            <a:pPr marL="914400" lvl="1" indent="-457200">
              <a:buFont typeface="Wingdings" pitchFamily="2" charset="2"/>
              <a:buAutoNum type="arabicPeriod"/>
              <a:defRPr/>
            </a:pPr>
            <a:r>
              <a:rPr lang="en-US" dirty="0"/>
              <a:t>We find exactly 2 animals with the disease?</a:t>
            </a:r>
          </a:p>
          <a:p>
            <a:pPr marL="914400" lvl="1" indent="-457200">
              <a:buFont typeface="Wingdings" pitchFamily="2" charset="2"/>
              <a:buAutoNum type="arabicPeriod"/>
              <a:defRPr/>
            </a:pPr>
            <a:r>
              <a:rPr lang="en-US" dirty="0"/>
              <a:t>We find no animals with the disease?</a:t>
            </a:r>
          </a:p>
          <a:p>
            <a:pPr marL="914400" lvl="1" indent="-457200">
              <a:buFont typeface="Wingdings" pitchFamily="2" charset="2"/>
              <a:buAutoNum type="arabicPeriod"/>
              <a:defRPr/>
            </a:pPr>
            <a:r>
              <a:rPr lang="en-US" dirty="0"/>
              <a:t>We find 2 or more animals with the disease?</a:t>
            </a:r>
          </a:p>
          <a:p>
            <a:pPr marL="914400" lvl="1" indent="-457200">
              <a:buFont typeface="Wingdings" pitchFamily="2" charset="2"/>
              <a:buAutoNum type="arabicPeriod"/>
              <a:defRPr/>
            </a:pPr>
            <a:endParaRPr lang="en-US" dirty="0"/>
          </a:p>
        </p:txBody>
      </p:sp>
      <p:graphicFrame>
        <p:nvGraphicFramePr>
          <p:cNvPr id="15769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3999975"/>
              </p:ext>
            </p:extLst>
          </p:nvPr>
        </p:nvGraphicFramePr>
        <p:xfrm>
          <a:off x="3468130" y="4590536"/>
          <a:ext cx="3810000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11078" imgH="418893" progId="">
                  <p:embed/>
                </p:oleObj>
              </mc:Choice>
              <mc:Fallback>
                <p:oleObj name="Equation" r:id="rId3" imgW="2311078" imgH="418893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8130" y="4590536"/>
                        <a:ext cx="3810000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DCCFD75-506D-339F-06DF-088413451C53}"/>
              </a:ext>
            </a:extLst>
          </p:cNvPr>
          <p:cNvSpPr txBox="1"/>
          <p:nvPr/>
        </p:nvSpPr>
        <p:spPr>
          <a:xfrm>
            <a:off x="4764709" y="37011"/>
            <a:ext cx="297793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0070C0"/>
                </a:solidFill>
              </a:rPr>
              <a:t>Group Work</a:t>
            </a:r>
          </a:p>
        </p:txBody>
      </p:sp>
    </p:spTree>
    <p:extLst>
      <p:ext uri="{BB962C8B-B14F-4D97-AF65-F5344CB8AC3E}">
        <p14:creationId xmlns:p14="http://schemas.microsoft.com/office/powerpoint/2010/main" val="15965421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81000"/>
            <a:ext cx="7793038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sz="4000"/>
              <a:t>Examples of the Binomial Distribution-III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706688" y="1981200"/>
            <a:ext cx="6970712" cy="4114800"/>
          </a:xfrm>
        </p:spPr>
        <p:txBody>
          <a:bodyPr/>
          <a:lstStyle/>
          <a:p>
            <a:pPr marL="609600" indent="-609600">
              <a:buFont typeface="Wingdings" pitchFamily="2" charset="2"/>
              <a:buAutoNum type="arabicPeriod"/>
              <a:defRPr/>
            </a:pPr>
            <a:r>
              <a:rPr lang="en-US" sz="3000" dirty="0"/>
              <a:t>P[X=2]=</a:t>
            </a:r>
          </a:p>
          <a:p>
            <a:pPr marL="609600" indent="-609600">
              <a:buFont typeface="Wingdings" pitchFamily="2" charset="2"/>
              <a:buAutoNum type="arabicPeriod"/>
              <a:defRPr/>
            </a:pPr>
            <a:r>
              <a:rPr lang="en-US" sz="3000" dirty="0"/>
              <a:t>P[X=0]=</a:t>
            </a:r>
          </a:p>
          <a:p>
            <a:pPr marL="609600" indent="-609600">
              <a:buFont typeface="Wingdings" pitchFamily="2" charset="2"/>
              <a:buAutoNum type="arabicPeriod"/>
              <a:defRPr/>
            </a:pPr>
            <a:r>
              <a:rPr lang="en-US" sz="3000" dirty="0"/>
              <a:t>P[X</a:t>
            </a:r>
            <a:r>
              <a:rPr lang="en-US" sz="3000" dirty="0">
                <a:sym typeface="Symbol" pitchFamily="18" charset="2"/>
              </a:rPr>
              <a:t>2]=1-P[X=0]-P[X=1]=0.3410</a:t>
            </a:r>
          </a:p>
          <a:p>
            <a:pPr marL="609600" indent="-609600">
              <a:defRPr/>
            </a:pPr>
            <a:endParaRPr lang="en-US" sz="3000" dirty="0"/>
          </a:p>
        </p:txBody>
      </p:sp>
      <p:graphicFrame>
        <p:nvGraphicFramePr>
          <p:cNvPr id="159747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5106988" y="1905000"/>
          <a:ext cx="2019300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22890" imgH="457200" progId="">
                  <p:embed/>
                </p:oleObj>
              </mc:Choice>
              <mc:Fallback>
                <p:oleObj name="Equation" r:id="rId3" imgW="1422890" imgH="457200" progId="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6988" y="1905000"/>
                        <a:ext cx="2019300" cy="649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48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5106988" y="2514600"/>
          <a:ext cx="2038350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35575" imgH="457200" progId="">
                  <p:embed/>
                </p:oleObj>
              </mc:Choice>
              <mc:Fallback>
                <p:oleObj name="Equation" r:id="rId5" imgW="1435575" imgH="457200" progId="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6988" y="2514600"/>
                        <a:ext cx="2038350" cy="649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6029325"/>
            <a:ext cx="2743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3883025"/>
            <a:ext cx="5092700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8321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14300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3600" dirty="0"/>
              <a:t>Sneak peak: Maximum likelihood is just doing this in reverse!!!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2"/>
          </p:nvPr>
        </p:nvSpPr>
        <p:spPr>
          <a:xfrm>
            <a:off x="605480" y="1396480"/>
            <a:ext cx="11319041" cy="3828662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dirty="0"/>
              <a:t>Instead of knowing </a:t>
            </a:r>
            <a:r>
              <a:rPr lang="en-US" i="1" dirty="0"/>
              <a:t>N</a:t>
            </a:r>
            <a:r>
              <a:rPr lang="en-US" dirty="0"/>
              <a:t> and </a:t>
            </a:r>
            <a:r>
              <a:rPr lang="en-US" i="1" dirty="0"/>
              <a:t>p</a:t>
            </a:r>
            <a:r>
              <a:rPr lang="en-US" dirty="0"/>
              <a:t>, we often collect data in which </a:t>
            </a:r>
            <a:r>
              <a:rPr lang="en-US" i="1" dirty="0"/>
              <a:t>p </a:t>
            </a:r>
            <a:r>
              <a:rPr lang="en-US" dirty="0"/>
              <a:t>and sometimes also </a:t>
            </a:r>
            <a:r>
              <a:rPr lang="en-US" i="1" dirty="0"/>
              <a:t>N </a:t>
            </a:r>
            <a:r>
              <a:rPr lang="en-US" dirty="0"/>
              <a:t>are unknown.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To understand how the world works, we want to determine </a:t>
            </a:r>
            <a:r>
              <a:rPr lang="en-US" i="1" dirty="0"/>
              <a:t>p </a:t>
            </a:r>
          </a:p>
          <a:p>
            <a:pPr lvl="1">
              <a:defRPr/>
            </a:pPr>
            <a:r>
              <a:rPr lang="en-US" sz="2800" i="1" dirty="0"/>
              <a:t>What is the prevalence of a disease?</a:t>
            </a:r>
          </a:p>
          <a:p>
            <a:pPr lvl="1">
              <a:defRPr/>
            </a:pPr>
            <a:r>
              <a:rPr lang="en-US" sz="2800" i="1" dirty="0"/>
              <a:t>What is the probability of giving birth?</a:t>
            </a:r>
            <a:r>
              <a:rPr lang="en-US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886539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2"/>
          </p:nvPr>
        </p:nvSpPr>
        <p:spPr>
          <a:xfrm>
            <a:off x="373223" y="1371600"/>
            <a:ext cx="11271381" cy="4419600"/>
          </a:xfrm>
        </p:spPr>
        <p:txBody>
          <a:bodyPr/>
          <a:lstStyle/>
          <a:p>
            <a:pPr>
              <a:defRPr/>
            </a:pPr>
            <a:r>
              <a:rPr lang="en-US" dirty="0"/>
              <a:t>Instead of knowing </a:t>
            </a:r>
            <a:r>
              <a:rPr lang="en-US" i="1" dirty="0"/>
              <a:t>N</a:t>
            </a:r>
            <a:r>
              <a:rPr lang="en-US" dirty="0"/>
              <a:t> and </a:t>
            </a:r>
            <a:r>
              <a:rPr lang="en-US" i="1" dirty="0"/>
              <a:t>p</a:t>
            </a:r>
            <a:r>
              <a:rPr lang="en-US" dirty="0"/>
              <a:t>, we often collect data, </a:t>
            </a:r>
            <a:r>
              <a:rPr lang="en-US" i="1" dirty="0"/>
              <a:t>k #</a:t>
            </a:r>
            <a:r>
              <a:rPr lang="en-US" dirty="0"/>
              <a:t>successes, to determine </a:t>
            </a:r>
            <a:r>
              <a:rPr lang="en-US" i="1" dirty="0"/>
              <a:t>p</a:t>
            </a:r>
            <a:r>
              <a:rPr lang="en-US" dirty="0"/>
              <a:t> and/or </a:t>
            </a:r>
            <a:r>
              <a:rPr lang="en-US" i="1" dirty="0"/>
              <a:t>N</a:t>
            </a:r>
          </a:p>
          <a:p>
            <a:pPr>
              <a:defRPr/>
            </a:pPr>
            <a:endParaRPr lang="en-US" i="1" dirty="0"/>
          </a:p>
          <a:p>
            <a:pPr>
              <a:defRPr/>
            </a:pPr>
            <a:r>
              <a:rPr lang="en-US" dirty="0"/>
              <a:t>Let’s assume that </a:t>
            </a:r>
            <a:r>
              <a:rPr lang="en-US" i="1" dirty="0"/>
              <a:t>N</a:t>
            </a:r>
            <a:r>
              <a:rPr lang="en-US" dirty="0"/>
              <a:t> is known. Say we conduct </a:t>
            </a:r>
            <a:r>
              <a:rPr lang="en-US" i="1" dirty="0"/>
              <a:t>N</a:t>
            </a:r>
            <a:r>
              <a:rPr lang="en-US" dirty="0"/>
              <a:t> trials, observe </a:t>
            </a:r>
            <a:r>
              <a:rPr lang="en-US" i="1" dirty="0"/>
              <a:t>k</a:t>
            </a:r>
            <a:r>
              <a:rPr lang="en-US" dirty="0"/>
              <a:t> successes, and want to make inference about </a:t>
            </a:r>
            <a:r>
              <a:rPr lang="en-US" i="1" dirty="0"/>
              <a:t>p, </a:t>
            </a:r>
            <a:r>
              <a:rPr lang="en-US" dirty="0"/>
              <a:t>given</a:t>
            </a:r>
            <a:r>
              <a:rPr lang="en-US" i="1" dirty="0"/>
              <a:t> k </a:t>
            </a:r>
            <a:r>
              <a:rPr lang="en-US" dirty="0"/>
              <a:t>and</a:t>
            </a:r>
            <a:r>
              <a:rPr lang="en-US" i="1" dirty="0"/>
              <a:t> N</a:t>
            </a:r>
            <a:endParaRPr lang="en-US" dirty="0"/>
          </a:p>
        </p:txBody>
      </p:sp>
      <p:pic>
        <p:nvPicPr>
          <p:cNvPr id="163843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1291" y="3812333"/>
            <a:ext cx="5016500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44" name="TextBox 3"/>
          <p:cNvSpPr txBox="1">
            <a:spLocks noChangeArrowheads="1"/>
          </p:cNvSpPr>
          <p:nvPr/>
        </p:nvSpPr>
        <p:spPr bwMode="auto">
          <a:xfrm>
            <a:off x="2097249" y="5459040"/>
            <a:ext cx="7524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This is among the easiest possible likelihood problems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3600"/>
              <a:t>Sneak peak: Maximum likelihood is just doing this in reverse!!!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318735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86610" y="-102833"/>
            <a:ext cx="11831216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sz="4000" dirty="0"/>
              <a:t>Sneak peak: Maximum Likelihood is just doing this in reverse!!!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2"/>
          </p:nvPr>
        </p:nvSpPr>
        <p:spPr>
          <a:xfrm>
            <a:off x="466531" y="1160104"/>
            <a:ext cx="11439329" cy="5501951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dirty="0"/>
              <a:t>This equation is exactly what we’ve been working with but the interpretation is </a:t>
            </a:r>
            <a:r>
              <a:rPr lang="en-US" b="1" i="1" dirty="0"/>
              <a:t>very</a:t>
            </a:r>
            <a:r>
              <a:rPr lang="en-US" i="1" dirty="0"/>
              <a:t> </a:t>
            </a:r>
            <a:r>
              <a:rPr lang="en-US" dirty="0"/>
              <a:t>different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The binomial probability summed over all values of </a:t>
            </a:r>
            <a:r>
              <a:rPr lang="en-US" i="1" dirty="0"/>
              <a:t>k</a:t>
            </a:r>
            <a:r>
              <a:rPr lang="en-US" dirty="0"/>
              <a:t> equals 1</a:t>
            </a:r>
          </a:p>
          <a:p>
            <a:pPr>
              <a:defRPr/>
            </a:pPr>
            <a:r>
              <a:rPr lang="en-US" dirty="0"/>
              <a:t>But now the Likelihood is a function of </a:t>
            </a:r>
            <a:r>
              <a:rPr lang="en-US" i="1" dirty="0"/>
              <a:t>p </a:t>
            </a:r>
            <a:r>
              <a:rPr lang="en-US" dirty="0"/>
              <a:t>with </a:t>
            </a:r>
            <a:r>
              <a:rPr lang="en-US" i="1" dirty="0"/>
              <a:t>k </a:t>
            </a:r>
            <a:r>
              <a:rPr lang="en-US" dirty="0"/>
              <a:t>fixed. </a:t>
            </a:r>
            <a:r>
              <a:rPr lang="en-US" i="1" dirty="0"/>
              <a:t>k </a:t>
            </a:r>
            <a:r>
              <a:rPr lang="en-US" dirty="0"/>
              <a:t>is our observation.</a:t>
            </a:r>
          </a:p>
          <a:p>
            <a:pPr>
              <a:defRPr/>
            </a:pPr>
            <a:r>
              <a:rPr lang="en-US" dirty="0"/>
              <a:t>The range of </a:t>
            </a:r>
            <a:r>
              <a:rPr lang="en-US" i="1" dirty="0"/>
              <a:t>p </a:t>
            </a:r>
            <a:r>
              <a:rPr lang="en-US" dirty="0"/>
              <a:t>must be 0 to 1, but there is no requirement that the integral of the likelihood from 0 to 1 = 1 (as would be the case for a probability)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Why did I say </a:t>
            </a:r>
            <a:r>
              <a:rPr lang="en-US"/>
              <a:t>“integral” and not “sum”</a:t>
            </a:r>
            <a:endParaRPr lang="en-US" dirty="0"/>
          </a:p>
        </p:txBody>
      </p:sp>
      <p:pic>
        <p:nvPicPr>
          <p:cNvPr id="165891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5715" y="2063230"/>
            <a:ext cx="5016500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0707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2"/>
          </p:nvPr>
        </p:nvSpPr>
        <p:spPr>
          <a:xfrm>
            <a:off x="373224" y="1160105"/>
            <a:ext cx="11476653" cy="4419600"/>
          </a:xfrm>
        </p:spPr>
        <p:txBody>
          <a:bodyPr/>
          <a:lstStyle/>
          <a:p>
            <a:pPr>
              <a:defRPr/>
            </a:pPr>
            <a:r>
              <a:rPr lang="en-US" dirty="0"/>
              <a:t>This equation is exactly what we’ve been working with but the interpretation is </a:t>
            </a:r>
            <a:r>
              <a:rPr lang="en-US" b="1" i="1" dirty="0"/>
              <a:t>very</a:t>
            </a:r>
            <a:r>
              <a:rPr lang="en-US" i="1" dirty="0"/>
              <a:t> </a:t>
            </a:r>
            <a:r>
              <a:rPr lang="en-US" dirty="0"/>
              <a:t>different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We usually work with the log-likelihood. Can you find that? </a:t>
            </a:r>
            <a:r>
              <a:rPr lang="en-US" dirty="0">
                <a:sym typeface="Wingdings"/>
              </a:rPr>
              <a:t> </a:t>
            </a:r>
            <a:r>
              <a:rPr lang="en-US" dirty="0"/>
              <a:t>log(a*b) = log(a) + log(b), log(a</a:t>
            </a:r>
            <a:r>
              <a:rPr lang="en-US" baseline="30000" dirty="0"/>
              <a:t>b</a:t>
            </a:r>
            <a:r>
              <a:rPr lang="en-US" dirty="0"/>
              <a:t>)=b*log(a)</a:t>
            </a:r>
          </a:p>
        </p:txBody>
      </p:sp>
      <p:pic>
        <p:nvPicPr>
          <p:cNvPr id="167939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2357" y="2019300"/>
            <a:ext cx="5016500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6750" y="4538568"/>
            <a:ext cx="8242300" cy="115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3787808" y="5956627"/>
            <a:ext cx="48148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Should I show you the derivation?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14300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3600" dirty="0"/>
              <a:t>Sneak peak: Maximum likelihood is just doing this in reverse!!!</a:t>
            </a:r>
          </a:p>
        </p:txBody>
      </p:sp>
    </p:spTree>
    <p:extLst>
      <p:ext uri="{BB962C8B-B14F-4D97-AF65-F5344CB8AC3E}">
        <p14:creationId xmlns:p14="http://schemas.microsoft.com/office/powerpoint/2010/main" val="2019601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2"/>
          </p:nvPr>
        </p:nvSpPr>
        <p:spPr>
          <a:xfrm>
            <a:off x="1076133" y="1160105"/>
            <a:ext cx="9840686" cy="4419600"/>
          </a:xfrm>
        </p:spPr>
        <p:txBody>
          <a:bodyPr>
            <a:normAutofit/>
          </a:bodyPr>
          <a:lstStyle/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How do we find the “maximum likelihood estimate” (MLE) for </a:t>
            </a:r>
            <a:r>
              <a:rPr lang="en-US" i="1" dirty="0"/>
              <a:t>p</a:t>
            </a:r>
            <a:r>
              <a:rPr lang="en-US" dirty="0"/>
              <a:t>?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Enter Calculus!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Find the MLE for </a:t>
            </a:r>
            <a:r>
              <a:rPr lang="en-US" i="1" dirty="0"/>
              <a:t>p</a:t>
            </a:r>
            <a:r>
              <a:rPr lang="en-US" dirty="0"/>
              <a:t> </a:t>
            </a:r>
          </a:p>
        </p:txBody>
      </p:sp>
      <p:pic>
        <p:nvPicPr>
          <p:cNvPr id="169987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5071" y="2303105"/>
            <a:ext cx="8242300" cy="115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3600"/>
              <a:t>Sneak peak: Maximum likelihood is just doing this in reverse!!!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935773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03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099717"/>
            <a:ext cx="9144000" cy="433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9987" name="TextBox 5"/>
          <p:cNvSpPr txBox="1">
            <a:spLocks noChangeArrowheads="1"/>
          </p:cNvSpPr>
          <p:nvPr/>
        </p:nvSpPr>
        <p:spPr bwMode="auto">
          <a:xfrm>
            <a:off x="1447800" y="5466184"/>
            <a:ext cx="93726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Hudson (1971) showed that an approximate 95% CI for a single peaked likelihood function occurs 2 log-likelihood units below the peak.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/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Can you see why sample size is so important based on these shapes?</a:t>
            </a:r>
          </a:p>
        </p:txBody>
      </p:sp>
      <p:cxnSp>
        <p:nvCxnSpPr>
          <p:cNvPr id="8" name="Straight Connector 7"/>
          <p:cNvCxnSpPr>
            <a:cxnSpLocks noChangeShapeType="1"/>
          </p:cNvCxnSpPr>
          <p:nvPr/>
        </p:nvCxnSpPr>
        <p:spPr bwMode="auto">
          <a:xfrm>
            <a:off x="6705600" y="2534817"/>
            <a:ext cx="3733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Connector 9"/>
          <p:cNvCxnSpPr>
            <a:cxnSpLocks noChangeShapeType="1"/>
          </p:cNvCxnSpPr>
          <p:nvPr/>
        </p:nvCxnSpPr>
        <p:spPr bwMode="auto">
          <a:xfrm>
            <a:off x="2209800" y="2306217"/>
            <a:ext cx="3733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3600"/>
              <a:t>Sneak peak: Maximum likelihood is just doing this in reverse!!!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024959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5964" y="-34925"/>
            <a:ext cx="7793037" cy="1143000"/>
          </a:xfrm>
        </p:spPr>
        <p:txBody>
          <a:bodyPr/>
          <a:lstStyle/>
          <a:p>
            <a:pPr>
              <a:defRPr/>
            </a:pPr>
            <a:r>
              <a:rPr lang="en-US" dirty="0"/>
              <a:t>Back to distributions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22514" y="1637523"/>
            <a:ext cx="10860833" cy="41148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000" dirty="0"/>
              <a:t>We’ll discuss maximum likelihood later</a:t>
            </a:r>
          </a:p>
          <a:p>
            <a:pPr>
              <a:defRPr/>
            </a:pPr>
            <a:endParaRPr lang="en-US" sz="3000" dirty="0"/>
          </a:p>
          <a:p>
            <a:pPr>
              <a:defRPr/>
            </a:pPr>
            <a:r>
              <a:rPr lang="en-US" sz="3000" dirty="0"/>
              <a:t>Bayesian statistics is very similar - making inference about the parameter given the data - but the inference will be a real probability rather than a point estimate and confidence interval.</a:t>
            </a:r>
          </a:p>
        </p:txBody>
      </p:sp>
    </p:spTree>
    <p:extLst>
      <p:ext uri="{BB962C8B-B14F-4D97-AF65-F5344CB8AC3E}">
        <p14:creationId xmlns:p14="http://schemas.microsoft.com/office/powerpoint/2010/main" val="810169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378756" cy="663102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5352" y="5330867"/>
            <a:ext cx="3276600" cy="952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54780" y="4852386"/>
            <a:ext cx="31781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Alternatively written</a:t>
            </a:r>
          </a:p>
        </p:txBody>
      </p:sp>
    </p:spTree>
    <p:extLst>
      <p:ext uri="{BB962C8B-B14F-4D97-AF65-F5344CB8AC3E}">
        <p14:creationId xmlns:p14="http://schemas.microsoft.com/office/powerpoint/2010/main" val="20233640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-15240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/>
              <a:t>The Poisson Distribution-I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9918" y="1334277"/>
            <a:ext cx="11527405" cy="4953000"/>
          </a:xfrm>
        </p:spPr>
        <p:txBody>
          <a:bodyPr>
            <a:noAutofit/>
          </a:bodyPr>
          <a:lstStyle/>
          <a:p>
            <a:pPr marL="457200" indent="-457200">
              <a:lnSpc>
                <a:spcPct val="80000"/>
              </a:lnSpc>
              <a:defRPr/>
            </a:pPr>
            <a:r>
              <a:rPr lang="en-US" altLang="en-US" dirty="0"/>
              <a:t>The Poisson distribution is used to determine the probability that a specific number of occurrences takes place within a given unit of time or space. </a:t>
            </a:r>
          </a:p>
          <a:p>
            <a:pPr marL="457200" indent="-457200">
              <a:lnSpc>
                <a:spcPct val="80000"/>
              </a:lnSpc>
              <a:defRPr/>
            </a:pPr>
            <a:endParaRPr lang="en-US" altLang="en-US" dirty="0"/>
          </a:p>
          <a:p>
            <a:pPr marL="457200" indent="-457200">
              <a:lnSpc>
                <a:spcPct val="80000"/>
              </a:lnSpc>
              <a:defRPr/>
            </a:pPr>
            <a:r>
              <a:rPr lang="en-US" altLang="en-US" dirty="0"/>
              <a:t>A random variable </a:t>
            </a:r>
            <a:r>
              <a:rPr lang="en-US" altLang="en-US" i="1" dirty="0"/>
              <a:t>X</a:t>
            </a:r>
            <a:r>
              <a:rPr lang="en-US" altLang="en-US" dirty="0"/>
              <a:t> is Poisson distributed if:</a:t>
            </a:r>
          </a:p>
          <a:p>
            <a:pPr marL="457200" indent="-457200">
              <a:lnSpc>
                <a:spcPct val="80000"/>
              </a:lnSpc>
              <a:buFont typeface="Wingdings" charset="2"/>
              <a:buAutoNum type="arabicPeriod"/>
              <a:defRPr/>
            </a:pPr>
            <a:r>
              <a:rPr lang="en-US" altLang="en-US" dirty="0"/>
              <a:t>The experiment consists of counting the number of times, </a:t>
            </a:r>
            <a:r>
              <a:rPr lang="en-US" altLang="en-US" i="1" dirty="0"/>
              <a:t>x</a:t>
            </a:r>
            <a:r>
              <a:rPr lang="en-US" altLang="en-US" dirty="0"/>
              <a:t>, an event occurs in a given interval (the interval can relate to e.g. time, area, volume).</a:t>
            </a:r>
          </a:p>
          <a:p>
            <a:pPr marL="457200" indent="-457200">
              <a:lnSpc>
                <a:spcPct val="80000"/>
              </a:lnSpc>
              <a:buFont typeface="Wingdings" charset="2"/>
              <a:buAutoNum type="arabicPeriod"/>
              <a:defRPr/>
            </a:pPr>
            <a:r>
              <a:rPr lang="en-US" altLang="en-US" dirty="0"/>
              <a:t>The probability of the event occurring is the same for each interval.</a:t>
            </a:r>
          </a:p>
          <a:p>
            <a:pPr marL="457200" indent="-457200">
              <a:lnSpc>
                <a:spcPct val="80000"/>
              </a:lnSpc>
              <a:buFont typeface="Wingdings" charset="2"/>
              <a:buAutoNum type="arabicPeriod"/>
              <a:defRPr/>
            </a:pPr>
            <a:r>
              <a:rPr lang="en-US" altLang="en-US" dirty="0"/>
              <a:t>The number of occurrences in one interval is independent of the number of occurrences in other intervals.</a:t>
            </a:r>
          </a:p>
        </p:txBody>
      </p:sp>
    </p:spTree>
    <p:extLst>
      <p:ext uri="{BB962C8B-B14F-4D97-AF65-F5344CB8AC3E}">
        <p14:creationId xmlns:p14="http://schemas.microsoft.com/office/powerpoint/2010/main" val="146859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-15240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/>
              <a:t>The Poisson Distribution-I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1095" y="1240973"/>
            <a:ext cx="10618236" cy="4953000"/>
          </a:xfrm>
        </p:spPr>
        <p:txBody>
          <a:bodyPr>
            <a:noAutofit/>
          </a:bodyPr>
          <a:lstStyle/>
          <a:p>
            <a:pPr marL="457200" indent="-457200">
              <a:lnSpc>
                <a:spcPct val="80000"/>
              </a:lnSpc>
              <a:defRPr/>
            </a:pPr>
            <a:r>
              <a:rPr lang="en-US" altLang="en-US" dirty="0"/>
              <a:t>In short </a:t>
            </a:r>
            <a:r>
              <a:rPr lang="mr-IN" altLang="en-US" dirty="0"/>
              <a:t>–</a:t>
            </a:r>
            <a:r>
              <a:rPr lang="en-US" altLang="en-US" dirty="0"/>
              <a:t> Poisson models ”random” count data</a:t>
            </a:r>
          </a:p>
          <a:p>
            <a:pPr marL="857250" lvl="1" indent="-457200">
              <a:lnSpc>
                <a:spcPct val="80000"/>
              </a:lnSpc>
              <a:defRPr/>
            </a:pPr>
            <a:r>
              <a:rPr lang="en-US" altLang="en-US" dirty="0"/>
              <a:t>Number of ladybugs or leaves per bush</a:t>
            </a:r>
          </a:p>
          <a:p>
            <a:pPr marL="857250" lvl="1" indent="-457200">
              <a:lnSpc>
                <a:spcPct val="80000"/>
              </a:lnSpc>
              <a:defRPr/>
            </a:pPr>
            <a:r>
              <a:rPr lang="en-US" altLang="en-US" dirty="0"/>
              <a:t>Number of prey encountered per unit time</a:t>
            </a:r>
          </a:p>
          <a:p>
            <a:pPr marL="857250" lvl="1" indent="-457200">
              <a:lnSpc>
                <a:spcPct val="80000"/>
              </a:lnSpc>
              <a:defRPr/>
            </a:pPr>
            <a:r>
              <a:rPr lang="en-US" altLang="en-US" dirty="0"/>
              <a:t>Number of eggs produced by a fish</a:t>
            </a:r>
          </a:p>
          <a:p>
            <a:pPr marL="857250" lvl="1" indent="-457200">
              <a:lnSpc>
                <a:spcPct val="80000"/>
              </a:lnSpc>
              <a:defRPr/>
            </a:pPr>
            <a:endParaRPr lang="en-US" altLang="en-US" sz="2800" dirty="0"/>
          </a:p>
          <a:p>
            <a:pPr marL="457200" indent="-457200">
              <a:lnSpc>
                <a:spcPct val="80000"/>
              </a:lnSpc>
              <a:defRPr/>
            </a:pPr>
            <a:r>
              <a:rPr lang="en-US" altLang="en-US" dirty="0"/>
              <a:t>This is different from </a:t>
            </a:r>
            <a:r>
              <a:rPr lang="en-US" altLang="en-US" i="1" dirty="0"/>
              <a:t>bounded</a:t>
            </a:r>
            <a:r>
              <a:rPr lang="en-US" altLang="en-US" dirty="0"/>
              <a:t> count data, which is binomial</a:t>
            </a:r>
          </a:p>
          <a:p>
            <a:pPr marL="857250" lvl="1" indent="-457200">
              <a:lnSpc>
                <a:spcPct val="80000"/>
              </a:lnSpc>
              <a:defRPr/>
            </a:pPr>
            <a:r>
              <a:rPr lang="en-US" altLang="en-US" dirty="0"/>
              <a:t># offspring that survive out of N offspring</a:t>
            </a:r>
          </a:p>
          <a:p>
            <a:pPr marL="857250" lvl="1" indent="-457200">
              <a:lnSpc>
                <a:spcPct val="80000"/>
              </a:lnSpc>
              <a:defRPr/>
            </a:pPr>
            <a:r>
              <a:rPr lang="en-US" altLang="en-US" dirty="0"/>
              <a:t>#cameras that detect wolves out of N cameras</a:t>
            </a:r>
          </a:p>
          <a:p>
            <a:pPr marL="857250" lvl="1" indent="-457200">
              <a:lnSpc>
                <a:spcPct val="80000"/>
              </a:lnSpc>
              <a:defRPr/>
            </a:pPr>
            <a:endParaRPr lang="en-US" altLang="en-US" sz="2800" dirty="0"/>
          </a:p>
          <a:p>
            <a:pPr marL="457200" indent="-457200">
              <a:lnSpc>
                <a:spcPct val="80000"/>
              </a:lnSpc>
              <a:defRPr/>
            </a:pPr>
            <a:r>
              <a:rPr lang="en-US" altLang="en-US" dirty="0"/>
              <a:t>You might think that the Poisson could be a good approximation of the binomial if N is large and p is small. You are right!</a:t>
            </a:r>
          </a:p>
          <a:p>
            <a:pPr marL="857250" lvl="1" indent="-457200">
              <a:lnSpc>
                <a:spcPct val="80000"/>
              </a:lnSpc>
              <a:defRPr/>
            </a:pPr>
            <a:endParaRPr lang="en-US" altLang="en-US" sz="2800" dirty="0"/>
          </a:p>
          <a:p>
            <a:pPr marL="857250" lvl="1" indent="-457200">
              <a:lnSpc>
                <a:spcPct val="80000"/>
              </a:lnSpc>
              <a:defRPr/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91959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dirty="0"/>
              <a:t>The Poisson Distribution - </a:t>
            </a:r>
            <a:r>
              <a:rPr lang="en-US" altLang="en-US" i="1" dirty="0" err="1"/>
              <a:t>pmf</a:t>
            </a:r>
            <a:endParaRPr lang="en-US" altLang="en-US" i="1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470151" y="1704975"/>
            <a:ext cx="8241648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Various notations: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buFont typeface="Wingdings" charset="2"/>
              <a:buNone/>
              <a:defRPr/>
            </a:pPr>
            <a:endParaRPr lang="en-US" altLang="en-US" dirty="0"/>
          </a:p>
          <a:p>
            <a:pPr eaLnBrk="1" hangingPunct="1">
              <a:buFont typeface="Wingdings" charset="2"/>
              <a:buNone/>
              <a:defRPr/>
            </a:pPr>
            <a:r>
              <a:rPr lang="en-US" altLang="en-US" dirty="0"/>
              <a:t> Note that </a:t>
            </a:r>
            <a:r>
              <a:rPr lang="en-US" altLang="en-US" i="1" dirty="0"/>
              <a:t>x</a:t>
            </a:r>
            <a:r>
              <a:rPr lang="en-US" altLang="en-US" dirty="0"/>
              <a:t> (or </a:t>
            </a:r>
            <a:r>
              <a:rPr lang="en-US" altLang="en-US" i="1" dirty="0"/>
              <a:t>k</a:t>
            </a:r>
            <a:r>
              <a:rPr lang="en-US" altLang="en-US" dirty="0"/>
              <a:t>) can be any non-negative integer.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</p:txBody>
      </p:sp>
      <p:graphicFrame>
        <p:nvGraphicFramePr>
          <p:cNvPr id="189443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397471" y="2509997"/>
          <a:ext cx="2054225" cy="728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80588" imgH="418918" progId="Equation.DSMT4">
                  <p:embed/>
                </p:oleObj>
              </mc:Choice>
              <mc:Fallback>
                <p:oleObj name="Equation" r:id="rId3" imgW="1180588" imgH="41891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7471" y="2509997"/>
                        <a:ext cx="2054225" cy="728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1492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297990" y="4872555"/>
          <a:ext cx="3616658" cy="947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51000" imgH="431800" progId="Equation.DSMT4">
                  <p:embed/>
                </p:oleObj>
              </mc:Choice>
              <mc:Fallback>
                <p:oleObj name="Equation" r:id="rId5" imgW="16510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7990" y="4872555"/>
                        <a:ext cx="3616658" cy="9472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1493" name="Picture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295" y="2277675"/>
            <a:ext cx="2890999" cy="1193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7699" y="2509997"/>
            <a:ext cx="3594100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62735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93038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en-US" dirty="0"/>
              <a:t>Where does the Poisson distribution come from?</a:t>
            </a:r>
          </a:p>
        </p:txBody>
      </p:sp>
      <p:sp>
        <p:nvSpPr>
          <p:cNvPr id="179205" name="TextBox 5"/>
          <p:cNvSpPr txBox="1">
            <a:spLocks noChangeArrowheads="1"/>
          </p:cNvSpPr>
          <p:nvPr/>
        </p:nvSpPr>
        <p:spPr bwMode="auto">
          <a:xfrm>
            <a:off x="1369276" y="1621602"/>
            <a:ext cx="889147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In a very small interval of time, either nothing happens or one event happens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F54582F-1051-3E68-6212-788C38D1A9D2}"/>
              </a:ext>
            </a:extLst>
          </p:cNvPr>
          <p:cNvGrpSpPr/>
          <p:nvPr/>
        </p:nvGrpSpPr>
        <p:grpSpPr>
          <a:xfrm>
            <a:off x="0" y="2748024"/>
            <a:ext cx="13615409" cy="3406115"/>
            <a:chOff x="602166" y="2347914"/>
            <a:chExt cx="9946888" cy="2488375"/>
          </a:xfrm>
        </p:grpSpPr>
        <p:pic>
          <p:nvPicPr>
            <p:cNvPr id="179202" name="Picture 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28913" y="2347914"/>
              <a:ext cx="6172200" cy="1431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9203" name="TextBox 3"/>
            <p:cNvSpPr txBox="1">
              <a:spLocks noChangeArrowheads="1"/>
            </p:cNvSpPr>
            <p:nvPr/>
          </p:nvSpPr>
          <p:spPr bwMode="auto">
            <a:xfrm>
              <a:off x="1369276" y="4106041"/>
              <a:ext cx="90011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/>
                <a:t>Where o(</a:t>
              </a:r>
              <a:r>
                <a:rPr lang="en-US" altLang="en-US" sz="2000" dirty="0" err="1"/>
                <a:t>dt</a:t>
              </a:r>
              <a:r>
                <a:rPr lang="en-US" altLang="en-US" sz="2000" dirty="0"/>
                <a:t>) represents higher order term of </a:t>
              </a:r>
              <a:r>
                <a:rPr lang="en-US" altLang="en-US" sz="2000" dirty="0" err="1"/>
                <a:t>dt</a:t>
              </a:r>
              <a:r>
                <a:rPr lang="en-US" altLang="en-US" sz="2000" dirty="0"/>
                <a:t> that can be ignored as </a:t>
              </a:r>
              <a:r>
                <a:rPr lang="en-US" altLang="en-US" sz="2000" dirty="0" err="1"/>
                <a:t>dt</a:t>
              </a:r>
              <a:r>
                <a:rPr lang="en-US" altLang="en-US" sz="2000" dirty="0"/>
                <a:t> </a:t>
              </a:r>
              <a:r>
                <a:rPr lang="en-US" altLang="en-US" sz="2000" dirty="0">
                  <a:sym typeface="Wingdings" charset="2"/>
                </a:rPr>
                <a:t> 0</a:t>
              </a:r>
              <a:endParaRPr lang="en-US" altLang="en-US" sz="2000" dirty="0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88F74B1-03CD-1945-98DA-1A826BE9D511}"/>
                </a:ext>
              </a:extLst>
            </p:cNvPr>
            <p:cNvSpPr/>
            <p:nvPr/>
          </p:nvSpPr>
          <p:spPr>
            <a:xfrm>
              <a:off x="7707236" y="2347914"/>
              <a:ext cx="1071562" cy="4810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E1CD9FE-7A4D-B068-9A6F-21B7AE96084D}"/>
                </a:ext>
              </a:extLst>
            </p:cNvPr>
            <p:cNvSpPr/>
            <p:nvPr/>
          </p:nvSpPr>
          <p:spPr>
            <a:xfrm>
              <a:off x="7252302" y="2827187"/>
              <a:ext cx="1071562" cy="4810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6F88C4A-1458-1B06-9E85-0C87B74257B3}"/>
                </a:ext>
              </a:extLst>
            </p:cNvPr>
            <p:cNvSpPr/>
            <p:nvPr/>
          </p:nvSpPr>
          <p:spPr>
            <a:xfrm>
              <a:off x="7859636" y="2500314"/>
              <a:ext cx="1071562" cy="4810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6C34B7D-5769-FFC1-9375-493E238A02A9}"/>
                </a:ext>
              </a:extLst>
            </p:cNvPr>
            <p:cNvSpPr/>
            <p:nvPr/>
          </p:nvSpPr>
          <p:spPr>
            <a:xfrm flipV="1">
              <a:off x="602166" y="3222933"/>
              <a:ext cx="9946888" cy="16133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36751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75630" y="-85756"/>
            <a:ext cx="11893420" cy="114300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altLang="en-US" dirty="0"/>
              <a:t>Where does the Poisson distribution come from?</a:t>
            </a:r>
          </a:p>
        </p:txBody>
      </p:sp>
      <p:sp>
        <p:nvSpPr>
          <p:cNvPr id="181250" name="TextBox 5"/>
          <p:cNvSpPr txBox="1">
            <a:spLocks noChangeArrowheads="1"/>
          </p:cNvSpPr>
          <p:nvPr/>
        </p:nvSpPr>
        <p:spPr bwMode="auto">
          <a:xfrm>
            <a:off x="1554163" y="1447800"/>
            <a:ext cx="89789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</a:rPr>
              <a:t>What we want is the probability of </a:t>
            </a:r>
            <a:r>
              <a:rPr lang="en-US" altLang="en-US" sz="2000" i="1">
                <a:solidFill>
                  <a:srgbClr val="000000"/>
                </a:solidFill>
              </a:rPr>
              <a:t>k </a:t>
            </a:r>
            <a:r>
              <a:rPr lang="en-US" altLang="en-US" sz="2000">
                <a:solidFill>
                  <a:srgbClr val="000000"/>
                </a:solidFill>
              </a:rPr>
              <a:t>events in a a longer interval, say time = </a:t>
            </a:r>
            <a:r>
              <a:rPr lang="en-US" altLang="en-US" sz="2000" i="1">
                <a:solidFill>
                  <a:srgbClr val="000000"/>
                </a:solidFill>
              </a:rPr>
              <a:t>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514476" y="2203854"/>
            <a:ext cx="9215728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Tx/>
              <a:buAutoNum type="arabicPeriod"/>
              <a:defRPr/>
            </a:pPr>
            <a:r>
              <a:rPr lang="en-US" sz="2200" dirty="0"/>
              <a:t>How could we have no events up to time t + </a:t>
            </a:r>
            <a:r>
              <a:rPr lang="en-US" sz="2200" dirty="0" err="1"/>
              <a:t>dt</a:t>
            </a:r>
            <a:r>
              <a:rPr lang="en-US" sz="2200" dirty="0"/>
              <a:t>? </a:t>
            </a:r>
          </a:p>
          <a:p>
            <a:pPr marL="457200" indent="-457200">
              <a:buFontTx/>
              <a:buAutoNum type="arabicPeriod"/>
              <a:defRPr/>
            </a:pPr>
            <a:endParaRPr lang="en-US" sz="2200" dirty="0"/>
          </a:p>
          <a:p>
            <a:pPr marL="457200" indent="-457200">
              <a:buFontTx/>
              <a:buAutoNum type="arabicPeriod"/>
              <a:defRPr/>
            </a:pPr>
            <a:endParaRPr lang="en-US" sz="2200" dirty="0"/>
          </a:p>
          <a:p>
            <a:pPr marL="457200" indent="-457200">
              <a:buFontTx/>
              <a:buAutoNum type="arabicPeriod"/>
              <a:defRPr/>
            </a:pPr>
            <a:endParaRPr lang="en-US" sz="2200" dirty="0"/>
          </a:p>
          <a:p>
            <a:pPr marL="457200" indent="-457200">
              <a:buFontTx/>
              <a:buAutoNum type="arabicPeriod"/>
              <a:defRPr/>
            </a:pPr>
            <a:r>
              <a:rPr lang="en-US" sz="2200" dirty="0"/>
              <a:t>Use the definition of the derivative to show that this leads to</a:t>
            </a:r>
          </a:p>
          <a:p>
            <a:pPr marL="457200" indent="-457200">
              <a:buFontTx/>
              <a:buAutoNum type="arabicPeriod"/>
              <a:defRPr/>
            </a:pPr>
            <a:endParaRPr lang="en-US" sz="2200" dirty="0"/>
          </a:p>
          <a:p>
            <a:pPr marL="457200" indent="-457200">
              <a:buFontTx/>
              <a:buAutoNum type="arabicPeriod"/>
              <a:defRPr/>
            </a:pPr>
            <a:endParaRPr lang="en-US" sz="2200" dirty="0"/>
          </a:p>
          <a:p>
            <a:pPr marL="457200" indent="-457200">
              <a:buFontTx/>
              <a:buAutoNum type="arabicPeriod"/>
              <a:defRPr/>
            </a:pPr>
            <a:endParaRPr lang="en-US" sz="2200" dirty="0"/>
          </a:p>
          <a:p>
            <a:pPr marL="457200" indent="-457200">
              <a:buFontTx/>
              <a:buAutoNum type="arabicPeriod"/>
              <a:defRPr/>
            </a:pPr>
            <a:endParaRPr lang="en-US" sz="2200" dirty="0"/>
          </a:p>
          <a:p>
            <a:pPr marL="457200" indent="-457200">
              <a:buFontTx/>
              <a:buAutoNum type="arabicPeriod"/>
              <a:defRPr/>
            </a:pPr>
            <a:r>
              <a:rPr lang="en-US" sz="2200" dirty="0"/>
              <a:t>Solve to find the zero term of the Poisson, </a:t>
            </a:r>
            <a:r>
              <a:rPr lang="en-US" sz="2200" dirty="0" err="1"/>
              <a:t>Pr</a:t>
            </a:r>
            <a:r>
              <a:rPr lang="en-US" sz="2200" dirty="0"/>
              <a:t>(no events)</a:t>
            </a:r>
          </a:p>
          <a:p>
            <a:pPr eaLnBrk="1" hangingPunct="1">
              <a:defRPr/>
            </a:pPr>
            <a:endParaRPr lang="en-US" sz="2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0426" y="4125439"/>
            <a:ext cx="2278063" cy="105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900" y="5897173"/>
            <a:ext cx="2963863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29A4099D-0DFA-1F81-90B8-6EC02088523B}"/>
              </a:ext>
            </a:extLst>
          </p:cNvPr>
          <p:cNvGrpSpPr/>
          <p:nvPr/>
        </p:nvGrpSpPr>
        <p:grpSpPr>
          <a:xfrm>
            <a:off x="3207885" y="2659084"/>
            <a:ext cx="5671456" cy="831407"/>
            <a:chOff x="3207885" y="2659084"/>
            <a:chExt cx="5671456" cy="831407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07885" y="2832085"/>
              <a:ext cx="5671456" cy="658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A5895F1-51A1-7141-72E4-42C0B0F1B6AA}"/>
                </a:ext>
              </a:extLst>
            </p:cNvPr>
            <p:cNvSpPr/>
            <p:nvPr/>
          </p:nvSpPr>
          <p:spPr>
            <a:xfrm>
              <a:off x="7480495" y="2770594"/>
              <a:ext cx="1398846" cy="6584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B544836-8B04-D983-0E0E-A579EE0009F3}"/>
                </a:ext>
              </a:extLst>
            </p:cNvPr>
            <p:cNvSpPr txBox="1"/>
            <p:nvPr/>
          </p:nvSpPr>
          <p:spPr>
            <a:xfrm>
              <a:off x="7292262" y="2659084"/>
              <a:ext cx="476412" cy="6771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5507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00" y="304800"/>
            <a:ext cx="7793038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en-US" dirty="0"/>
              <a:t>Zero term of the Poisson Distribution</a:t>
            </a:r>
          </a:p>
        </p:txBody>
      </p:sp>
      <p:pic>
        <p:nvPicPr>
          <p:cNvPr id="183299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6613" y="1713463"/>
            <a:ext cx="2654300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3301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5213" y="3158089"/>
            <a:ext cx="623570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3304" name="TextBox 9"/>
          <p:cNvSpPr txBox="1">
            <a:spLocks noChangeArrowheads="1"/>
          </p:cNvSpPr>
          <p:nvPr/>
        </p:nvSpPr>
        <p:spPr bwMode="auto">
          <a:xfrm>
            <a:off x="2225676" y="2029375"/>
            <a:ext cx="37322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Probability Mass Function:</a:t>
            </a:r>
          </a:p>
        </p:txBody>
      </p:sp>
    </p:spTree>
    <p:extLst>
      <p:ext uri="{BB962C8B-B14F-4D97-AF65-F5344CB8AC3E}">
        <p14:creationId xmlns:p14="http://schemas.microsoft.com/office/powerpoint/2010/main" val="9810561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409825" y="0"/>
            <a:ext cx="7793038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en-US" dirty="0"/>
              <a:t>First term of the Poisson Distribution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88193" y="1447800"/>
            <a:ext cx="11024361" cy="1828799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altLang="en-US" sz="2600" dirty="0"/>
              <a:t>How can you have </a:t>
            </a:r>
            <a:r>
              <a:rPr lang="en-US" altLang="en-US" sz="2600" u="sng" dirty="0"/>
              <a:t>one</a:t>
            </a:r>
            <a:r>
              <a:rPr lang="en-US" altLang="en-US" sz="2600" dirty="0"/>
              <a:t> event in time 0 to </a:t>
            </a:r>
            <a:r>
              <a:rPr lang="en-US" altLang="en-US" sz="2600" i="1" dirty="0"/>
              <a:t>t </a:t>
            </a:r>
            <a:r>
              <a:rPr lang="en-US" altLang="en-US" sz="2600" dirty="0"/>
              <a:t>+ </a:t>
            </a:r>
            <a:r>
              <a:rPr lang="en-US" altLang="en-US" sz="2600" i="1" dirty="0"/>
              <a:t>dt</a:t>
            </a:r>
            <a:r>
              <a:rPr lang="en-US" altLang="en-US" sz="2600" dirty="0"/>
              <a:t>?</a:t>
            </a:r>
          </a:p>
          <a:p>
            <a:pPr eaLnBrk="1" hangingPunct="1">
              <a:defRPr/>
            </a:pPr>
            <a:endParaRPr lang="en-US" altLang="en-US" sz="2600" dirty="0"/>
          </a:p>
          <a:p>
            <a:pPr>
              <a:defRPr/>
            </a:pPr>
            <a:r>
              <a:rPr lang="en-US" sz="2600" dirty="0"/>
              <a:t>Either we had no event in 0 to </a:t>
            </a:r>
            <a:r>
              <a:rPr lang="en-US" sz="2600" i="1" dirty="0"/>
              <a:t>t</a:t>
            </a:r>
            <a:r>
              <a:rPr lang="en-US" sz="2600" dirty="0"/>
              <a:t> and one event in </a:t>
            </a:r>
            <a:r>
              <a:rPr lang="en-US" sz="2600" i="1" dirty="0"/>
              <a:t>t</a:t>
            </a:r>
            <a:r>
              <a:rPr lang="en-US" sz="2600" dirty="0"/>
              <a:t> to </a:t>
            </a:r>
            <a:r>
              <a:rPr lang="en-US" sz="2600" i="1" dirty="0"/>
              <a:t>t</a:t>
            </a:r>
            <a:r>
              <a:rPr lang="en-US" sz="2600" dirty="0"/>
              <a:t> + </a:t>
            </a:r>
            <a:r>
              <a:rPr lang="en-US" sz="2600" i="1" dirty="0"/>
              <a:t>dt</a:t>
            </a:r>
            <a:r>
              <a:rPr lang="en-US" sz="2600" dirty="0"/>
              <a:t> or we had one event in 0 to </a:t>
            </a:r>
            <a:r>
              <a:rPr lang="en-US" sz="2600" i="1" dirty="0"/>
              <a:t>t</a:t>
            </a:r>
            <a:r>
              <a:rPr lang="en-US" sz="2600" dirty="0"/>
              <a:t> and no event in </a:t>
            </a:r>
            <a:r>
              <a:rPr lang="en-US" sz="2600" i="1" dirty="0"/>
              <a:t>t</a:t>
            </a:r>
            <a:r>
              <a:rPr lang="en-US" sz="2600" dirty="0"/>
              <a:t> to </a:t>
            </a:r>
            <a:r>
              <a:rPr lang="en-US" sz="2600" i="1" dirty="0"/>
              <a:t>t</a:t>
            </a:r>
            <a:r>
              <a:rPr lang="en-US" sz="2600" dirty="0"/>
              <a:t> + </a:t>
            </a:r>
            <a:r>
              <a:rPr lang="en-US" sz="2600" i="1" dirty="0"/>
              <a:t>dt</a:t>
            </a:r>
            <a:r>
              <a:rPr lang="en-US" sz="2600" dirty="0"/>
              <a:t> </a:t>
            </a:r>
          </a:p>
          <a:p>
            <a:pPr>
              <a:defRPr/>
            </a:pPr>
            <a:endParaRPr lang="en-US" sz="2600" dirty="0"/>
          </a:p>
          <a:p>
            <a:pPr>
              <a:defRPr/>
            </a:pPr>
            <a:r>
              <a:rPr lang="en-US" sz="2600" dirty="0"/>
              <a:t>Continue like this to derive other terms</a:t>
            </a:r>
          </a:p>
          <a:p>
            <a:pPr>
              <a:defRPr/>
            </a:pPr>
            <a:endParaRPr lang="en-US" sz="2600" dirty="0"/>
          </a:p>
          <a:p>
            <a:pPr>
              <a:defRPr/>
            </a:pPr>
            <a:r>
              <a:rPr lang="en-US" sz="2600" dirty="0"/>
              <a:t>Another derivation starts with the Binomial distribution where the average number of successes, </a:t>
            </a:r>
            <a:r>
              <a:rPr lang="en-US" sz="2600" i="1" dirty="0"/>
              <a:t>Np</a:t>
            </a:r>
            <a:r>
              <a:rPr lang="en-US" sz="2600" dirty="0"/>
              <a:t>, is replaced by.    and N approaches infinity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1487007-FEC4-C45B-86F4-A9C2B585E78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80" t="-1602" r="8590" b="17386"/>
          <a:stretch/>
        </p:blipFill>
        <p:spPr bwMode="auto">
          <a:xfrm>
            <a:off x="6423104" y="5075663"/>
            <a:ext cx="267629" cy="490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13105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dirty="0"/>
              <a:t>The Poisson Distribution - </a:t>
            </a:r>
            <a:r>
              <a:rPr lang="en-US" altLang="en-US" i="1" dirty="0" err="1"/>
              <a:t>pmf</a:t>
            </a:r>
            <a:endParaRPr lang="en-US" altLang="en-US" i="1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470151" y="1704975"/>
            <a:ext cx="8241648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Various notations: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buFont typeface="Wingdings" charset="2"/>
              <a:buNone/>
              <a:defRPr/>
            </a:pPr>
            <a:endParaRPr lang="en-US" altLang="en-US" dirty="0"/>
          </a:p>
          <a:p>
            <a:pPr eaLnBrk="1" hangingPunct="1">
              <a:buFont typeface="Wingdings" charset="2"/>
              <a:buNone/>
              <a:defRPr/>
            </a:pPr>
            <a:r>
              <a:rPr lang="en-US" altLang="en-US" dirty="0"/>
              <a:t> Note that </a:t>
            </a:r>
            <a:r>
              <a:rPr lang="en-US" altLang="en-US" i="1" dirty="0"/>
              <a:t>x</a:t>
            </a:r>
            <a:r>
              <a:rPr lang="en-US" altLang="en-US" dirty="0"/>
              <a:t> (or </a:t>
            </a:r>
            <a:r>
              <a:rPr lang="en-US" altLang="en-US" i="1" dirty="0"/>
              <a:t>k</a:t>
            </a:r>
            <a:r>
              <a:rPr lang="en-US" altLang="en-US" dirty="0"/>
              <a:t>) can be any non-negative integer.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</p:txBody>
      </p:sp>
      <p:graphicFrame>
        <p:nvGraphicFramePr>
          <p:cNvPr id="189443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68061340"/>
              </p:ext>
            </p:extLst>
          </p:nvPr>
        </p:nvGraphicFramePr>
        <p:xfrm>
          <a:off x="4397471" y="2509997"/>
          <a:ext cx="2054225" cy="728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80588" imgH="418918" progId="Equation.DSMT4">
                  <p:embed/>
                </p:oleObj>
              </mc:Choice>
              <mc:Fallback>
                <p:oleObj name="Equation" r:id="rId3" imgW="1180588" imgH="41891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7471" y="2509997"/>
                        <a:ext cx="2054225" cy="728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1492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76206557"/>
              </p:ext>
            </p:extLst>
          </p:nvPr>
        </p:nvGraphicFramePr>
        <p:xfrm>
          <a:off x="4297990" y="4872555"/>
          <a:ext cx="3616658" cy="947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51000" imgH="431800" progId="Equation.DSMT4">
                  <p:embed/>
                </p:oleObj>
              </mc:Choice>
              <mc:Fallback>
                <p:oleObj name="Equation" r:id="rId5" imgW="16510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7990" y="4872555"/>
                        <a:ext cx="3616658" cy="9472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1493" name="Picture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295" y="2277675"/>
            <a:ext cx="2890999" cy="1193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7699" y="2509997"/>
            <a:ext cx="3594100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9431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0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7" t="2419" r="1387" b="2419"/>
          <a:stretch>
            <a:fillRect/>
          </a:stretch>
        </p:blipFill>
        <p:spPr>
          <a:xfrm>
            <a:off x="6507132" y="4119468"/>
            <a:ext cx="3857625" cy="2165350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1459941" y="393606"/>
            <a:ext cx="10390716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sz="4000"/>
              <a:t>The Poisson Distribution Graphically</a:t>
            </a:r>
          </a:p>
        </p:txBody>
      </p:sp>
      <p:pic>
        <p:nvPicPr>
          <p:cNvPr id="12292" name="Picture 13"/>
          <p:cNvPicPr>
            <a:picLocks noGrp="1" noChangeAspect="1" noChangeArrowheads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7" t="2419" r="1387" b="2419"/>
          <a:stretch>
            <a:fillRect/>
          </a:stretch>
        </p:blipFill>
        <p:spPr>
          <a:xfrm>
            <a:off x="6478556" y="1757268"/>
            <a:ext cx="3810000" cy="2185988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pic>
        <p:nvPicPr>
          <p:cNvPr id="1229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7" t="2419" r="1387" b="2419"/>
          <a:stretch>
            <a:fillRect/>
          </a:stretch>
        </p:blipFill>
        <p:spPr>
          <a:xfrm>
            <a:off x="1906557" y="1757269"/>
            <a:ext cx="3757613" cy="2155825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12294" name="Text Box 10"/>
          <p:cNvSpPr txBox="1">
            <a:spLocks noChangeArrowheads="1"/>
          </p:cNvSpPr>
          <p:nvPr/>
        </p:nvSpPr>
        <p:spPr bwMode="auto">
          <a:xfrm>
            <a:off x="4891056" y="1909668"/>
            <a:ext cx="749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3200" i="1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3200" i="1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3200" i="1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3200" i="1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3200" i="1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2400" i="0">
                <a:sym typeface="Symbol" charset="2"/>
              </a:rPr>
              <a:t>=2</a:t>
            </a:r>
          </a:p>
        </p:txBody>
      </p:sp>
      <p:sp>
        <p:nvSpPr>
          <p:cNvPr id="12295" name="Text Box 11"/>
          <p:cNvSpPr txBox="1">
            <a:spLocks noChangeArrowheads="1"/>
          </p:cNvSpPr>
          <p:nvPr/>
        </p:nvSpPr>
        <p:spPr bwMode="auto">
          <a:xfrm>
            <a:off x="9526556" y="1909668"/>
            <a:ext cx="749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3200" i="1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3200" i="1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3200" i="1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3200" i="1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3200" i="1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2400" i="0">
                <a:sym typeface="Symbol" charset="2"/>
              </a:rPr>
              <a:t>=5</a:t>
            </a:r>
          </a:p>
        </p:txBody>
      </p:sp>
      <p:sp>
        <p:nvSpPr>
          <p:cNvPr id="12296" name="Text Box 12"/>
          <p:cNvSpPr txBox="1">
            <a:spLocks noChangeArrowheads="1"/>
          </p:cNvSpPr>
          <p:nvPr/>
        </p:nvSpPr>
        <p:spPr bwMode="auto">
          <a:xfrm>
            <a:off x="9539256" y="4271868"/>
            <a:ext cx="749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3200" i="1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3200" i="1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3200" i="1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3200" i="1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3200" i="1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2400" i="0">
                <a:sym typeface="Symbol" charset="2"/>
              </a:rPr>
              <a:t>=8</a:t>
            </a:r>
          </a:p>
        </p:txBody>
      </p:sp>
    </p:spTree>
    <p:extLst>
      <p:ext uri="{BB962C8B-B14F-4D97-AF65-F5344CB8AC3E}">
        <p14:creationId xmlns:p14="http://schemas.microsoft.com/office/powerpoint/2010/main" val="8218531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865771" y="535810"/>
            <a:ext cx="10515600" cy="1325563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sz="4000" dirty="0"/>
              <a:t>An Example of the Poisson Distribution-I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2788" y="1679857"/>
            <a:ext cx="11364686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u="sng" dirty="0"/>
              <a:t>The mean bycatch of dolphins per month in the Eastern Tropical Pacific is 3</a:t>
            </a:r>
          </a:p>
          <a:p>
            <a:pPr eaLnBrk="1" hangingPunct="1">
              <a:defRPr/>
            </a:pPr>
            <a:endParaRPr lang="en-US" altLang="en-US" dirty="0"/>
          </a:p>
          <a:p>
            <a:pPr lvl="1" eaLnBrk="1" hangingPunct="1">
              <a:defRPr/>
            </a:pPr>
            <a:r>
              <a:rPr lang="en-US" altLang="en-US" sz="2600" dirty="0"/>
              <a:t>What is the probability that the catch will be 4 in a given month?</a:t>
            </a:r>
          </a:p>
          <a:p>
            <a:pPr lvl="1" eaLnBrk="1" hangingPunct="1">
              <a:defRPr/>
            </a:pPr>
            <a:endParaRPr lang="en-US" altLang="en-US" sz="2600" dirty="0"/>
          </a:p>
          <a:p>
            <a:pPr lvl="1" eaLnBrk="1" hangingPunct="1">
              <a:defRPr/>
            </a:pPr>
            <a:r>
              <a:rPr lang="en-US" altLang="en-US" sz="2600" dirty="0"/>
              <a:t>What is the probability that the catch will be 2 or less in a given month?</a:t>
            </a:r>
          </a:p>
          <a:p>
            <a:pPr lvl="1" eaLnBrk="1" hangingPunct="1">
              <a:defRPr/>
            </a:pPr>
            <a:endParaRPr lang="en-US" altLang="en-US" sz="2600" dirty="0"/>
          </a:p>
          <a:p>
            <a:pPr lvl="1" eaLnBrk="1" hangingPunct="1">
              <a:defRPr/>
            </a:pPr>
            <a:r>
              <a:rPr lang="en-US" altLang="en-US" sz="2600" dirty="0"/>
              <a:t>What is the probability that at least one dolphin is killed?</a:t>
            </a: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4011272"/>
              </p:ext>
            </p:extLst>
          </p:nvPr>
        </p:nvGraphicFramePr>
        <p:xfrm>
          <a:off x="4818820" y="4919723"/>
          <a:ext cx="2554360" cy="9057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80588" imgH="418918" progId="Equation.DSMT4">
                  <p:embed/>
                </p:oleObj>
              </mc:Choice>
              <mc:Fallback>
                <p:oleObj name="Equation" r:id="rId3" imgW="1180588" imgH="41891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8820" y="4919723"/>
                        <a:ext cx="2554360" cy="9057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56815" y="6265335"/>
            <a:ext cx="117808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Breakout groups: Try to find analytical solutions AND a solution using built in functions in 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4936B6-5259-DADB-50C3-AAE367567E04}"/>
              </a:ext>
            </a:extLst>
          </p:cNvPr>
          <p:cNvSpPr txBox="1"/>
          <p:nvPr/>
        </p:nvSpPr>
        <p:spPr>
          <a:xfrm>
            <a:off x="4550397" y="70314"/>
            <a:ext cx="297793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0070C0"/>
                </a:solidFill>
              </a:rPr>
              <a:t>Group Work</a:t>
            </a:r>
          </a:p>
        </p:txBody>
      </p:sp>
    </p:spTree>
    <p:extLst>
      <p:ext uri="{BB962C8B-B14F-4D97-AF65-F5344CB8AC3E}">
        <p14:creationId xmlns:p14="http://schemas.microsoft.com/office/powerpoint/2010/main" val="942259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534585" y="169671"/>
            <a:ext cx="10390716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sz="4000"/>
              <a:t>An Example of the Poisson Distribution-II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18984" y="1609533"/>
            <a:ext cx="11071654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The mean catch of dolphins per month in the Eastern Tropical Pacific is 3.</a:t>
            </a:r>
          </a:p>
          <a:p>
            <a:pPr eaLnBrk="1" hangingPunct="1">
              <a:defRPr/>
            </a:pPr>
            <a:endParaRPr lang="en-US" altLang="en-US" dirty="0"/>
          </a:p>
          <a:p>
            <a:pPr lvl="1" eaLnBrk="1" hangingPunct="1">
              <a:defRPr/>
            </a:pPr>
            <a:r>
              <a:rPr lang="en-US" altLang="en-US" dirty="0"/>
              <a:t>What is the probability that the catch will be 4 in a given month?</a:t>
            </a:r>
          </a:p>
          <a:p>
            <a:pPr lvl="1" eaLnBrk="1" hangingPunct="1">
              <a:defRPr/>
            </a:pPr>
            <a:endParaRPr lang="en-US" altLang="en-US" dirty="0"/>
          </a:p>
        </p:txBody>
      </p:sp>
      <p:graphicFrame>
        <p:nvGraphicFramePr>
          <p:cNvPr id="7172" name="Object 6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90098713"/>
              </p:ext>
            </p:extLst>
          </p:nvPr>
        </p:nvGraphicFramePr>
        <p:xfrm>
          <a:off x="3200400" y="3895533"/>
          <a:ext cx="5410200" cy="105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46300" imgH="419100" progId="Equation.DSMT4">
                  <p:embed/>
                </p:oleObj>
              </mc:Choice>
              <mc:Fallback>
                <p:oleObj name="Equation" r:id="rId3" imgW="21463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895533"/>
                        <a:ext cx="5410200" cy="1055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1" y="5246496"/>
            <a:ext cx="2341563" cy="7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64027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590800" y="76200"/>
            <a:ext cx="7793038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en-US" sz="4000"/>
              <a:t>An Example of the Poisson Distribution-III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44843" y="1219200"/>
            <a:ext cx="11145795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The mean catch of dolphins per month in the Eastern Tropical Pacific is 3.</a:t>
            </a:r>
          </a:p>
          <a:p>
            <a:pPr eaLnBrk="1" hangingPunct="1">
              <a:defRPr/>
            </a:pPr>
            <a:endParaRPr lang="en-US" altLang="en-US" dirty="0"/>
          </a:p>
          <a:p>
            <a:pPr lvl="1" eaLnBrk="1" hangingPunct="1">
              <a:defRPr/>
            </a:pPr>
            <a:r>
              <a:rPr lang="en-US" altLang="en-US" dirty="0">
                <a:solidFill>
                  <a:srgbClr val="969696"/>
                </a:solidFill>
              </a:rPr>
              <a:t>What is the probability that the catch will be 4 in a given month?</a:t>
            </a:r>
          </a:p>
          <a:p>
            <a:pPr lvl="1" eaLnBrk="1" hangingPunct="1">
              <a:defRPr/>
            </a:pPr>
            <a:r>
              <a:rPr lang="en-US" altLang="en-US" dirty="0"/>
              <a:t>What is the probability that the catch will be 2 or fewer in a given month?</a:t>
            </a:r>
          </a:p>
          <a:p>
            <a:pPr lvl="1" eaLnBrk="1" hangingPunct="1">
              <a:buFont typeface="Wingdings" charset="2"/>
              <a:buNone/>
              <a:defRPr/>
            </a:pPr>
            <a:r>
              <a:rPr lang="en-US" altLang="en-US" dirty="0"/>
              <a:t>P[X</a:t>
            </a:r>
            <a:r>
              <a:rPr lang="en-US" altLang="en-US" dirty="0">
                <a:sym typeface="Symbol" charset="2"/>
              </a:rPr>
              <a:t>2]=P[X=0]+P[X=1]+P[X=2]=</a:t>
            </a:r>
          </a:p>
        </p:txBody>
      </p:sp>
      <p:graphicFrame>
        <p:nvGraphicFramePr>
          <p:cNvPr id="8196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1524000" y="5334001"/>
          <a:ext cx="4267200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22500" imgH="419100" progId="Equation.DSMT4">
                  <p:embed/>
                </p:oleObj>
              </mc:Choice>
              <mc:Fallback>
                <p:oleObj name="Equation" r:id="rId3" imgW="22225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5334001"/>
                        <a:ext cx="4267200" cy="804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3463" y="5114925"/>
            <a:ext cx="4495800" cy="124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6247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590800" y="76200"/>
            <a:ext cx="7793038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en-US" sz="4000"/>
              <a:t>An Example of the Poisson Distribution-III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1" y="1219200"/>
            <a:ext cx="7656513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The mean catch of dolphins per month in the Eastern Tropical Pacific is 3. </a:t>
            </a:r>
          </a:p>
          <a:p>
            <a:pPr lvl="1" eaLnBrk="1" hangingPunct="1">
              <a:defRPr/>
            </a:pPr>
            <a:r>
              <a:rPr lang="en-US" altLang="en-US" dirty="0">
                <a:solidFill>
                  <a:srgbClr val="969696"/>
                </a:solidFill>
              </a:rPr>
              <a:t>What is the probability that the catch will be 4 in a given month?</a:t>
            </a:r>
          </a:p>
          <a:p>
            <a:pPr lvl="1" eaLnBrk="1" hangingPunct="1">
              <a:defRPr/>
            </a:pPr>
            <a:r>
              <a:rPr lang="en-US" altLang="en-US" dirty="0">
                <a:solidFill>
                  <a:schemeClr val="bg1">
                    <a:lumMod val="65000"/>
                  </a:schemeClr>
                </a:solidFill>
              </a:rPr>
              <a:t>What is the probability that the catch will be 2 or fewer in a given month?</a:t>
            </a:r>
          </a:p>
          <a:p>
            <a:pPr lvl="1" eaLnBrk="1" hangingPunct="1">
              <a:defRPr/>
            </a:pPr>
            <a:r>
              <a:rPr lang="en-US" altLang="en-US" dirty="0"/>
              <a:t>What is the probability that at least 1 dolphin is killed?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1876" y="4392386"/>
            <a:ext cx="3021012" cy="188322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446483" y="4687669"/>
            <a:ext cx="23418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e</a:t>
            </a:r>
            <a:r>
              <a:rPr lang="en-US" sz="4000" baseline="30000" dirty="0"/>
              <a:t>-3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7522888" y="5041612"/>
            <a:ext cx="192359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738763" y="5450864"/>
            <a:ext cx="23418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1 - e</a:t>
            </a:r>
            <a:r>
              <a:rPr lang="en-US" sz="4000" baseline="30000" dirty="0"/>
              <a:t>-3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7815168" y="5804807"/>
            <a:ext cx="192359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74690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87676" y="15875"/>
            <a:ext cx="11774185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en-US" sz="4000" dirty="0"/>
              <a:t>Example of using Poisson Probabilistic Arguments in Research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0" y="4857687"/>
            <a:ext cx="6896100" cy="180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7635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927395"/>
            <a:ext cx="5283200" cy="360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5136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-250373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sz="4000" dirty="0"/>
              <a:t>The Poisson Distribution - Caveat</a:t>
            </a:r>
            <a:endParaRPr lang="en-US" altLang="en-US" sz="3200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149802"/>
            <a:ext cx="10431624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The Poisson distribution would seem to be a good distribution to assume for catch data in fisheries. However, fish school. What does this imply regarding the assumptions of the Poisson distribution?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r>
              <a:rPr lang="en-US" altLang="en-US" dirty="0"/>
              <a:t>Variance would be high relative to the mean</a:t>
            </a:r>
          </a:p>
          <a:p>
            <a:pPr lvl="1" eaLnBrk="1" hangingPunct="1">
              <a:defRPr/>
            </a:pPr>
            <a:r>
              <a:rPr lang="en-US" altLang="en-US" dirty="0"/>
              <a:t>You catch zero or a shit ton!!!</a:t>
            </a:r>
          </a:p>
          <a:p>
            <a:pPr lvl="1" eaLnBrk="1" hangingPunct="1">
              <a:defRPr/>
            </a:pPr>
            <a:r>
              <a:rPr lang="en-US" altLang="en-US" dirty="0"/>
              <a:t>This is called </a:t>
            </a:r>
            <a:r>
              <a:rPr lang="en-US" altLang="en-US" dirty="0" err="1"/>
              <a:t>overdispersion</a:t>
            </a:r>
            <a:r>
              <a:rPr lang="en-US" altLang="en-US" dirty="0"/>
              <a:t> </a:t>
            </a:r>
            <a:r>
              <a:rPr lang="en-US" altLang="en-US" dirty="0">
                <a:sym typeface="Wingdings"/>
              </a:rPr>
              <a:t> Onward to negative binomial!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44515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27654" y="-250373"/>
            <a:ext cx="8353168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en-US" sz="4000" dirty="0"/>
              <a:t>But </a:t>
            </a:r>
            <a:r>
              <a:rPr lang="en-US" altLang="en-US" sz="4000"/>
              <a:t>first: MLE </a:t>
            </a:r>
            <a:r>
              <a:rPr lang="en-US" altLang="en-US" sz="4000" dirty="0"/>
              <a:t>for the Poisson Distribution</a:t>
            </a:r>
            <a:endParaRPr lang="en-US" altLang="en-US" sz="3200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8498" y="1149802"/>
            <a:ext cx="10991461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Let’s find the MLE of the Poisson distribution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r>
              <a:rPr lang="en-US" altLang="en-US" dirty="0"/>
              <a:t>Let’s do it for a dataset of </a:t>
            </a:r>
            <a:r>
              <a:rPr lang="en-US" altLang="en-US" i="1" dirty="0"/>
              <a:t>n</a:t>
            </a:r>
            <a:r>
              <a:rPr lang="en-US" altLang="en-US" dirty="0"/>
              <a:t> Poisson distributed observations. (very common to assume that </a:t>
            </a:r>
            <a:r>
              <a:rPr lang="en-US" altLang="en-US" i="1" dirty="0"/>
              <a:t>t</a:t>
            </a:r>
            <a:r>
              <a:rPr lang="en-US" altLang="en-US" dirty="0"/>
              <a:t> =1 since counts per period is typically desired)</a:t>
            </a:r>
          </a:p>
        </p:txBody>
      </p:sp>
      <p:pic>
        <p:nvPicPr>
          <p:cNvPr id="20787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961731"/>
            <a:ext cx="2654300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3556" y="5027477"/>
            <a:ext cx="4945062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6975" y="5024047"/>
            <a:ext cx="3733800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4781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34630"/>
            <a:ext cx="87074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sz="4000" dirty="0"/>
              <a:t>The Negative Binomial Distribution</a:t>
            </a:r>
            <a:br>
              <a:rPr lang="en-US" sz="4000" dirty="0"/>
            </a:br>
            <a:r>
              <a:rPr lang="en-US" sz="2400" dirty="0"/>
              <a:t>(1) # failures/trials before fixed number of successes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40259" y="1434805"/>
            <a:ext cx="10552671" cy="41148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3000" dirty="0"/>
              <a:t>We have an experiment with two outcomes: success (with probability </a:t>
            </a:r>
            <a:r>
              <a:rPr lang="en-US" sz="3000" i="1" dirty="0"/>
              <a:t>p</a:t>
            </a:r>
            <a:r>
              <a:rPr lang="en-US" sz="3000" dirty="0"/>
              <a:t>) and failure (with probability </a:t>
            </a:r>
            <a:r>
              <a:rPr lang="en-US" sz="3000" i="1" dirty="0"/>
              <a:t>q </a:t>
            </a:r>
            <a:r>
              <a:rPr lang="en-US" sz="3000" dirty="0"/>
              <a:t>=1-</a:t>
            </a:r>
            <a:r>
              <a:rPr lang="en-US" sz="3000" i="1" dirty="0"/>
              <a:t>p</a:t>
            </a:r>
            <a:r>
              <a:rPr lang="en-US" sz="3000" dirty="0"/>
              <a:t>).</a:t>
            </a:r>
          </a:p>
          <a:p>
            <a:pPr eaLnBrk="1" hangingPunct="1">
              <a:defRPr/>
            </a:pPr>
            <a:endParaRPr lang="en-US" sz="3000" dirty="0"/>
          </a:p>
          <a:p>
            <a:pPr eaLnBrk="1" hangingPunct="1">
              <a:defRPr/>
            </a:pPr>
            <a:r>
              <a:rPr lang="en-US" sz="3000" dirty="0"/>
              <a:t>Let </a:t>
            </a:r>
            <a:r>
              <a:rPr lang="en-US" sz="3000" i="1" dirty="0"/>
              <a:t>N</a:t>
            </a:r>
            <a:r>
              <a:rPr lang="en-US" sz="3000" dirty="0"/>
              <a:t>  be the number of trials to achieve </a:t>
            </a:r>
            <a:r>
              <a:rPr lang="en-US" sz="3000" i="1" dirty="0"/>
              <a:t>k</a:t>
            </a:r>
            <a:r>
              <a:rPr lang="en-US" sz="3000" dirty="0"/>
              <a:t> successes, each with probability </a:t>
            </a:r>
            <a:r>
              <a:rPr lang="en-US" sz="3000" i="1" dirty="0"/>
              <a:t>p</a:t>
            </a:r>
          </a:p>
          <a:p>
            <a:pPr eaLnBrk="1" hangingPunct="1">
              <a:defRPr/>
            </a:pPr>
            <a:endParaRPr lang="en-US" sz="3000" i="1" dirty="0"/>
          </a:p>
          <a:p>
            <a:pPr eaLnBrk="1" hangingPunct="1">
              <a:defRPr/>
            </a:pPr>
            <a:r>
              <a:rPr lang="en-US" sz="3000" dirty="0"/>
              <a:t>Number of trials, </a:t>
            </a:r>
            <a:r>
              <a:rPr lang="en-US" sz="3000" i="1" dirty="0"/>
              <a:t>N</a:t>
            </a:r>
            <a:r>
              <a:rPr lang="en-US" sz="3000" dirty="0"/>
              <a:t>,</a:t>
            </a:r>
            <a:r>
              <a:rPr lang="en-US" sz="3000" i="1" dirty="0"/>
              <a:t> </a:t>
            </a:r>
            <a:r>
              <a:rPr lang="en-US" sz="3000" dirty="0"/>
              <a:t>is now the random variable!</a:t>
            </a:r>
          </a:p>
          <a:p>
            <a:pPr lvl="1" eaLnBrk="1" hangingPunct="1">
              <a:defRPr/>
            </a:pPr>
            <a:r>
              <a:rPr lang="en-US" sz="3000" dirty="0"/>
              <a:t>Recall, </a:t>
            </a:r>
            <a:r>
              <a:rPr lang="en-US" sz="3000" i="1" dirty="0"/>
              <a:t>k</a:t>
            </a:r>
            <a:r>
              <a:rPr lang="en-US" sz="3000" dirty="0"/>
              <a:t>, was the R.V. in the binomial case</a:t>
            </a:r>
          </a:p>
        </p:txBody>
      </p:sp>
    </p:spTree>
    <p:extLst>
      <p:ext uri="{BB962C8B-B14F-4D97-AF65-F5344CB8AC3E}">
        <p14:creationId xmlns:p14="http://schemas.microsoft.com/office/powerpoint/2010/main" val="14323602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970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5113" y="1390986"/>
            <a:ext cx="91440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1971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046622"/>
            <a:ext cx="9144000" cy="272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5113" y="4892484"/>
            <a:ext cx="9144000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1973" name="TextBox 6"/>
          <p:cNvSpPr txBox="1">
            <a:spLocks noChangeArrowheads="1"/>
          </p:cNvSpPr>
          <p:nvPr/>
        </p:nvSpPr>
        <p:spPr bwMode="auto">
          <a:xfrm>
            <a:off x="3141663" y="4437929"/>
            <a:ext cx="54721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Try to derive it based on this argument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107" y="6085223"/>
            <a:ext cx="56662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How do we turn this into “failures”, X=k, until r successes?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3239" y="5922241"/>
            <a:ext cx="6165041" cy="955675"/>
          </a:xfrm>
          <a:prstGeom prst="rect">
            <a:avLst/>
          </a:prstGeom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1524000" y="34630"/>
            <a:ext cx="870743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4000"/>
              <a:t>The Negative Binomial Distribution</a:t>
            </a:r>
            <a:br>
              <a:rPr lang="en-US" sz="4000"/>
            </a:br>
            <a:r>
              <a:rPr lang="en-US" sz="2400"/>
              <a:t>(1) # failures/trials before fixed number of successes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55430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6920"/>
            <a:ext cx="87074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sz="4000" dirty="0"/>
              <a:t>The Negative Binomial Distribution</a:t>
            </a:r>
            <a:br>
              <a:rPr lang="en-US" sz="4000" dirty="0"/>
            </a:br>
            <a:r>
              <a:rPr lang="en-US" sz="2400" dirty="0"/>
              <a:t>(2) Poisson with a variable rate parameter 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half" idx="1"/>
          </p:nvPr>
        </p:nvSpPr>
        <p:spPr>
          <a:xfrm>
            <a:off x="1798638" y="1378520"/>
            <a:ext cx="8793162" cy="2667000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dirty="0"/>
              <a:t>Start with Poisson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But let’s give lambda a continuous probability (continuous distributions come soon!) and then integrate over all possible values of lambda (this is called “marginalizing”)</a:t>
            </a:r>
          </a:p>
        </p:txBody>
      </p:sp>
      <p:pic>
        <p:nvPicPr>
          <p:cNvPr id="214019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1752" y="1149920"/>
            <a:ext cx="5346700" cy="135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4020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4519" y="4045520"/>
            <a:ext cx="5486400" cy="137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519" y="5791131"/>
            <a:ext cx="6248400" cy="736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5548" y="5974765"/>
            <a:ext cx="1017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Because:</a:t>
            </a:r>
          </a:p>
        </p:txBody>
      </p:sp>
    </p:spTree>
    <p:extLst>
      <p:ext uri="{BB962C8B-B14F-4D97-AF65-F5344CB8AC3E}">
        <p14:creationId xmlns:p14="http://schemas.microsoft.com/office/powerpoint/2010/main" val="1231934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1" y="381000"/>
            <a:ext cx="8639175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/>
              <a:t>Quick note </a:t>
            </a:r>
            <a:r>
              <a:rPr lang="en-US" dirty="0"/>
              <a:t>on Gamma function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706688" y="2017713"/>
            <a:ext cx="7275512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Continuous version of factorial</a:t>
            </a:r>
          </a:p>
          <a:p>
            <a:pPr eaLnBrk="1" hangingPunct="1">
              <a:defRPr/>
            </a:pPr>
            <a:r>
              <a:rPr lang="en-US" dirty="0"/>
              <a:t>For integers, </a:t>
            </a:r>
            <a:r>
              <a:rPr lang="en-US" i="1" dirty="0"/>
              <a:t>z</a:t>
            </a:r>
            <a:r>
              <a:rPr lang="en-US" dirty="0"/>
              <a:t>,</a:t>
            </a:r>
          </a:p>
          <a:p>
            <a:pPr eaLnBrk="1" hangingPunct="1">
              <a:defRPr/>
            </a:pPr>
            <a:r>
              <a:rPr lang="en-US" dirty="0"/>
              <a:t>In general</a:t>
            </a:r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/>
              <a:t>Defined (for z &gt; 0):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2514600"/>
            <a:ext cx="25527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2063" y="3035300"/>
            <a:ext cx="2997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1113" y="3963988"/>
            <a:ext cx="34163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6909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-76200"/>
            <a:ext cx="87074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sz="4000" dirty="0"/>
              <a:t>The Negative Binomial Distribution</a:t>
            </a:r>
            <a:br>
              <a:rPr lang="en-US" sz="4000" dirty="0"/>
            </a:br>
            <a:r>
              <a:rPr lang="en-US" sz="2400" dirty="0"/>
              <a:t>(2) Poisson with a variable rate parameter </a:t>
            </a:r>
          </a:p>
        </p:txBody>
      </p:sp>
      <p:sp>
        <p:nvSpPr>
          <p:cNvPr id="220162" name="TextBox 7"/>
          <p:cNvSpPr txBox="1">
            <a:spLocks noChangeArrowheads="1"/>
          </p:cNvSpPr>
          <p:nvPr/>
        </p:nvSpPr>
        <p:spPr bwMode="auto">
          <a:xfrm>
            <a:off x="1139218" y="2516189"/>
            <a:ext cx="98373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</a:rPr>
              <a:t>Common parameterization in ecology with the mean as a parameter:</a:t>
            </a:r>
          </a:p>
        </p:txBody>
      </p:sp>
      <p:pic>
        <p:nvPicPr>
          <p:cNvPr id="220164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819"/>
          <a:stretch>
            <a:fillRect/>
          </a:stretch>
        </p:blipFill>
        <p:spPr bwMode="auto">
          <a:xfrm>
            <a:off x="2852351" y="3120729"/>
            <a:ext cx="6670704" cy="1070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D7B4B51-8AF6-F8EA-03D4-2A3C1E59E5EB}"/>
              </a:ext>
            </a:extLst>
          </p:cNvPr>
          <p:cNvSpPr txBox="1"/>
          <p:nvPr/>
        </p:nvSpPr>
        <p:spPr>
          <a:xfrm>
            <a:off x="1749778" y="4865511"/>
            <a:ext cx="9662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We model </a:t>
            </a:r>
            <a:r>
              <a:rPr lang="en-US" sz="2400" i="1" dirty="0"/>
              <a:t>N </a:t>
            </a:r>
            <a:r>
              <a:rPr lang="en-US" sz="2400" dirty="0" err="1"/>
              <a:t>overdispersed</a:t>
            </a:r>
            <a:r>
              <a:rPr lang="en-US" sz="2400" dirty="0"/>
              <a:t> counts as function of mean, </a:t>
            </a:r>
            <a:r>
              <a:rPr lang="en-US" sz="2400" i="1" dirty="0"/>
              <a:t>m</a:t>
            </a:r>
            <a:r>
              <a:rPr lang="en-US" sz="2400" dirty="0"/>
              <a:t>, and dispersion, </a:t>
            </a:r>
            <a:r>
              <a:rPr lang="en-US" sz="2400" i="1" dirty="0"/>
              <a:t>k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706650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-76200"/>
            <a:ext cx="87074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sz="4000" dirty="0"/>
              <a:t>The Negative Binomial Distribution</a:t>
            </a:r>
            <a:br>
              <a:rPr lang="en-US" sz="4000" dirty="0"/>
            </a:br>
            <a:r>
              <a:rPr lang="en-US" sz="2400" dirty="0"/>
              <a:t>(2) Poisson with a variable rate parameter </a:t>
            </a:r>
          </a:p>
        </p:txBody>
      </p:sp>
      <p:pic>
        <p:nvPicPr>
          <p:cNvPr id="222210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819"/>
          <a:stretch>
            <a:fillRect/>
          </a:stretch>
        </p:blipFill>
        <p:spPr bwMode="auto">
          <a:xfrm>
            <a:off x="2943225" y="1360488"/>
            <a:ext cx="586740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117850"/>
            <a:ext cx="2768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2212" name="TextBox 8"/>
          <p:cNvSpPr txBox="1">
            <a:spLocks noChangeArrowheads="1"/>
          </p:cNvSpPr>
          <p:nvPr/>
        </p:nvSpPr>
        <p:spPr bwMode="auto">
          <a:xfrm>
            <a:off x="3292475" y="2478088"/>
            <a:ext cx="51704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What is the probability of no events?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2201864" y="4724401"/>
            <a:ext cx="78136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This probability can be large if </a:t>
            </a:r>
            <a:r>
              <a:rPr lang="en-US" altLang="en-US" sz="2400" i="1"/>
              <a:t>k </a:t>
            </a:r>
            <a:r>
              <a:rPr lang="en-US" altLang="en-US" sz="2400"/>
              <a:t>is small even if </a:t>
            </a:r>
            <a:r>
              <a:rPr lang="en-US" altLang="en-US" sz="2400" i="1"/>
              <a:t>m </a:t>
            </a:r>
            <a:r>
              <a:rPr lang="en-US" altLang="en-US" sz="2400"/>
              <a:t>is big</a:t>
            </a:r>
          </a:p>
        </p:txBody>
      </p:sp>
    </p:spTree>
    <p:extLst>
      <p:ext uri="{BB962C8B-B14F-4D97-AF65-F5344CB8AC3E}">
        <p14:creationId xmlns:p14="http://schemas.microsoft.com/office/powerpoint/2010/main" val="255839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257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971550"/>
            <a:ext cx="6007100" cy="588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-76200"/>
            <a:ext cx="87074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sz="4000" dirty="0"/>
              <a:t>Poisson vs. Negative Binomial </a:t>
            </a:r>
            <a:br>
              <a:rPr lang="en-US" sz="40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323433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>
              <a:defRPr/>
            </a:pPr>
            <a:r>
              <a:rPr lang="en-US" dirty="0"/>
              <a:t>The Geometric Distribution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13254" y="2017713"/>
            <a:ext cx="10083114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This is a special case of the negative binomial distribution for which </a:t>
            </a:r>
            <a:r>
              <a:rPr lang="en-US" i="1" dirty="0"/>
              <a:t>k </a:t>
            </a:r>
            <a:r>
              <a:rPr lang="en-US" dirty="0"/>
              <a:t>=1 (i.e. the probability of the number of trials </a:t>
            </a:r>
            <a:r>
              <a:rPr lang="en-US" u="sng" dirty="0"/>
              <a:t>or</a:t>
            </a:r>
            <a:r>
              <a:rPr lang="en-US" dirty="0"/>
              <a:t> failures until one success is recorded).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811477-F79B-84B5-E2AE-7CCE931CA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3595571"/>
            <a:ext cx="6261538" cy="3152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824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2674939" y="-7620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sz="3200"/>
              <a:t>Summary of Discrete Distributions</a:t>
            </a:r>
          </a:p>
        </p:txBody>
      </p:sp>
      <p:graphicFrame>
        <p:nvGraphicFramePr>
          <p:cNvPr id="576580" name="Group 68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2923578255"/>
              </p:ext>
            </p:extLst>
          </p:nvPr>
        </p:nvGraphicFramePr>
        <p:xfrm>
          <a:off x="1905000" y="1323976"/>
          <a:ext cx="8574088" cy="4848224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75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2999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Distribution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Number of trials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Random Variable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Parameters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3974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Binomial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Pre-specified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Number of successes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n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, 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p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9126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Negative Binomial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Repeated until a given number of successes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Number of failures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r, p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9126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Geometric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Repeated until one success occurs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Number of failures </a:t>
                      </a:r>
                      <a:r>
                        <a:rPr kumimoji="0" lang="en-US" altLang="en-US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or 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trials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p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99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Poisson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N/A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Number of occurrences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sym typeface="Symbol" charset="2"/>
                        </a:rPr>
                        <a:t>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7951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13978</TotalTime>
  <Words>2427</Words>
  <Application>Microsoft Macintosh PowerPoint</Application>
  <PresentationFormat>Widescreen</PresentationFormat>
  <Paragraphs>290</Paragraphs>
  <Slides>47</Slides>
  <Notes>41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8" baseType="lpstr">
      <vt:lpstr>Arial</vt:lpstr>
      <vt:lpstr>Calibri</vt:lpstr>
      <vt:lpstr>Calibri Light</vt:lpstr>
      <vt:lpstr>Cambria</vt:lpstr>
      <vt:lpstr>Courier New</vt:lpstr>
      <vt:lpstr>Symbol</vt:lpstr>
      <vt:lpstr>Tahoma</vt:lpstr>
      <vt:lpstr>Times New Roman</vt:lpstr>
      <vt:lpstr>Wingdings</vt:lpstr>
      <vt:lpstr>Office Theme</vt:lpstr>
      <vt:lpstr>Equation</vt:lpstr>
      <vt:lpstr>Discrete Probability Distributions </vt:lpstr>
      <vt:lpstr>Binomial Experiments-I</vt:lpstr>
      <vt:lpstr>Binomial Experiments-II</vt:lpstr>
      <vt:lpstr>Binomial Experiments-II (Notation)</vt:lpstr>
      <vt:lpstr>Binomial Probabilities-I</vt:lpstr>
      <vt:lpstr>One Binomial Trial: The Bernoulli Distribution</vt:lpstr>
      <vt:lpstr>PowerPoint Presentation</vt:lpstr>
      <vt:lpstr>PowerPoint Presentation</vt:lpstr>
      <vt:lpstr>PowerPoint Presentation</vt:lpstr>
      <vt:lpstr>PowerPoint Presentation</vt:lpstr>
      <vt:lpstr>Binomial Probabilities-II</vt:lpstr>
      <vt:lpstr>The Binomial Distribution</vt:lpstr>
      <vt:lpstr>Examples of the Binomial Distribution-I</vt:lpstr>
      <vt:lpstr>Examples of the Binomial Distribution-III</vt:lpstr>
      <vt:lpstr>Sneak peak: Maximum likelihood is just doing this in reverse!!!</vt:lpstr>
      <vt:lpstr>PowerPoint Presentation</vt:lpstr>
      <vt:lpstr>Sneak peak: Maximum Likelihood is just doing this in reverse!!!</vt:lpstr>
      <vt:lpstr>Sneak peak: Maximum likelihood is just doing this in reverse!!!</vt:lpstr>
      <vt:lpstr>PowerPoint Presentation</vt:lpstr>
      <vt:lpstr>PowerPoint Presentation</vt:lpstr>
      <vt:lpstr>Back to distributions</vt:lpstr>
      <vt:lpstr>PowerPoint Presentation</vt:lpstr>
      <vt:lpstr>The Poisson Distribution-I</vt:lpstr>
      <vt:lpstr>The Poisson Distribution-I</vt:lpstr>
      <vt:lpstr>The Poisson Distribution - pmf</vt:lpstr>
      <vt:lpstr>Where does the Poisson distribution come from?</vt:lpstr>
      <vt:lpstr>Where does the Poisson distribution come from?</vt:lpstr>
      <vt:lpstr>Zero term of the Poisson Distribution</vt:lpstr>
      <vt:lpstr>First term of the Poisson Distribution</vt:lpstr>
      <vt:lpstr>The Poisson Distribution - pmf</vt:lpstr>
      <vt:lpstr>The Poisson Distribution Graphically</vt:lpstr>
      <vt:lpstr>An Example of the Poisson Distribution-I</vt:lpstr>
      <vt:lpstr>An Example of the Poisson Distribution-II</vt:lpstr>
      <vt:lpstr>An Example of the Poisson Distribution-III</vt:lpstr>
      <vt:lpstr>An Example of the Poisson Distribution-III</vt:lpstr>
      <vt:lpstr>Example of using Poisson Probabilistic Arguments in Research</vt:lpstr>
      <vt:lpstr>The Poisson Distribution - Caveat</vt:lpstr>
      <vt:lpstr>But first: MLE for the Poisson Distribution</vt:lpstr>
      <vt:lpstr>The Negative Binomial Distribution (1) # failures/trials before fixed number of successes</vt:lpstr>
      <vt:lpstr>PowerPoint Presentation</vt:lpstr>
      <vt:lpstr>The Negative Binomial Distribution (2) Poisson with a variable rate parameter </vt:lpstr>
      <vt:lpstr>Quick note on Gamma function</vt:lpstr>
      <vt:lpstr>The Negative Binomial Distribution (2) Poisson with a variable rate parameter </vt:lpstr>
      <vt:lpstr>The Negative Binomial Distribution (2) Poisson with a variable rate parameter </vt:lpstr>
      <vt:lpstr>Poisson vs. Negative Binomial  </vt:lpstr>
      <vt:lpstr>The Geometric Distribution</vt:lpstr>
      <vt:lpstr>Summary of Discrete Distributions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Probability Distributions</dc:title>
  <dc:creator>Levi, Taal</dc:creator>
  <cp:lastModifiedBy>Levi, Taal</cp:lastModifiedBy>
  <cp:revision>102</cp:revision>
  <dcterms:created xsi:type="dcterms:W3CDTF">2018-09-30T16:59:02Z</dcterms:created>
  <dcterms:modified xsi:type="dcterms:W3CDTF">2026-09-13T18:31:56Z</dcterms:modified>
</cp:coreProperties>
</file>