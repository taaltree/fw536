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9"/>
  </p:notesMasterIdLst>
  <p:sldIdLst>
    <p:sldId id="270" r:id="rId2"/>
    <p:sldId id="271" r:id="rId3"/>
    <p:sldId id="272" r:id="rId4"/>
    <p:sldId id="273" r:id="rId5"/>
    <p:sldId id="274" r:id="rId6"/>
    <p:sldId id="275" r:id="rId7"/>
    <p:sldId id="317" r:id="rId8"/>
    <p:sldId id="331" r:id="rId9"/>
    <p:sldId id="329" r:id="rId10"/>
    <p:sldId id="339" r:id="rId11"/>
    <p:sldId id="276" r:id="rId12"/>
    <p:sldId id="279" r:id="rId13"/>
    <p:sldId id="280" r:id="rId14"/>
    <p:sldId id="281" r:id="rId15"/>
    <p:sldId id="282" r:id="rId16"/>
    <p:sldId id="283" r:id="rId17"/>
    <p:sldId id="284" r:id="rId18"/>
    <p:sldId id="285" r:id="rId19"/>
    <p:sldId id="286" r:id="rId20"/>
    <p:sldId id="287" r:id="rId21"/>
    <p:sldId id="288" r:id="rId22"/>
    <p:sldId id="338" r:id="rId23"/>
    <p:sldId id="289" r:id="rId24"/>
    <p:sldId id="290" r:id="rId25"/>
    <p:sldId id="308" r:id="rId26"/>
    <p:sldId id="301" r:id="rId27"/>
    <p:sldId id="302" r:id="rId28"/>
    <p:sldId id="303" r:id="rId29"/>
    <p:sldId id="304" r:id="rId30"/>
    <p:sldId id="291" r:id="rId31"/>
    <p:sldId id="292" r:id="rId32"/>
    <p:sldId id="293" r:id="rId33"/>
    <p:sldId id="296" r:id="rId34"/>
    <p:sldId id="297" r:id="rId35"/>
    <p:sldId id="300" r:id="rId36"/>
    <p:sldId id="294" r:id="rId37"/>
    <p:sldId id="298" r:id="rId38"/>
    <p:sldId id="299" r:id="rId39"/>
    <p:sldId id="318" r:id="rId40"/>
    <p:sldId id="319" r:id="rId41"/>
    <p:sldId id="320" r:id="rId42"/>
    <p:sldId id="322" r:id="rId43"/>
    <p:sldId id="323" r:id="rId44"/>
    <p:sldId id="324" r:id="rId45"/>
    <p:sldId id="326" r:id="rId46"/>
    <p:sldId id="327" r:id="rId47"/>
    <p:sldId id="328" r:id="rId4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9404"/>
    <p:restoredTop sz="94658"/>
  </p:normalViewPr>
  <p:slideViewPr>
    <p:cSldViewPr snapToGrid="0" snapToObjects="1">
      <p:cViewPr varScale="1">
        <p:scale>
          <a:sx n="113" d="100"/>
          <a:sy n="113" d="100"/>
        </p:scale>
        <p:origin x="184" y="3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945995-FC3E-D540-94CA-CACDC057E48E}" type="datetimeFigureOut">
              <a:rPr lang="en-US" smtClean="0"/>
              <a:t>9/11/26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8FA766-4199-D741-B79E-9AE53857A0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33869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8242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94719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0290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644143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2338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918737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4386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700839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6434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25111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8482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76024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50530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81542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56674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7436461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58722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90543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60770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6494987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62818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75637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64866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333703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66914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745273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68962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217183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71010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355997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73058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14280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84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547763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84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100663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945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8726004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84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341600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84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038428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945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090163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945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596732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945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62316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662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84766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048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436475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150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4117214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253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500534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253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402321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048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95480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560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676010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560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10931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10946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33298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12994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r>
              <a:rPr lang="en-US" altLang="en-US" dirty="0">
                <a:latin typeface="Times New Roman" charset="0"/>
              </a:rPr>
              <a:t>Examples? Number of foraging bouts before r successes. Number of surveys before r detections.</a:t>
            </a:r>
          </a:p>
          <a:p>
            <a:endParaRPr lang="en-US" altLang="en-US" dirty="0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897677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15042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83475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19138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160671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21186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524212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23234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614787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25282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8183363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27330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104437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76378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40065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19289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05415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14298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1002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18339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41651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27427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74296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517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86257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585" y="617538"/>
            <a:ext cx="10390716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576917" y="2017713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6860117" y="2017713"/>
            <a:ext cx="5080000" cy="1981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6860117" y="4151313"/>
            <a:ext cx="5080000" cy="1981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EB11B70-FC32-704C-A6D2-3B280E37279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862517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585" y="617538"/>
            <a:ext cx="10390716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576917" y="2017713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60117" y="2017713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DB55D25-F998-A748-BD3E-3F04D9B0DB7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302471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>
  <p:cSld name="Title, Conten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585" y="617538"/>
            <a:ext cx="10390716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76917" y="2017713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6860117" y="2017713"/>
            <a:ext cx="5080000" cy="1981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6860117" y="4151313"/>
            <a:ext cx="5080000" cy="1981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4A85E31-6AB6-4544-B38B-96F01BA9DB2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94085368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585" y="617538"/>
            <a:ext cx="10390716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able Placeholder 2"/>
          <p:cNvSpPr>
            <a:spLocks noGrp="1"/>
          </p:cNvSpPr>
          <p:nvPr>
            <p:ph type="tbl" idx="1"/>
          </p:nvPr>
        </p:nvSpPr>
        <p:spPr>
          <a:xfrm>
            <a:off x="1576917" y="2017713"/>
            <a:ext cx="10363200" cy="4114800"/>
          </a:xfrm>
        </p:spPr>
        <p:txBody>
          <a:bodyPr/>
          <a:lstStyle/>
          <a:p>
            <a:pPr lvl="0"/>
            <a:endParaRPr lang="en-AU" noProof="0"/>
          </a:p>
        </p:txBody>
      </p:sp>
      <p:sp>
        <p:nvSpPr>
          <p:cNvPr id="4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990C76F-CEB0-0A40-BA82-0C321A01C5A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855559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FF33797-E749-0F4D-9D43-8EDD7194A7C5}" type="datetimeFigureOut">
              <a:rPr lang="en-US" smtClean="0"/>
              <a:t>9/11/26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0628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w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.w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.wmf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.wmf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w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8.wm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wmf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oleObject" Target="../embeddings/oleObject4.bin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.wmf"/><Relationship Id="rId5" Type="http://schemas.openxmlformats.org/officeDocument/2006/relationships/oleObject" Target="../embeddings/oleObject5.bin"/><Relationship Id="rId4" Type="http://schemas.openxmlformats.org/officeDocument/2006/relationships/image" Target="../media/image9.wmf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oleObject" Target="../embeddings/oleObject6.bin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9.wmf"/><Relationship Id="rId5" Type="http://schemas.openxmlformats.org/officeDocument/2006/relationships/oleObject" Target="../embeddings/oleObject7.bin"/><Relationship Id="rId4" Type="http://schemas.openxmlformats.org/officeDocument/2006/relationships/image" Target="../media/image18.wmf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6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oleObject" Target="../embeddings/oleObject6.bin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9.wmf"/><Relationship Id="rId5" Type="http://schemas.openxmlformats.org/officeDocument/2006/relationships/oleObject" Target="../embeddings/oleObject7.bin"/><Relationship Id="rId4" Type="http://schemas.openxmlformats.org/officeDocument/2006/relationships/image" Target="../media/image18.wmf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wmf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29.wmf"/><Relationship Id="rId4" Type="http://schemas.openxmlformats.org/officeDocument/2006/relationships/image" Target="../media/image28.wmf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wmf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31.png"/><Relationship Id="rId4" Type="http://schemas.openxmlformats.org/officeDocument/2006/relationships/image" Target="../media/image30.wmf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.bin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33.png"/><Relationship Id="rId4" Type="http://schemas.openxmlformats.org/officeDocument/2006/relationships/image" Target="../media/image32.wmf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3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3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50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3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905000" y="1981200"/>
            <a:ext cx="8763000" cy="1295400"/>
          </a:xfrm>
        </p:spPr>
        <p:txBody>
          <a:bodyPr/>
          <a:lstStyle/>
          <a:p>
            <a:pPr algn="ctr" eaLnBrk="1" hangingPunct="1"/>
            <a:r>
              <a:rPr lang="en-US" altLang="en-US" sz="4000" b="1" dirty="0">
                <a:latin typeface="Arial" charset="0"/>
                <a:ea typeface="Arial" charset="0"/>
                <a:cs typeface="Arial" charset="0"/>
              </a:rPr>
              <a:t>Discrete Probability Distributions </a:t>
            </a:r>
            <a:endParaRPr lang="en-AU" altLang="en-US" sz="2400" b="1" dirty="0">
              <a:latin typeface="Arial" charset="0"/>
              <a:ea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45356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2322830" y="9144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/>
              <a:t>Binomial Experiments-I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45820" y="1423035"/>
            <a:ext cx="10378440" cy="4687888"/>
          </a:xfrm>
        </p:spPr>
        <p:txBody>
          <a:bodyPr/>
          <a:lstStyle/>
          <a:p>
            <a:pPr marL="609600" indent="-609600">
              <a:defRPr/>
            </a:pPr>
            <a:r>
              <a:rPr lang="en-US" sz="2400" dirty="0"/>
              <a:t>Binomial experiments are those for which the outcome from each trial is one of only two options (“success” or “failure”). The properties of a binomial experiment are:</a:t>
            </a:r>
          </a:p>
          <a:p>
            <a:pPr marL="609600" indent="-609600">
              <a:buFont typeface="Wingdings" pitchFamily="2" charset="2"/>
              <a:buAutoNum type="arabicPeriod"/>
              <a:defRPr/>
            </a:pPr>
            <a:r>
              <a:rPr lang="en-US" sz="2400" dirty="0"/>
              <a:t>The experiment is repeated for a fixed number of trials, </a:t>
            </a:r>
            <a:r>
              <a:rPr lang="en-US" sz="2400" i="1" dirty="0"/>
              <a:t>N</a:t>
            </a:r>
            <a:r>
              <a:rPr lang="en-US" sz="2400" dirty="0"/>
              <a:t>, where each trial is </a:t>
            </a:r>
            <a:r>
              <a:rPr lang="en-US" sz="2400" i="1" dirty="0">
                <a:solidFill>
                  <a:schemeClr val="hlink"/>
                </a:solidFill>
              </a:rPr>
              <a:t>independent</a:t>
            </a:r>
            <a:r>
              <a:rPr lang="en-US" sz="2400" dirty="0"/>
              <a:t> of all the others.</a:t>
            </a:r>
          </a:p>
          <a:p>
            <a:pPr marL="609600" indent="-609600">
              <a:buFont typeface="Wingdings" pitchFamily="2" charset="2"/>
              <a:buAutoNum type="arabicPeriod"/>
              <a:defRPr/>
            </a:pPr>
            <a:r>
              <a:rPr lang="en-US" sz="2400" dirty="0"/>
              <a:t>There are only two possible outcomes for each trial. The outcomes can be classified as a success (S) or a failure (F).</a:t>
            </a:r>
          </a:p>
          <a:p>
            <a:pPr marL="609600" indent="-609600">
              <a:buFont typeface="Wingdings" pitchFamily="2" charset="2"/>
              <a:buAutoNum type="arabicPeriod"/>
              <a:defRPr/>
            </a:pPr>
            <a:r>
              <a:rPr lang="en-US" sz="2400" dirty="0"/>
              <a:t>The probability of success is the </a:t>
            </a:r>
            <a:r>
              <a:rPr lang="en-US" sz="2400" u="sng" dirty="0"/>
              <a:t>same </a:t>
            </a:r>
            <a:r>
              <a:rPr lang="en-US" sz="2400" dirty="0"/>
              <a:t>for all trials.</a:t>
            </a:r>
          </a:p>
          <a:p>
            <a:pPr marL="609600" indent="-609600">
              <a:buFont typeface="Wingdings" pitchFamily="2" charset="2"/>
              <a:buAutoNum type="arabicPeriod"/>
              <a:defRPr/>
            </a:pPr>
            <a:r>
              <a:rPr lang="en-US" sz="2400" dirty="0"/>
              <a:t>The random variable </a:t>
            </a:r>
            <a:r>
              <a:rPr lang="en-US" sz="2400" i="1" dirty="0"/>
              <a:t>X</a:t>
            </a:r>
            <a:r>
              <a:rPr lang="en-US" sz="2400" dirty="0"/>
              <a:t> counts the number of </a:t>
            </a:r>
            <a:r>
              <a:rPr lang="en-US" sz="2400" i="1" dirty="0">
                <a:solidFill>
                  <a:schemeClr val="hlink"/>
                </a:solidFill>
              </a:rPr>
              <a:t>successful</a:t>
            </a:r>
            <a:r>
              <a:rPr lang="en-US" sz="2400" dirty="0"/>
              <a:t> trials out of </a:t>
            </a:r>
            <a:r>
              <a:rPr lang="en-US" sz="2400" i="1" dirty="0"/>
              <a:t>N</a:t>
            </a:r>
            <a:r>
              <a:rPr lang="en-US" sz="2400" dirty="0"/>
              <a:t> trials.</a:t>
            </a:r>
          </a:p>
        </p:txBody>
      </p:sp>
    </p:spTree>
    <p:extLst>
      <p:ext uri="{BB962C8B-B14F-4D97-AF65-F5344CB8AC3E}">
        <p14:creationId xmlns:p14="http://schemas.microsoft.com/office/powerpoint/2010/main" val="2507716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>
          <a:xfrm>
            <a:off x="2438400" y="1524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/>
              <a:t>Binomial Experiments-II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601470" y="1621155"/>
            <a:ext cx="9005570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sz="3200" dirty="0"/>
              <a:t>Why is the following a binomial experiment?</a:t>
            </a:r>
          </a:p>
          <a:p>
            <a:pPr eaLnBrk="1" hangingPunct="1">
              <a:defRPr/>
            </a:pPr>
            <a:endParaRPr lang="en-US" sz="3200" dirty="0"/>
          </a:p>
          <a:p>
            <a:pPr lvl="1" eaLnBrk="1" hangingPunct="1">
              <a:defRPr/>
            </a:pPr>
            <a:r>
              <a:rPr lang="en-US" sz="2800" dirty="0"/>
              <a:t>We randomly sample 500 fish from the population.</a:t>
            </a:r>
          </a:p>
          <a:p>
            <a:pPr lvl="1" eaLnBrk="1" hangingPunct="1">
              <a:defRPr/>
            </a:pPr>
            <a:endParaRPr lang="en-US" sz="2800" dirty="0"/>
          </a:p>
          <a:p>
            <a:pPr lvl="1" eaLnBrk="1" hangingPunct="1">
              <a:defRPr/>
            </a:pPr>
            <a:r>
              <a:rPr lang="en-US" sz="2800" dirty="0"/>
              <a:t>We record whether each animal is mature or immature.</a:t>
            </a:r>
          </a:p>
          <a:p>
            <a:pPr lvl="1" eaLnBrk="1" hangingPunct="1">
              <a:defRPr/>
            </a:pPr>
            <a:endParaRPr lang="en-US" sz="2800" dirty="0"/>
          </a:p>
          <a:p>
            <a:pPr lvl="1" eaLnBrk="1" hangingPunct="1">
              <a:defRPr/>
            </a:pPr>
            <a:r>
              <a:rPr lang="en-US" sz="2800" dirty="0"/>
              <a:t>The random variable </a:t>
            </a:r>
            <a:r>
              <a:rPr lang="en-US" sz="2800" i="1" dirty="0"/>
              <a:t>X</a:t>
            </a:r>
            <a:r>
              <a:rPr lang="en-US" sz="2800" dirty="0"/>
              <a:t> is the number of mature animals.</a:t>
            </a:r>
          </a:p>
        </p:txBody>
      </p:sp>
    </p:spTree>
    <p:extLst>
      <p:ext uri="{BB962C8B-B14F-4D97-AF65-F5344CB8AC3E}">
        <p14:creationId xmlns:p14="http://schemas.microsoft.com/office/powerpoint/2010/main" val="247846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2674939" y="228600"/>
            <a:ext cx="7793037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/>
              <a:t>Binomial Experiments-II</a:t>
            </a:r>
            <a:br>
              <a:rPr lang="en-US" sz="4000"/>
            </a:br>
            <a:r>
              <a:rPr lang="en-US" sz="4000"/>
              <a:t>(Notation)</a:t>
            </a:r>
          </a:p>
        </p:txBody>
      </p:sp>
      <p:graphicFrame>
        <p:nvGraphicFramePr>
          <p:cNvPr id="143362" name="Object 4"/>
          <p:cNvGraphicFramePr>
            <a:graphicFrameLocks noGrp="1" noChangeAspect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17998080"/>
              </p:ext>
            </p:extLst>
          </p:nvPr>
        </p:nvGraphicFramePr>
        <p:xfrm>
          <a:off x="2101534" y="2770188"/>
          <a:ext cx="8801398" cy="203303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3847204" imgH="889046" progId="">
                  <p:embed/>
                </p:oleObj>
              </mc:Choice>
              <mc:Fallback>
                <p:oleObj name="Equation" r:id="rId3" imgW="3847204" imgH="889046" progId="">
                  <p:embed/>
                  <p:pic>
                    <p:nvPicPr>
                      <p:cNvPr id="0" name="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01534" y="2770188"/>
                        <a:ext cx="8801398" cy="203303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3363" name="Rectangle 4"/>
          <p:cNvSpPr>
            <a:spLocks noChangeArrowheads="1"/>
          </p:cNvSpPr>
          <p:nvPr/>
        </p:nvSpPr>
        <p:spPr bwMode="auto">
          <a:xfrm>
            <a:off x="1994852" y="3242628"/>
            <a:ext cx="1525587" cy="1055052"/>
          </a:xfrm>
          <a:prstGeom prst="rect">
            <a:avLst/>
          </a:prstGeom>
          <a:noFill/>
          <a:ln w="5715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/>
          </a:p>
        </p:txBody>
      </p:sp>
      <p:sp>
        <p:nvSpPr>
          <p:cNvPr id="143364" name="TextBox 5"/>
          <p:cNvSpPr txBox="1">
            <a:spLocks noChangeArrowheads="1"/>
          </p:cNvSpPr>
          <p:nvPr/>
        </p:nvSpPr>
        <p:spPr bwMode="auto">
          <a:xfrm>
            <a:off x="814979" y="3283568"/>
            <a:ext cx="955711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>
                <a:solidFill>
                  <a:srgbClr val="FF0000"/>
                </a:solidFill>
              </a:rPr>
              <a:t>New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>
                <a:solidFill>
                  <a:srgbClr val="FF0000"/>
                </a:solidFill>
              </a:rPr>
              <a:t>terms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70690" y="5044827"/>
            <a:ext cx="1100138" cy="52322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 eaLnBrk="1" hangingPunct="1">
              <a:defRPr/>
            </a:pPr>
            <a:r>
              <a:rPr lang="en-US" sz="2800" dirty="0"/>
              <a:t>Also </a:t>
            </a:r>
            <a:r>
              <a:rPr lang="en-US" sz="2800" i="1" dirty="0"/>
              <a:t>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2562" y="2104292"/>
            <a:ext cx="1119217" cy="52322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 eaLnBrk="1" hangingPunct="1">
              <a:defRPr/>
            </a:pPr>
            <a:r>
              <a:rPr lang="en-US" sz="2800" dirty="0"/>
              <a:t>Also N</a:t>
            </a:r>
            <a:endParaRPr lang="en-US" sz="2800" i="1" dirty="0"/>
          </a:p>
        </p:txBody>
      </p:sp>
    </p:spTree>
    <p:extLst>
      <p:ext uri="{BB962C8B-B14F-4D97-AF65-F5344CB8AC3E}">
        <p14:creationId xmlns:p14="http://schemas.microsoft.com/office/powerpoint/2010/main" val="1667011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>
          <a:xfrm>
            <a:off x="2514600" y="123825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dirty="0"/>
              <a:t>Binomial Probabilities-I</a:t>
            </a:r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342900" y="1318260"/>
            <a:ext cx="11567160" cy="4991100"/>
          </a:xfrm>
        </p:spPr>
        <p:txBody>
          <a:bodyPr>
            <a:noAutofit/>
          </a:bodyPr>
          <a:lstStyle/>
          <a:p>
            <a:pPr eaLnBrk="1" hangingPunct="1">
              <a:lnSpc>
                <a:spcPct val="90000"/>
              </a:lnSpc>
              <a:defRPr/>
            </a:pPr>
            <a:r>
              <a:rPr lang="en-US" sz="2600" dirty="0"/>
              <a:t>In a binomial experiment, the probability of exactly </a:t>
            </a:r>
            <a:r>
              <a:rPr lang="en-US" sz="2600" i="1" dirty="0"/>
              <a:t>x</a:t>
            </a:r>
            <a:r>
              <a:rPr lang="en-US" sz="2600" dirty="0"/>
              <a:t> successes in </a:t>
            </a:r>
            <a:r>
              <a:rPr lang="en-US" sz="2600" i="1" dirty="0"/>
              <a:t>n</a:t>
            </a:r>
            <a:r>
              <a:rPr lang="en-US" sz="2600" dirty="0"/>
              <a:t> trials is:</a:t>
            </a:r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r>
              <a:rPr lang="en-US" sz="2600" dirty="0"/>
              <a:t>This is a probability mass function, </a:t>
            </a:r>
            <a:r>
              <a:rPr lang="en-US" sz="2600" i="1" dirty="0" err="1"/>
              <a:t>pmf</a:t>
            </a:r>
            <a:endParaRPr lang="en-US" sz="2600" i="1" dirty="0"/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r>
              <a:rPr lang="en-US" sz="2600" dirty="0"/>
              <a:t>The binomial probability therefore involves the probability of </a:t>
            </a:r>
            <a:r>
              <a:rPr lang="en-US" sz="2600" i="1" dirty="0"/>
              <a:t>x</a:t>
            </a:r>
            <a:r>
              <a:rPr lang="en-US" sz="2600" dirty="0"/>
              <a:t> successes and </a:t>
            </a:r>
            <a:r>
              <a:rPr lang="en-US" sz="2600" i="1" dirty="0"/>
              <a:t>n </a:t>
            </a:r>
            <a:r>
              <a:rPr lang="en-US" sz="2600" dirty="0"/>
              <a:t>- </a:t>
            </a:r>
            <a:r>
              <a:rPr lang="en-US" sz="2600" i="1" dirty="0"/>
              <a:t>x</a:t>
            </a:r>
            <a:r>
              <a:rPr lang="en-US" sz="2600" dirty="0"/>
              <a:t>  failures multiplied by the number of ways choosing </a:t>
            </a:r>
            <a:r>
              <a:rPr lang="en-US" sz="2600" i="1" dirty="0"/>
              <a:t>x</a:t>
            </a:r>
            <a:r>
              <a:rPr lang="en-US" sz="2600" dirty="0"/>
              <a:t> successes out of </a:t>
            </a:r>
            <a:r>
              <a:rPr lang="en-US" sz="2600" i="1" dirty="0"/>
              <a:t>n</a:t>
            </a:r>
            <a:r>
              <a:rPr lang="en-US" sz="2600" dirty="0"/>
              <a:t> trials.</a:t>
            </a:r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r>
              <a:rPr lang="en-US" sz="2600" i="1" dirty="0"/>
              <a:t>n</a:t>
            </a:r>
            <a:r>
              <a:rPr lang="en-US" sz="2600" dirty="0"/>
              <a:t> and </a:t>
            </a:r>
            <a:r>
              <a:rPr lang="en-US" sz="2600" i="1" dirty="0"/>
              <a:t>p</a:t>
            </a:r>
            <a:r>
              <a:rPr lang="en-US" sz="2600" dirty="0"/>
              <a:t> are </a:t>
            </a:r>
            <a:r>
              <a:rPr lang="en-US" sz="2600" i="1" dirty="0">
                <a:solidFill>
                  <a:schemeClr val="hlink"/>
                </a:solidFill>
              </a:rPr>
              <a:t>parameters </a:t>
            </a:r>
            <a:r>
              <a:rPr lang="en-US" sz="2600" dirty="0"/>
              <a:t>(</a:t>
            </a:r>
            <a:r>
              <a:rPr lang="en-US" sz="2600" i="1" dirty="0"/>
              <a:t>q = 1 - p</a:t>
            </a:r>
            <a:r>
              <a:rPr lang="en-US" sz="2600" dirty="0"/>
              <a:t>). We will use data to estimate the values for unknown parameters.</a:t>
            </a:r>
          </a:p>
        </p:txBody>
      </p:sp>
      <p:graphicFrame>
        <p:nvGraphicFramePr>
          <p:cNvPr id="145411" name="Object 4"/>
          <p:cNvGraphicFramePr>
            <a:graphicFrameLocks noGrp="1" noChangeAspect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575213071"/>
              </p:ext>
            </p:extLst>
          </p:nvPr>
        </p:nvGraphicFramePr>
        <p:xfrm>
          <a:off x="3733623" y="2011680"/>
          <a:ext cx="4785714" cy="86741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311078" imgH="418893" progId="">
                  <p:embed/>
                </p:oleObj>
              </mc:Choice>
              <mc:Fallback>
                <p:oleObj name="Equation" r:id="rId3" imgW="2311078" imgH="418893" progId="">
                  <p:embed/>
                  <p:pic>
                    <p:nvPicPr>
                      <p:cNvPr id="0" name="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33623" y="2011680"/>
                        <a:ext cx="4785714" cy="86741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3" name="Straight Arrow Connector 2"/>
          <p:cNvCxnSpPr/>
          <p:nvPr/>
        </p:nvCxnSpPr>
        <p:spPr>
          <a:xfrm flipH="1" flipV="1">
            <a:off x="7483151" y="2879090"/>
            <a:ext cx="522514" cy="349302"/>
          </a:xfrm>
          <a:prstGeom prst="straightConnector1">
            <a:avLst/>
          </a:prstGeom>
          <a:ln w="349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660921" y="3161955"/>
            <a:ext cx="451097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# ways you can have </a:t>
            </a:r>
            <a:r>
              <a:rPr lang="en-US" sz="2000" i="1" dirty="0"/>
              <a:t>x </a:t>
            </a:r>
            <a:r>
              <a:rPr lang="en-US" sz="2000" dirty="0"/>
              <a:t>out of </a:t>
            </a:r>
            <a:r>
              <a:rPr lang="en-US" sz="2000" i="1" dirty="0"/>
              <a:t>n </a:t>
            </a:r>
            <a:r>
              <a:rPr lang="en-US" sz="2000" dirty="0"/>
              <a:t>successes/</a:t>
            </a:r>
          </a:p>
          <a:p>
            <a:r>
              <a:rPr lang="en-US" sz="2000" dirty="0"/>
              <a:t>E.g. HHT, HTH, THH</a:t>
            </a:r>
          </a:p>
        </p:txBody>
      </p:sp>
    </p:spTree>
    <p:extLst>
      <p:ext uri="{BB962C8B-B14F-4D97-AF65-F5344CB8AC3E}">
        <p14:creationId xmlns:p14="http://schemas.microsoft.com/office/powerpoint/2010/main" val="10814325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-59055"/>
            <a:ext cx="12390120" cy="1143000"/>
          </a:xfrm>
        </p:spPr>
        <p:txBody>
          <a:bodyPr>
            <a:normAutofit/>
          </a:bodyPr>
          <a:lstStyle/>
          <a:p>
            <a:pPr algn="ctr" eaLnBrk="1" hangingPunct="1">
              <a:defRPr/>
            </a:pPr>
            <a:r>
              <a:rPr lang="en-US" dirty="0"/>
              <a:t>One Binomial Trial: The Bernoulli Distribution</a:t>
            </a:r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594360" y="1074420"/>
            <a:ext cx="11087100" cy="5029200"/>
          </a:xfrm>
        </p:spPr>
        <p:txBody>
          <a:bodyPr>
            <a:noAutofit/>
          </a:bodyPr>
          <a:lstStyle/>
          <a:p>
            <a:pPr eaLnBrk="1" hangingPunct="1">
              <a:lnSpc>
                <a:spcPct val="90000"/>
              </a:lnSpc>
              <a:defRPr/>
            </a:pPr>
            <a:r>
              <a:rPr lang="en-US" sz="2600" dirty="0"/>
              <a:t>In a binomial experiment, the probability of exactly </a:t>
            </a:r>
            <a:r>
              <a:rPr lang="en-US" sz="2600" i="1" dirty="0"/>
              <a:t>x</a:t>
            </a:r>
            <a:r>
              <a:rPr lang="en-US" sz="2600" dirty="0"/>
              <a:t> successes in </a:t>
            </a:r>
            <a:r>
              <a:rPr lang="en-US" sz="2600" i="1" dirty="0"/>
              <a:t>n</a:t>
            </a:r>
            <a:r>
              <a:rPr lang="en-US" sz="2600" dirty="0"/>
              <a:t> trials is:</a:t>
            </a:r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r>
              <a:rPr lang="en-US" sz="2600" dirty="0"/>
              <a:t>With </a:t>
            </a:r>
            <a:r>
              <a:rPr lang="en-US" sz="2600" i="1" dirty="0"/>
              <a:t>n </a:t>
            </a:r>
            <a:r>
              <a:rPr lang="en-US" sz="2600" dirty="0"/>
              <a:t>= 1, the Binomial becomes the Bernoulli distribution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sz="2600" dirty="0"/>
              <a:t>P(x) = </a:t>
            </a:r>
            <a:r>
              <a:rPr lang="en-US" sz="2600" i="1" dirty="0" err="1"/>
              <a:t>p</a:t>
            </a:r>
            <a:r>
              <a:rPr lang="en-US" sz="2600" i="1" baseline="30000" dirty="0" err="1"/>
              <a:t>x</a:t>
            </a:r>
            <a:r>
              <a:rPr lang="en-US" sz="2600" i="1" baseline="30000" dirty="0"/>
              <a:t> </a:t>
            </a:r>
            <a:r>
              <a:rPr lang="en-US" sz="2600" dirty="0"/>
              <a:t>(1</a:t>
            </a:r>
            <a:r>
              <a:rPr lang="en-US" sz="2600" i="1" dirty="0"/>
              <a:t> - p</a:t>
            </a:r>
            <a:r>
              <a:rPr lang="en-US" sz="2600" dirty="0"/>
              <a:t>)</a:t>
            </a:r>
            <a:r>
              <a:rPr lang="en-US" sz="2600" baseline="30000" dirty="0"/>
              <a:t>1</a:t>
            </a:r>
            <a:r>
              <a:rPr lang="en-US" sz="2600" i="1" baseline="30000" dirty="0"/>
              <a:t> </a:t>
            </a:r>
            <a:r>
              <a:rPr lang="mr-IN" sz="2600" i="1" baseline="30000" dirty="0"/>
              <a:t>–</a:t>
            </a:r>
            <a:r>
              <a:rPr lang="en-US" sz="2600" i="1" baseline="30000" dirty="0"/>
              <a:t> x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sz="2600" dirty="0"/>
              <a:t>Where x can take the values of 0 or 1</a:t>
            </a:r>
          </a:p>
          <a:p>
            <a:pPr lvl="1"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r>
              <a:rPr lang="en-US" sz="2600" dirty="0"/>
              <a:t>Bernoulli </a:t>
            </a:r>
            <a:r>
              <a:rPr lang="en-US" sz="2600" dirty="0">
                <a:sym typeface="Wingdings"/>
              </a:rPr>
              <a:t> probability a single coin flip comes up heads</a:t>
            </a:r>
          </a:p>
          <a:p>
            <a:pPr eaLnBrk="1" hangingPunct="1">
              <a:lnSpc>
                <a:spcPct val="90000"/>
              </a:lnSpc>
              <a:defRPr/>
            </a:pPr>
            <a:r>
              <a:rPr lang="en-US" sz="2600" dirty="0">
                <a:sym typeface="Wingdings"/>
              </a:rPr>
              <a:t>Binomial  Probability that 10 coin flips yield 3 heads</a:t>
            </a:r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r>
              <a:rPr lang="en-US" sz="2600" b="1" dirty="0"/>
              <a:t>So the Binomial is the distribution for the sum of independent Bernoulli trials</a:t>
            </a:r>
            <a:endParaRPr lang="en-US" sz="2600" b="1" dirty="0">
              <a:sym typeface="Wingdings"/>
            </a:endParaRPr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</p:txBody>
      </p:sp>
      <p:graphicFrame>
        <p:nvGraphicFramePr>
          <p:cNvPr id="147459" name="Object 4"/>
          <p:cNvGraphicFramePr>
            <a:graphicFrameLocks noGrp="1" noChangeAspect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561546922"/>
              </p:ext>
            </p:extLst>
          </p:nvPr>
        </p:nvGraphicFramePr>
        <p:xfrm>
          <a:off x="3703003" y="1617028"/>
          <a:ext cx="4573752" cy="8289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311078" imgH="418893" progId="">
                  <p:embed/>
                </p:oleObj>
              </mc:Choice>
              <mc:Fallback>
                <p:oleObj name="Equation" r:id="rId3" imgW="2311078" imgH="418893" progId="">
                  <p:embed/>
                  <p:pic>
                    <p:nvPicPr>
                      <p:cNvPr id="0" name="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03003" y="1617028"/>
                        <a:ext cx="4573752" cy="82899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460196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4507"/>
          <a:stretch/>
        </p:blipFill>
        <p:spPr>
          <a:xfrm>
            <a:off x="1363335" y="0"/>
            <a:ext cx="9758680" cy="6251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11255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376"/>
          <a:stretch/>
        </p:blipFill>
        <p:spPr>
          <a:xfrm>
            <a:off x="1489269" y="134256"/>
            <a:ext cx="8681098" cy="6285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7249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882" b="61669"/>
          <a:stretch/>
        </p:blipFill>
        <p:spPr>
          <a:xfrm>
            <a:off x="1302657" y="1343608"/>
            <a:ext cx="9473412" cy="173549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097763" y="4086807"/>
            <a:ext cx="8623002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Hints: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Make a table with </a:t>
            </a:r>
            <a:r>
              <a:rPr lang="en-US" sz="2400" i="1" dirty="0"/>
              <a:t>X, p</a:t>
            </a:r>
            <a:r>
              <a:rPr lang="en-US" sz="2400" dirty="0"/>
              <a:t>(</a:t>
            </a:r>
            <a:r>
              <a:rPr lang="en-US" sz="2400" i="1" dirty="0"/>
              <a:t>x</a:t>
            </a:r>
            <a:r>
              <a:rPr lang="en-US" sz="2400" dirty="0"/>
              <a:t>)</a:t>
            </a:r>
            <a:r>
              <a:rPr lang="en-US" sz="2400" i="1" dirty="0"/>
              <a:t>, </a:t>
            </a:r>
            <a:r>
              <a:rPr lang="en-US" sz="2400" dirty="0"/>
              <a:t>and (X</a:t>
            </a:r>
            <a:r>
              <a:rPr lang="en-US" sz="2400" i="1" dirty="0"/>
              <a:t> - µ</a:t>
            </a:r>
            <a:r>
              <a:rPr lang="en-US" sz="2400" dirty="0"/>
              <a:t> )</a:t>
            </a:r>
            <a:r>
              <a:rPr lang="en-US" sz="2400" baseline="30000" dirty="0"/>
              <a:t>2</a:t>
            </a:r>
            <a:r>
              <a:rPr lang="en-US" sz="2400" dirty="0"/>
              <a:t>. Remember </a:t>
            </a:r>
            <a:r>
              <a:rPr lang="en-US" sz="2400" i="1" dirty="0"/>
              <a:t>µ = E[X]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Remember that variances of independent random variables add</a:t>
            </a:r>
          </a:p>
          <a:p>
            <a:pPr marL="914400" lvl="1" indent="-457200">
              <a:buFont typeface="Arial" charset="0"/>
              <a:buChar char="•"/>
            </a:pPr>
            <a:r>
              <a:rPr lang="en-US" sz="2400" dirty="0" err="1"/>
              <a:t>Var</a:t>
            </a:r>
            <a:r>
              <a:rPr lang="en-US" sz="2400" dirty="0"/>
              <a:t>(X + Y) = </a:t>
            </a:r>
            <a:r>
              <a:rPr lang="en-US" sz="2400" dirty="0" err="1"/>
              <a:t>Var</a:t>
            </a:r>
            <a:r>
              <a:rPr lang="en-US" sz="2400" dirty="0"/>
              <a:t>(X) + </a:t>
            </a:r>
            <a:r>
              <a:rPr lang="en-US" sz="2400" dirty="0" err="1"/>
              <a:t>Var</a:t>
            </a:r>
            <a:r>
              <a:rPr lang="en-US" sz="2400" dirty="0"/>
              <a:t>(Y)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66A6E4-A3BC-4A0D-F418-A8BA51B09984}"/>
              </a:ext>
            </a:extLst>
          </p:cNvPr>
          <p:cNvSpPr txBox="1"/>
          <p:nvPr/>
        </p:nvSpPr>
        <p:spPr>
          <a:xfrm>
            <a:off x="4550397" y="70314"/>
            <a:ext cx="297793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rgbClr val="0070C0"/>
                </a:solidFill>
              </a:rPr>
              <a:t>Group Work</a:t>
            </a:r>
          </a:p>
        </p:txBody>
      </p:sp>
    </p:spTree>
    <p:extLst>
      <p:ext uri="{BB962C8B-B14F-4D97-AF65-F5344CB8AC3E}">
        <p14:creationId xmlns:p14="http://schemas.microsoft.com/office/powerpoint/2010/main" val="20200405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597877" y="429477"/>
            <a:ext cx="9204741" cy="5349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800" b="0">
                <a:solidFill>
                  <a:srgbClr val="3333CC"/>
                </a:solidFill>
                <a:latin typeface="Calibri"/>
              </a:rPr>
              <a:t>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97877" y="1238721"/>
            <a:ext cx="920474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000" b="0">
                <a:latin typeface="Calibri"/>
              </a:rPr>
              <a:t>1. For X ~ Bernoulli(p) we use a table. (We know E(X) = p.)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597877" y="1711923"/>
          <a:ext cx="4206240" cy="960120"/>
        </p:xfrm>
        <a:graphic>
          <a:graphicData uri="http://schemas.openxmlformats.org/drawingml/2006/table">
            <a:tbl>
              <a:tblPr firstCol="1">
                <a:tableStyleId>{5C22544A-7EE6-4342-B048-85BDC9FD1C3A}</a:tableStyleId>
              </a:tblPr>
              <a:tblGrid>
                <a:gridCol w="1402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2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2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7500"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latin typeface="Cambria"/>
                        </a:rP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latin typeface="Cambria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latin typeface="Cambria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latin typeface="Cambria"/>
                        </a:rPr>
                        <a:t>p(x)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latin typeface="Cambria"/>
                        </a:rPr>
                        <a:t>1 − 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latin typeface="Cambria"/>
                        </a:rPr>
                        <a:t>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latin typeface="Cambria"/>
                        </a:rPr>
                        <a:t>(X − μ)</a:t>
                      </a:r>
                      <a:r>
                        <a:rPr sz="1500" b="1" baseline="30000">
                          <a:latin typeface="Cambria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latin typeface="Cambria"/>
                        </a:rPr>
                        <a:t>p</a:t>
                      </a:r>
                      <a:r>
                        <a:rPr sz="1500" b="0" baseline="30000">
                          <a:latin typeface="Cambria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latin typeface="Cambria"/>
                        </a:rPr>
                        <a:t>(1 − p)</a:t>
                      </a:r>
                      <a:r>
                        <a:rPr sz="1500" b="0" baseline="30000">
                          <a:latin typeface="Cambria"/>
                        </a:rPr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597877" y="2931498"/>
            <a:ext cx="920474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>
                <a:latin typeface="Cambria"/>
              </a:rPr>
              <a:t>Var(X) = E((X − μ)</a:t>
            </a:r>
            <a:r>
              <a:rPr sz="2000" b="0" baseline="30000">
                <a:latin typeface="Cambria"/>
              </a:rPr>
              <a:t>2</a:t>
            </a:r>
            <a:r>
              <a:rPr sz="2000" b="0">
                <a:latin typeface="Cambria"/>
              </a:rPr>
              <a:t>) = (1 − p)p</a:t>
            </a:r>
            <a:r>
              <a:rPr sz="2000" b="0" baseline="30000">
                <a:latin typeface="Cambria"/>
              </a:rPr>
              <a:t>2</a:t>
            </a:r>
            <a:r>
              <a:rPr sz="2000" b="0">
                <a:latin typeface="Cambria"/>
              </a:rPr>
              <a:t> + p(1 − p)</a:t>
            </a:r>
            <a:r>
              <a:rPr sz="2000" b="0" baseline="30000">
                <a:latin typeface="Cambria"/>
              </a:rPr>
              <a:t>2</a:t>
            </a:r>
            <a:r>
              <a:rPr sz="2000" b="0">
                <a:latin typeface="Cambria"/>
              </a:rPr>
              <a:t> = p(1 − 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97877" y="3741930"/>
            <a:ext cx="9204741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000" b="0" dirty="0">
                <a:latin typeface="Calibri"/>
              </a:rPr>
              <a:t>2. X ~ bin(n, p) means X is the sum of n independent Bernoulli(p) random variables X</a:t>
            </a:r>
            <a:r>
              <a:rPr sz="2000" b="0" baseline="-25000" dirty="0">
                <a:latin typeface="Calibri"/>
              </a:rPr>
              <a:t>1</a:t>
            </a:r>
            <a:r>
              <a:rPr sz="2000" b="0" dirty="0">
                <a:latin typeface="Calibri"/>
              </a:rPr>
              <a:t>, X</a:t>
            </a:r>
            <a:r>
              <a:rPr sz="2000" b="0" baseline="-25000" dirty="0">
                <a:latin typeface="Calibri"/>
              </a:rPr>
              <a:t>2</a:t>
            </a:r>
            <a:r>
              <a:rPr sz="2000" b="0" dirty="0">
                <a:latin typeface="Calibri"/>
              </a:rPr>
              <a:t>, …, </a:t>
            </a:r>
            <a:r>
              <a:rPr sz="2000" b="0" dirty="0" err="1">
                <a:latin typeface="Calibri"/>
              </a:rPr>
              <a:t>X</a:t>
            </a:r>
            <a:r>
              <a:rPr sz="2000" b="0" baseline="-25000" dirty="0" err="1">
                <a:latin typeface="Calibri"/>
              </a:rPr>
              <a:t>n</a:t>
            </a:r>
            <a:r>
              <a:rPr sz="2000" b="0" dirty="0">
                <a:latin typeface="Calibri"/>
              </a:rPr>
              <a:t>. For independent variables, the variances add. Since Var(</a:t>
            </a:r>
            <a:r>
              <a:rPr sz="2000" b="0" dirty="0" err="1">
                <a:latin typeface="Calibri"/>
              </a:rPr>
              <a:t>X</a:t>
            </a:r>
            <a:r>
              <a:rPr sz="2000" b="0" baseline="-25000" dirty="0" err="1">
                <a:latin typeface="Calibri"/>
              </a:rPr>
              <a:t>j</a:t>
            </a:r>
            <a:r>
              <a:rPr sz="2000" b="0" dirty="0">
                <a:latin typeface="Calibri"/>
              </a:rPr>
              <a:t>) = p(1 − p) we have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97877" y="4560318"/>
            <a:ext cx="920474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 dirty="0">
                <a:latin typeface="Cambria"/>
              </a:rPr>
              <a:t>Var(X) = Var(X</a:t>
            </a:r>
            <a:r>
              <a:rPr sz="2000" b="0" baseline="-25000" dirty="0">
                <a:latin typeface="Cambria"/>
              </a:rPr>
              <a:t>1</a:t>
            </a:r>
            <a:r>
              <a:rPr sz="2000" b="0" dirty="0">
                <a:latin typeface="Cambria"/>
              </a:rPr>
              <a:t>) + Var(X</a:t>
            </a:r>
            <a:r>
              <a:rPr sz="2000" b="0" baseline="-25000" dirty="0">
                <a:latin typeface="Cambria"/>
              </a:rPr>
              <a:t>2</a:t>
            </a:r>
            <a:r>
              <a:rPr sz="2000" b="0" dirty="0">
                <a:latin typeface="Cambria"/>
              </a:rPr>
              <a:t>) + … + Var(</a:t>
            </a:r>
            <a:r>
              <a:rPr sz="2000" b="0" dirty="0" err="1">
                <a:latin typeface="Cambria"/>
              </a:rPr>
              <a:t>X</a:t>
            </a:r>
            <a:r>
              <a:rPr sz="2000" b="0" baseline="-25000" dirty="0" err="1">
                <a:latin typeface="Cambria"/>
              </a:rPr>
              <a:t>n</a:t>
            </a:r>
            <a:r>
              <a:rPr sz="2000" b="0" dirty="0">
                <a:latin typeface="Cambria"/>
              </a:rPr>
              <a:t>) = </a:t>
            </a:r>
            <a:r>
              <a:rPr sz="2000" b="0">
                <a:latin typeface="Cambria"/>
              </a:rPr>
              <a:t>np(</a:t>
            </a:r>
            <a:r>
              <a:rPr lang="en-US" sz="2000" b="0">
                <a:latin typeface="Cambria"/>
              </a:rPr>
              <a:t>1</a:t>
            </a:r>
            <a:r>
              <a:rPr sz="2000" b="0">
                <a:latin typeface="Cambria"/>
              </a:rPr>
              <a:t> − </a:t>
            </a:r>
            <a:r>
              <a:rPr lang="en-US" sz="2000" b="0">
                <a:latin typeface="Cambria"/>
              </a:rPr>
              <a:t>p</a:t>
            </a:r>
            <a:r>
              <a:rPr sz="2000" b="0">
                <a:latin typeface="Cambria"/>
              </a:rPr>
              <a:t>).</a:t>
            </a:r>
            <a:endParaRPr sz="2000" b="0" dirty="0">
              <a:latin typeface="Cambria"/>
            </a:endParaRPr>
          </a:p>
        </p:txBody>
      </p:sp>
    </p:spTree>
    <p:extLst>
      <p:ext uri="{BB962C8B-B14F-4D97-AF65-F5344CB8AC3E}">
        <p14:creationId xmlns:p14="http://schemas.microsoft.com/office/powerpoint/2010/main" val="16035914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>
          <a:xfrm>
            <a:off x="2286000" y="-762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/>
              <a:t>Binomial Probabilities-II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317751" y="1323976"/>
            <a:ext cx="7580313" cy="4848225"/>
          </a:xfrm>
        </p:spPr>
        <p:txBody>
          <a:bodyPr/>
          <a:lstStyle/>
          <a:p>
            <a:pPr eaLnBrk="1" hangingPunct="1">
              <a:lnSpc>
                <a:spcPct val="90000"/>
              </a:lnSpc>
              <a:defRPr/>
            </a:pPr>
            <a:r>
              <a:rPr lang="en-US" dirty="0"/>
              <a:t>Notation:</a:t>
            </a:r>
          </a:p>
          <a:p>
            <a:pPr eaLnBrk="1" hangingPunct="1">
              <a:lnSpc>
                <a:spcPct val="90000"/>
              </a:lnSpc>
              <a:defRPr/>
            </a:pPr>
            <a:endParaRPr lang="en-US" dirty="0"/>
          </a:p>
          <a:p>
            <a:pPr eaLnBrk="1" hangingPunct="1">
              <a:lnSpc>
                <a:spcPct val="90000"/>
              </a:lnSpc>
              <a:defRPr/>
            </a:pPr>
            <a:endParaRPr lang="en-US" dirty="0"/>
          </a:p>
          <a:p>
            <a:pPr eaLnBrk="1" hangingPunct="1">
              <a:lnSpc>
                <a:spcPct val="90000"/>
              </a:lnSpc>
              <a:buFont typeface="Wingdings" pitchFamily="2" charset="2"/>
              <a:buNone/>
              <a:defRPr/>
            </a:pPr>
            <a:r>
              <a:rPr lang="en-US" dirty="0"/>
              <a:t>	We read this as “The random variable </a:t>
            </a:r>
            <a:r>
              <a:rPr lang="en-US" i="1" dirty="0"/>
              <a:t>X</a:t>
            </a:r>
            <a:r>
              <a:rPr lang="en-US" dirty="0"/>
              <a:t> is distributed binomially with parameters </a:t>
            </a:r>
            <a:r>
              <a:rPr lang="en-US" i="1" dirty="0"/>
              <a:t>n</a:t>
            </a:r>
            <a:r>
              <a:rPr lang="en-US" dirty="0"/>
              <a:t> and </a:t>
            </a:r>
            <a:r>
              <a:rPr lang="en-US" i="1" dirty="0"/>
              <a:t>p</a:t>
            </a:r>
            <a:r>
              <a:rPr lang="en-US" dirty="0"/>
              <a:t>”</a:t>
            </a:r>
          </a:p>
          <a:p>
            <a:pPr eaLnBrk="1" hangingPunct="1">
              <a:lnSpc>
                <a:spcPct val="90000"/>
              </a:lnSpc>
              <a:defRPr/>
            </a:pPr>
            <a:endParaRPr lang="en-US" dirty="0"/>
          </a:p>
          <a:p>
            <a:pPr eaLnBrk="1" hangingPunct="1">
              <a:lnSpc>
                <a:spcPct val="90000"/>
              </a:lnSpc>
              <a:buFont typeface="Wingdings" pitchFamily="2" charset="2"/>
              <a:buNone/>
              <a:defRPr/>
            </a:pPr>
            <a:endParaRPr lang="en-US" dirty="0"/>
          </a:p>
          <a:p>
            <a:pPr eaLnBrk="1" hangingPunct="1">
              <a:lnSpc>
                <a:spcPct val="90000"/>
              </a:lnSpc>
              <a:buFont typeface="Wingdings" pitchFamily="2" charset="2"/>
              <a:buNone/>
              <a:defRPr/>
            </a:pPr>
            <a:r>
              <a:rPr lang="en-US" dirty="0"/>
              <a:t>		</a:t>
            </a:r>
          </a:p>
          <a:p>
            <a:pPr algn="ctr" eaLnBrk="1" hangingPunct="1">
              <a:lnSpc>
                <a:spcPct val="90000"/>
              </a:lnSpc>
              <a:buFont typeface="Wingdings" pitchFamily="2" charset="2"/>
              <a:buNone/>
              <a:defRPr/>
            </a:pPr>
            <a:r>
              <a:rPr lang="en-US" sz="2000" dirty="0"/>
              <a:t>Recall: </a:t>
            </a:r>
            <a:r>
              <a:rPr lang="en-US" sz="2000" i="1" dirty="0"/>
              <a:t>q</a:t>
            </a:r>
            <a:r>
              <a:rPr lang="en-US" sz="2000" dirty="0"/>
              <a:t> = 1 - </a:t>
            </a:r>
            <a:r>
              <a:rPr lang="en-US" sz="2000" i="1" dirty="0"/>
              <a:t>p</a:t>
            </a:r>
          </a:p>
        </p:txBody>
      </p:sp>
      <p:graphicFrame>
        <p:nvGraphicFramePr>
          <p:cNvPr id="149508" name="Object 9"/>
          <p:cNvGraphicFramePr>
            <a:graphicFrameLocks noGrp="1" noChangeAspect="1"/>
          </p:cNvGraphicFramePr>
          <p:nvPr>
            <p:ph sz="quarter" idx="3"/>
          </p:nvPr>
        </p:nvGraphicFramePr>
        <p:xfrm>
          <a:off x="4924425" y="4114800"/>
          <a:ext cx="2514600" cy="914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257231" imgH="456924" progId="">
                  <p:embed/>
                </p:oleObj>
              </mc:Choice>
              <mc:Fallback>
                <p:oleObj name="Equation" r:id="rId3" imgW="1257231" imgH="456924" progId="">
                  <p:embed/>
                  <p:pic>
                    <p:nvPicPr>
                      <p:cNvPr id="0" name="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924425" y="4114800"/>
                        <a:ext cx="2514600" cy="914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2688207" y="1974818"/>
            <a:ext cx="5864106" cy="52322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 eaLnBrk="1" hangingPunct="1">
              <a:defRPr/>
            </a:pPr>
            <a:r>
              <a:rPr lang="en-US" sz="2800" dirty="0"/>
              <a:t>X ~ B(</a:t>
            </a:r>
            <a:r>
              <a:rPr lang="en-US" sz="2800" dirty="0" err="1"/>
              <a:t>n,p</a:t>
            </a:r>
            <a:r>
              <a:rPr lang="en-US" sz="2800" dirty="0"/>
              <a:t>); X ~ Bin(</a:t>
            </a:r>
            <a:r>
              <a:rPr lang="en-US" sz="2800" i="1" dirty="0" err="1"/>
              <a:t>n</a:t>
            </a:r>
            <a:r>
              <a:rPr lang="en-US" sz="2800" dirty="0" err="1"/>
              <a:t>,</a:t>
            </a:r>
            <a:r>
              <a:rPr lang="en-US" sz="2800" i="1" dirty="0" err="1"/>
              <a:t>p</a:t>
            </a:r>
            <a:r>
              <a:rPr lang="en-US" sz="2800" dirty="0"/>
              <a:t>); X ~ </a:t>
            </a:r>
            <a:r>
              <a:rPr lang="en-US" sz="2800" dirty="0" err="1"/>
              <a:t>Binom</a:t>
            </a:r>
            <a:r>
              <a:rPr lang="en-US" sz="2800" dirty="0"/>
              <a:t>(</a:t>
            </a:r>
            <a:r>
              <a:rPr lang="en-US" sz="2800" i="1" dirty="0" err="1"/>
              <a:t>n</a:t>
            </a:r>
            <a:r>
              <a:rPr lang="en-US" sz="2800" dirty="0" err="1"/>
              <a:t>,</a:t>
            </a:r>
            <a:r>
              <a:rPr lang="en-US" sz="2800" i="1" dirty="0" err="1"/>
              <a:t>p</a:t>
            </a:r>
            <a:r>
              <a:rPr lang="en-US" sz="2800" dirty="0"/>
              <a:t>)</a:t>
            </a:r>
            <a:endParaRPr lang="en-US" sz="2800" i="1" dirty="0"/>
          </a:p>
        </p:txBody>
      </p:sp>
    </p:spTree>
    <p:extLst>
      <p:ext uri="{BB962C8B-B14F-4D97-AF65-F5344CB8AC3E}">
        <p14:creationId xmlns:p14="http://schemas.microsoft.com/office/powerpoint/2010/main" val="18126054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xfrm>
            <a:off x="2275681" y="21564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/>
              <a:t>The Binomial Distribution</a:t>
            </a:r>
          </a:p>
        </p:txBody>
      </p:sp>
      <p:pic>
        <p:nvPicPr>
          <p:cNvPr id="11267" name="Picture 4"/>
          <p:cNvPicPr>
            <a:picLocks noGrp="1" noChangeAspect="1" noChangeArrowheads="1"/>
          </p:cNvPicPr>
          <p:nvPr>
            <p:ph sz="half" idx="1"/>
          </p:nvPr>
        </p:nvPicPr>
        <p:blipFill>
          <a:blip r:embed="rId3" cstate="print"/>
          <a:srcRect l="1550" t="2330" r="1550" b="2330"/>
          <a:stretch>
            <a:fillRect/>
          </a:stretch>
        </p:blipFill>
        <p:spPr>
          <a:xfrm>
            <a:off x="2074864" y="2598738"/>
            <a:ext cx="3411537" cy="2233612"/>
          </a:xfrm>
        </p:spPr>
      </p:pic>
      <p:pic>
        <p:nvPicPr>
          <p:cNvPr id="11269" name="Picture 8"/>
          <p:cNvPicPr>
            <a:picLocks noGrp="1" noChangeAspect="1" noChangeArrowheads="1"/>
          </p:cNvPicPr>
          <p:nvPr>
            <p:ph sz="quarter" idx="3"/>
          </p:nvPr>
        </p:nvPicPr>
        <p:blipFill>
          <a:blip r:embed="rId4" cstate="print"/>
          <a:srcRect l="1550" t="2330" r="1550" b="2330"/>
          <a:stretch>
            <a:fillRect/>
          </a:stretch>
        </p:blipFill>
        <p:spPr>
          <a:xfrm>
            <a:off x="6172200" y="2589213"/>
            <a:ext cx="3392488" cy="2220912"/>
          </a:xfrm>
        </p:spPr>
      </p:pic>
      <p:sp>
        <p:nvSpPr>
          <p:cNvPr id="155652" name="Text Box 10"/>
          <p:cNvSpPr txBox="1">
            <a:spLocks noChangeArrowheads="1"/>
          </p:cNvSpPr>
          <p:nvPr/>
        </p:nvSpPr>
        <p:spPr bwMode="auto">
          <a:xfrm>
            <a:off x="3163889" y="2849563"/>
            <a:ext cx="1762125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i="1" dirty="0"/>
              <a:t>n</a:t>
            </a:r>
            <a:r>
              <a:rPr lang="en-US" altLang="en-US" sz="2400" dirty="0"/>
              <a:t>=6; </a:t>
            </a:r>
            <a:r>
              <a:rPr lang="en-US" altLang="en-US" sz="2400" i="1" dirty="0"/>
              <a:t>p</a:t>
            </a:r>
            <a:r>
              <a:rPr lang="en-US" altLang="en-US" sz="2400" dirty="0"/>
              <a:t>=0.5</a:t>
            </a:r>
          </a:p>
        </p:txBody>
      </p:sp>
      <p:sp>
        <p:nvSpPr>
          <p:cNvPr id="155653" name="Text Box 12"/>
          <p:cNvSpPr txBox="1">
            <a:spLocks noChangeArrowheads="1"/>
          </p:cNvSpPr>
          <p:nvPr/>
        </p:nvSpPr>
        <p:spPr bwMode="auto">
          <a:xfrm>
            <a:off x="6575426" y="2763838"/>
            <a:ext cx="1762125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i="1" dirty="0"/>
              <a:t>n</a:t>
            </a:r>
            <a:r>
              <a:rPr lang="en-US" altLang="en-US" sz="2400" dirty="0"/>
              <a:t>=6; </a:t>
            </a:r>
            <a:r>
              <a:rPr lang="en-US" altLang="en-US" sz="2400" i="1" dirty="0"/>
              <a:t>p</a:t>
            </a:r>
            <a:r>
              <a:rPr lang="en-US" altLang="en-US" sz="2400" dirty="0"/>
              <a:t>=0.9</a:t>
            </a:r>
          </a:p>
        </p:txBody>
      </p:sp>
      <p:sp>
        <p:nvSpPr>
          <p:cNvPr id="155654" name="Text Box 13"/>
          <p:cNvSpPr txBox="1">
            <a:spLocks noChangeArrowheads="1"/>
          </p:cNvSpPr>
          <p:nvPr/>
        </p:nvSpPr>
        <p:spPr bwMode="auto">
          <a:xfrm>
            <a:off x="2554288" y="4678364"/>
            <a:ext cx="2895600" cy="198437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en-US" sz="700" dirty="0"/>
              <a:t>0            1              2             3              4              5             6</a:t>
            </a:r>
          </a:p>
        </p:txBody>
      </p:sp>
      <p:sp>
        <p:nvSpPr>
          <p:cNvPr id="155655" name="Text Box 15"/>
          <p:cNvSpPr txBox="1">
            <a:spLocks noChangeArrowheads="1"/>
          </p:cNvSpPr>
          <p:nvPr/>
        </p:nvSpPr>
        <p:spPr bwMode="auto">
          <a:xfrm>
            <a:off x="6651625" y="4622800"/>
            <a:ext cx="2895600" cy="198438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en-US" sz="700"/>
              <a:t>0            1              2             3              4              5             6</a:t>
            </a:r>
          </a:p>
        </p:txBody>
      </p:sp>
      <p:sp>
        <p:nvSpPr>
          <p:cNvPr id="9" name="Rectangle 2"/>
          <p:cNvSpPr txBox="1">
            <a:spLocks noChangeArrowheads="1"/>
          </p:cNvSpPr>
          <p:nvPr/>
        </p:nvSpPr>
        <p:spPr>
          <a:xfrm>
            <a:off x="1835198" y="5469198"/>
            <a:ext cx="8674001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sz="3600" dirty="0"/>
              <a:t>This is a probability mass function; PMF</a:t>
            </a:r>
          </a:p>
        </p:txBody>
      </p:sp>
    </p:spTree>
    <p:extLst>
      <p:ext uri="{BB962C8B-B14F-4D97-AF65-F5344CB8AC3E}">
        <p14:creationId xmlns:p14="http://schemas.microsoft.com/office/powerpoint/2010/main" val="17987863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>
          <a:xfrm>
            <a:off x="2036762" y="803276"/>
            <a:ext cx="8131175" cy="1177925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sz="4000" dirty="0"/>
              <a:t>Examples of the Binomial Distribution-I</a:t>
            </a:r>
          </a:p>
        </p:txBody>
      </p:sp>
      <p:sp>
        <p:nvSpPr>
          <p:cNvPr id="1229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046288" y="1981201"/>
            <a:ext cx="8108950" cy="4238625"/>
          </a:xfrm>
        </p:spPr>
        <p:txBody>
          <a:bodyPr/>
          <a:lstStyle/>
          <a:p>
            <a:pPr marL="533400" indent="-533400">
              <a:defRPr/>
            </a:pPr>
            <a:r>
              <a:rPr lang="en-US" dirty="0"/>
              <a:t>We examine 12 animals for the presence of a disease (</a:t>
            </a:r>
            <a:r>
              <a:rPr lang="en-US" i="1" dirty="0"/>
              <a:t>p </a:t>
            </a:r>
            <a:r>
              <a:rPr lang="en-US" dirty="0"/>
              <a:t>= 0.1). What is the probability that:</a:t>
            </a:r>
          </a:p>
          <a:p>
            <a:pPr marL="914400" lvl="1" indent="-457200">
              <a:buFont typeface="Wingdings" pitchFamily="2" charset="2"/>
              <a:buAutoNum type="arabicPeriod"/>
              <a:defRPr/>
            </a:pPr>
            <a:r>
              <a:rPr lang="en-US" dirty="0"/>
              <a:t>We find exactly 2 animals with the disease?</a:t>
            </a:r>
          </a:p>
          <a:p>
            <a:pPr marL="914400" lvl="1" indent="-457200">
              <a:buFont typeface="Wingdings" pitchFamily="2" charset="2"/>
              <a:buAutoNum type="arabicPeriod"/>
              <a:defRPr/>
            </a:pPr>
            <a:r>
              <a:rPr lang="en-US" dirty="0"/>
              <a:t>We find no animals with the disease?</a:t>
            </a:r>
          </a:p>
          <a:p>
            <a:pPr marL="914400" lvl="1" indent="-457200">
              <a:buFont typeface="Wingdings" pitchFamily="2" charset="2"/>
              <a:buAutoNum type="arabicPeriod"/>
              <a:defRPr/>
            </a:pPr>
            <a:r>
              <a:rPr lang="en-US" dirty="0"/>
              <a:t>We find 2 or more animals with the disease?</a:t>
            </a:r>
          </a:p>
          <a:p>
            <a:pPr marL="914400" lvl="1" indent="-457200">
              <a:buFont typeface="Wingdings" pitchFamily="2" charset="2"/>
              <a:buAutoNum type="arabicPeriod"/>
              <a:defRPr/>
            </a:pPr>
            <a:endParaRPr lang="en-US" dirty="0"/>
          </a:p>
        </p:txBody>
      </p:sp>
      <p:graphicFrame>
        <p:nvGraphicFramePr>
          <p:cNvPr id="157699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73999975"/>
              </p:ext>
            </p:extLst>
          </p:nvPr>
        </p:nvGraphicFramePr>
        <p:xfrm>
          <a:off x="3468130" y="4590536"/>
          <a:ext cx="3810000" cy="690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311078" imgH="418893" progId="">
                  <p:embed/>
                </p:oleObj>
              </mc:Choice>
              <mc:Fallback>
                <p:oleObj name="Equation" r:id="rId3" imgW="2311078" imgH="418893" progId="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68130" y="4590536"/>
                        <a:ext cx="3810000" cy="690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8DCCFD75-506D-339F-06DF-088413451C53}"/>
              </a:ext>
            </a:extLst>
          </p:cNvPr>
          <p:cNvSpPr txBox="1"/>
          <p:nvPr/>
        </p:nvSpPr>
        <p:spPr>
          <a:xfrm>
            <a:off x="4764709" y="37011"/>
            <a:ext cx="297793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rgbClr val="0070C0"/>
                </a:solidFill>
              </a:rPr>
              <a:t>Group Work</a:t>
            </a:r>
          </a:p>
        </p:txBody>
      </p:sp>
    </p:spTree>
    <p:extLst>
      <p:ext uri="{BB962C8B-B14F-4D97-AF65-F5344CB8AC3E}">
        <p14:creationId xmlns:p14="http://schemas.microsoft.com/office/powerpoint/2010/main" val="15965421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2209800" y="381000"/>
            <a:ext cx="7793038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/>
              <a:t>Examples of the Binomial Distribution-III</a:t>
            </a:r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706688" y="1981200"/>
            <a:ext cx="6970712" cy="4114800"/>
          </a:xfrm>
        </p:spPr>
        <p:txBody>
          <a:bodyPr/>
          <a:lstStyle/>
          <a:p>
            <a:pPr marL="609600" indent="-609600">
              <a:buFont typeface="Wingdings" pitchFamily="2" charset="2"/>
              <a:buAutoNum type="arabicPeriod"/>
              <a:defRPr/>
            </a:pPr>
            <a:r>
              <a:rPr lang="en-US" sz="3000" dirty="0"/>
              <a:t>P[X=2]=</a:t>
            </a:r>
          </a:p>
          <a:p>
            <a:pPr marL="609600" indent="-609600">
              <a:buFont typeface="Wingdings" pitchFamily="2" charset="2"/>
              <a:buAutoNum type="arabicPeriod"/>
              <a:defRPr/>
            </a:pPr>
            <a:r>
              <a:rPr lang="en-US" sz="3000" dirty="0"/>
              <a:t>P[X=0]=</a:t>
            </a:r>
          </a:p>
          <a:p>
            <a:pPr marL="609600" indent="-609600">
              <a:buFont typeface="Wingdings" pitchFamily="2" charset="2"/>
              <a:buAutoNum type="arabicPeriod"/>
              <a:defRPr/>
            </a:pPr>
            <a:r>
              <a:rPr lang="en-US" sz="3000" dirty="0"/>
              <a:t>P[X</a:t>
            </a:r>
            <a:r>
              <a:rPr lang="en-US" sz="3000" dirty="0">
                <a:sym typeface="Symbol" pitchFamily="18" charset="2"/>
              </a:rPr>
              <a:t>2]=1-P[X=0]-P[X=1]=0.3410</a:t>
            </a:r>
          </a:p>
          <a:p>
            <a:pPr marL="609600" indent="-609600">
              <a:defRPr/>
            </a:pPr>
            <a:endParaRPr lang="en-US" sz="3000" dirty="0"/>
          </a:p>
        </p:txBody>
      </p:sp>
      <p:graphicFrame>
        <p:nvGraphicFramePr>
          <p:cNvPr id="159747" name="Object 4"/>
          <p:cNvGraphicFramePr>
            <a:graphicFrameLocks noGrp="1" noChangeAspect="1"/>
          </p:cNvGraphicFramePr>
          <p:nvPr>
            <p:ph sz="quarter" idx="2"/>
          </p:nvPr>
        </p:nvGraphicFramePr>
        <p:xfrm>
          <a:off x="5106988" y="1905000"/>
          <a:ext cx="2019300" cy="6492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422890" imgH="457200" progId="">
                  <p:embed/>
                </p:oleObj>
              </mc:Choice>
              <mc:Fallback>
                <p:oleObj name="Equation" r:id="rId3" imgW="1422890" imgH="457200" progId="">
                  <p:embed/>
                  <p:pic>
                    <p:nvPicPr>
                      <p:cNvPr id="0" name="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106988" y="1905000"/>
                        <a:ext cx="2019300" cy="6492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9748" name="Object 6"/>
          <p:cNvGraphicFramePr>
            <a:graphicFrameLocks noGrp="1" noChangeAspect="1"/>
          </p:cNvGraphicFramePr>
          <p:nvPr>
            <p:ph sz="quarter" idx="3"/>
          </p:nvPr>
        </p:nvGraphicFramePr>
        <p:xfrm>
          <a:off x="5106988" y="2514600"/>
          <a:ext cx="2038350" cy="6492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435575" imgH="457200" progId="">
                  <p:embed/>
                </p:oleObj>
              </mc:Choice>
              <mc:Fallback>
                <p:oleObj name="Equation" r:id="rId5" imgW="1435575" imgH="457200" progId="">
                  <p:embed/>
                  <p:pic>
                    <p:nvPicPr>
                      <p:cNvPr id="0" name="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106988" y="2514600"/>
                        <a:ext cx="2038350" cy="6492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" name="Picture 1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38600" y="6029325"/>
            <a:ext cx="2743200" cy="60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29000" y="3883025"/>
            <a:ext cx="5092700" cy="191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098321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0"/>
            <a:ext cx="12192000" cy="1143000"/>
          </a:xfrm>
        </p:spPr>
        <p:txBody>
          <a:bodyPr>
            <a:normAutofit/>
          </a:bodyPr>
          <a:lstStyle/>
          <a:p>
            <a:pPr algn="ctr" eaLnBrk="1" hangingPunct="1">
              <a:defRPr/>
            </a:pPr>
            <a:r>
              <a:rPr lang="en-US" sz="3600" dirty="0"/>
              <a:t>Sneak peak: Maximum likelihood is just doing this in reverse!!!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2"/>
          </p:nvPr>
        </p:nvSpPr>
        <p:spPr>
          <a:xfrm>
            <a:off x="605480" y="1396480"/>
            <a:ext cx="11319041" cy="3828662"/>
          </a:xfrm>
        </p:spPr>
        <p:txBody>
          <a:bodyPr>
            <a:noAutofit/>
          </a:bodyPr>
          <a:lstStyle/>
          <a:p>
            <a:pPr>
              <a:defRPr/>
            </a:pPr>
            <a:r>
              <a:rPr lang="en-US" dirty="0"/>
              <a:t>Instead of knowing </a:t>
            </a:r>
            <a:r>
              <a:rPr lang="en-US" i="1" dirty="0"/>
              <a:t>N</a:t>
            </a:r>
            <a:r>
              <a:rPr lang="en-US" dirty="0"/>
              <a:t> and </a:t>
            </a:r>
            <a:r>
              <a:rPr lang="en-US" i="1" dirty="0"/>
              <a:t>p</a:t>
            </a:r>
            <a:r>
              <a:rPr lang="en-US" dirty="0"/>
              <a:t>, we often collect data in which </a:t>
            </a:r>
            <a:r>
              <a:rPr lang="en-US" i="1" dirty="0"/>
              <a:t>p </a:t>
            </a:r>
            <a:r>
              <a:rPr lang="en-US" dirty="0"/>
              <a:t>and sometimes also </a:t>
            </a:r>
            <a:r>
              <a:rPr lang="en-US" i="1" dirty="0"/>
              <a:t>N </a:t>
            </a:r>
            <a:r>
              <a:rPr lang="en-US" dirty="0"/>
              <a:t>are unknown.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To understand how the world works, we want to determine </a:t>
            </a:r>
            <a:r>
              <a:rPr lang="en-US" i="1" dirty="0"/>
              <a:t>p </a:t>
            </a:r>
          </a:p>
          <a:p>
            <a:pPr lvl="1">
              <a:defRPr/>
            </a:pPr>
            <a:r>
              <a:rPr lang="en-US" sz="2800" i="1" dirty="0"/>
              <a:t>What is the prevalence of a disease?</a:t>
            </a:r>
          </a:p>
          <a:p>
            <a:pPr lvl="1">
              <a:defRPr/>
            </a:pPr>
            <a:r>
              <a:rPr lang="en-US" sz="2800" i="1" dirty="0"/>
              <a:t>What is the probability of giving birth?</a:t>
            </a:r>
            <a:r>
              <a:rPr lang="en-US" sz="28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6886539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quarter" idx="2"/>
          </p:nvPr>
        </p:nvSpPr>
        <p:spPr>
          <a:xfrm>
            <a:off x="373223" y="1371600"/>
            <a:ext cx="11271381" cy="4419600"/>
          </a:xfrm>
        </p:spPr>
        <p:txBody>
          <a:bodyPr/>
          <a:lstStyle/>
          <a:p>
            <a:pPr>
              <a:defRPr/>
            </a:pPr>
            <a:r>
              <a:rPr lang="en-US" dirty="0"/>
              <a:t>Instead of knowing </a:t>
            </a:r>
            <a:r>
              <a:rPr lang="en-US" i="1" dirty="0"/>
              <a:t>N</a:t>
            </a:r>
            <a:r>
              <a:rPr lang="en-US" dirty="0"/>
              <a:t> and </a:t>
            </a:r>
            <a:r>
              <a:rPr lang="en-US" i="1" dirty="0"/>
              <a:t>p</a:t>
            </a:r>
            <a:r>
              <a:rPr lang="en-US" dirty="0"/>
              <a:t>, we often collect data, </a:t>
            </a:r>
            <a:r>
              <a:rPr lang="en-US" i="1" dirty="0"/>
              <a:t>k #</a:t>
            </a:r>
            <a:r>
              <a:rPr lang="en-US" dirty="0"/>
              <a:t>successes, to determine </a:t>
            </a:r>
            <a:r>
              <a:rPr lang="en-US" i="1" dirty="0"/>
              <a:t>p</a:t>
            </a:r>
            <a:r>
              <a:rPr lang="en-US" dirty="0"/>
              <a:t> and/or </a:t>
            </a:r>
            <a:r>
              <a:rPr lang="en-US" i="1" dirty="0"/>
              <a:t>N</a:t>
            </a:r>
          </a:p>
          <a:p>
            <a:pPr>
              <a:defRPr/>
            </a:pPr>
            <a:endParaRPr lang="en-US" i="1" dirty="0"/>
          </a:p>
          <a:p>
            <a:pPr>
              <a:defRPr/>
            </a:pPr>
            <a:r>
              <a:rPr lang="en-US" dirty="0"/>
              <a:t>Let’s assume that </a:t>
            </a:r>
            <a:r>
              <a:rPr lang="en-US" i="1" dirty="0"/>
              <a:t>N</a:t>
            </a:r>
            <a:r>
              <a:rPr lang="en-US" dirty="0"/>
              <a:t> is known. Say we conduct </a:t>
            </a:r>
            <a:r>
              <a:rPr lang="en-US" i="1" dirty="0"/>
              <a:t>N</a:t>
            </a:r>
            <a:r>
              <a:rPr lang="en-US" dirty="0"/>
              <a:t> trials, observe </a:t>
            </a:r>
            <a:r>
              <a:rPr lang="en-US" i="1" dirty="0"/>
              <a:t>k</a:t>
            </a:r>
            <a:r>
              <a:rPr lang="en-US" dirty="0"/>
              <a:t> successes, and want to make inference about </a:t>
            </a:r>
            <a:r>
              <a:rPr lang="en-US" i="1" dirty="0"/>
              <a:t>p, </a:t>
            </a:r>
            <a:r>
              <a:rPr lang="en-US" dirty="0"/>
              <a:t>given</a:t>
            </a:r>
            <a:r>
              <a:rPr lang="en-US" i="1" dirty="0"/>
              <a:t> k </a:t>
            </a:r>
            <a:r>
              <a:rPr lang="en-US" dirty="0"/>
              <a:t>and</a:t>
            </a:r>
            <a:r>
              <a:rPr lang="en-US" i="1" dirty="0"/>
              <a:t> N</a:t>
            </a:r>
            <a:endParaRPr lang="en-US" dirty="0"/>
          </a:p>
        </p:txBody>
      </p:sp>
      <p:pic>
        <p:nvPicPr>
          <p:cNvPr id="163843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1291" y="3812333"/>
            <a:ext cx="5016500" cy="1257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3844" name="TextBox 3"/>
          <p:cNvSpPr txBox="1">
            <a:spLocks noChangeArrowheads="1"/>
          </p:cNvSpPr>
          <p:nvPr/>
        </p:nvSpPr>
        <p:spPr bwMode="auto">
          <a:xfrm>
            <a:off x="2097249" y="5459040"/>
            <a:ext cx="7524750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This is among the easiest possible likelihood problems</a:t>
            </a:r>
          </a:p>
        </p:txBody>
      </p:sp>
      <p:sp>
        <p:nvSpPr>
          <p:cNvPr id="7" name="Rectangle 2"/>
          <p:cNvSpPr txBox="1">
            <a:spLocks noChangeArrowheads="1"/>
          </p:cNvSpPr>
          <p:nvPr/>
        </p:nvSpPr>
        <p:spPr>
          <a:xfrm>
            <a:off x="0" y="0"/>
            <a:ext cx="121920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sz="3600"/>
              <a:t>Sneak peak: Maximum likelihood is just doing this in reverse!!!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3318735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186610" y="-102833"/>
            <a:ext cx="11831216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 dirty="0"/>
              <a:t>Sneak peak: Maximum Likelihood is just doing this in reverse!!!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2"/>
          </p:nvPr>
        </p:nvSpPr>
        <p:spPr>
          <a:xfrm>
            <a:off x="466531" y="1160104"/>
            <a:ext cx="11439329" cy="5501951"/>
          </a:xfrm>
        </p:spPr>
        <p:txBody>
          <a:bodyPr>
            <a:noAutofit/>
          </a:bodyPr>
          <a:lstStyle/>
          <a:p>
            <a:pPr>
              <a:defRPr/>
            </a:pPr>
            <a:r>
              <a:rPr lang="en-US" dirty="0"/>
              <a:t>This equation is exactly what we’ve been working with but the interpretation is </a:t>
            </a:r>
            <a:r>
              <a:rPr lang="en-US" b="1" i="1" dirty="0"/>
              <a:t>very</a:t>
            </a:r>
            <a:r>
              <a:rPr lang="en-US" i="1" dirty="0"/>
              <a:t> </a:t>
            </a:r>
            <a:r>
              <a:rPr lang="en-US" dirty="0"/>
              <a:t>different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The binomial probability summed over all values of </a:t>
            </a:r>
            <a:r>
              <a:rPr lang="en-US" i="1" dirty="0"/>
              <a:t>k</a:t>
            </a:r>
            <a:r>
              <a:rPr lang="en-US" dirty="0"/>
              <a:t> equals 1</a:t>
            </a:r>
          </a:p>
          <a:p>
            <a:pPr>
              <a:defRPr/>
            </a:pPr>
            <a:r>
              <a:rPr lang="en-US" dirty="0"/>
              <a:t>But now the Likelihood is a function of </a:t>
            </a:r>
            <a:r>
              <a:rPr lang="en-US" i="1" dirty="0"/>
              <a:t>p </a:t>
            </a:r>
            <a:r>
              <a:rPr lang="en-US" dirty="0"/>
              <a:t>with </a:t>
            </a:r>
            <a:r>
              <a:rPr lang="en-US" i="1" dirty="0"/>
              <a:t>k </a:t>
            </a:r>
            <a:r>
              <a:rPr lang="en-US" dirty="0"/>
              <a:t>fixed. </a:t>
            </a:r>
            <a:r>
              <a:rPr lang="en-US" i="1" dirty="0"/>
              <a:t>k </a:t>
            </a:r>
            <a:r>
              <a:rPr lang="en-US" dirty="0"/>
              <a:t>is our observation.</a:t>
            </a:r>
          </a:p>
          <a:p>
            <a:pPr>
              <a:defRPr/>
            </a:pPr>
            <a:r>
              <a:rPr lang="en-US" dirty="0"/>
              <a:t>The range of </a:t>
            </a:r>
            <a:r>
              <a:rPr lang="en-US" i="1" dirty="0"/>
              <a:t>p </a:t>
            </a:r>
            <a:r>
              <a:rPr lang="en-US" dirty="0"/>
              <a:t>must be 0 to 1, but there is no requirement that the integral of the likelihood from 0 to 1 = 1 (as would be the case for a probability)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Why did I say </a:t>
            </a:r>
            <a:r>
              <a:rPr lang="en-US"/>
              <a:t>“integral” and not “sum”</a:t>
            </a:r>
            <a:endParaRPr lang="en-US" dirty="0"/>
          </a:p>
        </p:txBody>
      </p:sp>
      <p:pic>
        <p:nvPicPr>
          <p:cNvPr id="165891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65715" y="2063230"/>
            <a:ext cx="5016500" cy="1257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4707071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quarter" idx="2"/>
          </p:nvPr>
        </p:nvSpPr>
        <p:spPr>
          <a:xfrm>
            <a:off x="373224" y="1160105"/>
            <a:ext cx="11476653" cy="4419600"/>
          </a:xfrm>
        </p:spPr>
        <p:txBody>
          <a:bodyPr/>
          <a:lstStyle/>
          <a:p>
            <a:pPr>
              <a:defRPr/>
            </a:pPr>
            <a:r>
              <a:rPr lang="en-US" dirty="0"/>
              <a:t>This equation is exactly what we’ve been working with but the interpretation is </a:t>
            </a:r>
            <a:r>
              <a:rPr lang="en-US" b="1" i="1" dirty="0"/>
              <a:t>very</a:t>
            </a:r>
            <a:r>
              <a:rPr lang="en-US" i="1" dirty="0"/>
              <a:t> </a:t>
            </a:r>
            <a:r>
              <a:rPr lang="en-US" dirty="0"/>
              <a:t>different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We usually work with the log-likelihood. Can you find that? </a:t>
            </a:r>
            <a:r>
              <a:rPr lang="en-US" dirty="0">
                <a:sym typeface="Wingdings"/>
              </a:rPr>
              <a:t> </a:t>
            </a:r>
            <a:r>
              <a:rPr lang="en-US" dirty="0"/>
              <a:t>log(a*b) = log(a) + log(b), log(a</a:t>
            </a:r>
            <a:r>
              <a:rPr lang="en-US" baseline="30000" dirty="0"/>
              <a:t>b</a:t>
            </a:r>
            <a:r>
              <a:rPr lang="en-US" dirty="0"/>
              <a:t>)=b*log(a)</a:t>
            </a:r>
          </a:p>
        </p:txBody>
      </p:sp>
      <p:pic>
        <p:nvPicPr>
          <p:cNvPr id="167939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12357" y="2019300"/>
            <a:ext cx="5016500" cy="1257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6750" y="4538568"/>
            <a:ext cx="8242300" cy="1155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Box 4"/>
          <p:cNvSpPr txBox="1">
            <a:spLocks noChangeArrowheads="1"/>
          </p:cNvSpPr>
          <p:nvPr/>
        </p:nvSpPr>
        <p:spPr bwMode="auto">
          <a:xfrm>
            <a:off x="3787808" y="5956627"/>
            <a:ext cx="4814887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/>
              <a:t>Should I show you the derivation?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0"/>
            <a:ext cx="12192000" cy="1143000"/>
          </a:xfrm>
        </p:spPr>
        <p:txBody>
          <a:bodyPr>
            <a:normAutofit/>
          </a:bodyPr>
          <a:lstStyle/>
          <a:p>
            <a:pPr algn="ctr" eaLnBrk="1" hangingPunct="1">
              <a:defRPr/>
            </a:pPr>
            <a:r>
              <a:rPr lang="en-US" sz="3600" dirty="0"/>
              <a:t>Sneak peak: Maximum likelihood is just doing this in reverse!!!</a:t>
            </a:r>
          </a:p>
        </p:txBody>
      </p:sp>
    </p:spTree>
    <p:extLst>
      <p:ext uri="{BB962C8B-B14F-4D97-AF65-F5344CB8AC3E}">
        <p14:creationId xmlns:p14="http://schemas.microsoft.com/office/powerpoint/2010/main" val="2019601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quarter" idx="2"/>
          </p:nvPr>
        </p:nvSpPr>
        <p:spPr>
          <a:xfrm>
            <a:off x="1076133" y="1160105"/>
            <a:ext cx="9840686" cy="4419600"/>
          </a:xfrm>
        </p:spPr>
        <p:txBody>
          <a:bodyPr>
            <a:normAutofit/>
          </a:bodyPr>
          <a:lstStyle/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How do we find the “maximum likelihood estimate” (MLE) for </a:t>
            </a:r>
            <a:r>
              <a:rPr lang="en-US" i="1" dirty="0"/>
              <a:t>p</a:t>
            </a:r>
            <a:r>
              <a:rPr lang="en-US" dirty="0"/>
              <a:t>?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Enter Calculus!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Find the MLE for </a:t>
            </a:r>
            <a:r>
              <a:rPr lang="en-US" i="1" dirty="0"/>
              <a:t>p</a:t>
            </a:r>
            <a:r>
              <a:rPr lang="en-US" dirty="0"/>
              <a:t> </a:t>
            </a:r>
          </a:p>
        </p:txBody>
      </p:sp>
      <p:pic>
        <p:nvPicPr>
          <p:cNvPr id="169987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65071" y="2303105"/>
            <a:ext cx="8242300" cy="1155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Rectangle 2"/>
          <p:cNvSpPr txBox="1">
            <a:spLocks noChangeArrowheads="1"/>
          </p:cNvSpPr>
          <p:nvPr/>
        </p:nvSpPr>
        <p:spPr>
          <a:xfrm>
            <a:off x="0" y="0"/>
            <a:ext cx="121920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sz="3600"/>
              <a:t>Sneak peak: Maximum likelihood is just doing this in reverse!!!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9357735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2034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1099717"/>
            <a:ext cx="9144000" cy="433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9987" name="TextBox 5"/>
          <p:cNvSpPr txBox="1">
            <a:spLocks noChangeArrowheads="1"/>
          </p:cNvSpPr>
          <p:nvPr/>
        </p:nvSpPr>
        <p:spPr bwMode="auto">
          <a:xfrm>
            <a:off x="1447800" y="5466184"/>
            <a:ext cx="9372600" cy="1323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 dirty="0"/>
              <a:t>Hudson (1971) showed that an approximate 95% CI for a single peaked likelihood function occurs 2 log-likelihood units below the peak.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 sz="2000" dirty="0"/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 dirty="0"/>
              <a:t>Can you see why sample size is so important based on these shapes?</a:t>
            </a:r>
          </a:p>
        </p:txBody>
      </p:sp>
      <p:cxnSp>
        <p:nvCxnSpPr>
          <p:cNvPr id="8" name="Straight Connector 7"/>
          <p:cNvCxnSpPr>
            <a:cxnSpLocks noChangeShapeType="1"/>
          </p:cNvCxnSpPr>
          <p:nvPr/>
        </p:nvCxnSpPr>
        <p:spPr bwMode="auto">
          <a:xfrm>
            <a:off x="6705600" y="2534817"/>
            <a:ext cx="3733800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0" name="Straight Connector 9"/>
          <p:cNvCxnSpPr>
            <a:cxnSpLocks noChangeShapeType="1"/>
          </p:cNvCxnSpPr>
          <p:nvPr/>
        </p:nvCxnSpPr>
        <p:spPr bwMode="auto">
          <a:xfrm>
            <a:off x="2209800" y="2306217"/>
            <a:ext cx="3733800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9" name="Rectangle 2"/>
          <p:cNvSpPr txBox="1">
            <a:spLocks noChangeArrowheads="1"/>
          </p:cNvSpPr>
          <p:nvPr/>
        </p:nvSpPr>
        <p:spPr>
          <a:xfrm>
            <a:off x="0" y="0"/>
            <a:ext cx="121920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sz="3600"/>
              <a:t>Sneak peak: Maximum likelihood is just doing this in reverse!!!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20249598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9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55964" y="-34925"/>
            <a:ext cx="7793037" cy="1143000"/>
          </a:xfrm>
        </p:spPr>
        <p:txBody>
          <a:bodyPr/>
          <a:lstStyle/>
          <a:p>
            <a:pPr>
              <a:defRPr/>
            </a:pPr>
            <a:r>
              <a:rPr lang="en-US" dirty="0"/>
              <a:t>Back to distributions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522514" y="1637523"/>
            <a:ext cx="10860833" cy="4114800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-US" sz="3000" dirty="0"/>
              <a:t>We’ll discuss maximum likelihood later</a:t>
            </a:r>
          </a:p>
          <a:p>
            <a:pPr>
              <a:defRPr/>
            </a:pPr>
            <a:endParaRPr lang="en-US" sz="3000" dirty="0"/>
          </a:p>
          <a:p>
            <a:pPr>
              <a:defRPr/>
            </a:pPr>
            <a:r>
              <a:rPr lang="en-US" sz="3000" dirty="0"/>
              <a:t>Bayesian statistics is very similar - making inference about the parameter given the data - but the inference will be a real probability rather than a point estimate and confidence interval.</a:t>
            </a:r>
          </a:p>
        </p:txBody>
      </p:sp>
    </p:spTree>
    <p:extLst>
      <p:ext uri="{BB962C8B-B14F-4D97-AF65-F5344CB8AC3E}">
        <p14:creationId xmlns:p14="http://schemas.microsoft.com/office/powerpoint/2010/main" val="8101692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1378756" cy="6631029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5352" y="5330867"/>
            <a:ext cx="3276600" cy="952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54780" y="4852386"/>
            <a:ext cx="317811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Alternatively written</a:t>
            </a:r>
          </a:p>
        </p:txBody>
      </p:sp>
    </p:spTree>
    <p:extLst>
      <p:ext uri="{BB962C8B-B14F-4D97-AF65-F5344CB8AC3E}">
        <p14:creationId xmlns:p14="http://schemas.microsoft.com/office/powerpoint/2010/main" val="20233640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2209800" y="-1524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/>
              <a:t>The Poisson Distribution-I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79918" y="1334277"/>
            <a:ext cx="11527405" cy="4953000"/>
          </a:xfrm>
        </p:spPr>
        <p:txBody>
          <a:bodyPr>
            <a:noAutofit/>
          </a:bodyPr>
          <a:lstStyle/>
          <a:p>
            <a:pPr marL="457200" indent="-457200">
              <a:lnSpc>
                <a:spcPct val="80000"/>
              </a:lnSpc>
              <a:defRPr/>
            </a:pPr>
            <a:r>
              <a:rPr lang="en-US" altLang="en-US" dirty="0"/>
              <a:t>The Poisson distribution is used to determine the probability that a specific number of occurrences takes place within a given unit of time or space. </a:t>
            </a:r>
          </a:p>
          <a:p>
            <a:pPr marL="457200" indent="-457200">
              <a:lnSpc>
                <a:spcPct val="80000"/>
              </a:lnSpc>
              <a:defRPr/>
            </a:pPr>
            <a:endParaRPr lang="en-US" altLang="en-US" dirty="0"/>
          </a:p>
          <a:p>
            <a:pPr marL="457200" indent="-457200">
              <a:lnSpc>
                <a:spcPct val="80000"/>
              </a:lnSpc>
              <a:defRPr/>
            </a:pPr>
            <a:r>
              <a:rPr lang="en-US" altLang="en-US" dirty="0"/>
              <a:t>A random variable </a:t>
            </a:r>
            <a:r>
              <a:rPr lang="en-US" altLang="en-US" i="1" dirty="0"/>
              <a:t>X</a:t>
            </a:r>
            <a:r>
              <a:rPr lang="en-US" altLang="en-US" dirty="0"/>
              <a:t> is Poisson distributed if:</a:t>
            </a:r>
          </a:p>
          <a:p>
            <a:pPr marL="457200" indent="-457200">
              <a:lnSpc>
                <a:spcPct val="80000"/>
              </a:lnSpc>
              <a:buFont typeface="Wingdings" charset="2"/>
              <a:buAutoNum type="arabicPeriod"/>
              <a:defRPr/>
            </a:pPr>
            <a:r>
              <a:rPr lang="en-US" altLang="en-US" dirty="0"/>
              <a:t>The experiment consists of counting the number of times, </a:t>
            </a:r>
            <a:r>
              <a:rPr lang="en-US" altLang="en-US" i="1" dirty="0"/>
              <a:t>x</a:t>
            </a:r>
            <a:r>
              <a:rPr lang="en-US" altLang="en-US" dirty="0"/>
              <a:t>, an event occurs in a given interval (the interval can relate to e.g. time, area, volume).</a:t>
            </a:r>
          </a:p>
          <a:p>
            <a:pPr marL="457200" indent="-457200">
              <a:lnSpc>
                <a:spcPct val="80000"/>
              </a:lnSpc>
              <a:buFont typeface="Wingdings" charset="2"/>
              <a:buAutoNum type="arabicPeriod"/>
              <a:defRPr/>
            </a:pPr>
            <a:r>
              <a:rPr lang="en-US" altLang="en-US" dirty="0"/>
              <a:t>The probability of the event occurring is the same for each interval.</a:t>
            </a:r>
          </a:p>
          <a:p>
            <a:pPr marL="457200" indent="-457200">
              <a:lnSpc>
                <a:spcPct val="80000"/>
              </a:lnSpc>
              <a:buFont typeface="Wingdings" charset="2"/>
              <a:buAutoNum type="arabicPeriod"/>
              <a:defRPr/>
            </a:pPr>
            <a:r>
              <a:rPr lang="en-US" altLang="en-US" dirty="0"/>
              <a:t>The number of occurrences in one interval is independent of the number of occurrences in other intervals.</a:t>
            </a:r>
          </a:p>
        </p:txBody>
      </p:sp>
    </p:spTree>
    <p:extLst>
      <p:ext uri="{BB962C8B-B14F-4D97-AF65-F5344CB8AC3E}">
        <p14:creationId xmlns:p14="http://schemas.microsoft.com/office/powerpoint/2010/main" val="1468598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2209800" y="-1524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/>
              <a:t>The Poisson Distribution-I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21095" y="1240973"/>
            <a:ext cx="10618236" cy="4953000"/>
          </a:xfrm>
        </p:spPr>
        <p:txBody>
          <a:bodyPr>
            <a:noAutofit/>
          </a:bodyPr>
          <a:lstStyle/>
          <a:p>
            <a:pPr marL="457200" indent="-457200">
              <a:lnSpc>
                <a:spcPct val="80000"/>
              </a:lnSpc>
              <a:defRPr/>
            </a:pPr>
            <a:r>
              <a:rPr lang="en-US" altLang="en-US" dirty="0"/>
              <a:t>In short </a:t>
            </a:r>
            <a:r>
              <a:rPr lang="mr-IN" altLang="en-US" dirty="0"/>
              <a:t>–</a:t>
            </a:r>
            <a:r>
              <a:rPr lang="en-US" altLang="en-US" dirty="0"/>
              <a:t> Poisson models ”random” count data</a:t>
            </a:r>
          </a:p>
          <a:p>
            <a:pPr marL="857250" lvl="1" indent="-457200">
              <a:lnSpc>
                <a:spcPct val="80000"/>
              </a:lnSpc>
              <a:defRPr/>
            </a:pPr>
            <a:r>
              <a:rPr lang="en-US" altLang="en-US" dirty="0"/>
              <a:t>Number of ladybugs or leaves per bush</a:t>
            </a:r>
          </a:p>
          <a:p>
            <a:pPr marL="857250" lvl="1" indent="-457200">
              <a:lnSpc>
                <a:spcPct val="80000"/>
              </a:lnSpc>
              <a:defRPr/>
            </a:pPr>
            <a:r>
              <a:rPr lang="en-US" altLang="en-US" dirty="0"/>
              <a:t>Number of prey encountered per unit time</a:t>
            </a:r>
          </a:p>
          <a:p>
            <a:pPr marL="857250" lvl="1" indent="-457200">
              <a:lnSpc>
                <a:spcPct val="80000"/>
              </a:lnSpc>
              <a:defRPr/>
            </a:pPr>
            <a:r>
              <a:rPr lang="en-US" altLang="en-US" dirty="0"/>
              <a:t>Number of eggs produced by a fish</a:t>
            </a:r>
          </a:p>
          <a:p>
            <a:pPr marL="857250" lvl="1" indent="-457200">
              <a:lnSpc>
                <a:spcPct val="80000"/>
              </a:lnSpc>
              <a:defRPr/>
            </a:pPr>
            <a:endParaRPr lang="en-US" altLang="en-US" sz="2800" dirty="0"/>
          </a:p>
          <a:p>
            <a:pPr marL="457200" indent="-457200">
              <a:lnSpc>
                <a:spcPct val="80000"/>
              </a:lnSpc>
              <a:defRPr/>
            </a:pPr>
            <a:r>
              <a:rPr lang="en-US" altLang="en-US" dirty="0"/>
              <a:t>This is different from </a:t>
            </a:r>
            <a:r>
              <a:rPr lang="en-US" altLang="en-US" i="1" dirty="0"/>
              <a:t>bounded</a:t>
            </a:r>
            <a:r>
              <a:rPr lang="en-US" altLang="en-US" dirty="0"/>
              <a:t> count data, which is binomial</a:t>
            </a:r>
          </a:p>
          <a:p>
            <a:pPr marL="857250" lvl="1" indent="-457200">
              <a:lnSpc>
                <a:spcPct val="80000"/>
              </a:lnSpc>
              <a:defRPr/>
            </a:pPr>
            <a:r>
              <a:rPr lang="en-US" altLang="en-US" dirty="0"/>
              <a:t># offspring that survive out of N offspring</a:t>
            </a:r>
          </a:p>
          <a:p>
            <a:pPr marL="857250" lvl="1" indent="-457200">
              <a:lnSpc>
                <a:spcPct val="80000"/>
              </a:lnSpc>
              <a:defRPr/>
            </a:pPr>
            <a:r>
              <a:rPr lang="en-US" altLang="en-US" dirty="0"/>
              <a:t>#cameras that detect wolves out of N cameras</a:t>
            </a:r>
          </a:p>
          <a:p>
            <a:pPr marL="857250" lvl="1" indent="-457200">
              <a:lnSpc>
                <a:spcPct val="80000"/>
              </a:lnSpc>
              <a:defRPr/>
            </a:pPr>
            <a:endParaRPr lang="en-US" altLang="en-US" sz="2800" dirty="0"/>
          </a:p>
          <a:p>
            <a:pPr marL="457200" indent="-457200">
              <a:lnSpc>
                <a:spcPct val="80000"/>
              </a:lnSpc>
              <a:defRPr/>
            </a:pPr>
            <a:r>
              <a:rPr lang="en-US" altLang="en-US" dirty="0"/>
              <a:t>You might think that the Poisson could be a good approximation of the binomial if N is large and p is small. You are right!</a:t>
            </a:r>
          </a:p>
          <a:p>
            <a:pPr marL="857250" lvl="1" indent="-457200">
              <a:lnSpc>
                <a:spcPct val="80000"/>
              </a:lnSpc>
              <a:defRPr/>
            </a:pPr>
            <a:endParaRPr lang="en-US" altLang="en-US" sz="2800" dirty="0"/>
          </a:p>
          <a:p>
            <a:pPr marL="857250" lvl="1" indent="-457200">
              <a:lnSpc>
                <a:spcPct val="80000"/>
              </a:lnSpc>
              <a:defRPr/>
            </a:pPr>
            <a:endParaRPr lang="en-US" altLang="en-US" sz="2800" dirty="0"/>
          </a:p>
        </p:txBody>
      </p:sp>
    </p:spTree>
    <p:extLst>
      <p:ext uri="{BB962C8B-B14F-4D97-AF65-F5344CB8AC3E}">
        <p14:creationId xmlns:p14="http://schemas.microsoft.com/office/powerpoint/2010/main" val="491959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>
          <a:xfrm>
            <a:off x="2209800" y="3048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The Poisson Distribution - </a:t>
            </a:r>
            <a:r>
              <a:rPr lang="en-US" altLang="en-US" i="1" dirty="0" err="1"/>
              <a:t>pmf</a:t>
            </a:r>
            <a:endParaRPr lang="en-US" altLang="en-US" i="1" dirty="0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470151" y="1704975"/>
            <a:ext cx="8241648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Various notations: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buFont typeface="Wingdings" charset="2"/>
              <a:buNone/>
              <a:defRPr/>
            </a:pPr>
            <a:endParaRPr lang="en-US" altLang="en-US" dirty="0"/>
          </a:p>
          <a:p>
            <a:pPr eaLnBrk="1" hangingPunct="1">
              <a:buFont typeface="Wingdings" charset="2"/>
              <a:buNone/>
              <a:defRPr/>
            </a:pPr>
            <a:r>
              <a:rPr lang="en-US" altLang="en-US" dirty="0"/>
              <a:t> Note that </a:t>
            </a:r>
            <a:r>
              <a:rPr lang="en-US" altLang="en-US" i="1" dirty="0"/>
              <a:t>x</a:t>
            </a:r>
            <a:r>
              <a:rPr lang="en-US" altLang="en-US" dirty="0"/>
              <a:t> (or </a:t>
            </a:r>
            <a:r>
              <a:rPr lang="en-US" altLang="en-US" i="1" dirty="0"/>
              <a:t>k</a:t>
            </a:r>
            <a:r>
              <a:rPr lang="en-US" altLang="en-US" dirty="0"/>
              <a:t>) can be any non-negative integer.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</p:txBody>
      </p:sp>
      <p:graphicFrame>
        <p:nvGraphicFramePr>
          <p:cNvPr id="189443" name="Object 4"/>
          <p:cNvGraphicFramePr>
            <a:graphicFrameLocks noGrp="1" noChangeAspect="1"/>
          </p:cNvGraphicFramePr>
          <p:nvPr>
            <p:ph sz="quarter" idx="2"/>
          </p:nvPr>
        </p:nvGraphicFramePr>
        <p:xfrm>
          <a:off x="4397471" y="2509997"/>
          <a:ext cx="2054225" cy="7284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180588" imgH="418918" progId="Equation.DSMT4">
                  <p:embed/>
                </p:oleObj>
              </mc:Choice>
              <mc:Fallback>
                <p:oleObj name="Equation" r:id="rId3" imgW="1180588" imgH="418918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397471" y="2509997"/>
                        <a:ext cx="2054225" cy="7284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1492" name="Object 6"/>
          <p:cNvGraphicFramePr>
            <a:graphicFrameLocks noGrp="1" noChangeAspect="1"/>
          </p:cNvGraphicFramePr>
          <p:nvPr>
            <p:ph sz="quarter" idx="3"/>
          </p:nvPr>
        </p:nvGraphicFramePr>
        <p:xfrm>
          <a:off x="4297990" y="4872555"/>
          <a:ext cx="3616658" cy="94722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651000" imgH="431800" progId="Equation.DSMT4">
                  <p:embed/>
                </p:oleObj>
              </mc:Choice>
              <mc:Fallback>
                <p:oleObj name="Equation" r:id="rId5" imgW="1651000" imgH="4318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297990" y="4872555"/>
                        <a:ext cx="3616658" cy="94722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91493" name="Picture 1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9295" y="2277675"/>
            <a:ext cx="2890999" cy="11930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17699" y="2509997"/>
            <a:ext cx="3594100" cy="7445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3627357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2209800" y="152400"/>
            <a:ext cx="7793038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dirty="0"/>
              <a:t>Where does the Poisson distribution come from?</a:t>
            </a:r>
          </a:p>
        </p:txBody>
      </p:sp>
      <p:sp>
        <p:nvSpPr>
          <p:cNvPr id="179205" name="TextBox 5"/>
          <p:cNvSpPr txBox="1">
            <a:spLocks noChangeArrowheads="1"/>
          </p:cNvSpPr>
          <p:nvPr/>
        </p:nvSpPr>
        <p:spPr bwMode="auto">
          <a:xfrm>
            <a:off x="1369276" y="1621602"/>
            <a:ext cx="8891473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 dirty="0"/>
              <a:t>In a very small interval of time, either nothing happens or one event happens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F54582F-1051-3E68-6212-788C38D1A9D2}"/>
              </a:ext>
            </a:extLst>
          </p:cNvPr>
          <p:cNvGrpSpPr/>
          <p:nvPr/>
        </p:nvGrpSpPr>
        <p:grpSpPr>
          <a:xfrm>
            <a:off x="0" y="2748024"/>
            <a:ext cx="13615409" cy="3406115"/>
            <a:chOff x="602166" y="2347914"/>
            <a:chExt cx="9946888" cy="2488375"/>
          </a:xfrm>
        </p:grpSpPr>
        <p:pic>
          <p:nvPicPr>
            <p:cNvPr id="179202" name="Picture 2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728913" y="2347914"/>
              <a:ext cx="6172200" cy="14319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79203" name="TextBox 3"/>
            <p:cNvSpPr txBox="1">
              <a:spLocks noChangeArrowheads="1"/>
            </p:cNvSpPr>
            <p:nvPr/>
          </p:nvSpPr>
          <p:spPr bwMode="auto">
            <a:xfrm>
              <a:off x="1369276" y="4106041"/>
              <a:ext cx="9001125" cy="4000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charset="2"/>
                <a:buChar char="n"/>
                <a:defRPr sz="3200">
                  <a:solidFill>
                    <a:schemeClr val="tx1"/>
                  </a:solidFill>
                  <a:latin typeface="Tahoma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charset="2"/>
                <a:buChar char="n"/>
                <a:defRPr sz="2800">
                  <a:solidFill>
                    <a:schemeClr val="tx1"/>
                  </a:solidFill>
                  <a:latin typeface="Tahoma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charset="2"/>
                <a:buChar char="n"/>
                <a:defRPr sz="2400">
                  <a:solidFill>
                    <a:schemeClr val="tx1"/>
                  </a:solidFill>
                  <a:latin typeface="Tahoma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charset="2"/>
                <a:buChar char="n"/>
                <a:defRPr sz="2000">
                  <a:solidFill>
                    <a:schemeClr val="tx1"/>
                  </a:solidFill>
                  <a:latin typeface="Tahoma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charset="2"/>
                <a:buChar char="n"/>
                <a:defRPr sz="2000">
                  <a:solidFill>
                    <a:schemeClr val="tx1"/>
                  </a:solidFill>
                  <a:latin typeface="Tahoma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charset="2"/>
                <a:buChar char="n"/>
                <a:defRPr sz="2000">
                  <a:solidFill>
                    <a:schemeClr val="tx1"/>
                  </a:solidFill>
                  <a:latin typeface="Tahoma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charset="2"/>
                <a:buChar char="n"/>
                <a:defRPr sz="2000">
                  <a:solidFill>
                    <a:schemeClr val="tx1"/>
                  </a:solidFill>
                  <a:latin typeface="Tahoma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charset="2"/>
                <a:buChar char="n"/>
                <a:defRPr sz="2000">
                  <a:solidFill>
                    <a:schemeClr val="tx1"/>
                  </a:solidFill>
                  <a:latin typeface="Tahoma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charset="2"/>
                <a:buChar char="n"/>
                <a:defRPr sz="2000">
                  <a:solidFill>
                    <a:schemeClr val="tx1"/>
                  </a:solidFill>
                  <a:latin typeface="Tahoma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2000" dirty="0"/>
                <a:t>Where o(</a:t>
              </a:r>
              <a:r>
                <a:rPr lang="en-US" altLang="en-US" sz="2000" dirty="0" err="1"/>
                <a:t>dt</a:t>
              </a:r>
              <a:r>
                <a:rPr lang="en-US" altLang="en-US" sz="2000" dirty="0"/>
                <a:t>) represents higher order term of </a:t>
              </a:r>
              <a:r>
                <a:rPr lang="en-US" altLang="en-US" sz="2000" dirty="0" err="1"/>
                <a:t>dt</a:t>
              </a:r>
              <a:r>
                <a:rPr lang="en-US" altLang="en-US" sz="2000" dirty="0"/>
                <a:t> that can be ignored as </a:t>
              </a:r>
              <a:r>
                <a:rPr lang="en-US" altLang="en-US" sz="2000" dirty="0" err="1"/>
                <a:t>dt</a:t>
              </a:r>
              <a:r>
                <a:rPr lang="en-US" altLang="en-US" sz="2000" dirty="0"/>
                <a:t> </a:t>
              </a:r>
              <a:r>
                <a:rPr lang="en-US" altLang="en-US" sz="2000" dirty="0">
                  <a:sym typeface="Wingdings" charset="2"/>
                </a:rPr>
                <a:t> 0</a:t>
              </a:r>
              <a:endParaRPr lang="en-US" altLang="en-US" sz="2000" dirty="0"/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88F74B1-03CD-1945-98DA-1A826BE9D511}"/>
                </a:ext>
              </a:extLst>
            </p:cNvPr>
            <p:cNvSpPr/>
            <p:nvPr/>
          </p:nvSpPr>
          <p:spPr>
            <a:xfrm>
              <a:off x="7707236" y="2347914"/>
              <a:ext cx="1071562" cy="48101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5E1CD9FE-7A4D-B068-9A6F-21B7AE96084D}"/>
                </a:ext>
              </a:extLst>
            </p:cNvPr>
            <p:cNvSpPr/>
            <p:nvPr/>
          </p:nvSpPr>
          <p:spPr>
            <a:xfrm>
              <a:off x="7252302" y="2827187"/>
              <a:ext cx="1071562" cy="48101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F6F88C4A-1458-1B06-9E85-0C87B74257B3}"/>
                </a:ext>
              </a:extLst>
            </p:cNvPr>
            <p:cNvSpPr/>
            <p:nvPr/>
          </p:nvSpPr>
          <p:spPr>
            <a:xfrm>
              <a:off x="7859636" y="2500314"/>
              <a:ext cx="1071562" cy="48101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6C34B7D-5769-FFC1-9375-493E238A02A9}"/>
                </a:ext>
              </a:extLst>
            </p:cNvPr>
            <p:cNvSpPr/>
            <p:nvPr/>
          </p:nvSpPr>
          <p:spPr>
            <a:xfrm flipV="1">
              <a:off x="602166" y="3222933"/>
              <a:ext cx="9946888" cy="16133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85367517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175630" y="-85756"/>
            <a:ext cx="11893420" cy="1143000"/>
          </a:xfrm>
        </p:spPr>
        <p:txBody>
          <a:bodyPr>
            <a:normAutofit/>
          </a:bodyPr>
          <a:lstStyle/>
          <a:p>
            <a:pPr algn="ctr" eaLnBrk="1" hangingPunct="1">
              <a:defRPr/>
            </a:pPr>
            <a:r>
              <a:rPr lang="en-US" altLang="en-US" dirty="0"/>
              <a:t>Where does the Poisson distribution come from?</a:t>
            </a:r>
          </a:p>
        </p:txBody>
      </p:sp>
      <p:sp>
        <p:nvSpPr>
          <p:cNvPr id="181250" name="TextBox 5"/>
          <p:cNvSpPr txBox="1">
            <a:spLocks noChangeArrowheads="1"/>
          </p:cNvSpPr>
          <p:nvPr/>
        </p:nvSpPr>
        <p:spPr bwMode="auto">
          <a:xfrm>
            <a:off x="1554163" y="1447800"/>
            <a:ext cx="8978900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>
                <a:solidFill>
                  <a:srgbClr val="000000"/>
                </a:solidFill>
              </a:rPr>
              <a:t>What we want is the probability of </a:t>
            </a:r>
            <a:r>
              <a:rPr lang="en-US" altLang="en-US" sz="2000" i="1">
                <a:solidFill>
                  <a:srgbClr val="000000"/>
                </a:solidFill>
              </a:rPr>
              <a:t>k </a:t>
            </a:r>
            <a:r>
              <a:rPr lang="en-US" altLang="en-US" sz="2000">
                <a:solidFill>
                  <a:srgbClr val="000000"/>
                </a:solidFill>
              </a:rPr>
              <a:t>events in a a longer interval, say time = </a:t>
            </a:r>
            <a:r>
              <a:rPr lang="en-US" altLang="en-US" sz="2000" i="1">
                <a:solidFill>
                  <a:srgbClr val="000000"/>
                </a:solidFill>
              </a:rPr>
              <a:t>t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514476" y="2203854"/>
            <a:ext cx="9215728" cy="38164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Tx/>
              <a:buAutoNum type="arabicPeriod"/>
              <a:defRPr/>
            </a:pPr>
            <a:r>
              <a:rPr lang="en-US" sz="2200" dirty="0"/>
              <a:t>How could we have no events up to time t + </a:t>
            </a:r>
            <a:r>
              <a:rPr lang="en-US" sz="2200" dirty="0" err="1"/>
              <a:t>dt</a:t>
            </a:r>
            <a:r>
              <a:rPr lang="en-US" sz="2200" dirty="0"/>
              <a:t>? </a:t>
            </a:r>
          </a:p>
          <a:p>
            <a:pPr marL="457200" indent="-457200">
              <a:buFontTx/>
              <a:buAutoNum type="arabicPeriod"/>
              <a:defRPr/>
            </a:pPr>
            <a:endParaRPr lang="en-US" sz="2200" dirty="0"/>
          </a:p>
          <a:p>
            <a:pPr marL="457200" indent="-457200">
              <a:buFontTx/>
              <a:buAutoNum type="arabicPeriod"/>
              <a:defRPr/>
            </a:pPr>
            <a:endParaRPr lang="en-US" sz="2200" dirty="0"/>
          </a:p>
          <a:p>
            <a:pPr marL="457200" indent="-457200">
              <a:buFontTx/>
              <a:buAutoNum type="arabicPeriod"/>
              <a:defRPr/>
            </a:pPr>
            <a:endParaRPr lang="en-US" sz="2200" dirty="0"/>
          </a:p>
          <a:p>
            <a:pPr marL="457200" indent="-457200">
              <a:buFontTx/>
              <a:buAutoNum type="arabicPeriod"/>
              <a:defRPr/>
            </a:pPr>
            <a:r>
              <a:rPr lang="en-US" sz="2200" dirty="0"/>
              <a:t>Use the definition of the derivative to show that this leads to</a:t>
            </a:r>
          </a:p>
          <a:p>
            <a:pPr marL="457200" indent="-457200">
              <a:buFontTx/>
              <a:buAutoNum type="arabicPeriod"/>
              <a:defRPr/>
            </a:pPr>
            <a:endParaRPr lang="en-US" sz="2200" dirty="0"/>
          </a:p>
          <a:p>
            <a:pPr marL="457200" indent="-457200">
              <a:buFontTx/>
              <a:buAutoNum type="arabicPeriod"/>
              <a:defRPr/>
            </a:pPr>
            <a:endParaRPr lang="en-US" sz="2200" dirty="0"/>
          </a:p>
          <a:p>
            <a:pPr marL="457200" indent="-457200">
              <a:buFontTx/>
              <a:buAutoNum type="arabicPeriod"/>
              <a:defRPr/>
            </a:pPr>
            <a:endParaRPr lang="en-US" sz="2200" dirty="0"/>
          </a:p>
          <a:p>
            <a:pPr marL="457200" indent="-457200">
              <a:buFontTx/>
              <a:buAutoNum type="arabicPeriod"/>
              <a:defRPr/>
            </a:pPr>
            <a:endParaRPr lang="en-US" sz="2200" dirty="0"/>
          </a:p>
          <a:p>
            <a:pPr marL="457200" indent="-457200">
              <a:buFontTx/>
              <a:buAutoNum type="arabicPeriod"/>
              <a:defRPr/>
            </a:pPr>
            <a:r>
              <a:rPr lang="en-US" sz="2200" dirty="0"/>
              <a:t>Solve to find the zero term of the Poisson, </a:t>
            </a:r>
            <a:r>
              <a:rPr lang="en-US" sz="2200" dirty="0" err="1"/>
              <a:t>Pr</a:t>
            </a:r>
            <a:r>
              <a:rPr lang="en-US" sz="2200" dirty="0"/>
              <a:t>(no events)</a:t>
            </a:r>
          </a:p>
          <a:p>
            <a:pPr eaLnBrk="1" hangingPunct="1">
              <a:defRPr/>
            </a:pPr>
            <a:endParaRPr lang="en-US" sz="2200" dirty="0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0426" y="4125439"/>
            <a:ext cx="2278063" cy="1050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59900" y="5897173"/>
            <a:ext cx="2963863" cy="582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29A4099D-0DFA-1F81-90B8-6EC02088523B}"/>
              </a:ext>
            </a:extLst>
          </p:cNvPr>
          <p:cNvGrpSpPr/>
          <p:nvPr/>
        </p:nvGrpSpPr>
        <p:grpSpPr>
          <a:xfrm>
            <a:off x="3207885" y="2659084"/>
            <a:ext cx="5671456" cy="831407"/>
            <a:chOff x="3207885" y="2659084"/>
            <a:chExt cx="5671456" cy="831407"/>
          </a:xfrm>
        </p:grpSpPr>
        <p:pic>
          <p:nvPicPr>
            <p:cNvPr id="8" name="Picture 7"/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207885" y="2832085"/>
              <a:ext cx="5671456" cy="65840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EA5895F1-51A1-7141-72E4-42C0B0F1B6AA}"/>
                </a:ext>
              </a:extLst>
            </p:cNvPr>
            <p:cNvSpPr/>
            <p:nvPr/>
          </p:nvSpPr>
          <p:spPr>
            <a:xfrm>
              <a:off x="7480495" y="2770594"/>
              <a:ext cx="1398846" cy="65840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DB544836-8B04-D983-0E0E-A579EE0009F3}"/>
                </a:ext>
              </a:extLst>
            </p:cNvPr>
            <p:cNvSpPr txBox="1"/>
            <p:nvPr/>
          </p:nvSpPr>
          <p:spPr>
            <a:xfrm>
              <a:off x="7292262" y="2659084"/>
              <a:ext cx="476412" cy="67710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8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355071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>
          <a:xfrm>
            <a:off x="2438400" y="304800"/>
            <a:ext cx="7793038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dirty="0"/>
              <a:t>Zero term of the Poisson Distribution</a:t>
            </a:r>
          </a:p>
        </p:txBody>
      </p:sp>
      <p:pic>
        <p:nvPicPr>
          <p:cNvPr id="183299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6613" y="1713463"/>
            <a:ext cx="2654300" cy="1095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83301" name="Picture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5213" y="3158089"/>
            <a:ext cx="6235700" cy="704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83304" name="TextBox 9"/>
          <p:cNvSpPr txBox="1">
            <a:spLocks noChangeArrowheads="1"/>
          </p:cNvSpPr>
          <p:nvPr/>
        </p:nvSpPr>
        <p:spPr bwMode="auto">
          <a:xfrm>
            <a:off x="2225676" y="2029375"/>
            <a:ext cx="3732213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Probability Mass Function:</a:t>
            </a:r>
          </a:p>
        </p:txBody>
      </p:sp>
    </p:spTree>
    <p:extLst>
      <p:ext uri="{BB962C8B-B14F-4D97-AF65-F5344CB8AC3E}">
        <p14:creationId xmlns:p14="http://schemas.microsoft.com/office/powerpoint/2010/main" val="98105612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>
          <a:xfrm>
            <a:off x="2409825" y="0"/>
            <a:ext cx="7793038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dirty="0"/>
              <a:t>First term of the Poisson Distribution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788193" y="1447800"/>
            <a:ext cx="11024361" cy="1828799"/>
          </a:xfrm>
        </p:spPr>
        <p:txBody>
          <a:bodyPr>
            <a:noAutofit/>
          </a:bodyPr>
          <a:lstStyle/>
          <a:p>
            <a:pPr eaLnBrk="1" hangingPunct="1">
              <a:defRPr/>
            </a:pPr>
            <a:r>
              <a:rPr lang="en-US" altLang="en-US" sz="2600" dirty="0"/>
              <a:t>How can you have </a:t>
            </a:r>
            <a:r>
              <a:rPr lang="en-US" altLang="en-US" sz="2600" u="sng" dirty="0"/>
              <a:t>one</a:t>
            </a:r>
            <a:r>
              <a:rPr lang="en-US" altLang="en-US" sz="2600" dirty="0"/>
              <a:t> event in time 0 to </a:t>
            </a:r>
            <a:r>
              <a:rPr lang="en-US" altLang="en-US" sz="2600" i="1" dirty="0"/>
              <a:t>t </a:t>
            </a:r>
            <a:r>
              <a:rPr lang="en-US" altLang="en-US" sz="2600" dirty="0"/>
              <a:t>+ </a:t>
            </a:r>
            <a:r>
              <a:rPr lang="en-US" altLang="en-US" sz="2600" i="1" dirty="0"/>
              <a:t>dt</a:t>
            </a:r>
            <a:r>
              <a:rPr lang="en-US" altLang="en-US" sz="2600" dirty="0"/>
              <a:t>?</a:t>
            </a:r>
          </a:p>
          <a:p>
            <a:pPr eaLnBrk="1" hangingPunct="1">
              <a:defRPr/>
            </a:pPr>
            <a:endParaRPr lang="en-US" altLang="en-US" sz="2600" dirty="0"/>
          </a:p>
          <a:p>
            <a:pPr>
              <a:defRPr/>
            </a:pPr>
            <a:r>
              <a:rPr lang="en-US" sz="2600" dirty="0"/>
              <a:t>Either we had no event in 0 to </a:t>
            </a:r>
            <a:r>
              <a:rPr lang="en-US" sz="2600" i="1" dirty="0"/>
              <a:t>t</a:t>
            </a:r>
            <a:r>
              <a:rPr lang="en-US" sz="2600" dirty="0"/>
              <a:t> and one event in </a:t>
            </a:r>
            <a:r>
              <a:rPr lang="en-US" sz="2600" i="1" dirty="0"/>
              <a:t>t</a:t>
            </a:r>
            <a:r>
              <a:rPr lang="en-US" sz="2600" dirty="0"/>
              <a:t> to </a:t>
            </a:r>
            <a:r>
              <a:rPr lang="en-US" sz="2600" i="1" dirty="0"/>
              <a:t>t</a:t>
            </a:r>
            <a:r>
              <a:rPr lang="en-US" sz="2600" dirty="0"/>
              <a:t> + </a:t>
            </a:r>
            <a:r>
              <a:rPr lang="en-US" sz="2600" i="1" dirty="0"/>
              <a:t>dt</a:t>
            </a:r>
            <a:r>
              <a:rPr lang="en-US" sz="2600" dirty="0"/>
              <a:t> or we had one event in 0 to </a:t>
            </a:r>
            <a:r>
              <a:rPr lang="en-US" sz="2600" i="1" dirty="0"/>
              <a:t>t</a:t>
            </a:r>
            <a:r>
              <a:rPr lang="en-US" sz="2600" dirty="0"/>
              <a:t> and no event in </a:t>
            </a:r>
            <a:r>
              <a:rPr lang="en-US" sz="2600" i="1" dirty="0"/>
              <a:t>t</a:t>
            </a:r>
            <a:r>
              <a:rPr lang="en-US" sz="2600" dirty="0"/>
              <a:t> to </a:t>
            </a:r>
            <a:r>
              <a:rPr lang="en-US" sz="2600" i="1" dirty="0"/>
              <a:t>t</a:t>
            </a:r>
            <a:r>
              <a:rPr lang="en-US" sz="2600" dirty="0"/>
              <a:t> + </a:t>
            </a:r>
            <a:r>
              <a:rPr lang="en-US" sz="2600" i="1" dirty="0"/>
              <a:t>dt</a:t>
            </a:r>
            <a:r>
              <a:rPr lang="en-US" sz="2600" dirty="0"/>
              <a:t> </a:t>
            </a:r>
          </a:p>
          <a:p>
            <a:pPr>
              <a:defRPr/>
            </a:pPr>
            <a:endParaRPr lang="en-US" sz="2600" dirty="0"/>
          </a:p>
          <a:p>
            <a:pPr>
              <a:defRPr/>
            </a:pPr>
            <a:r>
              <a:rPr lang="en-US" sz="2600" dirty="0"/>
              <a:t>Continue like this to derive other terms</a:t>
            </a:r>
          </a:p>
          <a:p>
            <a:pPr>
              <a:defRPr/>
            </a:pPr>
            <a:endParaRPr lang="en-US" sz="2600" dirty="0"/>
          </a:p>
          <a:p>
            <a:pPr>
              <a:defRPr/>
            </a:pPr>
            <a:r>
              <a:rPr lang="en-US" sz="2600" dirty="0"/>
              <a:t>Another derivation starts with the Binomial distribution where the average number of successes, </a:t>
            </a:r>
            <a:r>
              <a:rPr lang="en-US" sz="2600" i="1" dirty="0"/>
              <a:t>Np</a:t>
            </a:r>
            <a:r>
              <a:rPr lang="en-US" sz="2600" dirty="0"/>
              <a:t>, is replaced by.    and N approaches infinity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1487007-FEC4-C45B-86F4-A9C2B585E78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380" t="-1602" r="8590" b="17386"/>
          <a:stretch/>
        </p:blipFill>
        <p:spPr bwMode="auto">
          <a:xfrm>
            <a:off x="6423104" y="5075663"/>
            <a:ext cx="267629" cy="4906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913105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>
          <a:xfrm>
            <a:off x="2209800" y="3048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The Poisson Distribution - </a:t>
            </a:r>
            <a:r>
              <a:rPr lang="en-US" altLang="en-US" i="1" dirty="0" err="1"/>
              <a:t>pmf</a:t>
            </a:r>
            <a:endParaRPr lang="en-US" altLang="en-US" i="1" dirty="0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470151" y="1704975"/>
            <a:ext cx="8241648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Various notations: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buFont typeface="Wingdings" charset="2"/>
              <a:buNone/>
              <a:defRPr/>
            </a:pPr>
            <a:endParaRPr lang="en-US" altLang="en-US" dirty="0"/>
          </a:p>
          <a:p>
            <a:pPr eaLnBrk="1" hangingPunct="1">
              <a:buFont typeface="Wingdings" charset="2"/>
              <a:buNone/>
              <a:defRPr/>
            </a:pPr>
            <a:r>
              <a:rPr lang="en-US" altLang="en-US" dirty="0"/>
              <a:t> Note that </a:t>
            </a:r>
            <a:r>
              <a:rPr lang="en-US" altLang="en-US" i="1" dirty="0"/>
              <a:t>x</a:t>
            </a:r>
            <a:r>
              <a:rPr lang="en-US" altLang="en-US" dirty="0"/>
              <a:t> (or </a:t>
            </a:r>
            <a:r>
              <a:rPr lang="en-US" altLang="en-US" i="1" dirty="0"/>
              <a:t>k</a:t>
            </a:r>
            <a:r>
              <a:rPr lang="en-US" altLang="en-US" dirty="0"/>
              <a:t>) can be any non-negative integer.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</p:txBody>
      </p:sp>
      <p:graphicFrame>
        <p:nvGraphicFramePr>
          <p:cNvPr id="189443" name="Object 4"/>
          <p:cNvGraphicFramePr>
            <a:graphicFrameLocks noGrp="1" noChangeAspect="1"/>
          </p:cNvGraphicFramePr>
          <p:nvPr>
            <p:ph sz="quarter" idx="2"/>
            <p:extLst>
              <p:ext uri="{D42A27DB-BD31-4B8C-83A1-F6EECF244321}">
                <p14:modId xmlns:p14="http://schemas.microsoft.com/office/powerpoint/2010/main" val="368061340"/>
              </p:ext>
            </p:extLst>
          </p:nvPr>
        </p:nvGraphicFramePr>
        <p:xfrm>
          <a:off x="4397471" y="2509997"/>
          <a:ext cx="2054225" cy="7284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180588" imgH="418918" progId="Equation.DSMT4">
                  <p:embed/>
                </p:oleObj>
              </mc:Choice>
              <mc:Fallback>
                <p:oleObj name="Equation" r:id="rId3" imgW="1180588" imgH="418918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397471" y="2509997"/>
                        <a:ext cx="2054225" cy="7284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1492" name="Object 6"/>
          <p:cNvGraphicFramePr>
            <a:graphicFrameLocks noGrp="1" noChangeAspect="1"/>
          </p:cNvGraphicFramePr>
          <p:nvPr>
            <p:ph sz="quarter" idx="3"/>
            <p:extLst>
              <p:ext uri="{D42A27DB-BD31-4B8C-83A1-F6EECF244321}">
                <p14:modId xmlns:p14="http://schemas.microsoft.com/office/powerpoint/2010/main" val="276206557"/>
              </p:ext>
            </p:extLst>
          </p:nvPr>
        </p:nvGraphicFramePr>
        <p:xfrm>
          <a:off x="4297990" y="4872555"/>
          <a:ext cx="3616658" cy="94722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651000" imgH="431800" progId="Equation.DSMT4">
                  <p:embed/>
                </p:oleObj>
              </mc:Choice>
              <mc:Fallback>
                <p:oleObj name="Equation" r:id="rId5" imgW="1651000" imgH="4318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297990" y="4872555"/>
                        <a:ext cx="3616658" cy="94722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91493" name="Picture 1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9295" y="2277675"/>
            <a:ext cx="2890999" cy="11930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17699" y="2509997"/>
            <a:ext cx="3594100" cy="7445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609431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90" name="Picture 20"/>
          <p:cNvPicPr>
            <a:picLocks noGrp="1" noChangeAspect="1" noChangeArrowheads="1"/>
          </p:cNvPicPr>
          <p:nvPr>
            <p:ph sz="quarter" idx="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87" t="2419" r="1387" b="2419"/>
          <a:stretch>
            <a:fillRect/>
          </a:stretch>
        </p:blipFill>
        <p:spPr>
          <a:xfrm>
            <a:off x="6507132" y="4119468"/>
            <a:ext cx="3857625" cy="2165350"/>
          </a:xfrm>
          <a:extLst>
            <a:ext uri="{91240B29-F687-4F45-9708-019B960494DF}">
              <a14:hiddenLine xmlns:a14="http://schemas.microsoft.com/office/drawing/2010/main" w="9525" cap="flat" cmpd="sng">
                <a:solidFill>
                  <a:schemeClr val="tx1"/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</p:pic>
      <p:sp>
        <p:nvSpPr>
          <p:cNvPr id="12291" name="Rectangle 2"/>
          <p:cNvSpPr>
            <a:spLocks noGrp="1" noChangeArrowheads="1"/>
          </p:cNvSpPr>
          <p:nvPr>
            <p:ph type="title"/>
          </p:nvPr>
        </p:nvSpPr>
        <p:spPr>
          <a:xfrm>
            <a:off x="1459941" y="393606"/>
            <a:ext cx="10390716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/>
              <a:t>The Poisson Distribution Graphically</a:t>
            </a:r>
          </a:p>
        </p:txBody>
      </p:sp>
      <p:pic>
        <p:nvPicPr>
          <p:cNvPr id="12292" name="Picture 13"/>
          <p:cNvPicPr>
            <a:picLocks noGrp="1" noChangeAspect="1" noChangeArrowheads="1"/>
          </p:cNvPicPr>
          <p:nvPr>
            <p:ph sz="half"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87" t="2419" r="1387" b="2419"/>
          <a:stretch>
            <a:fillRect/>
          </a:stretch>
        </p:blipFill>
        <p:spPr>
          <a:xfrm>
            <a:off x="6478556" y="1757268"/>
            <a:ext cx="3810000" cy="2185988"/>
          </a:xfrm>
          <a:extLst>
            <a:ext uri="{91240B29-F687-4F45-9708-019B960494DF}">
              <a14:hiddenLine xmlns:a14="http://schemas.microsoft.com/office/drawing/2010/main" w="9525" cap="flat" cmpd="sng">
                <a:solidFill>
                  <a:schemeClr val="tx1"/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</p:pic>
      <p:pic>
        <p:nvPicPr>
          <p:cNvPr id="12293" name="Picture 16"/>
          <p:cNvPicPr>
            <a:picLocks noGrp="1" noChangeAspect="1" noChangeArrowheads="1"/>
          </p:cNvPicPr>
          <p:nvPr>
            <p:ph sz="quarter" idx="2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87" t="2419" r="1387" b="2419"/>
          <a:stretch>
            <a:fillRect/>
          </a:stretch>
        </p:blipFill>
        <p:spPr>
          <a:xfrm>
            <a:off x="1906557" y="1757269"/>
            <a:ext cx="3757613" cy="2155825"/>
          </a:xfrm>
          <a:extLst>
            <a:ext uri="{91240B29-F687-4F45-9708-019B960494DF}">
              <a14:hiddenLine xmlns:a14="http://schemas.microsoft.com/office/drawing/2010/main" w="9525" cap="flat" cmpd="sng">
                <a:solidFill>
                  <a:schemeClr val="tx1"/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</p:pic>
      <p:sp>
        <p:nvSpPr>
          <p:cNvPr id="12294" name="Text Box 10"/>
          <p:cNvSpPr txBox="1">
            <a:spLocks noChangeArrowheads="1"/>
          </p:cNvSpPr>
          <p:nvPr/>
        </p:nvSpPr>
        <p:spPr bwMode="auto">
          <a:xfrm>
            <a:off x="4891056" y="1909668"/>
            <a:ext cx="7493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3200" i="1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US" altLang="en-US" sz="2400" i="0">
                <a:sym typeface="Symbol" charset="2"/>
              </a:rPr>
              <a:t>=2</a:t>
            </a:r>
          </a:p>
        </p:txBody>
      </p:sp>
      <p:sp>
        <p:nvSpPr>
          <p:cNvPr id="12295" name="Text Box 11"/>
          <p:cNvSpPr txBox="1">
            <a:spLocks noChangeArrowheads="1"/>
          </p:cNvSpPr>
          <p:nvPr/>
        </p:nvSpPr>
        <p:spPr bwMode="auto">
          <a:xfrm>
            <a:off x="9526556" y="1909668"/>
            <a:ext cx="7493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3200" i="1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US" altLang="en-US" sz="2400" i="0">
                <a:sym typeface="Symbol" charset="2"/>
              </a:rPr>
              <a:t>=5</a:t>
            </a:r>
          </a:p>
        </p:txBody>
      </p:sp>
      <p:sp>
        <p:nvSpPr>
          <p:cNvPr id="12296" name="Text Box 12"/>
          <p:cNvSpPr txBox="1">
            <a:spLocks noChangeArrowheads="1"/>
          </p:cNvSpPr>
          <p:nvPr/>
        </p:nvSpPr>
        <p:spPr bwMode="auto">
          <a:xfrm>
            <a:off x="9539256" y="4271868"/>
            <a:ext cx="7493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3200" i="1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US" altLang="en-US" sz="2400" i="0">
                <a:sym typeface="Symbol" charset="2"/>
              </a:rPr>
              <a:t>=8</a:t>
            </a:r>
          </a:p>
        </p:txBody>
      </p:sp>
    </p:spTree>
    <p:extLst>
      <p:ext uri="{BB962C8B-B14F-4D97-AF65-F5344CB8AC3E}">
        <p14:creationId xmlns:p14="http://schemas.microsoft.com/office/powerpoint/2010/main" val="82185319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865771" y="535810"/>
            <a:ext cx="10515600" cy="1325563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 dirty="0"/>
              <a:t>An Example of the Poisson Distribution-I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32788" y="1679857"/>
            <a:ext cx="11364686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u="sng" dirty="0"/>
              <a:t>The mean bycatch of dolphins per month in the Eastern Tropical Pacific is 3</a:t>
            </a:r>
          </a:p>
          <a:p>
            <a:pPr eaLnBrk="1" hangingPunct="1">
              <a:defRPr/>
            </a:pPr>
            <a:endParaRPr lang="en-US" altLang="en-US" dirty="0"/>
          </a:p>
          <a:p>
            <a:pPr lvl="1" eaLnBrk="1" hangingPunct="1">
              <a:defRPr/>
            </a:pPr>
            <a:r>
              <a:rPr lang="en-US" altLang="en-US" sz="2600" dirty="0"/>
              <a:t>What is the probability that the catch will be 4 in a given month?</a:t>
            </a:r>
          </a:p>
          <a:p>
            <a:pPr lvl="1" eaLnBrk="1" hangingPunct="1">
              <a:defRPr/>
            </a:pPr>
            <a:endParaRPr lang="en-US" altLang="en-US" sz="2600" dirty="0"/>
          </a:p>
          <a:p>
            <a:pPr lvl="1" eaLnBrk="1" hangingPunct="1">
              <a:defRPr/>
            </a:pPr>
            <a:r>
              <a:rPr lang="en-US" altLang="en-US" sz="2600" dirty="0"/>
              <a:t>What is the probability that the catch will be 2 or less in a given month?</a:t>
            </a:r>
          </a:p>
          <a:p>
            <a:pPr lvl="1" eaLnBrk="1" hangingPunct="1">
              <a:defRPr/>
            </a:pPr>
            <a:endParaRPr lang="en-US" altLang="en-US" sz="2600" dirty="0"/>
          </a:p>
          <a:p>
            <a:pPr lvl="1" eaLnBrk="1" hangingPunct="1">
              <a:defRPr/>
            </a:pPr>
            <a:r>
              <a:rPr lang="en-US" altLang="en-US" sz="2600" dirty="0"/>
              <a:t>What is the probability that at least one dolphin is killed?</a:t>
            </a:r>
          </a:p>
        </p:txBody>
      </p:sp>
      <p:graphicFrame>
        <p:nvGraphicFramePr>
          <p:cNvPr id="4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64011272"/>
              </p:ext>
            </p:extLst>
          </p:nvPr>
        </p:nvGraphicFramePr>
        <p:xfrm>
          <a:off x="4818820" y="4919723"/>
          <a:ext cx="2554360" cy="90575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180588" imgH="418918" progId="Equation.DSMT4">
                  <p:embed/>
                </p:oleObj>
              </mc:Choice>
              <mc:Fallback>
                <p:oleObj name="Equation" r:id="rId3" imgW="1180588" imgH="418918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18820" y="4919723"/>
                        <a:ext cx="2554360" cy="90575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extBox 1"/>
          <p:cNvSpPr txBox="1"/>
          <p:nvPr/>
        </p:nvSpPr>
        <p:spPr>
          <a:xfrm>
            <a:off x="356815" y="6265335"/>
            <a:ext cx="117808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Breakout groups: Try to find analytical solutions AND a solution using built in functions in 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4936B6-5259-DADB-50C3-AAE367567E04}"/>
              </a:ext>
            </a:extLst>
          </p:cNvPr>
          <p:cNvSpPr txBox="1"/>
          <p:nvPr/>
        </p:nvSpPr>
        <p:spPr>
          <a:xfrm>
            <a:off x="4550397" y="70314"/>
            <a:ext cx="297793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rgbClr val="0070C0"/>
                </a:solidFill>
              </a:rPr>
              <a:t>Group Work</a:t>
            </a:r>
          </a:p>
        </p:txBody>
      </p:sp>
    </p:spTree>
    <p:extLst>
      <p:ext uri="{BB962C8B-B14F-4D97-AF65-F5344CB8AC3E}">
        <p14:creationId xmlns:p14="http://schemas.microsoft.com/office/powerpoint/2010/main" val="9422591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>
          <a:xfrm>
            <a:off x="1534585" y="169671"/>
            <a:ext cx="10390716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/>
              <a:t>An Example of the Poisson Distribution-II</a:t>
            </a:r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518984" y="1609533"/>
            <a:ext cx="11071654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The mean catch of dolphins per month in the Eastern Tropical Pacific is 3.</a:t>
            </a:r>
          </a:p>
          <a:p>
            <a:pPr eaLnBrk="1" hangingPunct="1">
              <a:defRPr/>
            </a:pPr>
            <a:endParaRPr lang="en-US" altLang="en-US" dirty="0"/>
          </a:p>
          <a:p>
            <a:pPr lvl="1" eaLnBrk="1" hangingPunct="1">
              <a:defRPr/>
            </a:pPr>
            <a:r>
              <a:rPr lang="en-US" altLang="en-US" dirty="0"/>
              <a:t>What is the probability that the catch will be 4 in a given month?</a:t>
            </a:r>
          </a:p>
          <a:p>
            <a:pPr lvl="1" eaLnBrk="1" hangingPunct="1">
              <a:defRPr/>
            </a:pPr>
            <a:endParaRPr lang="en-US" altLang="en-US" dirty="0"/>
          </a:p>
        </p:txBody>
      </p:sp>
      <p:graphicFrame>
        <p:nvGraphicFramePr>
          <p:cNvPr id="7172" name="Object 6"/>
          <p:cNvGraphicFramePr>
            <a:graphicFrameLocks noGrp="1" noChangeAspect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390098713"/>
              </p:ext>
            </p:extLst>
          </p:nvPr>
        </p:nvGraphicFramePr>
        <p:xfrm>
          <a:off x="3200400" y="3895533"/>
          <a:ext cx="5410200" cy="10556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146300" imgH="419100" progId="Equation.DSMT4">
                  <p:embed/>
                </p:oleObj>
              </mc:Choice>
              <mc:Fallback>
                <p:oleObj name="Equation" r:id="rId3" imgW="2146300" imgH="4191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00400" y="3895533"/>
                        <a:ext cx="5410200" cy="10556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" name="Picture 1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0601" y="5246496"/>
            <a:ext cx="2341563" cy="774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964027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>
          <a:xfrm>
            <a:off x="2590800" y="76200"/>
            <a:ext cx="7793038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sz="4000"/>
              <a:t>An Example of the Poisson Distribution-III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444843" y="1219200"/>
            <a:ext cx="11145795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The mean catch of dolphins per month in the Eastern Tropical Pacific is 3.</a:t>
            </a:r>
          </a:p>
          <a:p>
            <a:pPr eaLnBrk="1" hangingPunct="1">
              <a:defRPr/>
            </a:pPr>
            <a:endParaRPr lang="en-US" altLang="en-US" dirty="0"/>
          </a:p>
          <a:p>
            <a:pPr lvl="1" eaLnBrk="1" hangingPunct="1">
              <a:defRPr/>
            </a:pPr>
            <a:r>
              <a:rPr lang="en-US" altLang="en-US" dirty="0">
                <a:solidFill>
                  <a:srgbClr val="969696"/>
                </a:solidFill>
              </a:rPr>
              <a:t>What is the probability that the catch will be 4 in a given month?</a:t>
            </a:r>
          </a:p>
          <a:p>
            <a:pPr lvl="1" eaLnBrk="1" hangingPunct="1">
              <a:defRPr/>
            </a:pPr>
            <a:r>
              <a:rPr lang="en-US" altLang="en-US" dirty="0"/>
              <a:t>What is the probability that the catch will be 2 or fewer in a given month?</a:t>
            </a:r>
          </a:p>
          <a:p>
            <a:pPr lvl="1" eaLnBrk="1" hangingPunct="1">
              <a:buFont typeface="Wingdings" charset="2"/>
              <a:buNone/>
              <a:defRPr/>
            </a:pPr>
            <a:r>
              <a:rPr lang="en-US" altLang="en-US" dirty="0"/>
              <a:t>P[X</a:t>
            </a:r>
            <a:r>
              <a:rPr lang="en-US" altLang="en-US" dirty="0">
                <a:sym typeface="Symbol" charset="2"/>
              </a:rPr>
              <a:t>2]=P[X=0]+P[X=1]+P[X=2]=</a:t>
            </a:r>
          </a:p>
        </p:txBody>
      </p:sp>
      <p:graphicFrame>
        <p:nvGraphicFramePr>
          <p:cNvPr id="8196" name="Object 4"/>
          <p:cNvGraphicFramePr>
            <a:graphicFrameLocks noGrp="1" noChangeAspect="1"/>
          </p:cNvGraphicFramePr>
          <p:nvPr>
            <p:ph sz="half" idx="2"/>
          </p:nvPr>
        </p:nvGraphicFramePr>
        <p:xfrm>
          <a:off x="1524000" y="5334001"/>
          <a:ext cx="4267200" cy="8048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222500" imgH="419100" progId="Equation.DSMT4">
                  <p:embed/>
                </p:oleObj>
              </mc:Choice>
              <mc:Fallback>
                <p:oleObj name="Equation" r:id="rId3" imgW="2222500" imgH="4191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24000" y="5334001"/>
                        <a:ext cx="4267200" cy="8048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" name="Picture 1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3463" y="5114925"/>
            <a:ext cx="4495800" cy="1244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462478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>
          <a:xfrm>
            <a:off x="2590800" y="76200"/>
            <a:ext cx="7793038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sz="4000"/>
              <a:t>An Example of the Poisson Distribution-III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286001" y="1219200"/>
            <a:ext cx="7656513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The mean catch of dolphins per month in the Eastern Tropical Pacific is 3. </a:t>
            </a:r>
          </a:p>
          <a:p>
            <a:pPr lvl="1" eaLnBrk="1" hangingPunct="1">
              <a:defRPr/>
            </a:pPr>
            <a:r>
              <a:rPr lang="en-US" altLang="en-US" dirty="0">
                <a:solidFill>
                  <a:srgbClr val="969696"/>
                </a:solidFill>
              </a:rPr>
              <a:t>What is the probability that the catch will be 4 in a given month?</a:t>
            </a:r>
          </a:p>
          <a:p>
            <a:pPr lvl="1" eaLnBrk="1" hangingPunct="1">
              <a:defRPr/>
            </a:pPr>
            <a:r>
              <a:rPr lang="en-US" altLang="en-US" dirty="0">
                <a:solidFill>
                  <a:schemeClr val="bg1">
                    <a:lumMod val="65000"/>
                  </a:schemeClr>
                </a:solidFill>
              </a:rPr>
              <a:t>What is the probability that the catch will be 2 or fewer in a given month?</a:t>
            </a:r>
          </a:p>
          <a:p>
            <a:pPr lvl="1" eaLnBrk="1" hangingPunct="1">
              <a:defRPr/>
            </a:pPr>
            <a:r>
              <a:rPr lang="en-US" altLang="en-US" dirty="0"/>
              <a:t>What is the probability that at least 1 dolphin is killed?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1876" y="4392386"/>
            <a:ext cx="3021012" cy="1883228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9446483" y="4687669"/>
            <a:ext cx="234186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e</a:t>
            </a:r>
            <a:r>
              <a:rPr lang="en-US" sz="4000" baseline="30000" dirty="0"/>
              <a:t>-3</a:t>
            </a:r>
          </a:p>
        </p:txBody>
      </p:sp>
      <p:cxnSp>
        <p:nvCxnSpPr>
          <p:cNvPr id="5" name="Straight Arrow Connector 4"/>
          <p:cNvCxnSpPr/>
          <p:nvPr/>
        </p:nvCxnSpPr>
        <p:spPr>
          <a:xfrm flipH="1">
            <a:off x="7522888" y="5041612"/>
            <a:ext cx="1923595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9738763" y="5450864"/>
            <a:ext cx="234186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1 - e</a:t>
            </a:r>
            <a:r>
              <a:rPr lang="en-US" sz="4000" baseline="30000" dirty="0"/>
              <a:t>-3</a:t>
            </a:r>
          </a:p>
        </p:txBody>
      </p:sp>
      <p:cxnSp>
        <p:nvCxnSpPr>
          <p:cNvPr id="9" name="Straight Arrow Connector 8"/>
          <p:cNvCxnSpPr/>
          <p:nvPr/>
        </p:nvCxnSpPr>
        <p:spPr>
          <a:xfrm flipH="1">
            <a:off x="7815168" y="5804807"/>
            <a:ext cx="1923595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746908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287676" y="15875"/>
            <a:ext cx="11774185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sz="4000" dirty="0"/>
              <a:t>Example of using Poisson Probabilistic Arguments in Research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8750" y="4857687"/>
            <a:ext cx="6896100" cy="180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97635" name="Picture 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7600" y="927395"/>
            <a:ext cx="5283200" cy="360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8351369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xfrm>
            <a:off x="2286000" y="-250373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 dirty="0"/>
              <a:t>The Poisson Distribution - Caveat</a:t>
            </a:r>
            <a:endParaRPr lang="en-US" altLang="en-US" sz="3200" dirty="0"/>
          </a:p>
        </p:txBody>
      </p:sp>
      <p:sp>
        <p:nvSpPr>
          <p:cNvPr id="1126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14400" y="1149802"/>
            <a:ext cx="10431624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The Poisson distribution would seem to be a good distribution to assume for catch data in fisheries. However, fish school. What does this imply regarding the assumptions of the Poisson distribution?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Variance would be high relative to the mean</a:t>
            </a:r>
          </a:p>
          <a:p>
            <a:pPr lvl="1" eaLnBrk="1" hangingPunct="1">
              <a:defRPr/>
            </a:pPr>
            <a:r>
              <a:rPr lang="en-US" altLang="en-US" dirty="0"/>
              <a:t>You catch zero or a shit ton!!!</a:t>
            </a:r>
          </a:p>
          <a:p>
            <a:pPr lvl="1" eaLnBrk="1" hangingPunct="1">
              <a:defRPr/>
            </a:pPr>
            <a:r>
              <a:rPr lang="en-US" altLang="en-US" dirty="0"/>
              <a:t>This is called </a:t>
            </a:r>
            <a:r>
              <a:rPr lang="en-US" altLang="en-US" dirty="0" err="1"/>
              <a:t>overdispersion</a:t>
            </a:r>
            <a:r>
              <a:rPr lang="en-US" altLang="en-US" dirty="0"/>
              <a:t> </a:t>
            </a:r>
            <a:r>
              <a:rPr lang="en-US" altLang="en-US" dirty="0">
                <a:sym typeface="Wingdings"/>
              </a:rPr>
              <a:t> Onward to negative binomial!</a:t>
            </a: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544515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xfrm>
            <a:off x="1927654" y="-250373"/>
            <a:ext cx="8353168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sz="4000" dirty="0"/>
              <a:t>But </a:t>
            </a:r>
            <a:r>
              <a:rPr lang="en-US" altLang="en-US" sz="4000"/>
              <a:t>first: MLE </a:t>
            </a:r>
            <a:r>
              <a:rPr lang="en-US" altLang="en-US" sz="4000" dirty="0"/>
              <a:t>for the Poisson Distribution</a:t>
            </a:r>
            <a:endParaRPr lang="en-US" altLang="en-US" sz="3200" dirty="0"/>
          </a:p>
        </p:txBody>
      </p:sp>
      <p:sp>
        <p:nvSpPr>
          <p:cNvPr id="1126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78498" y="1149802"/>
            <a:ext cx="10991461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Let’s find the MLE of the Poisson distribution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Let’s do it for a dataset of </a:t>
            </a:r>
            <a:r>
              <a:rPr lang="en-US" altLang="en-US" i="1" dirty="0"/>
              <a:t>n</a:t>
            </a:r>
            <a:r>
              <a:rPr lang="en-US" altLang="en-US" dirty="0"/>
              <a:t> Poisson distributed observations. (very common to assume that </a:t>
            </a:r>
            <a:r>
              <a:rPr lang="en-US" altLang="en-US" i="1" dirty="0"/>
              <a:t>t</a:t>
            </a:r>
            <a:r>
              <a:rPr lang="en-US" altLang="en-US" dirty="0"/>
              <a:t> =1 since counts per period is typically desired)</a:t>
            </a:r>
          </a:p>
        </p:txBody>
      </p:sp>
      <p:pic>
        <p:nvPicPr>
          <p:cNvPr id="207875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0" y="1961731"/>
            <a:ext cx="2654300" cy="1095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3556" y="5027477"/>
            <a:ext cx="4945062" cy="546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6975" y="5024047"/>
            <a:ext cx="3733800" cy="5381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4347816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>
          <a:xfrm>
            <a:off x="1524000" y="34630"/>
            <a:ext cx="87074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sz="4000" dirty="0"/>
              <a:t>The Negative Binomial Distribution</a:t>
            </a:r>
            <a:br>
              <a:rPr lang="en-US" sz="4000" dirty="0"/>
            </a:br>
            <a:r>
              <a:rPr lang="en-US" sz="2400" dirty="0"/>
              <a:t>(1) # failures/trials before fixed number of successes</a:t>
            </a:r>
          </a:p>
        </p:txBody>
      </p:sp>
      <p:sp>
        <p:nvSpPr>
          <p:cNvPr id="15363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840259" y="1434805"/>
            <a:ext cx="10552671" cy="4114800"/>
          </a:xfrm>
        </p:spPr>
        <p:txBody>
          <a:bodyPr>
            <a:normAutofit/>
          </a:bodyPr>
          <a:lstStyle/>
          <a:p>
            <a:pPr eaLnBrk="1" hangingPunct="1">
              <a:defRPr/>
            </a:pPr>
            <a:r>
              <a:rPr lang="en-US" sz="3000" dirty="0"/>
              <a:t>We have an experiment with two outcomes: success (with probability </a:t>
            </a:r>
            <a:r>
              <a:rPr lang="en-US" sz="3000" i="1" dirty="0"/>
              <a:t>p</a:t>
            </a:r>
            <a:r>
              <a:rPr lang="en-US" sz="3000" dirty="0"/>
              <a:t>) and failure (with probability </a:t>
            </a:r>
            <a:r>
              <a:rPr lang="en-US" sz="3000" i="1" dirty="0"/>
              <a:t>q </a:t>
            </a:r>
            <a:r>
              <a:rPr lang="en-US" sz="3000" dirty="0"/>
              <a:t>=1-</a:t>
            </a:r>
            <a:r>
              <a:rPr lang="en-US" sz="3000" i="1" dirty="0"/>
              <a:t>p</a:t>
            </a:r>
            <a:r>
              <a:rPr lang="en-US" sz="3000" dirty="0"/>
              <a:t>).</a:t>
            </a:r>
          </a:p>
          <a:p>
            <a:pPr eaLnBrk="1" hangingPunct="1">
              <a:defRPr/>
            </a:pPr>
            <a:endParaRPr lang="en-US" sz="3000" dirty="0"/>
          </a:p>
          <a:p>
            <a:pPr eaLnBrk="1" hangingPunct="1">
              <a:defRPr/>
            </a:pPr>
            <a:r>
              <a:rPr lang="en-US" sz="3000" dirty="0"/>
              <a:t>Let </a:t>
            </a:r>
            <a:r>
              <a:rPr lang="en-US" sz="3000" i="1" dirty="0"/>
              <a:t>N</a:t>
            </a:r>
            <a:r>
              <a:rPr lang="en-US" sz="3000" dirty="0"/>
              <a:t>  be the number of trials to achieve </a:t>
            </a:r>
            <a:r>
              <a:rPr lang="en-US" sz="3000" i="1" dirty="0"/>
              <a:t>k</a:t>
            </a:r>
            <a:r>
              <a:rPr lang="en-US" sz="3000" dirty="0"/>
              <a:t> successes, each with probability </a:t>
            </a:r>
            <a:r>
              <a:rPr lang="en-US" sz="3000" i="1" dirty="0"/>
              <a:t>p</a:t>
            </a:r>
          </a:p>
          <a:p>
            <a:pPr eaLnBrk="1" hangingPunct="1">
              <a:defRPr/>
            </a:pPr>
            <a:endParaRPr lang="en-US" sz="3000" i="1" dirty="0"/>
          </a:p>
          <a:p>
            <a:pPr eaLnBrk="1" hangingPunct="1">
              <a:defRPr/>
            </a:pPr>
            <a:r>
              <a:rPr lang="en-US" sz="3000" dirty="0"/>
              <a:t>Number of trials, </a:t>
            </a:r>
            <a:r>
              <a:rPr lang="en-US" sz="3000" i="1" dirty="0"/>
              <a:t>N</a:t>
            </a:r>
            <a:r>
              <a:rPr lang="en-US" sz="3000" dirty="0"/>
              <a:t>,</a:t>
            </a:r>
            <a:r>
              <a:rPr lang="en-US" sz="3000" i="1" dirty="0"/>
              <a:t> </a:t>
            </a:r>
            <a:r>
              <a:rPr lang="en-US" sz="3000" dirty="0"/>
              <a:t>is now the random variable!</a:t>
            </a:r>
          </a:p>
          <a:p>
            <a:pPr lvl="1" eaLnBrk="1" hangingPunct="1">
              <a:defRPr/>
            </a:pPr>
            <a:r>
              <a:rPr lang="en-US" sz="3000" dirty="0"/>
              <a:t>Recall, </a:t>
            </a:r>
            <a:r>
              <a:rPr lang="en-US" sz="3000" i="1" dirty="0"/>
              <a:t>k</a:t>
            </a:r>
            <a:r>
              <a:rPr lang="en-US" sz="3000" dirty="0"/>
              <a:t>, was the R.V. in the binomial case</a:t>
            </a:r>
          </a:p>
        </p:txBody>
      </p:sp>
    </p:spTree>
    <p:extLst>
      <p:ext uri="{BB962C8B-B14F-4D97-AF65-F5344CB8AC3E}">
        <p14:creationId xmlns:p14="http://schemas.microsoft.com/office/powerpoint/2010/main" val="143236020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1970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35113" y="1390986"/>
            <a:ext cx="9144000" cy="427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11971" name="Picture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2046622"/>
            <a:ext cx="9144000" cy="2724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35113" y="4892484"/>
            <a:ext cx="9144000" cy="955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1973" name="TextBox 6"/>
          <p:cNvSpPr txBox="1">
            <a:spLocks noChangeArrowheads="1"/>
          </p:cNvSpPr>
          <p:nvPr/>
        </p:nvSpPr>
        <p:spPr bwMode="auto">
          <a:xfrm>
            <a:off x="3141663" y="4437929"/>
            <a:ext cx="5472112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Try to derive it based on this argument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2107" y="6085223"/>
            <a:ext cx="566620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How do we turn this into “failures”, X=k, until r successes?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63239" y="5922241"/>
            <a:ext cx="6165041" cy="955675"/>
          </a:xfrm>
          <a:prstGeom prst="rect">
            <a:avLst/>
          </a:prstGeom>
        </p:spPr>
      </p:pic>
      <p:sp>
        <p:nvSpPr>
          <p:cNvPr id="10" name="Rectangle 2"/>
          <p:cNvSpPr txBox="1">
            <a:spLocks noChangeArrowheads="1"/>
          </p:cNvSpPr>
          <p:nvPr/>
        </p:nvSpPr>
        <p:spPr>
          <a:xfrm>
            <a:off x="1524000" y="34630"/>
            <a:ext cx="8707438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sz="4000"/>
              <a:t>The Negative Binomial Distribution</a:t>
            </a:r>
            <a:br>
              <a:rPr lang="en-US" sz="4000"/>
            </a:br>
            <a:r>
              <a:rPr lang="en-US" sz="2400"/>
              <a:t>(1) # failures/trials before fixed number of successes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2554308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>
          <a:xfrm>
            <a:off x="1524000" y="6920"/>
            <a:ext cx="87074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sz="4000" dirty="0"/>
              <a:t>The Negative Binomial Distribution</a:t>
            </a:r>
            <a:br>
              <a:rPr lang="en-US" sz="4000" dirty="0"/>
            </a:br>
            <a:r>
              <a:rPr lang="en-US" sz="2400" dirty="0"/>
              <a:t>(2) Poisson with a variable rate parameter </a:t>
            </a:r>
          </a:p>
        </p:txBody>
      </p:sp>
      <p:sp>
        <p:nvSpPr>
          <p:cNvPr id="2" name="Text Placeholder 1"/>
          <p:cNvSpPr>
            <a:spLocks noGrp="1"/>
          </p:cNvSpPr>
          <p:nvPr>
            <p:ph type="body" sz="half" idx="1"/>
          </p:nvPr>
        </p:nvSpPr>
        <p:spPr>
          <a:xfrm>
            <a:off x="1798638" y="1378520"/>
            <a:ext cx="8793162" cy="2667000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dirty="0"/>
              <a:t>Start with Poisson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But let’s give lambda a continuous probability (continuous distributions come soon!) and then integrate over all possible values of lambda (this is called “marginalizing”)</a:t>
            </a:r>
          </a:p>
        </p:txBody>
      </p:sp>
      <p:pic>
        <p:nvPicPr>
          <p:cNvPr id="214019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81752" y="1149920"/>
            <a:ext cx="5346700" cy="1352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14020" name="Picture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4519" y="4045520"/>
            <a:ext cx="5486400" cy="1377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3519" y="5791131"/>
            <a:ext cx="6248400" cy="73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735548" y="5974765"/>
            <a:ext cx="10179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Because:</a:t>
            </a:r>
          </a:p>
        </p:txBody>
      </p:sp>
    </p:spTree>
    <p:extLst>
      <p:ext uri="{BB962C8B-B14F-4D97-AF65-F5344CB8AC3E}">
        <p14:creationId xmlns:p14="http://schemas.microsoft.com/office/powerpoint/2010/main" val="12319349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>
          <a:xfrm>
            <a:off x="1828801" y="381000"/>
            <a:ext cx="8639175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/>
              <a:t>Quick note </a:t>
            </a:r>
            <a:r>
              <a:rPr lang="en-US" dirty="0"/>
              <a:t>on Gamma function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706688" y="2017713"/>
            <a:ext cx="7275512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/>
              <a:t>Continuous version of factorial</a:t>
            </a:r>
          </a:p>
          <a:p>
            <a:pPr eaLnBrk="1" hangingPunct="1">
              <a:defRPr/>
            </a:pPr>
            <a:r>
              <a:rPr lang="en-US" dirty="0"/>
              <a:t>For integers, </a:t>
            </a:r>
            <a:r>
              <a:rPr lang="en-US" i="1" dirty="0"/>
              <a:t>z</a:t>
            </a:r>
            <a:r>
              <a:rPr lang="en-US" dirty="0"/>
              <a:t>,</a:t>
            </a:r>
          </a:p>
          <a:p>
            <a:pPr eaLnBrk="1" hangingPunct="1">
              <a:defRPr/>
            </a:pPr>
            <a:r>
              <a:rPr lang="en-US" dirty="0"/>
              <a:t>In general</a:t>
            </a:r>
          </a:p>
          <a:p>
            <a:pPr eaLnBrk="1" hangingPunct="1">
              <a:defRPr/>
            </a:pPr>
            <a:endParaRPr lang="en-US" dirty="0"/>
          </a:p>
          <a:p>
            <a:pPr eaLnBrk="1" hangingPunct="1">
              <a:defRPr/>
            </a:pPr>
            <a:r>
              <a:rPr lang="en-US" dirty="0"/>
              <a:t>Defined (for z &gt; 0): 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1200" y="2514600"/>
            <a:ext cx="2552700" cy="52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72063" y="3035300"/>
            <a:ext cx="2997200" cy="68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1113" y="3963988"/>
            <a:ext cx="3416300" cy="1816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486909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>
          <a:xfrm>
            <a:off x="1524000" y="-76200"/>
            <a:ext cx="87074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sz="4000" dirty="0"/>
              <a:t>The Negative Binomial Distribution</a:t>
            </a:r>
            <a:br>
              <a:rPr lang="en-US" sz="4000" dirty="0"/>
            </a:br>
            <a:r>
              <a:rPr lang="en-US" sz="2400" dirty="0"/>
              <a:t>(2) Poisson with a variable rate parameter </a:t>
            </a:r>
          </a:p>
        </p:txBody>
      </p:sp>
      <p:sp>
        <p:nvSpPr>
          <p:cNvPr id="220162" name="TextBox 7"/>
          <p:cNvSpPr txBox="1">
            <a:spLocks noChangeArrowheads="1"/>
          </p:cNvSpPr>
          <p:nvPr/>
        </p:nvSpPr>
        <p:spPr bwMode="auto">
          <a:xfrm>
            <a:off x="1139218" y="2516189"/>
            <a:ext cx="9837373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>
                <a:solidFill>
                  <a:srgbClr val="000000"/>
                </a:solidFill>
              </a:rPr>
              <a:t>Common parameterization in ecology with the mean as a parameter:</a:t>
            </a:r>
          </a:p>
        </p:txBody>
      </p:sp>
      <p:pic>
        <p:nvPicPr>
          <p:cNvPr id="220164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1819"/>
          <a:stretch>
            <a:fillRect/>
          </a:stretch>
        </p:blipFill>
        <p:spPr bwMode="auto">
          <a:xfrm>
            <a:off x="2852351" y="3120729"/>
            <a:ext cx="6670704" cy="10702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D7B4B51-8AF6-F8EA-03D4-2A3C1E59E5EB}"/>
              </a:ext>
            </a:extLst>
          </p:cNvPr>
          <p:cNvSpPr txBox="1"/>
          <p:nvPr/>
        </p:nvSpPr>
        <p:spPr>
          <a:xfrm>
            <a:off x="1749778" y="4865511"/>
            <a:ext cx="96626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We model </a:t>
            </a:r>
            <a:r>
              <a:rPr lang="en-US" sz="2400" i="1" dirty="0"/>
              <a:t>N </a:t>
            </a:r>
            <a:r>
              <a:rPr lang="en-US" sz="2400" dirty="0" err="1"/>
              <a:t>overdispersed</a:t>
            </a:r>
            <a:r>
              <a:rPr lang="en-US" sz="2400" dirty="0"/>
              <a:t> counts as function of mean, </a:t>
            </a:r>
            <a:r>
              <a:rPr lang="en-US" sz="2400" i="1" dirty="0"/>
              <a:t>m</a:t>
            </a:r>
            <a:r>
              <a:rPr lang="en-US" sz="2400" dirty="0"/>
              <a:t>, and dispersion, </a:t>
            </a:r>
            <a:r>
              <a:rPr lang="en-US" sz="2400" i="1" dirty="0"/>
              <a:t>k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57066503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>
          <a:xfrm>
            <a:off x="1524000" y="-76200"/>
            <a:ext cx="87074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sz="4000" dirty="0"/>
              <a:t>The Negative Binomial Distribution</a:t>
            </a:r>
            <a:br>
              <a:rPr lang="en-US" sz="4000" dirty="0"/>
            </a:br>
            <a:r>
              <a:rPr lang="en-US" sz="2400" dirty="0"/>
              <a:t>(2) Poisson with a variable rate parameter </a:t>
            </a:r>
          </a:p>
        </p:txBody>
      </p:sp>
      <p:pic>
        <p:nvPicPr>
          <p:cNvPr id="222210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1819"/>
          <a:stretch>
            <a:fillRect/>
          </a:stretch>
        </p:blipFill>
        <p:spPr bwMode="auto">
          <a:xfrm>
            <a:off x="2943225" y="1360488"/>
            <a:ext cx="5867400" cy="939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24400" y="3117850"/>
            <a:ext cx="2768600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22212" name="TextBox 8"/>
          <p:cNvSpPr txBox="1">
            <a:spLocks noChangeArrowheads="1"/>
          </p:cNvSpPr>
          <p:nvPr/>
        </p:nvSpPr>
        <p:spPr bwMode="auto">
          <a:xfrm>
            <a:off x="3292475" y="2478088"/>
            <a:ext cx="5170488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What is the probability of no events?</a:t>
            </a:r>
          </a:p>
        </p:txBody>
      </p:sp>
      <p:sp>
        <p:nvSpPr>
          <p:cNvPr id="14" name="TextBox 13"/>
          <p:cNvSpPr txBox="1">
            <a:spLocks noChangeArrowheads="1"/>
          </p:cNvSpPr>
          <p:nvPr/>
        </p:nvSpPr>
        <p:spPr bwMode="auto">
          <a:xfrm>
            <a:off x="2201864" y="4724401"/>
            <a:ext cx="7813675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This probability can be large if </a:t>
            </a:r>
            <a:r>
              <a:rPr lang="en-US" altLang="en-US" sz="2400" i="1"/>
              <a:t>k </a:t>
            </a:r>
            <a:r>
              <a:rPr lang="en-US" altLang="en-US" sz="2400"/>
              <a:t>is small even if </a:t>
            </a:r>
            <a:r>
              <a:rPr lang="en-US" altLang="en-US" sz="2400" i="1"/>
              <a:t>m </a:t>
            </a:r>
            <a:r>
              <a:rPr lang="en-US" altLang="en-US" sz="2400"/>
              <a:t>is big</a:t>
            </a:r>
          </a:p>
        </p:txBody>
      </p:sp>
    </p:spTree>
    <p:extLst>
      <p:ext uri="{BB962C8B-B14F-4D97-AF65-F5344CB8AC3E}">
        <p14:creationId xmlns:p14="http://schemas.microsoft.com/office/powerpoint/2010/main" val="255839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4257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95600" y="971550"/>
            <a:ext cx="6007100" cy="5886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Rectangle 2"/>
          <p:cNvSpPr>
            <a:spLocks noGrp="1" noChangeArrowheads="1"/>
          </p:cNvSpPr>
          <p:nvPr>
            <p:ph type="title"/>
          </p:nvPr>
        </p:nvSpPr>
        <p:spPr>
          <a:xfrm>
            <a:off x="1524000" y="-76200"/>
            <a:ext cx="87074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sz="4000" dirty="0"/>
              <a:t>Poisson vs. Negative Binomial </a:t>
            </a:r>
            <a:br>
              <a:rPr lang="en-US" sz="4000" dirty="0"/>
            </a:b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33234338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algn="ctr" eaLnBrk="1" hangingPunct="1">
              <a:defRPr/>
            </a:pPr>
            <a:r>
              <a:rPr lang="en-US" dirty="0"/>
              <a:t>The Geometric Distribution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013254" y="2017713"/>
            <a:ext cx="10083114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/>
              <a:t>This is a special case of the negative binomial distribution for which </a:t>
            </a:r>
            <a:r>
              <a:rPr lang="en-US" i="1" dirty="0"/>
              <a:t>k </a:t>
            </a:r>
            <a:r>
              <a:rPr lang="en-US" dirty="0"/>
              <a:t>=1 (i.e. the probability of the number of trials </a:t>
            </a:r>
            <a:r>
              <a:rPr lang="en-US" u="sng" dirty="0"/>
              <a:t>or</a:t>
            </a:r>
            <a:r>
              <a:rPr lang="en-US" dirty="0"/>
              <a:t> failures until one success is recorded).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9811477-F79B-84B5-E2AE-7CCE931CA8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2200" y="3595571"/>
            <a:ext cx="6261538" cy="3152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8245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>
          <a:xfrm>
            <a:off x="2674939" y="-762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3200"/>
              <a:t>Summary of Discrete Distributions</a:t>
            </a:r>
          </a:p>
        </p:txBody>
      </p:sp>
      <p:graphicFrame>
        <p:nvGraphicFramePr>
          <p:cNvPr id="576580" name="Group 68"/>
          <p:cNvGraphicFramePr>
            <a:graphicFrameLocks noGrp="1"/>
          </p:cNvGraphicFramePr>
          <p:nvPr>
            <p:ph type="tbl" idx="1"/>
            <p:extLst>
              <p:ext uri="{D42A27DB-BD31-4B8C-83A1-F6EECF244321}">
                <p14:modId xmlns:p14="http://schemas.microsoft.com/office/powerpoint/2010/main" val="2923578255"/>
              </p:ext>
            </p:extLst>
          </p:nvPr>
        </p:nvGraphicFramePr>
        <p:xfrm>
          <a:off x="1905000" y="1323976"/>
          <a:ext cx="8574088" cy="4848224"/>
        </p:xfrm>
        <a:graphic>
          <a:graphicData uri="http://schemas.openxmlformats.org/drawingml/2006/table">
            <a:tbl>
              <a:tblPr/>
              <a:tblGrid>
                <a:gridCol w="1981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2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75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22999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Distribution</a:t>
                      </a:r>
                    </a:p>
                  </a:txBody>
                  <a:tcPr marT="45712" marB="4571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Number of trials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Random Variable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Parameters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3974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Binomial</a:t>
                      </a:r>
                    </a:p>
                  </a:txBody>
                  <a:tcPr marT="45712" marB="4571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Pre-specified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Number of successes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</a:t>
                      </a: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, </a:t>
                      </a:r>
                      <a:r>
                        <a:rPr kumimoji="0" lang="en-US" altLang="en-US" sz="24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89126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Negative Binomial</a:t>
                      </a:r>
                    </a:p>
                  </a:txBody>
                  <a:tcPr marT="45712" marB="4571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Repeated until a given number of successes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Number of failures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r, p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89126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Geometric</a:t>
                      </a:r>
                    </a:p>
                  </a:txBody>
                  <a:tcPr marT="45712" marB="4571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Repeated until one success occurs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Number of failures </a:t>
                      </a:r>
                      <a:r>
                        <a:rPr kumimoji="0" lang="en-US" altLang="en-US" sz="2400" b="0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or </a:t>
                      </a: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trials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endParaRPr kumimoji="0" lang="en-US" altLang="en-US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22999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Poisson</a:t>
                      </a:r>
                    </a:p>
                  </a:txBody>
                  <a:tcPr marT="45712" marB="4571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N/A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Number of occurrences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  <a:sym typeface="Symbol" charset="2"/>
                        </a:rPr>
                        <a:t>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779510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13976</TotalTime>
  <Words>2427</Words>
  <Application>Microsoft Macintosh PowerPoint</Application>
  <PresentationFormat>Widescreen</PresentationFormat>
  <Paragraphs>290</Paragraphs>
  <Slides>47</Slides>
  <Notes>41</Notes>
  <HiddenSlides>0</HiddenSlides>
  <MMClips>0</MMClips>
  <ScaleCrop>false</ScaleCrop>
  <HeadingPairs>
    <vt:vector size="8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8" baseType="lpstr">
      <vt:lpstr>Arial</vt:lpstr>
      <vt:lpstr>Calibri</vt:lpstr>
      <vt:lpstr>Calibri Light</vt:lpstr>
      <vt:lpstr>Cambria</vt:lpstr>
      <vt:lpstr>Courier New</vt:lpstr>
      <vt:lpstr>Symbol</vt:lpstr>
      <vt:lpstr>Tahoma</vt:lpstr>
      <vt:lpstr>Times New Roman</vt:lpstr>
      <vt:lpstr>Wingdings</vt:lpstr>
      <vt:lpstr>Office Theme</vt:lpstr>
      <vt:lpstr>Equation</vt:lpstr>
      <vt:lpstr>Discrete Probability Distributions </vt:lpstr>
      <vt:lpstr>Binomial Experiments-I</vt:lpstr>
      <vt:lpstr>Binomial Experiments-II</vt:lpstr>
      <vt:lpstr>Binomial Experiments-II (Notation)</vt:lpstr>
      <vt:lpstr>Binomial Probabilities-I</vt:lpstr>
      <vt:lpstr>One Binomial Trial: The Bernoulli Distribution</vt:lpstr>
      <vt:lpstr>PowerPoint Presentation</vt:lpstr>
      <vt:lpstr>PowerPoint Presentation</vt:lpstr>
      <vt:lpstr>PowerPoint Presentation</vt:lpstr>
      <vt:lpstr>PowerPoint Presentation</vt:lpstr>
      <vt:lpstr>Binomial Probabilities-II</vt:lpstr>
      <vt:lpstr>The Binomial Distribution</vt:lpstr>
      <vt:lpstr>Examples of the Binomial Distribution-I</vt:lpstr>
      <vt:lpstr>Examples of the Binomial Distribution-III</vt:lpstr>
      <vt:lpstr>Sneak peak: Maximum likelihood is just doing this in reverse!!!</vt:lpstr>
      <vt:lpstr>PowerPoint Presentation</vt:lpstr>
      <vt:lpstr>Sneak peak: Maximum Likelihood is just doing this in reverse!!!</vt:lpstr>
      <vt:lpstr>Sneak peak: Maximum likelihood is just doing this in reverse!!!</vt:lpstr>
      <vt:lpstr>PowerPoint Presentation</vt:lpstr>
      <vt:lpstr>PowerPoint Presentation</vt:lpstr>
      <vt:lpstr>Back to distributions</vt:lpstr>
      <vt:lpstr>PowerPoint Presentation</vt:lpstr>
      <vt:lpstr>The Poisson Distribution-I</vt:lpstr>
      <vt:lpstr>The Poisson Distribution-I</vt:lpstr>
      <vt:lpstr>The Poisson Distribution - pmf</vt:lpstr>
      <vt:lpstr>Where does the Poisson distribution come from?</vt:lpstr>
      <vt:lpstr>Where does the Poisson distribution come from?</vt:lpstr>
      <vt:lpstr>Zero term of the Poisson Distribution</vt:lpstr>
      <vt:lpstr>First term of the Poisson Distribution</vt:lpstr>
      <vt:lpstr>The Poisson Distribution - pmf</vt:lpstr>
      <vt:lpstr>The Poisson Distribution Graphically</vt:lpstr>
      <vt:lpstr>An Example of the Poisson Distribution-I</vt:lpstr>
      <vt:lpstr>An Example of the Poisson Distribution-II</vt:lpstr>
      <vt:lpstr>An Example of the Poisson Distribution-III</vt:lpstr>
      <vt:lpstr>An Example of the Poisson Distribution-III</vt:lpstr>
      <vt:lpstr>Example of using Poisson Probabilistic Arguments in Research</vt:lpstr>
      <vt:lpstr>The Poisson Distribution - Caveat</vt:lpstr>
      <vt:lpstr>But first: MLE for the Poisson Distribution</vt:lpstr>
      <vt:lpstr>The Negative Binomial Distribution (1) # failures/trials before fixed number of successes</vt:lpstr>
      <vt:lpstr>PowerPoint Presentation</vt:lpstr>
      <vt:lpstr>The Negative Binomial Distribution (2) Poisson with a variable rate parameter </vt:lpstr>
      <vt:lpstr>Quick note on Gamma function</vt:lpstr>
      <vt:lpstr>The Negative Binomial Distribution (2) Poisson with a variable rate parameter </vt:lpstr>
      <vt:lpstr>The Negative Binomial Distribution (2) Poisson with a variable rate parameter </vt:lpstr>
      <vt:lpstr>Poisson vs. Negative Binomial  </vt:lpstr>
      <vt:lpstr>The Geometric Distribution</vt:lpstr>
      <vt:lpstr>Summary of Discrete Distributions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Probability Distributions</dc:title>
  <dc:creator>Levi, Taal</dc:creator>
  <cp:lastModifiedBy>Levi, Taal</cp:lastModifiedBy>
  <cp:revision>102</cp:revision>
  <dcterms:created xsi:type="dcterms:W3CDTF">2018-09-30T16:59:02Z</dcterms:created>
  <dcterms:modified xsi:type="dcterms:W3CDTF">2026-09-11T17:58:09Z</dcterms:modified>
</cp:coreProperties>
</file>