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7" r:id="rId2"/>
    <p:sldId id="258" r:id="rId3"/>
    <p:sldId id="259" r:id="rId4"/>
    <p:sldId id="260" r:id="rId5"/>
    <p:sldId id="261" r:id="rId6"/>
    <p:sldId id="262" r:id="rId7"/>
    <p:sldId id="263" r:id="rId8"/>
    <p:sldId id="264" r:id="rId9"/>
    <p:sldId id="265" r:id="rId10"/>
    <p:sldId id="267" r:id="rId11"/>
    <p:sldId id="268" r:id="rId12"/>
    <p:sldId id="270" r:id="rId13"/>
    <p:sldId id="271" r:id="rId14"/>
    <p:sldId id="272" r:id="rId15"/>
    <p:sldId id="273" r:id="rId16"/>
    <p:sldId id="374" r:id="rId17"/>
    <p:sldId id="375" r:id="rId18"/>
    <p:sldId id="274" r:id="rId19"/>
    <p:sldId id="316" r:id="rId20"/>
    <p:sldId id="276" r:id="rId21"/>
    <p:sldId id="317" r:id="rId22"/>
    <p:sldId id="318" r:id="rId23"/>
    <p:sldId id="337" r:id="rId24"/>
    <p:sldId id="319" r:id="rId25"/>
    <p:sldId id="321" r:id="rId26"/>
    <p:sldId id="322" r:id="rId27"/>
    <p:sldId id="323" r:id="rId28"/>
    <p:sldId id="278" r:id="rId29"/>
    <p:sldId id="279" r:id="rId30"/>
    <p:sldId id="280" r:id="rId31"/>
    <p:sldId id="281" r:id="rId32"/>
    <p:sldId id="282" r:id="rId33"/>
    <p:sldId id="290" r:id="rId34"/>
    <p:sldId id="296" r:id="rId35"/>
    <p:sldId id="283" r:id="rId36"/>
    <p:sldId id="369" r:id="rId37"/>
    <p:sldId id="370" r:id="rId38"/>
    <p:sldId id="376" r:id="rId39"/>
    <p:sldId id="347" r:id="rId40"/>
    <p:sldId id="346" r:id="rId41"/>
    <p:sldId id="377" r:id="rId42"/>
    <p:sldId id="284" r:id="rId43"/>
    <p:sldId id="338" r:id="rId44"/>
    <p:sldId id="345" r:id="rId45"/>
    <p:sldId id="341" r:id="rId46"/>
    <p:sldId id="354" r:id="rId47"/>
    <p:sldId id="348" r:id="rId48"/>
    <p:sldId id="349" r:id="rId49"/>
    <p:sldId id="350" r:id="rId50"/>
    <p:sldId id="299" r:id="rId51"/>
    <p:sldId id="332" r:id="rId52"/>
    <p:sldId id="331" r:id="rId53"/>
    <p:sldId id="330" r:id="rId54"/>
    <p:sldId id="329" r:id="rId55"/>
    <p:sldId id="334" r:id="rId56"/>
    <p:sldId id="335" r:id="rId57"/>
    <p:sldId id="355" r:id="rId58"/>
    <p:sldId id="310" r:id="rId59"/>
    <p:sldId id="311"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60"/>
    <p:restoredTop sz="94624"/>
  </p:normalViewPr>
  <p:slideViewPr>
    <p:cSldViewPr snapToGrid="0" snapToObjects="1">
      <p:cViewPr varScale="1">
        <p:scale>
          <a:sx n="106" d="100"/>
          <a:sy n="106" d="100"/>
        </p:scale>
        <p:origin x="200"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D06378-EEEF-5A4B-8DAF-16D302AF37FE}" type="datetimeFigureOut">
              <a:rPr lang="en-US" smtClean="0"/>
              <a:t>10/9/25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400822-E160-3C42-8113-FD44ABAFACF0}" type="slidenum">
              <a:rPr lang="en-US" smtClean="0"/>
              <a:t>‹#›</a:t>
            </a:fld>
            <a:endParaRPr lang="en-US"/>
          </a:p>
        </p:txBody>
      </p:sp>
    </p:spTree>
    <p:extLst>
      <p:ext uri="{BB962C8B-B14F-4D97-AF65-F5344CB8AC3E}">
        <p14:creationId xmlns:p14="http://schemas.microsoft.com/office/powerpoint/2010/main" val="721644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ltLang="en-US">
                <a:latin typeface="Times New Roman" charset="0"/>
              </a:rPr>
              <a:t>a</a:t>
            </a:r>
          </a:p>
        </p:txBody>
      </p:sp>
    </p:spTree>
    <p:extLst>
      <p:ext uri="{BB962C8B-B14F-4D97-AF65-F5344CB8AC3E}">
        <p14:creationId xmlns:p14="http://schemas.microsoft.com/office/powerpoint/2010/main" val="18386207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p:cNvSpPr>
            <a:spLocks noGrp="1" noRot="1" noChangeAspect="1" noTextEdit="1"/>
          </p:cNvSpPr>
          <p:nvPr>
            <p:ph type="sldImg"/>
          </p:nvPr>
        </p:nvSpPr>
        <p:spPr>
          <a:ln/>
        </p:spPr>
      </p:sp>
      <p:sp>
        <p:nvSpPr>
          <p:cNvPr id="1638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175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55778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823624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39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560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35774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786653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9912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932287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2355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98976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504796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69797749"/>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Cue: Taal, show why with a simulation and math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2473B21-E302-D241-B3CE-A2BEEB9F76FE}" type="datetimeFigureOut">
              <a:rPr lang="en-US" smtClean="0"/>
              <a:t>10/9/25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226171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10/9/25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786313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2473B21-E302-D241-B3CE-A2BEEB9F76FE}" type="datetimeFigureOut">
              <a:rPr lang="en-US" smtClean="0"/>
              <a:t>10/9/25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5044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2473B21-E302-D241-B3CE-A2BEEB9F76FE}" type="datetimeFigureOut">
              <a:rPr lang="en-US" smtClean="0"/>
              <a:t>10/9/25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38161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2473B21-E302-D241-B3CE-A2BEEB9F76FE}" type="datetimeFigureOut">
              <a:rPr lang="en-US" smtClean="0"/>
              <a:t>10/9/25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050341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2473B21-E302-D241-B3CE-A2BEEB9F76FE}" type="datetimeFigureOut">
              <a:rPr lang="en-US" smtClean="0"/>
              <a:t>10/9/25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81995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2473B21-E302-D241-B3CE-A2BEEB9F76FE}" type="datetimeFigureOut">
              <a:rPr lang="en-US" smtClean="0"/>
              <a:t>10/9/25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398196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10/9/25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933817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10/9/25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855742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10/9/25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70499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10/9/25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45578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AE3F6FF1-864B-EF4E-A5AC-C5C51E05A551}" type="slidenum">
              <a:rPr lang="en-US" altLang="en-US"/>
              <a:pPr>
                <a:defRPr/>
              </a:pPr>
              <a:t>‹#›</a:t>
            </a:fld>
            <a:endParaRPr lang="en-US" altLang="en-US"/>
          </a:p>
        </p:txBody>
      </p:sp>
    </p:spTree>
    <p:extLst>
      <p:ext uri="{BB962C8B-B14F-4D97-AF65-F5344CB8AC3E}">
        <p14:creationId xmlns:p14="http://schemas.microsoft.com/office/powerpoint/2010/main" val="20757415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73B21-E302-D241-B3CE-A2BEEB9F76FE}" type="datetimeFigureOut">
              <a:rPr lang="en-US" smtClean="0"/>
              <a:t>10/9/25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D83516-B73B-C542-B2AE-F2ED7FCFA4AC}" type="slidenum">
              <a:rPr lang="en-US" smtClean="0"/>
              <a:t>‹#›</a:t>
            </a:fld>
            <a:endParaRPr lang="en-US"/>
          </a:p>
        </p:txBody>
      </p:sp>
    </p:spTree>
    <p:extLst>
      <p:ext uri="{BB962C8B-B14F-4D97-AF65-F5344CB8AC3E}">
        <p14:creationId xmlns:p14="http://schemas.microsoft.com/office/powerpoint/2010/main" val="15242431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oleObject" Target="../embeddings/oleObject1.bin"/><Relationship Id="rId4" Type="http://schemas.openxmlformats.org/officeDocument/2006/relationships/image" Target="../media/image1.wmf"/><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oleObject" Target="../embeddings/oleObject2.bin"/><Relationship Id="rId4" Type="http://schemas.openxmlformats.org/officeDocument/2006/relationships/image" Target="../media/image3.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oleObject" Target="../embeddings/oleObject3.bin"/><Relationship Id="rId4" Type="http://schemas.openxmlformats.org/officeDocument/2006/relationships/image" Target="../media/image4.wmf"/><Relationship Id="rId5" Type="http://schemas.openxmlformats.org/officeDocument/2006/relationships/oleObject" Target="../embeddings/oleObject4.bin"/><Relationship Id="rId6" Type="http://schemas.openxmlformats.org/officeDocument/2006/relationships/image" Target="../media/image5.wmf"/><Relationship Id="rId7" Type="http://schemas.openxmlformats.org/officeDocument/2006/relationships/oleObject" Target="../embeddings/oleObject5.bin"/><Relationship Id="rId8" Type="http://schemas.openxmlformats.org/officeDocument/2006/relationships/image" Target="../media/image6.w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e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e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e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esjournals.onlinelibrary.wiley.com/doi/full/10.1111/2041-210X.12541#mee312541-bib-002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 Id="rId3" Type="http://schemas.openxmlformats.org/officeDocument/2006/relationships/image" Target="../media/image4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7.emf"/></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hyperlink" Target="https://royalsocietypublishing.org/doi/10.1098/rsos.160756#RSOS160756C31"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ctrTitle"/>
          </p:nvPr>
        </p:nvSpPr>
        <p:spPr>
          <a:xfrm>
            <a:off x="1905000" y="1981200"/>
            <a:ext cx="8763000" cy="2209800"/>
          </a:xfrm>
        </p:spPr>
        <p:txBody>
          <a:bodyPr/>
          <a:lstStyle/>
          <a:p>
            <a:br>
              <a:rPr lang="en-US" altLang="en-US" sz="3200" b="1">
                <a:latin typeface="Arial" charset="0"/>
                <a:ea typeface="Arial" charset="0"/>
                <a:cs typeface="Arial" charset="0"/>
              </a:rPr>
            </a:br>
            <a:endParaRPr lang="en-AU" altLang="en-US" sz="3200" b="1"/>
          </a:p>
        </p:txBody>
      </p:sp>
      <p:sp>
        <p:nvSpPr>
          <p:cNvPr id="3078"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4FC8833-3D05-6C4D-90CA-46741700121E}" type="slidenum">
              <a:rPr lang="en-US" altLang="en-US" sz="1400">
                <a:solidFill>
                  <a:schemeClr val="bg2"/>
                </a:solidFill>
              </a:rPr>
              <a:pPr eaLnBrk="1" hangingPunct="1">
                <a:defRPr/>
              </a:pPr>
              <a:t>1</a:t>
            </a:fld>
            <a:endParaRPr lang="en-US" altLang="en-US" sz="1400">
              <a:solidFill>
                <a:schemeClr val="bg2"/>
              </a:solidFill>
            </a:endParaRPr>
          </a:p>
        </p:txBody>
      </p:sp>
      <p:sp>
        <p:nvSpPr>
          <p:cNvPr id="3076" name="Text Box 5"/>
          <p:cNvSpPr txBox="1">
            <a:spLocks noChangeArrowheads="1"/>
          </p:cNvSpPr>
          <p:nvPr/>
        </p:nvSpPr>
        <p:spPr bwMode="auto">
          <a:xfrm>
            <a:off x="3489325" y="2243138"/>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endParaRPr lang="en-US" altLang="en-US"/>
          </a:p>
        </p:txBody>
      </p:sp>
      <p:sp>
        <p:nvSpPr>
          <p:cNvPr id="3077" name="Text Box 6"/>
          <p:cNvSpPr txBox="1">
            <a:spLocks noChangeArrowheads="1"/>
          </p:cNvSpPr>
          <p:nvPr/>
        </p:nvSpPr>
        <p:spPr bwMode="auto">
          <a:xfrm>
            <a:off x="3367089" y="2133600"/>
            <a:ext cx="5627687"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US" altLang="en-US" sz="4000" b="1" dirty="0">
                <a:latin typeface="Arial" charset="0"/>
              </a:rPr>
              <a:t>Likelihood Ratio Tests</a:t>
            </a:r>
          </a:p>
          <a:p>
            <a:pPr algn="ctr" eaLnBrk="1" hangingPunct="1">
              <a:defRPr/>
            </a:pPr>
            <a:r>
              <a:rPr lang="en-US" altLang="en-US" sz="4000" b="1" dirty="0">
                <a:latin typeface="Arial" charset="0"/>
              </a:rPr>
              <a:t>And</a:t>
            </a:r>
          </a:p>
          <a:p>
            <a:pPr algn="ctr" eaLnBrk="1" hangingPunct="1">
              <a:defRPr/>
            </a:pPr>
            <a:r>
              <a:rPr lang="en-US" altLang="en-US" sz="4000" b="1" dirty="0">
                <a:latin typeface="Arial" charset="0"/>
              </a:rPr>
              <a:t>Model Selection</a:t>
            </a:r>
          </a:p>
        </p:txBody>
      </p:sp>
    </p:spTree>
    <p:extLst>
      <p:ext uri="{BB962C8B-B14F-4D97-AF65-F5344CB8AC3E}">
        <p14:creationId xmlns:p14="http://schemas.microsoft.com/office/powerpoint/2010/main" val="895732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pPr algn="ctr"/>
            <a:r>
              <a:rPr lang="en-AU" altLang="en-US" dirty="0"/>
              <a:t>Hypothesis Tests to Compare Models </a:t>
            </a:r>
            <a:br>
              <a:rPr lang="en-AU" altLang="en-US" dirty="0"/>
            </a:br>
            <a:r>
              <a:rPr lang="en-AU" altLang="en-US" dirty="0"/>
              <a:t>(not parameters)</a:t>
            </a:r>
          </a:p>
        </p:txBody>
      </p:sp>
      <p:sp>
        <p:nvSpPr>
          <p:cNvPr id="512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0149C55F-C9B8-874A-8712-44FEF258285B}" type="slidenum">
              <a:rPr lang="en-US" altLang="en-US" sz="1400"/>
              <a:pPr eaLnBrk="1" hangingPunct="1">
                <a:defRPr/>
              </a:pPr>
              <a:t>2</a:t>
            </a:fld>
            <a:endParaRPr lang="en-US" altLang="en-US" sz="1400"/>
          </a:p>
        </p:txBody>
      </p:sp>
      <p:sp>
        <p:nvSpPr>
          <p:cNvPr id="5123" name="Text Box 4"/>
          <p:cNvSpPr txBox="1">
            <a:spLocks noChangeArrowheads="1"/>
          </p:cNvSpPr>
          <p:nvPr/>
        </p:nvSpPr>
        <p:spPr bwMode="auto">
          <a:xfrm>
            <a:off x="977900" y="2222500"/>
            <a:ext cx="107823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One can use the </a:t>
            </a:r>
            <a:r>
              <a:rPr lang="en-AU" altLang="en-US" b="1" dirty="0"/>
              <a:t>likelihood ratio test </a:t>
            </a:r>
            <a:r>
              <a:rPr lang="en-AU" altLang="en-US" dirty="0"/>
              <a:t>to compare two models when </a:t>
            </a:r>
          </a:p>
          <a:p>
            <a:pPr marL="1200150" lvl="1" indent="-457200" eaLnBrk="1" hangingPunct="1">
              <a:buAutoNum type="alphaLcParenBoth"/>
              <a:defRPr/>
            </a:pPr>
            <a:r>
              <a:rPr lang="en-AU" altLang="en-US" dirty="0"/>
              <a:t>both are based on the same data</a:t>
            </a:r>
          </a:p>
          <a:p>
            <a:pPr marL="1200150" lvl="1" indent="-457200" eaLnBrk="1" hangingPunct="1">
              <a:buAutoNum type="alphaLcParenBoth"/>
              <a:defRPr/>
            </a:pPr>
            <a:r>
              <a:rPr lang="en-AU" altLang="en-US" dirty="0"/>
              <a:t>one of the models is “nested” within the other</a:t>
            </a:r>
          </a:p>
          <a:p>
            <a:pPr marL="1600200" lvl="2" indent="-457200" eaLnBrk="1" hangingPunct="1">
              <a:buFont typeface="Arial" charset="0"/>
              <a:buChar char="•"/>
              <a:defRPr/>
            </a:pPr>
            <a:r>
              <a:rPr lang="en-AU" altLang="en-US" dirty="0"/>
              <a:t>That is, one model is a special case with a parameter equal to a specific value (usually zero) from the more general model.</a:t>
            </a:r>
          </a:p>
          <a:p>
            <a:pPr eaLnBrk="1" hangingPunct="1">
              <a:defRPr/>
            </a:pPr>
            <a:endParaRPr lang="en-AU" altLang="en-US" dirty="0"/>
          </a:p>
        </p:txBody>
      </p:sp>
    </p:spTree>
    <p:extLst>
      <p:ext uri="{BB962C8B-B14F-4D97-AF65-F5344CB8AC3E}">
        <p14:creationId xmlns:p14="http://schemas.microsoft.com/office/powerpoint/2010/main" val="20483320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pPr algn="ctr"/>
            <a:r>
              <a:rPr lang="en-AU" altLang="en-US"/>
              <a:t>Nested Models</a:t>
            </a:r>
          </a:p>
        </p:txBody>
      </p:sp>
      <p:sp>
        <p:nvSpPr>
          <p:cNvPr id="6149"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5094E6BD-128E-A64F-9BD3-2D1334848173}" type="slidenum">
              <a:rPr lang="en-US" altLang="en-US" sz="1400"/>
              <a:pPr eaLnBrk="1" hangingPunct="1">
                <a:defRPr/>
              </a:pPr>
              <a:t>3</a:t>
            </a:fld>
            <a:endParaRPr lang="en-US" altLang="en-US" sz="1400"/>
          </a:p>
        </p:txBody>
      </p:sp>
      <p:sp>
        <p:nvSpPr>
          <p:cNvPr id="6147" name="Text Box 4"/>
          <p:cNvSpPr txBox="1">
            <a:spLocks noChangeArrowheads="1"/>
          </p:cNvSpPr>
          <p:nvPr/>
        </p:nvSpPr>
        <p:spPr bwMode="auto">
          <a:xfrm>
            <a:off x="3543301" y="2070101"/>
            <a:ext cx="484421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Depth * Region</a:t>
            </a:r>
          </a:p>
        </p:txBody>
      </p:sp>
      <p:sp>
        <p:nvSpPr>
          <p:cNvPr id="6148" name="Text Box 5"/>
          <p:cNvSpPr txBox="1">
            <a:spLocks noChangeArrowheads="1"/>
          </p:cNvSpPr>
          <p:nvPr/>
        </p:nvSpPr>
        <p:spPr bwMode="auto">
          <a:xfrm>
            <a:off x="3543301" y="3867151"/>
            <a:ext cx="545655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not</a:t>
            </a:r>
            <a:r>
              <a:rPr lang="en-AU" altLang="en-US" dirty="0"/>
              <a:t>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Temp + Depth * Region</a:t>
            </a:r>
          </a:p>
        </p:txBody>
      </p:sp>
    </p:spTree>
    <p:extLst>
      <p:ext uri="{BB962C8B-B14F-4D97-AF65-F5344CB8AC3E}">
        <p14:creationId xmlns:p14="http://schemas.microsoft.com/office/powerpoint/2010/main" val="6208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4"/>
          <p:cNvSpPr txBox="1">
            <a:spLocks noChangeArrowheads="1"/>
          </p:cNvSpPr>
          <p:nvPr/>
        </p:nvSpPr>
        <p:spPr bwMode="auto">
          <a:xfrm>
            <a:off x="419100" y="973753"/>
            <a:ext cx="113792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Model A nested within more general model B can be compared as follows:</a:t>
            </a:r>
          </a:p>
          <a:p>
            <a:pPr eaLnBrk="1" hangingPunct="1">
              <a:defRPr/>
            </a:pPr>
            <a:endParaRPr lang="en-AU" altLang="en-US" dirty="0"/>
          </a:p>
          <a:p>
            <a:pPr eaLnBrk="1" hangingPunct="1">
              <a:defRPr/>
            </a:pPr>
            <a:r>
              <a:rPr lang="en-AU" altLang="en-US" dirty="0"/>
              <a:t>H</a:t>
            </a:r>
            <a:r>
              <a:rPr lang="en-AU" altLang="en-US" baseline="-25000" dirty="0"/>
              <a:t>0</a:t>
            </a:r>
            <a:r>
              <a:rPr lang="en-AU" altLang="en-US" dirty="0"/>
              <a:t>: Model A fits the data as well as Model B </a:t>
            </a:r>
          </a:p>
          <a:p>
            <a:pPr eaLnBrk="1" hangingPunct="1">
              <a:defRPr/>
            </a:pPr>
            <a:r>
              <a:rPr lang="en-AU" altLang="en-US" dirty="0"/>
              <a:t>	(with fewer parameters)</a:t>
            </a:r>
          </a:p>
          <a:p>
            <a:pPr eaLnBrk="1" hangingPunct="1">
              <a:defRPr/>
            </a:pPr>
            <a:r>
              <a:rPr lang="en-AU" altLang="en-US" dirty="0"/>
              <a:t>H</a:t>
            </a:r>
            <a:r>
              <a:rPr lang="en-AU" altLang="en-US" baseline="-25000" dirty="0"/>
              <a:t>A</a:t>
            </a:r>
            <a:r>
              <a:rPr lang="en-AU" altLang="en-US" dirty="0"/>
              <a:t>: Model A does not fit the data as well as Model B </a:t>
            </a:r>
          </a:p>
          <a:p>
            <a:pPr eaLnBrk="1" hangingPunct="1">
              <a:defRPr/>
            </a:pPr>
            <a:r>
              <a:rPr lang="en-AU" altLang="en-US" dirty="0"/>
              <a:t>	(you need those extra parameters)</a:t>
            </a:r>
          </a:p>
          <a:p>
            <a:pPr eaLnBrk="1" hangingPunct="1">
              <a:defRPr/>
            </a:pPr>
            <a:endParaRPr lang="en-AU" altLang="en-US" dirty="0"/>
          </a:p>
          <a:p>
            <a:pPr eaLnBrk="1" hangingPunct="1">
              <a:defRPr/>
            </a:pPr>
            <a:r>
              <a:rPr lang="en-AU" altLang="en-US" dirty="0"/>
              <a:t>Fit models A and B and record: </a:t>
            </a:r>
          </a:p>
          <a:p>
            <a:pPr marL="1200150" lvl="1" indent="-457200" eaLnBrk="1" hangingPunct="1">
              <a:buAutoNum type="alphaLcParenBoth"/>
              <a:defRPr/>
            </a:pPr>
            <a:r>
              <a:rPr lang="en-AU" altLang="en-US" dirty="0"/>
              <a:t>the </a:t>
            </a:r>
            <a:r>
              <a:rPr lang="en-AU" altLang="en-US" b="1" dirty="0"/>
              <a:t>negative log-likelihood </a:t>
            </a:r>
            <a:r>
              <a:rPr lang="en-AU" altLang="en-US" dirty="0"/>
              <a:t>at the best fit</a:t>
            </a:r>
          </a:p>
          <a:p>
            <a:pPr marL="1200150" lvl="1" indent="-457200" eaLnBrk="1" hangingPunct="1">
              <a:buAutoNum type="alphaLcParenBoth"/>
              <a:defRPr/>
            </a:pPr>
            <a:r>
              <a:rPr lang="en-AU" altLang="en-US" dirty="0"/>
              <a:t>the </a:t>
            </a:r>
            <a:r>
              <a:rPr lang="en-AU" altLang="en-US" b="1" dirty="0"/>
              <a:t>number of parameters in models A and B</a:t>
            </a:r>
            <a:r>
              <a:rPr lang="en-AU" altLang="en-US" dirty="0"/>
              <a:t>, </a:t>
            </a:r>
            <a:r>
              <a:rPr lang="en-AU" altLang="en-US" i="1" dirty="0" err="1"/>
              <a:t>p</a:t>
            </a:r>
            <a:r>
              <a:rPr lang="en-AU" altLang="en-US" baseline="-25000" dirty="0" err="1"/>
              <a:t>A</a:t>
            </a:r>
            <a:r>
              <a:rPr lang="en-AU" altLang="en-US" dirty="0"/>
              <a:t> and </a:t>
            </a:r>
            <a:r>
              <a:rPr lang="en-AU" altLang="en-US" i="1" dirty="0" err="1"/>
              <a:t>p</a:t>
            </a:r>
            <a:r>
              <a:rPr lang="en-AU" altLang="en-US" baseline="-25000" dirty="0" err="1"/>
              <a:t>B</a:t>
            </a:r>
            <a:r>
              <a:rPr lang="en-AU" altLang="en-US" dirty="0"/>
              <a:t>.</a:t>
            </a:r>
          </a:p>
        </p:txBody>
      </p:sp>
      <p:sp>
        <p:nvSpPr>
          <p:cNvPr id="27650" name="Rectangle 2"/>
          <p:cNvSpPr>
            <a:spLocks noGrp="1" noChangeArrowheads="1"/>
          </p:cNvSpPr>
          <p:nvPr>
            <p:ph type="title"/>
          </p:nvPr>
        </p:nvSpPr>
        <p:spPr>
          <a:xfrm>
            <a:off x="2362200" y="-228600"/>
            <a:ext cx="7793038" cy="1143000"/>
          </a:xfrm>
        </p:spPr>
        <p:txBody>
          <a:bodyPr/>
          <a:lstStyle/>
          <a:p>
            <a:pPr algn="ctr"/>
            <a:r>
              <a:rPr lang="en-AU" altLang="en-US" dirty="0"/>
              <a:t>Hypothesis Tests for Models</a:t>
            </a:r>
          </a:p>
        </p:txBody>
      </p:sp>
      <p:sp>
        <p:nvSpPr>
          <p:cNvPr id="717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294B8D1F-9FC4-774F-B903-06ADCBD7D608}" type="slidenum">
              <a:rPr lang="en-US" altLang="en-US" sz="1400"/>
              <a:pPr eaLnBrk="1" hangingPunct="1">
                <a:defRPr/>
              </a:pPr>
              <a:t>4</a:t>
            </a:fld>
            <a:endParaRPr lang="en-US" altLang="en-US" sz="1400"/>
          </a:p>
        </p:txBody>
      </p:sp>
    </p:spTree>
    <p:extLst>
      <p:ext uri="{BB962C8B-B14F-4D97-AF65-F5344CB8AC3E}">
        <p14:creationId xmlns:p14="http://schemas.microsoft.com/office/powerpoint/2010/main" val="357689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a:xfrm>
            <a:off x="2438400" y="-228600"/>
            <a:ext cx="7793038" cy="1143000"/>
          </a:xfrm>
        </p:spPr>
        <p:txBody>
          <a:bodyPr/>
          <a:lstStyle/>
          <a:p>
            <a:pPr algn="ctr"/>
            <a:r>
              <a:rPr lang="en-AU" altLang="en-US" dirty="0"/>
              <a:t>Hypothesis Tests for Models</a:t>
            </a:r>
          </a:p>
        </p:txBody>
      </p:sp>
      <p:graphicFrame>
        <p:nvGraphicFramePr>
          <p:cNvPr id="29698" name="Object 5"/>
          <p:cNvGraphicFramePr>
            <a:graphicFrameLocks noGrp="1" noChangeAspect="1"/>
          </p:cNvGraphicFramePr>
          <p:nvPr>
            <p:ph idx="1"/>
          </p:nvPr>
        </p:nvGraphicFramePr>
        <p:xfrm>
          <a:off x="6937376" y="1298576"/>
          <a:ext cx="2093913" cy="454025"/>
        </p:xfrm>
        <a:graphic>
          <a:graphicData uri="http://schemas.openxmlformats.org/presentationml/2006/ole">
            <mc:AlternateContent xmlns:mc="http://schemas.openxmlformats.org/markup-compatibility/2006">
              <mc:Choice xmlns:v="urn:schemas-microsoft-com:vml" Requires="v">
                <p:oleObj name="Equation" r:id="rId3" imgW="1054100" imgH="228600" progId="Equation.DSMT4">
                  <p:embed/>
                </p:oleObj>
              </mc:Choice>
              <mc:Fallback>
                <p:oleObj name="Equation" r:id="rId3" imgW="1054100" imgH="228600" progId="Equation.DSMT4">
                  <p:embed/>
                  <p:pic>
                    <p:nvPicPr>
                      <p:cNvPr id="0" name=""/>
                      <p:cNvPicPr>
                        <a:picLocks noGrp="1"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37376" y="1298576"/>
                        <a:ext cx="2093913" cy="454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197" name="Slide Number Placeholder 1"/>
          <p:cNvSpPr>
            <a:spLocks noGrp="1"/>
          </p:cNvSpPr>
          <p:nvPr>
            <p:ph type="sldNum" sz="quarter" idx="12"/>
          </p:nvPr>
        </p:nvSpPr>
        <p:spPr>
          <a:xfrm>
            <a:off x="8685213" y="63246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AA83A6A7-1020-D744-970F-F11A7204A4FA}" type="slidenum">
              <a:rPr lang="en-US" altLang="en-US" sz="1400"/>
              <a:pPr eaLnBrk="1" hangingPunct="1">
                <a:defRPr/>
              </a:pPr>
              <a:t>5</a:t>
            </a:fld>
            <a:endParaRPr lang="en-US" altLang="en-US" sz="1400" dirty="0"/>
          </a:p>
        </p:txBody>
      </p:sp>
      <p:sp>
        <p:nvSpPr>
          <p:cNvPr id="8195" name="Text Box 4"/>
          <p:cNvSpPr txBox="1">
            <a:spLocks noRot="1" noChangeAspect="1" noMove="1" noResize="1" noEditPoints="1" noAdjustHandles="1" noChangeArrowheads="1" noChangeShapeType="1" noTextEdit="1"/>
          </p:cNvSpPr>
          <p:nvPr/>
        </p:nvSpPr>
        <p:spPr bwMode="auto">
          <a:xfrm>
            <a:off x="1600201" y="1208652"/>
            <a:ext cx="8989583" cy="4353949"/>
          </a:xfrm>
          <a:prstGeom prst="rect">
            <a:avLst/>
          </a:prstGeom>
          <a:blipFill rotWithShape="0">
            <a:blip r:embed="rId5"/>
            <a:stretch>
              <a:fillRect l="-1085"/>
            </a:stretch>
          </a:bli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noFill/>
              </a:rPr>
              <a:t> </a:t>
            </a:r>
          </a:p>
        </p:txBody>
      </p:sp>
      <p:sp>
        <p:nvSpPr>
          <p:cNvPr id="2" name="Rectangle 1"/>
          <p:cNvSpPr/>
          <p:nvPr/>
        </p:nvSpPr>
        <p:spPr>
          <a:xfrm>
            <a:off x="1600200" y="3276600"/>
            <a:ext cx="8631238" cy="8382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29702" name="TextBox 3"/>
          <p:cNvSpPr txBox="1">
            <a:spLocks noChangeArrowheads="1"/>
          </p:cNvSpPr>
          <p:nvPr/>
        </p:nvSpPr>
        <p:spPr bwMode="auto">
          <a:xfrm>
            <a:off x="1676400" y="1284288"/>
            <a:ext cx="4953000" cy="46196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Compute the likelihood ratio</a:t>
            </a:r>
          </a:p>
        </p:txBody>
      </p:sp>
    </p:spTree>
    <p:extLst>
      <p:ext uri="{BB962C8B-B14F-4D97-AF65-F5344CB8AC3E}">
        <p14:creationId xmlns:p14="http://schemas.microsoft.com/office/powerpoint/2010/main" val="755651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570164" y="76200"/>
            <a:ext cx="7793037" cy="1143000"/>
          </a:xfrm>
        </p:spPr>
        <p:txBody>
          <a:bodyPr>
            <a:normAutofit/>
          </a:bodyPr>
          <a:lstStyle/>
          <a:p>
            <a:pPr algn="ctr" eaLnBrk="1" hangingPunct="1">
              <a:defRPr/>
            </a:pPr>
            <a:r>
              <a:rPr lang="en-US" altLang="en-US" dirty="0"/>
              <a:t>Example where null is nonzero</a:t>
            </a:r>
          </a:p>
        </p:txBody>
      </p:sp>
      <p:sp>
        <p:nvSpPr>
          <p:cNvPr id="4099" name="Text Box 4"/>
          <p:cNvSpPr txBox="1">
            <a:spLocks noChangeArrowheads="1"/>
          </p:cNvSpPr>
          <p:nvPr/>
        </p:nvSpPr>
        <p:spPr bwMode="auto">
          <a:xfrm>
            <a:off x="1054100" y="1516064"/>
            <a:ext cx="9702799"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You monitor an intersection for cars that run the red light. Based on 50 days of observation, you detect 30 days on which “light running” took place. You repeat the “experiment” after a red light camera is installed and now observe 10 days on which “running” occurred.</a:t>
            </a:r>
          </a:p>
          <a:p>
            <a:pPr eaLnBrk="1" hangingPunct="1">
              <a:defRPr/>
            </a:pPr>
            <a:endParaRPr lang="en-AU" altLang="en-US" dirty="0">
              <a:solidFill>
                <a:srgbClr val="000000"/>
              </a:solidFill>
            </a:endParaRPr>
          </a:p>
          <a:p>
            <a:pPr eaLnBrk="1" hangingPunct="1">
              <a:defRPr/>
            </a:pPr>
            <a:r>
              <a:rPr lang="en-AU" altLang="en-US" dirty="0">
                <a:solidFill>
                  <a:srgbClr val="000000"/>
                </a:solidFill>
              </a:rPr>
              <a:t>How do we know if there is a significant difference in the rate of running red lights after a camera is installed?</a:t>
            </a:r>
          </a:p>
        </p:txBody>
      </p:sp>
    </p:spTree>
    <p:extLst>
      <p:ext uri="{BB962C8B-B14F-4D97-AF65-F5344CB8AC3E}">
        <p14:creationId xmlns:p14="http://schemas.microsoft.com/office/powerpoint/2010/main" val="1617244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2674939" y="-76200"/>
            <a:ext cx="7793037" cy="1143000"/>
          </a:xfrm>
        </p:spPr>
        <p:txBody>
          <a:bodyPr/>
          <a:lstStyle/>
          <a:p>
            <a:pPr algn="ctr"/>
            <a:r>
              <a:rPr lang="en-AU" altLang="en-US"/>
              <a:t>Example-I</a:t>
            </a:r>
          </a:p>
        </p:txBody>
      </p:sp>
      <p:graphicFrame>
        <p:nvGraphicFramePr>
          <p:cNvPr id="33794" name="Object 5"/>
          <p:cNvGraphicFramePr>
            <a:graphicFrameLocks noGrp="1" noChangeAspect="1"/>
          </p:cNvGraphicFramePr>
          <p:nvPr>
            <p:ph idx="1"/>
          </p:nvPr>
        </p:nvGraphicFramePr>
        <p:xfrm>
          <a:off x="4148139" y="3276601"/>
          <a:ext cx="3468687" cy="481013"/>
        </p:xfrm>
        <a:graphic>
          <a:graphicData uri="http://schemas.openxmlformats.org/presentationml/2006/ole">
            <mc:AlternateContent xmlns:mc="http://schemas.openxmlformats.org/markup-compatibility/2006">
              <mc:Choice xmlns:v="urn:schemas-microsoft-com:vml" Requires="v">
                <p:oleObj name="Equation" r:id="rId3" imgW="1739900" imgH="241300" progId="Equation.DSMT4">
                  <p:embed/>
                </p:oleObj>
              </mc:Choice>
              <mc:Fallback>
                <p:oleObj name="Equation" r:id="rId3" imgW="1739900" imgH="241300" progId="Equation.DSMT4">
                  <p:embed/>
                  <p:pic>
                    <p:nvPicPr>
                      <p:cNvPr id="0" name=""/>
                      <p:cNvPicPr>
                        <a:picLocks noGrp="1"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48139" y="3276601"/>
                        <a:ext cx="3468687" cy="4810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21" name="Slide Number Placeholder 1"/>
          <p:cNvSpPr>
            <a:spLocks noGrp="1"/>
          </p:cNvSpPr>
          <p:nvPr>
            <p:ph type="sldNum" sz="quarter" idx="12"/>
          </p:nvPr>
        </p:nvSpPr>
        <p:spPr>
          <a:xfrm>
            <a:off x="8562975" y="61722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78097E3-DA73-7345-9040-B3691471AACF}" type="slidenum">
              <a:rPr lang="en-US" altLang="en-US" sz="1400"/>
              <a:pPr eaLnBrk="1" hangingPunct="1">
                <a:defRPr/>
              </a:pPr>
              <a:t>7</a:t>
            </a:fld>
            <a:endParaRPr lang="en-US" altLang="en-US" sz="1400" dirty="0"/>
          </a:p>
        </p:txBody>
      </p:sp>
      <p:sp>
        <p:nvSpPr>
          <p:cNvPr id="9219" name="Text Box 4"/>
          <p:cNvSpPr txBox="1">
            <a:spLocks noChangeArrowheads="1"/>
          </p:cNvSpPr>
          <p:nvPr/>
        </p:nvSpPr>
        <p:spPr bwMode="auto">
          <a:xfrm>
            <a:off x="1282700" y="1266826"/>
            <a:ext cx="976391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Let us define </a:t>
            </a:r>
            <a:r>
              <a:rPr lang="en-AU" altLang="en-US" i="1" dirty="0"/>
              <a:t>P</a:t>
            </a:r>
            <a:r>
              <a:rPr lang="en-AU" altLang="en-US" baseline="-25000" dirty="0"/>
              <a:t>1</a:t>
            </a:r>
            <a:r>
              <a:rPr lang="en-AU" altLang="en-US" dirty="0"/>
              <a:t> as the probability of running the light before the</a:t>
            </a:r>
          </a:p>
          <a:p>
            <a:pPr eaLnBrk="1" hangingPunct="1">
              <a:defRPr/>
            </a:pPr>
            <a:r>
              <a:rPr lang="en-AU" altLang="en-US" dirty="0"/>
              <a:t>camera was installed and </a:t>
            </a:r>
            <a:r>
              <a:rPr lang="en-AU" altLang="en-US" i="1" dirty="0"/>
              <a:t>P</a:t>
            </a:r>
            <a:r>
              <a:rPr lang="en-AU" altLang="en-US" baseline="-25000" dirty="0"/>
              <a:t>2</a:t>
            </a:r>
            <a:r>
              <a:rPr lang="en-AU" altLang="en-US" dirty="0"/>
              <a:t> the probability after the camera</a:t>
            </a:r>
          </a:p>
          <a:p>
            <a:pPr eaLnBrk="1" hangingPunct="1">
              <a:defRPr/>
            </a:pPr>
            <a:endParaRPr lang="en-AU" altLang="en-US" dirty="0"/>
          </a:p>
          <a:p>
            <a:pPr eaLnBrk="1" hangingPunct="1">
              <a:defRPr/>
            </a:pPr>
            <a:endParaRPr lang="en-AU" altLang="en-US" dirty="0"/>
          </a:p>
          <a:p>
            <a:pPr eaLnBrk="1" hangingPunct="1">
              <a:defRPr/>
            </a:pPr>
            <a:r>
              <a:rPr lang="en-AU" altLang="en-US" dirty="0"/>
              <a:t>The Binomial likelihood function (ignoring the normalizing constant):</a:t>
            </a:r>
          </a:p>
          <a:p>
            <a:pPr eaLnBrk="1" hangingPunct="1">
              <a:defRPr/>
            </a:pPr>
            <a:endParaRPr lang="en-AU" altLang="en-US" dirty="0"/>
          </a:p>
          <a:p>
            <a:pPr eaLnBrk="1" hangingPunct="1">
              <a:defRPr/>
            </a:pPr>
            <a:endParaRPr lang="en-AU" altLang="en-US" dirty="0"/>
          </a:p>
          <a:p>
            <a:pPr eaLnBrk="1" hangingPunct="1">
              <a:defRPr/>
            </a:pPr>
            <a:r>
              <a:rPr lang="en-AU" altLang="en-US" dirty="0"/>
              <a:t>Model A: The probability of running the light has not changed </a:t>
            </a:r>
          </a:p>
          <a:p>
            <a:pPr eaLnBrk="1" hangingPunct="1">
              <a:defRPr/>
            </a:pPr>
            <a:r>
              <a:rPr lang="en-AU" altLang="en-US" dirty="0"/>
              <a:t>      (</a:t>
            </a:r>
            <a:r>
              <a:rPr lang="en-AU" altLang="en-US" i="1" dirty="0"/>
              <a:t>P</a:t>
            </a:r>
            <a:r>
              <a:rPr lang="en-AU" altLang="en-US" baseline="-25000" dirty="0"/>
              <a:t>1</a:t>
            </a:r>
            <a:r>
              <a:rPr lang="en-AU" altLang="en-US" dirty="0"/>
              <a:t>=</a:t>
            </a:r>
            <a:r>
              <a:rPr lang="en-AU" altLang="en-US" i="1" dirty="0"/>
              <a:t>P</a:t>
            </a:r>
            <a:r>
              <a:rPr lang="en-AU" altLang="en-US" baseline="-25000" dirty="0"/>
              <a:t>2</a:t>
            </a:r>
            <a:r>
              <a:rPr lang="en-AU" altLang="en-US" dirty="0"/>
              <a:t>; The more specific model; you only need 1 parameter)</a:t>
            </a:r>
          </a:p>
          <a:p>
            <a:pPr eaLnBrk="1" hangingPunct="1">
              <a:defRPr/>
            </a:pPr>
            <a:endParaRPr lang="en-AU" altLang="en-US" dirty="0"/>
          </a:p>
          <a:p>
            <a:pPr eaLnBrk="1" hangingPunct="1">
              <a:defRPr/>
            </a:pPr>
            <a:r>
              <a:rPr lang="en-AU" altLang="en-US" dirty="0"/>
              <a:t>Model B: </a:t>
            </a:r>
            <a:r>
              <a:rPr lang="en-AU" altLang="en-US" i="1" dirty="0"/>
              <a:t>P</a:t>
            </a:r>
            <a:r>
              <a:rPr lang="en-AU" altLang="en-US" baseline="-25000" dirty="0"/>
              <a:t>1</a:t>
            </a:r>
            <a:r>
              <a:rPr lang="en-AU" altLang="en-US" dirty="0"/>
              <a:t> may differ from </a:t>
            </a:r>
            <a:r>
              <a:rPr lang="en-AU" altLang="en-US" i="1" dirty="0"/>
              <a:t>P</a:t>
            </a:r>
            <a:r>
              <a:rPr lang="en-AU" altLang="en-US" baseline="-25000" dirty="0"/>
              <a:t>2</a:t>
            </a:r>
            <a:r>
              <a:rPr lang="en-AU" altLang="en-US" dirty="0"/>
              <a:t>.  </a:t>
            </a:r>
          </a:p>
          <a:p>
            <a:pPr eaLnBrk="1" hangingPunct="1">
              <a:defRPr/>
            </a:pPr>
            <a:r>
              <a:rPr lang="en-AU" altLang="en-US" dirty="0"/>
              <a:t>	(The more general model </a:t>
            </a:r>
            <a:r>
              <a:rPr lang="mr-IN" altLang="en-US" dirty="0"/>
              <a:t>–</a:t>
            </a:r>
            <a:r>
              <a:rPr lang="en-AU" altLang="en-US" dirty="0"/>
              <a:t> more parameters)</a:t>
            </a:r>
          </a:p>
        </p:txBody>
      </p:sp>
    </p:spTree>
    <p:extLst>
      <p:ext uri="{BB962C8B-B14F-4D97-AF65-F5344CB8AC3E}">
        <p14:creationId xmlns:p14="http://schemas.microsoft.com/office/powerpoint/2010/main" val="1290349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graphicFrame>
        <p:nvGraphicFramePr>
          <p:cNvPr id="35842" name="Object 6"/>
          <p:cNvGraphicFramePr>
            <a:graphicFrameLocks noGrp="1" noChangeAspect="1"/>
          </p:cNvGraphicFramePr>
          <p:nvPr>
            <p:ph sz="half" idx="1"/>
          </p:nvPr>
        </p:nvGraphicFramePr>
        <p:xfrm>
          <a:off x="5484814" y="2201864"/>
          <a:ext cx="306387" cy="511175"/>
        </p:xfrm>
        <a:graphic>
          <a:graphicData uri="http://schemas.openxmlformats.org/presentationml/2006/ole">
            <mc:AlternateContent xmlns:mc="http://schemas.openxmlformats.org/markup-compatibility/2006">
              <mc:Choice xmlns:v="urn:schemas-microsoft-com:vml" Requires="v">
                <p:oleObj name="Equation" r:id="rId3" imgW="152268" imgH="253780" progId="Equation.DSMT4">
                  <p:embed/>
                </p:oleObj>
              </mc:Choice>
              <mc:Fallback>
                <p:oleObj name="Equation" r:id="rId3" imgW="152268" imgH="253780" progId="Equation.DSMT4">
                  <p:embed/>
                  <p:pic>
                    <p:nvPicPr>
                      <p:cNvPr id="0" name=""/>
                      <p:cNvPicPr>
                        <a:picLocks noGrp="1"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84814" y="2201864"/>
                        <a:ext cx="306387" cy="511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5843" name="Object 8"/>
          <p:cNvGraphicFramePr>
            <a:graphicFrameLocks noGrp="1" noChangeAspect="1"/>
          </p:cNvGraphicFramePr>
          <p:nvPr>
            <p:ph sz="quarter" idx="2"/>
          </p:nvPr>
        </p:nvGraphicFramePr>
        <p:xfrm>
          <a:off x="6705600" y="2201864"/>
          <a:ext cx="331788" cy="511175"/>
        </p:xfrm>
        <a:graphic>
          <a:graphicData uri="http://schemas.openxmlformats.org/presentationml/2006/ole">
            <mc:AlternateContent xmlns:mc="http://schemas.openxmlformats.org/markup-compatibility/2006">
              <mc:Choice xmlns:v="urn:schemas-microsoft-com:vml" Requires="v">
                <p:oleObj name="Equation" r:id="rId5" imgW="164957" imgH="253780" progId="Equation.DSMT4">
                  <p:embed/>
                </p:oleObj>
              </mc:Choice>
              <mc:Fallback>
                <p:oleObj name="Equation" r:id="rId5" imgW="164957" imgH="253780" progId="Equation.DSMT4">
                  <p:embed/>
                  <p:pic>
                    <p:nvPicPr>
                      <p:cNvPr id="0" name=""/>
                      <p:cNvPicPr>
                        <a:picLocks noGrp="1"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705600" y="2201864"/>
                        <a:ext cx="331788" cy="511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5844" name="Object 10"/>
          <p:cNvGraphicFramePr>
            <a:graphicFrameLocks noGrp="1" noChangeAspect="1"/>
          </p:cNvGraphicFramePr>
          <p:nvPr>
            <p:ph sz="quarter" idx="3"/>
          </p:nvPr>
        </p:nvGraphicFramePr>
        <p:xfrm>
          <a:off x="8305800" y="2278063"/>
          <a:ext cx="736600" cy="355600"/>
        </p:xfrm>
        <a:graphic>
          <a:graphicData uri="http://schemas.openxmlformats.org/presentationml/2006/ole">
            <mc:AlternateContent xmlns:mc="http://schemas.openxmlformats.org/markup-compatibility/2006">
              <mc:Choice xmlns:v="urn:schemas-microsoft-com:vml" Requires="v">
                <p:oleObj name="Equation" r:id="rId7" imgW="368140" imgH="177723" progId="Equation.DSMT4">
                  <p:embed/>
                </p:oleObj>
              </mc:Choice>
              <mc:Fallback>
                <p:oleObj name="Equation" r:id="rId7" imgW="368140" imgH="177723" progId="Equation.DSMT4">
                  <p:embed/>
                  <p:pic>
                    <p:nvPicPr>
                      <p:cNvPr id="0" name=""/>
                      <p:cNvPicPr>
                        <a:picLocks noGrp="1"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05800" y="2278063"/>
                        <a:ext cx="736600" cy="355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245" name="Text Box 4"/>
          <p:cNvSpPr txBox="1">
            <a:spLocks noChangeArrowheads="1"/>
          </p:cNvSpPr>
          <p:nvPr/>
        </p:nvSpPr>
        <p:spPr bwMode="auto">
          <a:xfrm>
            <a:off x="1905001" y="1516063"/>
            <a:ext cx="37179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a:t>Summary for this example</a:t>
            </a:r>
          </a:p>
        </p:txBody>
      </p:sp>
      <p:sp>
        <p:nvSpPr>
          <p:cNvPr id="10246" name="Text Box 5"/>
          <p:cNvSpPr txBox="1">
            <a:spLocks noChangeArrowheads="1"/>
          </p:cNvSpPr>
          <p:nvPr/>
        </p:nvSpPr>
        <p:spPr bwMode="auto">
          <a:xfrm>
            <a:off x="214313" y="2811463"/>
            <a:ext cx="11468101" cy="830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dirty="0"/>
              <a:t>Model A:                  0.4        0.4              67.30</a:t>
            </a:r>
          </a:p>
          <a:p>
            <a:pPr algn="ctr" eaLnBrk="1" hangingPunct="1">
              <a:defRPr/>
            </a:pPr>
            <a:r>
              <a:rPr lang="en-AU" altLang="en-US" dirty="0"/>
              <a:t>                       Model B:                  0.6        0.2             58.67                        </a:t>
            </a:r>
          </a:p>
        </p:txBody>
      </p:sp>
      <p:sp>
        <p:nvSpPr>
          <p:cNvPr id="10248" name="Text Box 12"/>
          <p:cNvSpPr txBox="1">
            <a:spLocks noChangeArrowheads="1"/>
          </p:cNvSpPr>
          <p:nvPr/>
        </p:nvSpPr>
        <p:spPr bwMode="auto">
          <a:xfrm>
            <a:off x="1752600" y="3970338"/>
            <a:ext cx="7950200" cy="2678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difference between the negative log likelihoods</a:t>
            </a:r>
          </a:p>
          <a:p>
            <a:pPr eaLnBrk="1" hangingPunct="1">
              <a:defRPr/>
            </a:pPr>
            <a:endParaRPr lang="en-AU" altLang="en-US" dirty="0"/>
          </a:p>
          <a:p>
            <a:pPr eaLnBrk="1" hangingPunct="1">
              <a:defRPr/>
            </a:pPr>
            <a:r>
              <a:rPr lang="en-AU" altLang="en-US" dirty="0"/>
              <a:t>67.3 - 58.7 = 8.6</a:t>
            </a:r>
          </a:p>
          <a:p>
            <a:pPr eaLnBrk="1" hangingPunct="1">
              <a:defRPr/>
            </a:pPr>
            <a:endParaRPr lang="en-AU" altLang="en-US" dirty="0"/>
          </a:p>
          <a:p>
            <a:pPr eaLnBrk="1" hangingPunct="1">
              <a:defRPr/>
            </a:pPr>
            <a:r>
              <a:rPr lang="en-AU" altLang="en-US" dirty="0"/>
              <a:t>Twice this difference is 17.2</a:t>
            </a:r>
          </a:p>
          <a:p>
            <a:pPr eaLnBrk="1" hangingPunct="1">
              <a:defRPr/>
            </a:pPr>
            <a:endParaRPr lang="en-AU" altLang="en-US" dirty="0"/>
          </a:p>
          <a:p>
            <a:pPr eaLnBrk="1" hangingPunct="1">
              <a:defRPr/>
            </a:pPr>
            <a:r>
              <a:rPr lang="en-AU" altLang="en-US" dirty="0"/>
              <a:t>Is this significant given the difference in parameters is 1?</a:t>
            </a:r>
          </a:p>
        </p:txBody>
      </p:sp>
    </p:spTree>
    <p:extLst>
      <p:ext uri="{BB962C8B-B14F-4D97-AF65-F5344CB8AC3E}">
        <p14:creationId xmlns:p14="http://schemas.microsoft.com/office/powerpoint/2010/main" val="1116066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8" name="Text Box 12"/>
          <p:cNvSpPr txBox="1">
            <a:spLocks noChangeArrowheads="1"/>
          </p:cNvSpPr>
          <p:nvPr/>
        </p:nvSpPr>
        <p:spPr bwMode="auto">
          <a:xfrm>
            <a:off x="1976438" y="990600"/>
            <a:ext cx="8577262" cy="1570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The difference between the negative log likelihoods is 8.6 – is</a:t>
            </a:r>
          </a:p>
          <a:p>
            <a:pPr eaLnBrk="1" hangingPunct="1">
              <a:defRPr/>
            </a:pPr>
            <a:r>
              <a:rPr lang="en-AU" altLang="en-US" dirty="0">
                <a:solidFill>
                  <a:srgbClr val="000000"/>
                </a:solidFill>
              </a:rPr>
              <a:t>this significant given the difference in parameters is 1?</a:t>
            </a:r>
          </a:p>
          <a:p>
            <a:pPr eaLnBrk="1" hangingPunct="1">
              <a:defRPr/>
            </a:pPr>
            <a:endParaRPr lang="en-AU" altLang="en-US" dirty="0">
              <a:solidFill>
                <a:srgbClr val="000000"/>
              </a:solidFill>
            </a:endParaRPr>
          </a:p>
          <a:p>
            <a:pPr eaLnBrk="1" hangingPunct="1">
              <a:defRPr/>
            </a:pPr>
            <a:r>
              <a:rPr lang="en-AU" altLang="en-US" dirty="0">
                <a:solidFill>
                  <a:srgbClr val="000000"/>
                </a:solidFill>
              </a:rPr>
              <a:t>2*8.6=17.2, compare to </a:t>
            </a:r>
            <a:r>
              <a:rPr lang="en-AU" altLang="en-US" dirty="0" err="1">
                <a:solidFill>
                  <a:srgbClr val="000000"/>
                </a:solidFill>
              </a:rPr>
              <a:t>chisq</a:t>
            </a:r>
            <a:r>
              <a:rPr lang="en-AU" altLang="en-US" dirty="0">
                <a:solidFill>
                  <a:srgbClr val="000000"/>
                </a:solidFill>
              </a:rPr>
              <a:t> distribution with one </a:t>
            </a:r>
            <a:r>
              <a:rPr lang="en-AU" altLang="en-US" dirty="0" err="1">
                <a:solidFill>
                  <a:srgbClr val="000000"/>
                </a:solidFill>
              </a:rPr>
              <a:t>d.f</a:t>
            </a:r>
            <a:endParaRPr lang="en-AU" altLang="en-US" dirty="0">
              <a:solidFill>
                <a:srgbClr val="000000"/>
              </a:solidFill>
            </a:endParaRPr>
          </a:p>
        </p:txBody>
      </p:sp>
      <p:pic>
        <p:nvPicPr>
          <p:cNvPr id="502867" name="Picture 83" descr="http://passel.unl.edu/Image/Namuth-CovertDeana956176274/chi-sqaure%20distribution%20tabl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6263" y="2560638"/>
            <a:ext cx="4724400" cy="424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5204" name="TextBox 4"/>
          <p:cNvSpPr txBox="1">
            <a:spLocks noChangeArrowheads="1"/>
          </p:cNvSpPr>
          <p:nvPr/>
        </p:nvSpPr>
        <p:spPr bwMode="auto">
          <a:xfrm>
            <a:off x="6599238" y="3832226"/>
            <a:ext cx="3962400"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eaLnBrk="1" hangingPunct="1">
              <a:lnSpc>
                <a:spcPct val="100000"/>
              </a:lnSpc>
              <a:spcBef>
                <a:spcPct val="0"/>
              </a:spcBef>
              <a:buFontTx/>
              <a:buNone/>
            </a:pPr>
            <a:r>
              <a:rPr lang="en-US" altLang="en-US" sz="2400">
                <a:latin typeface="Tahoma" charset="0"/>
              </a:rPr>
              <a:t>REJECT THE NULL</a:t>
            </a:r>
          </a:p>
          <a:p>
            <a:pPr algn="ctr" eaLnBrk="1" hangingPunct="1">
              <a:lnSpc>
                <a:spcPct val="100000"/>
              </a:lnSpc>
              <a:spcBef>
                <a:spcPct val="0"/>
              </a:spcBef>
              <a:buFontTx/>
              <a:buNone/>
            </a:pPr>
            <a:r>
              <a:rPr lang="en-US" altLang="en-US" sz="1600">
                <a:latin typeface="Tahoma" charset="0"/>
              </a:rPr>
              <a:t>That the one parameter model fits that data. Much better to use two parameters, indicating that the probability of running the red light has changed! </a:t>
            </a:r>
          </a:p>
        </p:txBody>
      </p:sp>
      <p:sp>
        <p:nvSpPr>
          <p:cNvPr id="6" name="Rectangle 5"/>
          <p:cNvSpPr/>
          <p:nvPr/>
        </p:nvSpPr>
        <p:spPr>
          <a:xfrm>
            <a:off x="1846264" y="3048000"/>
            <a:ext cx="4752975" cy="2286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802438" y="2873375"/>
            <a:ext cx="35560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75143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248">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286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520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5204" grpId="0"/>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Text Box 4"/>
          <p:cNvSpPr txBox="1">
            <a:spLocks noChangeArrowheads="1"/>
          </p:cNvSpPr>
          <p:nvPr/>
        </p:nvSpPr>
        <p:spPr bwMode="auto">
          <a:xfrm>
            <a:off x="1058426" y="1665133"/>
            <a:ext cx="10045003"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marL="342900" indent="-342900" eaLnBrk="1" hangingPunct="1">
              <a:buFont typeface="Arial" panose="020B0604020202020204" pitchFamily="34" charset="0"/>
              <a:buChar char="•"/>
              <a:defRPr/>
            </a:pPr>
            <a:r>
              <a:rPr lang="en-AU" altLang="en-US" dirty="0"/>
              <a:t>Likelihood ratio test can typically only be applied to nested models</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“Information theoretic” approaches (e.g. AIC, BIC) can be used to compare non-nested models. </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Models with smaller values of AIC or BIC are “better”, or “have more support” or “are more parsimonious”, but we’ll dig into what this really means for AIC and BIC.</a:t>
            </a:r>
          </a:p>
        </p:txBody>
      </p:sp>
    </p:spTree>
    <p:extLst>
      <p:ext uri="{BB962C8B-B14F-4D97-AF65-F5344CB8AC3E}">
        <p14:creationId xmlns:p14="http://schemas.microsoft.com/office/powerpoint/2010/main" val="75690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p:cNvSpPr>
            <a:spLocks noGrp="1"/>
          </p:cNvSpPr>
          <p:nvPr>
            <p:ph type="title"/>
          </p:nvPr>
        </p:nvSpPr>
        <p:spPr>
          <a:xfrm>
            <a:off x="1682750" y="34926"/>
            <a:ext cx="8667750" cy="1325563"/>
          </a:xfrm>
        </p:spPr>
        <p:txBody>
          <a:bodyPr/>
          <a:lstStyle/>
          <a:p>
            <a:r>
              <a:rPr lang="en-US" altLang="en-US" dirty="0"/>
              <a:t>Information Theoretic Criteria for Model Selection (i.e. AIC, BIC, etc.)</a:t>
            </a:r>
          </a:p>
        </p:txBody>
      </p:sp>
      <p:sp>
        <p:nvSpPr>
          <p:cNvPr id="44034" name="TextBox 4"/>
          <p:cNvSpPr txBox="1">
            <a:spLocks noChangeArrowheads="1"/>
          </p:cNvSpPr>
          <p:nvPr/>
        </p:nvSpPr>
        <p:spPr bwMode="auto">
          <a:xfrm>
            <a:off x="1670050" y="1438276"/>
            <a:ext cx="89979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The likelihood ratio statistic is twice the log of the likelihood ratio</a:t>
            </a:r>
          </a:p>
        </p:txBody>
      </p:sp>
      <p:pic>
        <p:nvPicPr>
          <p:cNvPr id="44035" name="Picture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11325" y="2128838"/>
            <a:ext cx="4610100" cy="158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036" name="TextBox 6"/>
          <p:cNvSpPr txBox="1">
            <a:spLocks noChangeArrowheads="1"/>
          </p:cNvSpPr>
          <p:nvPr/>
        </p:nvSpPr>
        <p:spPr bwMode="auto">
          <a:xfrm>
            <a:off x="1614489" y="3911601"/>
            <a:ext cx="88042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Can also be written as </a:t>
            </a:r>
            <a:r>
              <a:rPr lang="en-US" altLang="en-US" sz="2400" u="sng" dirty="0">
                <a:latin typeface="Tahoma" charset="0"/>
              </a:rPr>
              <a:t>difference</a:t>
            </a:r>
            <a:r>
              <a:rPr lang="en-US" altLang="en-US" sz="2400" dirty="0">
                <a:latin typeface="Tahoma" charset="0"/>
              </a:rPr>
              <a:t> in log-likelihoods or deviances</a:t>
            </a:r>
          </a:p>
        </p:txBody>
      </p:sp>
      <p:pic>
        <p:nvPicPr>
          <p:cNvPr id="44037" name="Picture 7"/>
          <p:cNvPicPr>
            <a:picLocks noChangeAspect="1"/>
          </p:cNvPicPr>
          <p:nvPr/>
        </p:nvPicPr>
        <p:blipFill rotWithShape="1">
          <a:blip r:embed="rId3">
            <a:extLst>
              <a:ext uri="{28A0092B-C50C-407E-A947-70E740481C1C}">
                <a14:useLocalDpi xmlns:a14="http://schemas.microsoft.com/office/drawing/2010/main" val="0"/>
              </a:ext>
            </a:extLst>
          </a:blip>
          <a:srcRect b="29403"/>
          <a:stretch/>
        </p:blipFill>
        <p:spPr bwMode="auto">
          <a:xfrm>
            <a:off x="4038600" y="4578350"/>
            <a:ext cx="3625850" cy="1434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038" name="TextBox 8"/>
          <p:cNvSpPr txBox="1">
            <a:spLocks noChangeArrowheads="1"/>
          </p:cNvSpPr>
          <p:nvPr/>
        </p:nvSpPr>
        <p:spPr bwMode="auto">
          <a:xfrm>
            <a:off x="7010401" y="2011364"/>
            <a:ext cx="3198813"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Compare to chi.sq distribution with degrees of freedom = # parameters</a:t>
            </a:r>
          </a:p>
        </p:txBody>
      </p:sp>
    </p:spTree>
    <p:extLst>
      <p:ext uri="{BB962C8B-B14F-4D97-AF65-F5344CB8AC3E}">
        <p14:creationId xmlns:p14="http://schemas.microsoft.com/office/powerpoint/2010/main" val="1790735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p:cNvSpPr>
            <a:spLocks noGrp="1"/>
          </p:cNvSpPr>
          <p:nvPr>
            <p:ph type="title"/>
          </p:nvPr>
        </p:nvSpPr>
        <p:spPr>
          <a:xfrm>
            <a:off x="321548" y="-157161"/>
            <a:ext cx="12192000" cy="1325563"/>
          </a:xfrm>
        </p:spPr>
        <p:txBody>
          <a:bodyPr/>
          <a:lstStyle/>
          <a:p>
            <a:r>
              <a:rPr lang="en-US" altLang="en-US" dirty="0"/>
              <a:t>Information Theoretic Criteria for Model Selection</a:t>
            </a:r>
          </a:p>
        </p:txBody>
      </p:sp>
      <p:sp>
        <p:nvSpPr>
          <p:cNvPr id="46082" name="TextBox 4"/>
          <p:cNvSpPr txBox="1">
            <a:spLocks noChangeArrowheads="1"/>
          </p:cNvSpPr>
          <p:nvPr/>
        </p:nvSpPr>
        <p:spPr bwMode="auto">
          <a:xfrm>
            <a:off x="1146175" y="2445345"/>
            <a:ext cx="20669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Look familiar?</a:t>
            </a:r>
          </a:p>
        </p:txBody>
      </p:sp>
      <p:pic>
        <p:nvPicPr>
          <p:cNvPr id="46083" name="Picture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651000" y="1208089"/>
            <a:ext cx="3124200" cy="107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084" name="Picture 2" descr="mage result for AIC equa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75050" y="2825750"/>
            <a:ext cx="4884738" cy="1905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085" name="TextBox 8"/>
          <p:cNvSpPr txBox="1">
            <a:spLocks noChangeArrowheads="1"/>
          </p:cNvSpPr>
          <p:nvPr/>
        </p:nvSpPr>
        <p:spPr bwMode="auto">
          <a:xfrm>
            <a:off x="5576888" y="1331913"/>
            <a:ext cx="5264150"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Compare to chi.sq distribution with degrees of freedom = # parameters</a:t>
            </a:r>
          </a:p>
        </p:txBody>
      </p:sp>
      <p:sp>
        <p:nvSpPr>
          <p:cNvPr id="46086" name="TextBox 2"/>
          <p:cNvSpPr txBox="1">
            <a:spLocks noChangeArrowheads="1"/>
          </p:cNvSpPr>
          <p:nvPr/>
        </p:nvSpPr>
        <p:spPr bwMode="auto">
          <a:xfrm>
            <a:off x="1108365" y="5164138"/>
            <a:ext cx="100029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AIC and BIC are meaningless on their own, but models with lower values are more parsimonious (i.e. supported). They balance better fit with more parameters. This is exactly what the likelihood ratio test does.</a:t>
            </a:r>
          </a:p>
        </p:txBody>
      </p:sp>
    </p:spTree>
    <p:extLst>
      <p:ext uri="{BB962C8B-B14F-4D97-AF65-F5344CB8AC3E}">
        <p14:creationId xmlns:p14="http://schemas.microsoft.com/office/powerpoint/2010/main" val="16119861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80178" y="912814"/>
            <a:ext cx="3124200" cy="107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7" name="Picture 2" descr="mage result for AIC equation"/>
          <p:cNvPicPr>
            <a:picLocks noChangeAspect="1" noChangeArrowheads="1"/>
          </p:cNvPicPr>
          <p:nvPr/>
        </p:nvPicPr>
        <p:blipFill>
          <a:blip r:embed="rId3">
            <a:extLst>
              <a:ext uri="{28A0092B-C50C-407E-A947-70E740481C1C}">
                <a14:useLocalDpi xmlns:a14="http://schemas.microsoft.com/office/drawing/2010/main" val="0"/>
              </a:ext>
            </a:extLst>
          </a:blip>
          <a:srcRect b="66792"/>
          <a:stretch>
            <a:fillRect/>
          </a:stretch>
        </p:blipFill>
        <p:spPr bwMode="auto">
          <a:xfrm>
            <a:off x="3575050" y="2338388"/>
            <a:ext cx="4884738" cy="633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108" name="TextBox 8"/>
          <p:cNvSpPr txBox="1">
            <a:spLocks noChangeArrowheads="1"/>
          </p:cNvSpPr>
          <p:nvPr/>
        </p:nvSpPr>
        <p:spPr bwMode="auto">
          <a:xfrm>
            <a:off x="4995217" y="932238"/>
            <a:ext cx="52641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Compare to chi.sq distribution with degrees of freedom = # parameters</a:t>
            </a:r>
          </a:p>
        </p:txBody>
      </p:sp>
      <p:sp>
        <p:nvSpPr>
          <p:cNvPr id="47109" name="TextBox 6"/>
          <p:cNvSpPr txBox="1">
            <a:spLocks noChangeArrowheads="1"/>
          </p:cNvSpPr>
          <p:nvPr/>
        </p:nvSpPr>
        <p:spPr bwMode="auto">
          <a:xfrm>
            <a:off x="1793876" y="2970213"/>
            <a:ext cx="86407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Say you compare two models with k parameters and with k+1</a:t>
            </a:r>
          </a:p>
        </p:txBody>
      </p:sp>
      <p:sp>
        <p:nvSpPr>
          <p:cNvPr id="41991" name="TextBox 9"/>
          <p:cNvSpPr txBox="1">
            <a:spLocks noRot="1" noChangeAspect="1" noMove="1" noResize="1" noEditPoints="1" noAdjustHandles="1" noChangeArrowheads="1" noChangeShapeType="1" noTextEdit="1"/>
          </p:cNvSpPr>
          <p:nvPr/>
        </p:nvSpPr>
        <p:spPr bwMode="auto">
          <a:xfrm>
            <a:off x="1538288" y="5041900"/>
            <a:ext cx="9315450" cy="1570038"/>
          </a:xfrm>
          <a:prstGeom prst="rect">
            <a:avLst/>
          </a:prstGeom>
          <a:blipFill rotWithShape="0">
            <a:blip r:embed="rId4"/>
            <a:stretch>
              <a:fillRect l="-982" t="-3101" b="-7752"/>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4" name="Title 1">
            <a:extLst>
              <a:ext uri="{FF2B5EF4-FFF2-40B4-BE49-F238E27FC236}">
                <a16:creationId xmlns:a16="http://schemas.microsoft.com/office/drawing/2014/main" id="{A2CAF3C4-35B9-95AA-E43E-DD03AEB1C5A9}"/>
              </a:ext>
            </a:extLst>
          </p:cNvPr>
          <p:cNvSpPr txBox="1">
            <a:spLocks/>
          </p:cNvSpPr>
          <p:nvPr/>
        </p:nvSpPr>
        <p:spPr>
          <a:xfrm>
            <a:off x="321548" y="-157161"/>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Information Theoretic Criteria for Model Selection</a:t>
            </a:r>
            <a:endParaRPr lang="en-US" altLang="en-US" dirty="0"/>
          </a:p>
        </p:txBody>
      </p:sp>
      <p:grpSp>
        <p:nvGrpSpPr>
          <p:cNvPr id="8" name="Group 7">
            <a:extLst>
              <a:ext uri="{FF2B5EF4-FFF2-40B4-BE49-F238E27FC236}">
                <a16:creationId xmlns:a16="http://schemas.microsoft.com/office/drawing/2014/main" id="{D497F3D1-92EA-A83C-8C9F-32C031155178}"/>
              </a:ext>
            </a:extLst>
          </p:cNvPr>
          <p:cNvGrpSpPr/>
          <p:nvPr/>
        </p:nvGrpSpPr>
        <p:grpSpPr>
          <a:xfrm>
            <a:off x="1450976" y="3852748"/>
            <a:ext cx="9289723" cy="864450"/>
            <a:chOff x="1450976" y="3852748"/>
            <a:chExt cx="9289723" cy="864450"/>
          </a:xfrm>
        </p:grpSpPr>
        <p:sp>
          <p:nvSpPr>
            <p:cNvPr id="41990" name="TextBox 7"/>
            <p:cNvSpPr txBox="1">
              <a:spLocks noRot="1" noChangeAspect="1" noMove="1" noResize="1" noEditPoints="1" noAdjustHandles="1" noChangeArrowheads="1" noChangeShapeType="1" noTextEdit="1"/>
            </p:cNvSpPr>
            <p:nvPr/>
          </p:nvSpPr>
          <p:spPr bwMode="auto">
            <a:xfrm>
              <a:off x="1450976" y="3886201"/>
              <a:ext cx="9289723" cy="830997"/>
            </a:xfrm>
            <a:prstGeom prst="rect">
              <a:avLst/>
            </a:prstGeom>
            <a:blipFill rotWithShape="0">
              <a:blip r:embed="rId5"/>
              <a:stretch>
                <a:fillRect l="-131" t="-6618" r="-66"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Rectangle 5">
              <a:extLst>
                <a:ext uri="{FF2B5EF4-FFF2-40B4-BE49-F238E27FC236}">
                  <a16:creationId xmlns:a16="http://schemas.microsoft.com/office/drawing/2014/main" id="{416F9872-C712-D99D-4245-672CF7E33B3C}"/>
                </a:ext>
              </a:extLst>
            </p:cNvPr>
            <p:cNvSpPr/>
            <p:nvPr/>
          </p:nvSpPr>
          <p:spPr>
            <a:xfrm>
              <a:off x="7486022" y="3852748"/>
              <a:ext cx="2773345" cy="50492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a:extLst>
              <a:ext uri="{FF2B5EF4-FFF2-40B4-BE49-F238E27FC236}">
                <a16:creationId xmlns:a16="http://schemas.microsoft.com/office/drawing/2014/main" id="{E09A7905-42B3-984C-8109-7C273AD22B52}"/>
              </a:ext>
            </a:extLst>
          </p:cNvPr>
          <p:cNvPicPr>
            <a:picLocks noChangeAspect="1"/>
          </p:cNvPicPr>
          <p:nvPr/>
        </p:nvPicPr>
        <p:blipFill>
          <a:blip r:embed="rId6"/>
          <a:srcRect b="53889"/>
          <a:stretch>
            <a:fillRect/>
          </a:stretch>
        </p:blipFill>
        <p:spPr>
          <a:xfrm>
            <a:off x="5824694" y="6142887"/>
            <a:ext cx="3048000" cy="386500"/>
          </a:xfrm>
          <a:prstGeom prst="rect">
            <a:avLst/>
          </a:prstGeom>
        </p:spPr>
      </p:pic>
    </p:spTree>
    <p:extLst>
      <p:ext uri="{BB962C8B-B14F-4D97-AF65-F5344CB8AC3E}">
        <p14:creationId xmlns:p14="http://schemas.microsoft.com/office/powerpoint/2010/main" val="19779998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19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Picture 83" descr="http://passel.unl.edu/Image/Namuth-CovertDeana956176274/chi-sqaure%20distribution%20tabl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011"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TextBox 5"/>
          <p:cNvSpPr txBox="1">
            <a:spLocks noChangeArrowheads="1"/>
          </p:cNvSpPr>
          <p:nvPr/>
        </p:nvSpPr>
        <p:spPr bwMode="auto">
          <a:xfrm>
            <a:off x="1032429" y="5701138"/>
            <a:ext cx="99701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Convention within&gt;2 AIC units are “considered competitive”, and this is approximately the same as frequentist model selection using LRT</a:t>
            </a:r>
          </a:p>
        </p:txBody>
      </p:sp>
      <p:sp>
        <p:nvSpPr>
          <p:cNvPr id="48135" name="TextBox 11"/>
          <p:cNvSpPr txBox="1">
            <a:spLocks noChangeArrowheads="1"/>
          </p:cNvSpPr>
          <p:nvPr/>
        </p:nvSpPr>
        <p:spPr bwMode="auto">
          <a:xfrm>
            <a:off x="1981200" y="50801"/>
            <a:ext cx="83772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If 1 parameter separate the model. AIC likes bigger models</a:t>
            </a:r>
          </a:p>
        </p:txBody>
      </p:sp>
      <p:sp>
        <p:nvSpPr>
          <p:cNvPr id="2" name="Rectangle 1">
            <a:extLst>
              <a:ext uri="{FF2B5EF4-FFF2-40B4-BE49-F238E27FC236}">
                <a16:creationId xmlns:a16="http://schemas.microsoft.com/office/drawing/2014/main" id="{AC5F6158-79C0-098C-6845-8B68DE55E7E8}"/>
              </a:ext>
            </a:extLst>
          </p:cNvPr>
          <p:cNvSpPr/>
          <p:nvPr/>
        </p:nvSpPr>
        <p:spPr>
          <a:xfrm>
            <a:off x="5011496" y="1257300"/>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966791A7-F084-05D2-2957-67F5EF4FBDD3}"/>
              </a:ext>
            </a:extLst>
          </p:cNvPr>
          <p:cNvSpPr/>
          <p:nvPr/>
        </p:nvSpPr>
        <p:spPr>
          <a:xfrm>
            <a:off x="9092800" y="1207896"/>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6836BA29-F847-9C69-0A92-475C7EE0167E}"/>
              </a:ext>
            </a:extLst>
          </p:cNvPr>
          <p:cNvSpPr/>
          <p:nvPr/>
        </p:nvSpPr>
        <p:spPr>
          <a:xfrm>
            <a:off x="5504298" y="12572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68DF515F-5E22-F59D-B49B-2A08F7B85467}"/>
              </a:ext>
            </a:extLst>
          </p:cNvPr>
          <p:cNvSpPr/>
          <p:nvPr/>
        </p:nvSpPr>
        <p:spPr>
          <a:xfrm>
            <a:off x="9004040" y="2195660"/>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BF7A60C9-EC23-AC32-3387-B11E54641D0C}"/>
              </a:ext>
            </a:extLst>
          </p:cNvPr>
          <p:cNvSpPr/>
          <p:nvPr/>
        </p:nvSpPr>
        <p:spPr>
          <a:xfrm>
            <a:off x="6045244" y="1271744"/>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9B53A66E-9733-AF07-2341-6967DAB3F199}"/>
              </a:ext>
            </a:extLst>
          </p:cNvPr>
          <p:cNvSpPr/>
          <p:nvPr/>
        </p:nvSpPr>
        <p:spPr>
          <a:xfrm>
            <a:off x="9056284" y="313184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557718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4"/>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4" grpId="0" animBg="1"/>
      <p:bldP spid="4" grpId="1" animBg="1"/>
      <p:bldP spid="7" grpId="0" animBg="1"/>
      <p:bldP spid="7" grpId="1" animBg="1"/>
      <p:bldP spid="8" grpId="0" animBg="1"/>
      <p:bldP spid="8" grpId="1" animBg="1"/>
      <p:bldP spid="9" grpId="0" animBg="1"/>
      <p:bldP spid="9"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7" name="Picture 83" descr="http://passel.unl.edu/Image/Namuth-CovertDeana956176274/chi-sqaure%20distribution%20tabl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9"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0183" name="TextBox 1"/>
          <p:cNvSpPr txBox="1">
            <a:spLocks noChangeArrowheads="1"/>
          </p:cNvSpPr>
          <p:nvPr/>
        </p:nvSpPr>
        <p:spPr bwMode="auto">
          <a:xfrm>
            <a:off x="1600201" y="65089"/>
            <a:ext cx="93900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What if </a:t>
            </a:r>
            <a:r>
              <a:rPr lang="en-US" altLang="en-US" sz="2400" b="1" u="sng" dirty="0">
                <a:latin typeface="Tahoma" charset="0"/>
              </a:rPr>
              <a:t>3 parameters </a:t>
            </a:r>
            <a:r>
              <a:rPr lang="en-US" altLang="en-US" sz="2400" dirty="0">
                <a:latin typeface="Tahoma" charset="0"/>
              </a:rPr>
              <a:t>separate the model? AIC likes bigger models</a:t>
            </a:r>
          </a:p>
        </p:txBody>
      </p:sp>
      <p:sp>
        <p:nvSpPr>
          <p:cNvPr id="50184" name="TextBox 6"/>
          <p:cNvSpPr txBox="1">
            <a:spLocks noChangeArrowheads="1"/>
          </p:cNvSpPr>
          <p:nvPr/>
        </p:nvSpPr>
        <p:spPr bwMode="auto">
          <a:xfrm>
            <a:off x="7229475" y="4144964"/>
            <a:ext cx="37734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000">
                <a:latin typeface="Tahoma" charset="0"/>
              </a:rPr>
              <a:t>(reject the null that the parameters equal 0)</a:t>
            </a:r>
          </a:p>
        </p:txBody>
      </p:sp>
      <p:sp>
        <p:nvSpPr>
          <p:cNvPr id="11" name="TextBox 10"/>
          <p:cNvSpPr txBox="1">
            <a:spLocks noChangeArrowheads="1"/>
          </p:cNvSpPr>
          <p:nvPr/>
        </p:nvSpPr>
        <p:spPr bwMode="auto">
          <a:xfrm>
            <a:off x="1032429" y="5701138"/>
            <a:ext cx="93091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2 </a:t>
            </a:r>
            <a:r>
              <a:rPr lang="en-US" altLang="en-US" sz="2400" dirty="0" err="1">
                <a:latin typeface="Tahoma" charset="0"/>
              </a:rPr>
              <a:t>deltaAIC</a:t>
            </a:r>
            <a:r>
              <a:rPr lang="en-US" altLang="en-US" sz="2400" dirty="0">
                <a:latin typeface="Tahoma" charset="0"/>
              </a:rPr>
              <a:t> still equivalent to p = 0.05 </a:t>
            </a:r>
          </a:p>
        </p:txBody>
      </p:sp>
      <p:sp>
        <p:nvSpPr>
          <p:cNvPr id="4" name="Rectangle 3">
            <a:extLst>
              <a:ext uri="{FF2B5EF4-FFF2-40B4-BE49-F238E27FC236}">
                <a16:creationId xmlns:a16="http://schemas.microsoft.com/office/drawing/2014/main" id="{E3592D0B-B3B5-A0E5-C618-CFB327E500B8}"/>
              </a:ext>
            </a:extLst>
          </p:cNvPr>
          <p:cNvSpPr/>
          <p:nvPr/>
        </p:nvSpPr>
        <p:spPr>
          <a:xfrm>
            <a:off x="5033693"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6" name="Rectangle 5">
            <a:extLst>
              <a:ext uri="{FF2B5EF4-FFF2-40B4-BE49-F238E27FC236}">
                <a16:creationId xmlns:a16="http://schemas.microsoft.com/office/drawing/2014/main" id="{540F64D3-439F-D9F1-BF97-20F4EAF5AA56}"/>
              </a:ext>
            </a:extLst>
          </p:cNvPr>
          <p:cNvSpPr/>
          <p:nvPr/>
        </p:nvSpPr>
        <p:spPr>
          <a:xfrm>
            <a:off x="9075892" y="118880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7CCBA10B-1D62-2429-4CFD-F795AAAAAC25}"/>
              </a:ext>
            </a:extLst>
          </p:cNvPr>
          <p:cNvSpPr/>
          <p:nvPr/>
        </p:nvSpPr>
        <p:spPr>
          <a:xfrm>
            <a:off x="5512752"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4656FF66-BD55-465B-08C1-140B8E7A79EE}"/>
              </a:ext>
            </a:extLst>
          </p:cNvPr>
          <p:cNvSpPr/>
          <p:nvPr/>
        </p:nvSpPr>
        <p:spPr>
          <a:xfrm>
            <a:off x="8979814" y="218330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C9D64A4E-D85B-89B4-8188-4F2835CE5F7B}"/>
              </a:ext>
            </a:extLst>
          </p:cNvPr>
          <p:cNvSpPr/>
          <p:nvPr/>
        </p:nvSpPr>
        <p:spPr>
          <a:xfrm>
            <a:off x="6041585" y="1558498"/>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2" name="Rectangle 11">
            <a:extLst>
              <a:ext uri="{FF2B5EF4-FFF2-40B4-BE49-F238E27FC236}">
                <a16:creationId xmlns:a16="http://schemas.microsoft.com/office/drawing/2014/main" id="{7078692D-7206-4D5D-06D2-47D809C7661A}"/>
              </a:ext>
            </a:extLst>
          </p:cNvPr>
          <p:cNvSpPr/>
          <p:nvPr/>
        </p:nvSpPr>
        <p:spPr>
          <a:xfrm>
            <a:off x="9064132" y="310592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1841578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7"/>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animBg="1"/>
      <p:bldP spid="4" grpId="1" animBg="1"/>
      <p:bldP spid="6" grpId="0" animBg="1"/>
      <p:bldP spid="6" grpId="1" animBg="1"/>
      <p:bldP spid="7" grpId="0" animBg="1"/>
      <p:bldP spid="7" grpId="1" animBg="1"/>
      <p:bldP spid="8" grpId="0" animBg="1"/>
      <p:bldP spid="8" grpId="1" animBg="1"/>
      <p:bldP spid="9" grpId="0" animBg="1"/>
      <p:bldP spid="9" grpId="1" animBg="1"/>
      <p:bldP spid="12" grpId="0" animBg="1"/>
      <p:bldP spid="12"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F642-1F9C-1A6B-2647-790AC640E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DAF3E-21C1-E542-8244-27ECD12FA878}"/>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9735A929-1D30-A180-B146-E80D26B97D97}"/>
              </a:ext>
            </a:extLst>
          </p:cNvPr>
          <p:cNvSpPr>
            <a:spLocks noGrp="1"/>
          </p:cNvSpPr>
          <p:nvPr>
            <p:ph idx="1"/>
          </p:nvPr>
        </p:nvSpPr>
        <p:spPr>
          <a:xfrm>
            <a:off x="643312" y="1966039"/>
            <a:ext cx="10515600" cy="4351338"/>
          </a:xfrm>
        </p:spPr>
        <p:txBody>
          <a:bodyPr/>
          <a:lstStyle/>
          <a:p>
            <a:r>
              <a:rPr lang="en-US" u="sng"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 (in the sense that the parameters </a:t>
            </a:r>
            <a:r>
              <a:rPr lang="en-US"/>
              <a:t>are informative)</a:t>
            </a:r>
            <a:endParaRPr lang="en-US" dirty="0"/>
          </a:p>
        </p:txBody>
      </p:sp>
      <p:pic>
        <p:nvPicPr>
          <p:cNvPr id="4" name="Picture 2" descr="mage result for AIC equation">
            <a:extLst>
              <a:ext uri="{FF2B5EF4-FFF2-40B4-BE49-F238E27FC236}">
                <a16:creationId xmlns:a16="http://schemas.microsoft.com/office/drawing/2014/main" id="{EB5035DF-2708-698A-848E-AC967154421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68333"/>
          <a:stretch/>
        </p:blipFill>
        <p:spPr bwMode="auto">
          <a:xfrm>
            <a:off x="3458743" y="1134853"/>
            <a:ext cx="4884738" cy="60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B17F44E-6821-187D-FCE1-08E76E72B0BB}"/>
              </a:ext>
            </a:extLst>
          </p:cNvPr>
          <p:cNvSpPr txBox="1"/>
          <p:nvPr/>
        </p:nvSpPr>
        <p:spPr>
          <a:xfrm>
            <a:off x="3458743" y="6488668"/>
            <a:ext cx="4222438" cy="369332"/>
          </a:xfrm>
          <a:prstGeom prst="rect">
            <a:avLst/>
          </a:prstGeom>
          <a:noFill/>
        </p:spPr>
        <p:txBody>
          <a:bodyPr wrap="none" rtlCol="0">
            <a:spAutoFit/>
          </a:bodyPr>
          <a:lstStyle/>
          <a:p>
            <a:r>
              <a:rPr lang="en-US" dirty="0"/>
              <a:t/>
            </a:r>
          </a:p>
        </p:txBody>
      </p:sp>
    </p:spTree>
    <p:extLst>
      <p:ext uri="{BB962C8B-B14F-4D97-AF65-F5344CB8AC3E}">
        <p14:creationId xmlns:p14="http://schemas.microsoft.com/office/powerpoint/2010/main" val="949443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829DA-4AB1-D3F6-CCC8-9077E6858B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043FE-76BC-D7D7-5B82-F3795607D4D7}"/>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a:extLst>
              <a:ext uri="{FF2B5EF4-FFF2-40B4-BE49-F238E27FC236}">
                <a16:creationId xmlns:a16="http://schemas.microsoft.com/office/drawing/2014/main" id="{97CAA30D-EEE2-67D1-1E82-3371C175BA61}"/>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EECC850D-113F-CAEA-2474-4B7504978944}"/>
              </a:ext>
            </a:extLst>
          </p:cNvPr>
          <p:cNvGrpSpPr/>
          <p:nvPr/>
        </p:nvGrpSpPr>
        <p:grpSpPr>
          <a:xfrm>
            <a:off x="0" y="108856"/>
            <a:ext cx="5860144" cy="2906487"/>
            <a:chOff x="0" y="108856"/>
            <a:chExt cx="5860144" cy="2906487"/>
          </a:xfrm>
        </p:grpSpPr>
        <p:pic>
          <p:nvPicPr>
            <p:cNvPr id="6" name="Picture 5">
              <a:extLst>
                <a:ext uri="{FF2B5EF4-FFF2-40B4-BE49-F238E27FC236}">
                  <a16:creationId xmlns:a16="http://schemas.microsoft.com/office/drawing/2014/main" id="{2705D716-44F3-C359-49AF-1338733D522F}"/>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2FFD5981-8C8F-A033-95DC-1B6530965419}"/>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81431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225" name="Content Placeholder 1"/>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a:xfrm>
            <a:off x="1790700" y="228600"/>
            <a:ext cx="8610600" cy="6451600"/>
          </a:xfrm>
        </p:spPr>
      </p:pic>
    </p:spTree>
    <p:extLst>
      <p:ext uri="{BB962C8B-B14F-4D97-AF65-F5344CB8AC3E}">
        <p14:creationId xmlns:p14="http://schemas.microsoft.com/office/powerpoint/2010/main" val="1021998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70538" y="0"/>
            <a:ext cx="8950570" cy="6706764"/>
          </a:xfrm>
        </p:spPr>
      </p:pic>
      <p:sp>
        <p:nvSpPr>
          <p:cNvPr id="5" name="Title 1"/>
          <p:cNvSpPr txBox="1">
            <a:spLocks/>
          </p:cNvSpPr>
          <p:nvPr/>
        </p:nvSpPr>
        <p:spPr>
          <a:xfrm>
            <a:off x="1059872" y="5895109"/>
            <a:ext cx="9144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sz="3600"/>
              <a:t>From statisticians Mark Brewer and Adam Butler</a:t>
            </a:r>
            <a:endParaRPr lang="en-US" altLang="en-US" sz="3600" dirty="0"/>
          </a:p>
        </p:txBody>
      </p:sp>
    </p:spTree>
    <p:extLst>
      <p:ext uri="{BB962C8B-B14F-4D97-AF65-F5344CB8AC3E}">
        <p14:creationId xmlns:p14="http://schemas.microsoft.com/office/powerpoint/2010/main" val="1543418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Title 1"/>
          <p:cNvSpPr>
            <a:spLocks noGrp="1"/>
          </p:cNvSpPr>
          <p:nvPr>
            <p:ph type="title"/>
          </p:nvPr>
        </p:nvSpPr>
        <p:spPr/>
        <p:txBody>
          <a:bodyPr/>
          <a:lstStyle/>
          <a:p>
            <a:endParaRPr lang="en-US" altLang="en-US"/>
          </a:p>
        </p:txBody>
      </p:sp>
      <p:pic>
        <p:nvPicPr>
          <p:cNvPr id="54274" name="Content Placeholder 1"/>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a:xfrm>
            <a:off x="2132014" y="228600"/>
            <a:ext cx="8093075" cy="6064250"/>
          </a:xfrm>
        </p:spPr>
      </p:pic>
    </p:spTree>
    <p:extLst>
      <p:ext uri="{BB962C8B-B14F-4D97-AF65-F5344CB8AC3E}">
        <p14:creationId xmlns:p14="http://schemas.microsoft.com/office/powerpoint/2010/main" val="1387875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19798" y="0"/>
            <a:ext cx="9152404" cy="6858000"/>
          </a:xfrm>
        </p:spPr>
      </p:pic>
    </p:spTree>
    <p:extLst>
      <p:ext uri="{BB962C8B-B14F-4D97-AF65-F5344CB8AC3E}">
        <p14:creationId xmlns:p14="http://schemas.microsoft.com/office/powerpoint/2010/main" val="19607834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52196" y="0"/>
            <a:ext cx="8964663" cy="6717323"/>
          </a:xfrm>
        </p:spPr>
      </p:pic>
    </p:spTree>
    <p:extLst>
      <p:ext uri="{BB962C8B-B14F-4D97-AF65-F5344CB8AC3E}">
        <p14:creationId xmlns:p14="http://schemas.microsoft.com/office/powerpoint/2010/main" val="20978679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1922" y="87924"/>
            <a:ext cx="8800389" cy="6594231"/>
          </a:xfrm>
          <a:prstGeom prst="rect">
            <a:avLst/>
          </a:prstGeom>
        </p:spPr>
      </p:pic>
    </p:spTree>
    <p:extLst>
      <p:ext uri="{BB962C8B-B14F-4D97-AF65-F5344CB8AC3E}">
        <p14:creationId xmlns:p14="http://schemas.microsoft.com/office/powerpoint/2010/main" val="4914487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87365" y="0"/>
            <a:ext cx="9152404" cy="6858000"/>
          </a:xfrm>
        </p:spPr>
      </p:pic>
    </p:spTree>
    <p:extLst>
      <p:ext uri="{BB962C8B-B14F-4D97-AF65-F5344CB8AC3E}">
        <p14:creationId xmlns:p14="http://schemas.microsoft.com/office/powerpoint/2010/main" val="9750903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62150" y="0"/>
            <a:ext cx="8823856" cy="6611815"/>
          </a:xfrm>
        </p:spPr>
      </p:pic>
    </p:spTree>
    <p:extLst>
      <p:ext uri="{BB962C8B-B14F-4D97-AF65-F5344CB8AC3E}">
        <p14:creationId xmlns:p14="http://schemas.microsoft.com/office/powerpoint/2010/main" val="2172791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01262" y="0"/>
            <a:ext cx="9039051" cy="6773063"/>
          </a:xfrm>
        </p:spPr>
      </p:pic>
    </p:spTree>
    <p:extLst>
      <p:ext uri="{BB962C8B-B14F-4D97-AF65-F5344CB8AC3E}">
        <p14:creationId xmlns:p14="http://schemas.microsoft.com/office/powerpoint/2010/main" val="17996372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91357" y="0"/>
            <a:ext cx="9009285" cy="6750759"/>
          </a:xfrm>
        </p:spPr>
      </p:pic>
    </p:spTree>
    <p:extLst>
      <p:ext uri="{BB962C8B-B14F-4D97-AF65-F5344CB8AC3E}">
        <p14:creationId xmlns:p14="http://schemas.microsoft.com/office/powerpoint/2010/main" val="9301790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Content Placeholder 2"/>
          <p:cNvSpPr>
            <a:spLocks noGrp="1"/>
          </p:cNvSpPr>
          <p:nvPr>
            <p:ph idx="1"/>
          </p:nvPr>
        </p:nvSpPr>
        <p:spPr>
          <a:xfrm>
            <a:off x="393700" y="1181100"/>
            <a:ext cx="11442700" cy="5334000"/>
          </a:xfrm>
        </p:spPr>
        <p:txBody>
          <a:bodyPr>
            <a:normAutofit/>
          </a:bodyPr>
          <a:lstStyle/>
          <a:p>
            <a:r>
              <a:rPr lang="en-US" altLang="en-US" sz="2400" dirty="0"/>
              <a:t>P &lt; 0.05 is an arbitrary threshold</a:t>
            </a:r>
          </a:p>
          <a:p>
            <a:pPr lvl="1"/>
            <a:r>
              <a:rPr lang="en-US" altLang="en-US" sz="2000" dirty="0"/>
              <a:t>But ⍙AIC &lt; 2 is as well</a:t>
            </a:r>
          </a:p>
          <a:p>
            <a:pPr lvl="1"/>
            <a:endParaRPr lang="en-US" altLang="en-US" dirty="0"/>
          </a:p>
          <a:p>
            <a:r>
              <a:rPr lang="en-US" altLang="en-US" sz="2400" dirty="0"/>
              <a:t>AIC doesn’t suffer from Type I error or problems with autocorrelation</a:t>
            </a:r>
          </a:p>
          <a:p>
            <a:pPr lvl="1"/>
            <a:r>
              <a:rPr lang="en-US" altLang="en-US" sz="2000" dirty="0"/>
              <a:t>This is just wrong, as we will see by simulation. Making inference by AIC has </a:t>
            </a:r>
            <a:r>
              <a:rPr lang="en-US" altLang="en-US" sz="2000" b="1" dirty="0"/>
              <a:t>MUCH MORE </a:t>
            </a:r>
            <a:r>
              <a:rPr lang="en-US" altLang="en-US" sz="2000" dirty="0"/>
              <a:t>Type I error</a:t>
            </a:r>
          </a:p>
          <a:p>
            <a:pPr lvl="1"/>
            <a:endParaRPr lang="en-US" altLang="en-US" dirty="0"/>
          </a:p>
          <a:p>
            <a:r>
              <a:rPr lang="en-US" altLang="en-US" sz="2400" dirty="0"/>
              <a:t>P-values don’t tell us how important an effect is </a:t>
            </a:r>
            <a:r>
              <a:rPr lang="mr-IN" altLang="en-US" sz="2400" dirty="0">
                <a:ea typeface="Mangal" charset="0"/>
              </a:rPr>
              <a:t>–</a:t>
            </a:r>
            <a:r>
              <a:rPr lang="en-US" altLang="en-US" sz="2400" dirty="0"/>
              <a:t> i.e. whether the effect is </a:t>
            </a:r>
            <a:r>
              <a:rPr lang="en-US" altLang="en-US" sz="2400" i="1" dirty="0"/>
              <a:t>biologically </a:t>
            </a:r>
            <a:r>
              <a:rPr lang="en-US" altLang="en-US" sz="2400" dirty="0"/>
              <a:t>significant. </a:t>
            </a:r>
            <a:r>
              <a:rPr lang="en-US" altLang="en-US" sz="2400" b="1" dirty="0"/>
              <a:t>Use effect sizes and confidence intervals instead</a:t>
            </a:r>
          </a:p>
          <a:p>
            <a:pPr lvl="1"/>
            <a:r>
              <a:rPr lang="en-US" altLang="en-US" sz="2000" dirty="0"/>
              <a:t>AIC doesn’t tell you that either. And I notice big tables full of models with no effect sizes or R</a:t>
            </a:r>
            <a:r>
              <a:rPr lang="en-US" altLang="en-US" sz="2000" baseline="30000" dirty="0"/>
              <a:t>2</a:t>
            </a:r>
            <a:r>
              <a:rPr lang="en-US" altLang="en-US" sz="2000" dirty="0"/>
              <a:t>, sometimes without even an intercept only model. What if all the models are terrible?</a:t>
            </a:r>
          </a:p>
          <a:p>
            <a:pPr lvl="1"/>
            <a:r>
              <a:rPr lang="en-US" altLang="en-US" sz="2000" dirty="0"/>
              <a:t>We </a:t>
            </a:r>
            <a:r>
              <a:rPr lang="en-US" altLang="en-US" sz="2000" b="1" u="sng" dirty="0"/>
              <a:t>always need effect sizes</a:t>
            </a:r>
            <a:r>
              <a:rPr lang="en-US" altLang="en-US" sz="2000" dirty="0"/>
              <a:t> for inference. These are the most important part of the science!</a:t>
            </a:r>
          </a:p>
          <a:p>
            <a:pPr lvl="1"/>
            <a:r>
              <a:rPr lang="en-US" altLang="en-US" sz="2000" dirty="0"/>
              <a:t>But let’s remember how confidence intervals and p-values are related</a:t>
            </a:r>
          </a:p>
          <a:p>
            <a:pPr lvl="1"/>
            <a:endParaRPr lang="en-US" altLang="en-US" sz="2000" baseline="30000" dirty="0"/>
          </a:p>
          <a:p>
            <a:endParaRPr lang="en-US" altLang="en-US" sz="2000" dirty="0"/>
          </a:p>
          <a:p>
            <a:endParaRPr lang="en-US" altLang="en-US" sz="2000" dirty="0"/>
          </a:p>
        </p:txBody>
      </p:sp>
      <p:sp>
        <p:nvSpPr>
          <p:cNvPr id="56322" name="Title 1"/>
          <p:cNvSpPr txBox="1">
            <a:spLocks/>
          </p:cNvSpPr>
          <p:nvPr/>
        </p:nvSpPr>
        <p:spPr bwMode="auto">
          <a:xfrm>
            <a:off x="2372249" y="-240148"/>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685800" indent="-228600" defTabSz="685800">
              <a:lnSpc>
                <a:spcPct val="90000"/>
              </a:lnSpc>
              <a:spcBef>
                <a:spcPts val="500"/>
              </a:spcBef>
              <a:buFont typeface="Arial" charset="0"/>
              <a:buChar char="•"/>
              <a:defRPr sz="2400">
                <a:solidFill>
                  <a:schemeClr val="tx1"/>
                </a:solidFill>
                <a:latin typeface="Calibri" charset="0"/>
              </a:defRPr>
            </a:lvl2pPr>
            <a:lvl3pPr marL="1143000" indent="-228600" defTabSz="685800">
              <a:lnSpc>
                <a:spcPct val="90000"/>
              </a:lnSpc>
              <a:spcBef>
                <a:spcPts val="500"/>
              </a:spcBef>
              <a:buFont typeface="Arial" charset="0"/>
              <a:buChar char="•"/>
              <a:defRPr sz="2000">
                <a:solidFill>
                  <a:schemeClr val="tx1"/>
                </a:solidFill>
                <a:latin typeface="Calibri" charset="0"/>
              </a:defRPr>
            </a:lvl3pPr>
            <a:lvl4pPr marL="1600200" indent="-228600" defTabSz="685800">
              <a:lnSpc>
                <a:spcPct val="90000"/>
              </a:lnSpc>
              <a:spcBef>
                <a:spcPts val="500"/>
              </a:spcBef>
              <a:buFont typeface="Arial" charset="0"/>
              <a:buChar char="•"/>
              <a:defRPr>
                <a:solidFill>
                  <a:schemeClr val="tx1"/>
                </a:solidFill>
                <a:latin typeface="Calibri" charset="0"/>
              </a:defRPr>
            </a:lvl4pPr>
            <a:lvl5pPr marL="2057400" indent="-228600" defTabSz="685800">
              <a:lnSpc>
                <a:spcPct val="90000"/>
              </a:lnSpc>
              <a:spcBef>
                <a:spcPts val="500"/>
              </a:spcBef>
              <a:buFont typeface="Arial" charset="0"/>
              <a:buChar char="•"/>
              <a:defRPr>
                <a:solidFill>
                  <a:schemeClr val="tx1"/>
                </a:solidFill>
                <a:latin typeface="Calibri" charset="0"/>
              </a:defRPr>
            </a:lvl5pPr>
            <a:lvl6pPr marL="2514600" indent="-228600" defTabSz="6858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defTabSz="6858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defTabSz="6858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dirty="0">
                <a:latin typeface="Calibri Light" charset="0"/>
              </a:rPr>
              <a:t>Why does the cult of AIC hate p-values?</a:t>
            </a:r>
          </a:p>
        </p:txBody>
      </p:sp>
    </p:spTree>
    <p:extLst>
      <p:ext uri="{BB962C8B-B14F-4D97-AF65-F5344CB8AC3E}">
        <p14:creationId xmlns:p14="http://schemas.microsoft.com/office/powerpoint/2010/main" val="35801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3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3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632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632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6321">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632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632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632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Title 1"/>
          <p:cNvSpPr>
            <a:spLocks noGrp="1"/>
          </p:cNvSpPr>
          <p:nvPr>
            <p:ph type="title"/>
          </p:nvPr>
        </p:nvSpPr>
        <p:spPr>
          <a:xfrm>
            <a:off x="2133600" y="26988"/>
            <a:ext cx="7886700" cy="1325562"/>
          </a:xfrm>
        </p:spPr>
        <p:txBody>
          <a:bodyPr/>
          <a:lstStyle/>
          <a:p>
            <a:r>
              <a:rPr lang="en-US" altLang="en-US"/>
              <a:t>Confidence intervals and p-values</a:t>
            </a:r>
          </a:p>
        </p:txBody>
      </p:sp>
      <p:cxnSp>
        <p:nvCxnSpPr>
          <p:cNvPr id="6" name="Straight Connector 5"/>
          <p:cNvCxnSpPr/>
          <p:nvPr/>
        </p:nvCxnSpPr>
        <p:spPr>
          <a:xfrm>
            <a:off x="5867400" y="1752600"/>
            <a:ext cx="0" cy="381000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3048000" y="5562600"/>
            <a:ext cx="5562600"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57348" name="TextBox 9"/>
          <p:cNvSpPr txBox="1">
            <a:spLocks noChangeArrowheads="1"/>
          </p:cNvSpPr>
          <p:nvPr/>
        </p:nvSpPr>
        <p:spPr bwMode="auto">
          <a:xfrm>
            <a:off x="4038600" y="5730876"/>
            <a:ext cx="34305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-3   -2   -1   0   1   2   3</a:t>
            </a:r>
          </a:p>
        </p:txBody>
      </p:sp>
      <p:grpSp>
        <p:nvGrpSpPr>
          <p:cNvPr id="57349" name="Group 14"/>
          <p:cNvGrpSpPr>
            <a:grpSpLocks/>
          </p:cNvGrpSpPr>
          <p:nvPr/>
        </p:nvGrpSpPr>
        <p:grpSpPr bwMode="auto">
          <a:xfrm>
            <a:off x="6259514" y="2514600"/>
            <a:ext cx="1392237" cy="228600"/>
            <a:chOff x="4343400" y="2438400"/>
            <a:chExt cx="1392397" cy="228600"/>
          </a:xfrm>
        </p:grpSpPr>
        <p:sp>
          <p:nvSpPr>
            <p:cNvPr id="11" name="Oval 10"/>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0" name="TextBox 13"/>
          <p:cNvSpPr txBox="1">
            <a:spLocks noChangeArrowheads="1"/>
          </p:cNvSpPr>
          <p:nvPr/>
        </p:nvSpPr>
        <p:spPr bwMode="auto">
          <a:xfrm>
            <a:off x="4092576" y="1233488"/>
            <a:ext cx="4702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95% CI. What is p?</a:t>
            </a:r>
          </a:p>
        </p:txBody>
      </p:sp>
      <p:grpSp>
        <p:nvGrpSpPr>
          <p:cNvPr id="57351" name="Group 15"/>
          <p:cNvGrpSpPr>
            <a:grpSpLocks/>
          </p:cNvGrpSpPr>
          <p:nvPr/>
        </p:nvGrpSpPr>
        <p:grpSpPr bwMode="auto">
          <a:xfrm>
            <a:off x="4489450" y="2125663"/>
            <a:ext cx="1392238" cy="228600"/>
            <a:chOff x="4343400" y="2438400"/>
            <a:chExt cx="1392397" cy="228600"/>
          </a:xfrm>
        </p:grpSpPr>
        <p:sp>
          <p:nvSpPr>
            <p:cNvPr id="17" name="Oval 1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8" name="Straight Connector 1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352" name="Group 18"/>
          <p:cNvGrpSpPr>
            <a:grpSpLocks/>
          </p:cNvGrpSpPr>
          <p:nvPr/>
        </p:nvGrpSpPr>
        <p:grpSpPr bwMode="auto">
          <a:xfrm>
            <a:off x="5562600" y="3057525"/>
            <a:ext cx="1392238" cy="228600"/>
            <a:chOff x="4343400" y="2438400"/>
            <a:chExt cx="1392397" cy="228600"/>
          </a:xfrm>
        </p:grpSpPr>
        <p:sp>
          <p:nvSpPr>
            <p:cNvPr id="20" name="Oval 1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Connector 2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TextBox 21"/>
          <p:cNvSpPr txBox="1">
            <a:spLocks noChangeArrowheads="1"/>
          </p:cNvSpPr>
          <p:nvPr/>
        </p:nvSpPr>
        <p:spPr bwMode="auto">
          <a:xfrm>
            <a:off x="3962401" y="3629026"/>
            <a:ext cx="47021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99% CI. What is p?</a:t>
            </a:r>
          </a:p>
        </p:txBody>
      </p:sp>
      <p:grpSp>
        <p:nvGrpSpPr>
          <p:cNvPr id="23" name="Group 22"/>
          <p:cNvGrpSpPr>
            <a:grpSpLocks/>
          </p:cNvGrpSpPr>
          <p:nvPr/>
        </p:nvGrpSpPr>
        <p:grpSpPr bwMode="auto">
          <a:xfrm>
            <a:off x="4489450" y="4200525"/>
            <a:ext cx="1392238" cy="228600"/>
            <a:chOff x="4343400" y="2438400"/>
            <a:chExt cx="1392397" cy="228600"/>
          </a:xfrm>
        </p:grpSpPr>
        <p:sp>
          <p:nvSpPr>
            <p:cNvPr id="24" name="Oval 23"/>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5" name="Straight Connector 24"/>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6" name="Group 25"/>
          <p:cNvGrpSpPr>
            <a:grpSpLocks/>
          </p:cNvGrpSpPr>
          <p:nvPr/>
        </p:nvGrpSpPr>
        <p:grpSpPr bwMode="auto">
          <a:xfrm>
            <a:off x="4684714" y="4648200"/>
            <a:ext cx="1392237" cy="228600"/>
            <a:chOff x="4343400" y="2438400"/>
            <a:chExt cx="1392397" cy="228600"/>
          </a:xfrm>
        </p:grpSpPr>
        <p:sp>
          <p:nvSpPr>
            <p:cNvPr id="27" name="Oval 2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8" name="Straight Connector 2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9" name="Group 28"/>
          <p:cNvGrpSpPr>
            <a:grpSpLocks/>
          </p:cNvGrpSpPr>
          <p:nvPr/>
        </p:nvGrpSpPr>
        <p:grpSpPr bwMode="auto">
          <a:xfrm>
            <a:off x="6076950" y="5019675"/>
            <a:ext cx="1392238" cy="228600"/>
            <a:chOff x="4343400" y="2438400"/>
            <a:chExt cx="1392397" cy="228600"/>
          </a:xfrm>
        </p:grpSpPr>
        <p:sp>
          <p:nvSpPr>
            <p:cNvPr id="30" name="Oval 2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Connector 3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7" name="TextBox 31"/>
          <p:cNvSpPr txBox="1">
            <a:spLocks noChangeArrowheads="1"/>
          </p:cNvSpPr>
          <p:nvPr/>
        </p:nvSpPr>
        <p:spPr bwMode="auto">
          <a:xfrm>
            <a:off x="1730375" y="6361113"/>
            <a:ext cx="82700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200" dirty="0">
                <a:latin typeface="Tahoma" charset="0"/>
              </a:rPr>
              <a:t>Effect sizes and p tell you the same thing as effect sizes and CIs!</a:t>
            </a:r>
          </a:p>
        </p:txBody>
      </p:sp>
    </p:spTree>
    <p:extLst>
      <p:ext uri="{BB962C8B-B14F-4D97-AF65-F5344CB8AC3E}">
        <p14:creationId xmlns:p14="http://schemas.microsoft.com/office/powerpoint/2010/main" val="1420767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Title 1"/>
          <p:cNvSpPr>
            <a:spLocks noGrp="1"/>
          </p:cNvSpPr>
          <p:nvPr>
            <p:ph type="title"/>
          </p:nvPr>
        </p:nvSpPr>
        <p:spPr>
          <a:xfrm>
            <a:off x="1752600" y="25401"/>
            <a:ext cx="8610600" cy="1325563"/>
          </a:xfrm>
        </p:spPr>
        <p:txBody>
          <a:bodyPr>
            <a:normAutofit fontScale="90000"/>
          </a:bodyPr>
          <a:lstStyle/>
          <a:p>
            <a:r>
              <a:rPr lang="en-US" altLang="en-US" sz="3600" dirty="0"/>
              <a:t>P-values should be interpreted on a continuum. Not a step function at 0.05. </a:t>
            </a:r>
            <a:br>
              <a:rPr lang="en-US" altLang="en-US" sz="3600" dirty="0"/>
            </a:br>
            <a:r>
              <a:rPr lang="en-US" altLang="en-US" sz="3600" dirty="0"/>
              <a:t>AIC should be interpreted in the same way!</a:t>
            </a:r>
          </a:p>
        </p:txBody>
      </p:sp>
      <p:pic>
        <p:nvPicPr>
          <p:cNvPr id="58370" name="Picture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3124200"/>
            <a:ext cx="6197600" cy="316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4343400" y="1828801"/>
            <a:ext cx="17287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err="1">
                <a:latin typeface="Tahoma" charset="0"/>
              </a:rPr>
              <a:t>deltaAIC</a:t>
            </a:r>
            <a:r>
              <a:rPr lang="en-US" altLang="en-US" sz="2400" dirty="0">
                <a:latin typeface="Tahoma" charset="0"/>
              </a:rPr>
              <a:t>=2</a:t>
            </a:r>
          </a:p>
        </p:txBody>
      </p:sp>
      <p:cxnSp>
        <p:nvCxnSpPr>
          <p:cNvPr id="7" name="Straight Arrow Connector 6"/>
          <p:cNvCxnSpPr>
            <a:stCxn id="5" idx="2"/>
          </p:cNvCxnSpPr>
          <p:nvPr/>
        </p:nvCxnSpPr>
        <p:spPr>
          <a:xfrm>
            <a:off x="5207000" y="2290763"/>
            <a:ext cx="0" cy="71596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a:spLocks noChangeArrowheads="1"/>
          </p:cNvSpPr>
          <p:nvPr/>
        </p:nvSpPr>
        <p:spPr bwMode="auto">
          <a:xfrm>
            <a:off x="2640014" y="2166939"/>
            <a:ext cx="172878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deltaAIC=7</a:t>
            </a:r>
          </a:p>
        </p:txBody>
      </p:sp>
      <p:cxnSp>
        <p:nvCxnSpPr>
          <p:cNvPr id="10" name="Straight Arrow Connector 9"/>
          <p:cNvCxnSpPr/>
          <p:nvPr/>
        </p:nvCxnSpPr>
        <p:spPr>
          <a:xfrm>
            <a:off x="3505200" y="2627313"/>
            <a:ext cx="0" cy="7175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4710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Title 1"/>
          <p:cNvSpPr>
            <a:spLocks noGrp="1"/>
          </p:cNvSpPr>
          <p:nvPr>
            <p:ph type="title"/>
          </p:nvPr>
        </p:nvSpPr>
        <p:spPr>
          <a:xfrm>
            <a:off x="3657600" y="161926"/>
            <a:ext cx="6019800" cy="1325563"/>
          </a:xfrm>
        </p:spPr>
        <p:txBody>
          <a:bodyPr/>
          <a:lstStyle/>
          <a:p>
            <a:r>
              <a:rPr lang="en-US" altLang="en-US"/>
              <a:t>So why use AIC?</a:t>
            </a:r>
          </a:p>
        </p:txBody>
      </p:sp>
      <p:sp>
        <p:nvSpPr>
          <p:cNvPr id="59394" name="Content Placeholder 2"/>
          <p:cNvSpPr>
            <a:spLocks noGrp="1"/>
          </p:cNvSpPr>
          <p:nvPr>
            <p:ph idx="1"/>
          </p:nvPr>
        </p:nvSpPr>
        <p:spPr>
          <a:xfrm>
            <a:off x="442128" y="2012283"/>
            <a:ext cx="11136466" cy="4395217"/>
          </a:xfrm>
        </p:spPr>
        <p:txBody>
          <a:bodyPr>
            <a:normAutofit/>
          </a:bodyPr>
          <a:lstStyle/>
          <a:p>
            <a:pPr marL="457200" indent="-457200">
              <a:buFont typeface="Calibri Light" charset="0"/>
              <a:buAutoNum type="arabicPeriod"/>
            </a:pPr>
            <a:r>
              <a:rPr lang="en-US" altLang="en-US" dirty="0"/>
              <a:t>It is easy to assess </a:t>
            </a:r>
            <a:r>
              <a:rPr lang="en-US" altLang="en-US" b="1" dirty="0"/>
              <a:t>non-nested</a:t>
            </a:r>
            <a:r>
              <a:rPr lang="en-US" altLang="en-US" dirty="0"/>
              <a:t> models of highly variable structure.</a:t>
            </a:r>
          </a:p>
          <a:p>
            <a:pPr marL="457200" indent="-457200">
              <a:buFont typeface="Calibri Light" charset="0"/>
              <a:buAutoNum type="arabicPeriod"/>
            </a:pPr>
            <a:r>
              <a:rPr lang="en-US" altLang="en-US" dirty="0"/>
              <a:t>It is good for selecting models for </a:t>
            </a:r>
            <a:r>
              <a:rPr lang="en-US" altLang="en-US" b="1" dirty="0"/>
              <a:t>prediction</a:t>
            </a:r>
            <a:r>
              <a:rPr lang="en-US" altLang="en-US" dirty="0"/>
              <a:t>	</a:t>
            </a:r>
          </a:p>
          <a:p>
            <a:pPr marL="457200" indent="-457200">
              <a:buFont typeface="Calibri Light" charset="0"/>
              <a:buAutoNum type="arabicPeriod"/>
            </a:pPr>
            <a:r>
              <a:rPr lang="en-US" altLang="en-US" dirty="0"/>
              <a:t>Useful when you have lots of potentially correlated predictors</a:t>
            </a:r>
          </a:p>
          <a:p>
            <a:pPr marL="457200" indent="-457200">
              <a:buFont typeface="Calibri Light" charset="0"/>
              <a:buAutoNum type="arabicPeriod"/>
            </a:pPr>
            <a:r>
              <a:rPr lang="en-US" altLang="en-US" dirty="0"/>
              <a:t>But it is </a:t>
            </a:r>
            <a:r>
              <a:rPr lang="en-US" altLang="en-US" i="1" dirty="0"/>
              <a:t>widely </a:t>
            </a:r>
            <a:r>
              <a:rPr lang="en-US" altLang="en-US" dirty="0"/>
              <a:t>used for inference, resulting in more Type I error</a:t>
            </a:r>
          </a:p>
          <a:p>
            <a:pPr marL="914400" lvl="1" indent="-457200">
              <a:buFont typeface="Calibri Light" charset="0"/>
              <a:buAutoNum type="arabicPeriod"/>
            </a:pPr>
            <a:r>
              <a:rPr lang="en-US" altLang="en-US" dirty="0"/>
              <a:t>Often used incorrectly, resulting in more error (more on this later)</a:t>
            </a:r>
          </a:p>
        </p:txBody>
      </p:sp>
    </p:spTree>
    <p:extLst>
      <p:ext uri="{BB962C8B-B14F-4D97-AF65-F5344CB8AC3E}">
        <p14:creationId xmlns:p14="http://schemas.microsoft.com/office/powerpoint/2010/main" val="17673262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408238" y="152401"/>
            <a:ext cx="89154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a:latin typeface="Calibri Light" charset="0"/>
              </a:rPr>
              <a:t>Why did AIC take over wildlife science?</a:t>
            </a:r>
          </a:p>
        </p:txBody>
      </p:sp>
      <p:sp>
        <p:nvSpPr>
          <p:cNvPr id="6" name="Content Placeholder 2"/>
          <p:cNvSpPr txBox="1">
            <a:spLocks/>
          </p:cNvSpPr>
          <p:nvPr/>
        </p:nvSpPr>
        <p:spPr bwMode="auto">
          <a:xfrm>
            <a:off x="1122218" y="1981201"/>
            <a:ext cx="9959912" cy="3279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lvl1pPr marL="457200" indent="-457200"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ts val="750"/>
              </a:spcBef>
              <a:buFont typeface="Calibri Light" charset="0"/>
              <a:buAutoNum type="arabicPeriod"/>
            </a:pPr>
            <a:r>
              <a:rPr lang="en-US" altLang="en-US" dirty="0"/>
              <a:t>Aggressive marketing of the method by Burnham and Anderson, who were in Fisheries and Wildlife and “wrote the book”</a:t>
            </a:r>
          </a:p>
          <a:p>
            <a:pPr>
              <a:spcBef>
                <a:spcPts val="750"/>
              </a:spcBef>
              <a:buFont typeface="Calibri Light" charset="0"/>
              <a:buAutoNum type="arabicPeriod"/>
            </a:pPr>
            <a:r>
              <a:rPr lang="en-US" altLang="en-US" dirty="0"/>
              <a:t>People adopt new statistical methods, then find the holes, and then the pendulum swings back</a:t>
            </a:r>
          </a:p>
          <a:p>
            <a:pPr>
              <a:spcBef>
                <a:spcPts val="750"/>
              </a:spcBef>
              <a:buFont typeface="Calibri Light" charset="0"/>
              <a:buAutoNum type="arabicPeriod"/>
            </a:pPr>
            <a:r>
              <a:rPr lang="en-US" altLang="en-US" dirty="0"/>
              <a:t>It </a:t>
            </a:r>
            <a:r>
              <a:rPr lang="en-US" altLang="en-US" i="1" dirty="0"/>
              <a:t>feels </a:t>
            </a:r>
            <a:r>
              <a:rPr lang="en-US" altLang="en-US" dirty="0"/>
              <a:t>rigorous because you have to run so many models</a:t>
            </a:r>
          </a:p>
          <a:p>
            <a:pPr>
              <a:spcBef>
                <a:spcPts val="750"/>
              </a:spcBef>
              <a:buFont typeface="Calibri Light" charset="0"/>
              <a:buAutoNum type="arabicPeriod"/>
            </a:pPr>
            <a:r>
              <a:rPr lang="en-US" altLang="en-US" dirty="0"/>
              <a:t>People like ranking things</a:t>
            </a:r>
          </a:p>
        </p:txBody>
      </p:sp>
    </p:spTree>
    <p:extLst>
      <p:ext uri="{BB962C8B-B14F-4D97-AF65-F5344CB8AC3E}">
        <p14:creationId xmlns:p14="http://schemas.microsoft.com/office/powerpoint/2010/main" val="56031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01028" y="0"/>
            <a:ext cx="9189944" cy="6886129"/>
          </a:xfrm>
        </p:spPr>
      </p:pic>
    </p:spTree>
    <p:extLst>
      <p:ext uri="{BB962C8B-B14F-4D97-AF65-F5344CB8AC3E}">
        <p14:creationId xmlns:p14="http://schemas.microsoft.com/office/powerpoint/2010/main" val="12150437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97209" y="141941"/>
            <a:ext cx="8962976" cy="6716059"/>
          </a:xfrm>
          <a:prstGeom prst="rect">
            <a:avLst/>
          </a:prstGeom>
        </p:spPr>
      </p:pic>
      <p:sp>
        <p:nvSpPr>
          <p:cNvPr id="3" name="TextBox 2">
            <a:extLst>
              <a:ext uri="{FF2B5EF4-FFF2-40B4-BE49-F238E27FC236}">
                <a16:creationId xmlns:a16="http://schemas.microsoft.com/office/drawing/2014/main" id="{1D14456C-AC79-5A5D-C778-C9B9A14B7CF4}"/>
              </a:ext>
            </a:extLst>
          </p:cNvPr>
          <p:cNvSpPr txBox="1"/>
          <p:nvPr/>
        </p:nvSpPr>
        <p:spPr>
          <a:xfrm>
            <a:off x="2827421" y="6346727"/>
            <a:ext cx="5497595" cy="369332"/>
          </a:xfrm>
          <a:prstGeom prst="rect">
            <a:avLst/>
          </a:prstGeom>
          <a:noFill/>
        </p:spPr>
        <p:txBody>
          <a:bodyPr wrap="none" rtlCol="0">
            <a:spAutoFit/>
          </a:bodyPr>
          <a:lstStyle/>
          <a:p>
            <a:r>
              <a:rPr lang="en-US" dirty="0"/>
              <a:t>Which is the top model? Which models are competitive?</a:t>
            </a:r>
          </a:p>
        </p:txBody>
      </p:sp>
    </p:spTree>
    <p:extLst>
      <p:ext uri="{BB962C8B-B14F-4D97-AF65-F5344CB8AC3E}">
        <p14:creationId xmlns:p14="http://schemas.microsoft.com/office/powerpoint/2010/main" val="13173348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p:cNvSpPr>
            <a:spLocks noGrp="1"/>
          </p:cNvSpPr>
          <p:nvPr>
            <p:ph type="title"/>
          </p:nvPr>
        </p:nvSpPr>
        <p:spPr>
          <a:xfrm>
            <a:off x="1619250" y="-293225"/>
            <a:ext cx="7886700" cy="1325563"/>
          </a:xfrm>
        </p:spPr>
        <p:txBody>
          <a:bodyPr/>
          <a:lstStyle/>
          <a:p>
            <a:pPr algn="ctr"/>
            <a:r>
              <a:rPr lang="en-US" altLang="en-US" dirty="0"/>
              <a:t>AIC in practice</a:t>
            </a:r>
          </a:p>
        </p:txBody>
      </p:sp>
      <p:sp>
        <p:nvSpPr>
          <p:cNvPr id="61442" name="Content Placeholder 2"/>
          <p:cNvSpPr>
            <a:spLocks noGrp="1"/>
          </p:cNvSpPr>
          <p:nvPr>
            <p:ph idx="1"/>
          </p:nvPr>
        </p:nvSpPr>
        <p:spPr>
          <a:xfrm>
            <a:off x="1028699" y="762000"/>
            <a:ext cx="10707775" cy="4351338"/>
          </a:xfrm>
        </p:spPr>
        <p:txBody>
          <a:bodyPr/>
          <a:lstStyle/>
          <a:p>
            <a:pPr marL="457200" indent="-457200">
              <a:buFont typeface="Calibri Light" charset="0"/>
              <a:buAutoNum type="arabicPeriod"/>
            </a:pPr>
            <a:r>
              <a:rPr lang="en-US" altLang="en-US" sz="2000" dirty="0"/>
              <a:t>For small sample sizes, AIC is biased and so people use </a:t>
            </a:r>
            <a:r>
              <a:rPr lang="en-US" altLang="en-US" sz="2000" dirty="0" err="1"/>
              <a:t>AICc</a:t>
            </a:r>
            <a:r>
              <a:rPr lang="en-US" altLang="en-US" sz="2000" dirty="0"/>
              <a:t>. </a:t>
            </a:r>
            <a:r>
              <a:rPr lang="en-US" altLang="en-US" sz="2000" dirty="0" err="1"/>
              <a:t>AICc</a:t>
            </a:r>
            <a:r>
              <a:rPr lang="en-US" altLang="en-US" sz="2000" dirty="0"/>
              <a:t> is treated as “corrected AIC” and converges to AIC for large n.</a:t>
            </a:r>
          </a:p>
          <a:p>
            <a:pPr marL="457200" indent="-457200">
              <a:buFont typeface="Calibri Light" charset="0"/>
              <a:buAutoNum type="arabicPeriod"/>
            </a:pPr>
            <a:endParaRPr lang="en-US" altLang="en-US" sz="2000" dirty="0"/>
          </a:p>
          <a:p>
            <a:pPr marL="457200" indent="-457200">
              <a:buFont typeface="Calibri Light" charset="0"/>
              <a:buAutoNum type="arabicPeriod"/>
            </a:pPr>
            <a:endParaRPr lang="en-US" altLang="en-US" sz="2000" dirty="0"/>
          </a:p>
          <a:p>
            <a:pPr marL="457200" indent="-457200">
              <a:buFont typeface="Calibri Light" charset="0"/>
              <a:buAutoNum type="arabicPeriod"/>
            </a:pPr>
            <a:r>
              <a:rPr lang="en-US" altLang="en-US" sz="2000" dirty="0"/>
              <a:t>Model weights. Each model </a:t>
            </a:r>
            <a:r>
              <a:rPr lang="en-US" altLang="en-US" sz="2000" i="1" dirty="0" err="1"/>
              <a:t>i</a:t>
            </a:r>
            <a:r>
              <a:rPr lang="en-US" altLang="en-US" sz="2000" i="1" dirty="0"/>
              <a:t> </a:t>
            </a:r>
            <a:r>
              <a:rPr lang="en-US" altLang="en-US" sz="2000" dirty="0"/>
              <a:t>of R is weighted based on its </a:t>
            </a:r>
            <a:r>
              <a:rPr lang="en-US" altLang="en-US" sz="2000" dirty="0" err="1"/>
              <a:t>deltaAIC</a:t>
            </a:r>
            <a:r>
              <a:rPr lang="en-US" altLang="en-US" sz="2000" dirty="0"/>
              <a:t>. </a:t>
            </a:r>
          </a:p>
          <a:p>
            <a:pPr marL="800100" lvl="1" indent="-457200">
              <a:buFont typeface="Calibri Light" charset="0"/>
              <a:buAutoNum type="arabicPeriod"/>
            </a:pPr>
            <a:r>
              <a:rPr lang="en-US" altLang="en-US" sz="2000" dirty="0"/>
              <a:t>Variables included with lots of model weight considered important. </a:t>
            </a:r>
          </a:p>
          <a:p>
            <a:pPr marL="800100" lvl="1" indent="-457200">
              <a:buFont typeface="Calibri Light" charset="0"/>
              <a:buAutoNum type="arabicPeriod"/>
            </a:pPr>
            <a:r>
              <a:rPr lang="en-US" altLang="en-US" sz="2000" dirty="0"/>
              <a:t>Model weight used for averaging across models for prediction</a:t>
            </a:r>
          </a:p>
          <a:p>
            <a:pPr marL="800100" lvl="1" indent="-457200">
              <a:buFont typeface="Calibri Light" charset="0"/>
              <a:buAutoNum type="arabicPeriod"/>
            </a:pPr>
            <a:r>
              <a:rPr lang="en-US" altLang="en-US" sz="2000" dirty="0"/>
              <a:t>Both </a:t>
            </a:r>
            <a:r>
              <a:rPr lang="en-US" altLang="en-US" sz="2000" dirty="0" err="1"/>
              <a:t>deltaAIC</a:t>
            </a:r>
            <a:r>
              <a:rPr lang="en-US" altLang="en-US" sz="2000" dirty="0"/>
              <a:t> and weights depend on model set. Notice, no intercept model here, estimates, or R</a:t>
            </a:r>
            <a:r>
              <a:rPr lang="en-US" altLang="en-US" sz="2000" baseline="30000" dirty="0"/>
              <a:t>2</a:t>
            </a:r>
            <a:r>
              <a:rPr lang="en-US" altLang="en-US" sz="2000" dirty="0"/>
              <a:t>. All the models could be garbage.</a:t>
            </a:r>
          </a:p>
        </p:txBody>
      </p:sp>
      <p:pic>
        <p:nvPicPr>
          <p:cNvPr id="86018" name="Picture 2" descr="mage result for corrected AIC"/>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4049714"/>
            <a:ext cx="5410200" cy="273208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pic>
      <p:pic>
        <p:nvPicPr>
          <p:cNvPr id="61444" name="Picture 3"/>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038601" y="1418431"/>
            <a:ext cx="2735263" cy="744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5" name="Picture 4"/>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726362" y="4122738"/>
            <a:ext cx="2771775"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p:cNvSpPr txBox="1"/>
          <p:nvPr/>
        </p:nvSpPr>
        <p:spPr>
          <a:xfrm>
            <a:off x="7340600" y="5940208"/>
            <a:ext cx="3543300" cy="707886"/>
          </a:xfrm>
          <a:prstGeom prst="rect">
            <a:avLst/>
          </a:prstGeom>
          <a:noFill/>
        </p:spPr>
        <p:txBody>
          <a:bodyPr wrap="square" rtlCol="0">
            <a:spAutoFit/>
          </a:bodyPr>
          <a:lstStyle/>
          <a:p>
            <a:r>
              <a:rPr lang="en-US" sz="2000" b="1" dirty="0"/>
              <a:t>Why would I HATE this table as presentation of results?</a:t>
            </a:r>
          </a:p>
        </p:txBody>
      </p:sp>
      <p:cxnSp>
        <p:nvCxnSpPr>
          <p:cNvPr id="4" name="Straight Arrow Connector 3"/>
          <p:cNvCxnSpPr>
            <a:stCxn id="2" idx="1"/>
          </p:cNvCxnSpPr>
          <p:nvPr/>
        </p:nvCxnSpPr>
        <p:spPr>
          <a:xfrm flipH="1" flipV="1">
            <a:off x="6773864" y="5593626"/>
            <a:ext cx="566736" cy="7005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93591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8E6E-3BCC-FF08-F2B8-E38E8B9009CA}"/>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3B0D3CCE-ECC8-06ED-7EF0-CF980EF7344A}"/>
              </a:ext>
            </a:extLst>
          </p:cNvPr>
          <p:cNvSpPr>
            <a:spLocks noGrp="1"/>
          </p:cNvSpPr>
          <p:nvPr>
            <p:ph idx="1"/>
          </p:nvPr>
        </p:nvSpPr>
        <p:spPr>
          <a:xfrm>
            <a:off x="643312" y="1966039"/>
            <a:ext cx="10515600" cy="4351338"/>
          </a:xfrm>
        </p:spPr>
        <p:txBody>
          <a:bodyPr/>
          <a:lstStyle/>
          <a:p>
            <a:r>
              <a:rPr lang="en-US"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a:t>
            </a:r>
          </a:p>
        </p:txBody>
      </p:sp>
      <p:pic>
        <p:nvPicPr>
          <p:cNvPr id="4" name="Picture 2" descr="mage result for AIC equation">
            <a:extLst>
              <a:ext uri="{FF2B5EF4-FFF2-40B4-BE49-F238E27FC236}">
                <a16:creationId xmlns:a16="http://schemas.microsoft.com/office/drawing/2014/main" id="{203CC286-9D19-E00E-E442-0CE85EF6F2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68333"/>
          <a:stretch/>
        </p:blipFill>
        <p:spPr bwMode="auto">
          <a:xfrm>
            <a:off x="3458743" y="1134853"/>
            <a:ext cx="4884738" cy="60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4963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92206C-BBD4-6A81-9FCE-FCDE13F6A22A}"/>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a:extLst>
              <a:ext uri="{FF2B5EF4-FFF2-40B4-BE49-F238E27FC236}">
                <a16:creationId xmlns:a16="http://schemas.microsoft.com/office/drawing/2014/main" id="{EF6BC2FB-90CE-1804-9BF4-D7ACEB40E6F0}"/>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6A73EB3A-DD62-9618-410F-88712FAC4C35}"/>
              </a:ext>
            </a:extLst>
          </p:cNvPr>
          <p:cNvGrpSpPr/>
          <p:nvPr/>
        </p:nvGrpSpPr>
        <p:grpSpPr>
          <a:xfrm>
            <a:off x="0" y="108856"/>
            <a:ext cx="5860144" cy="2906487"/>
            <a:chOff x="0" y="108856"/>
            <a:chExt cx="5860144" cy="2906487"/>
          </a:xfrm>
        </p:grpSpPr>
        <p:pic>
          <p:nvPicPr>
            <p:cNvPr id="6" name="Picture 5">
              <a:extLst>
                <a:ext uri="{FF2B5EF4-FFF2-40B4-BE49-F238E27FC236}">
                  <a16:creationId xmlns:a16="http://schemas.microsoft.com/office/drawing/2014/main" id="{E8EA5F07-429F-F4B8-1FD3-95A5FBF7CD8A}"/>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752CA714-38D2-B1DA-6A60-4271A360DFC2}"/>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412233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B2F32-D853-BBC2-7A2F-52D8B1481113}"/>
              </a:ext>
            </a:extLst>
          </p:cNvPr>
          <p:cNvSpPr>
            <a:spLocks noGrp="1"/>
          </p:cNvSpPr>
          <p:nvPr>
            <p:ph type="title"/>
          </p:nvPr>
        </p:nvSpPr>
        <p:spPr>
          <a:xfrm>
            <a:off x="838200" y="268871"/>
            <a:ext cx="10515600" cy="1932907"/>
          </a:xfrm>
        </p:spPr>
        <p:txBody>
          <a:bodyPr>
            <a:normAutofit/>
          </a:bodyPr>
          <a:lstStyle/>
          <a:p>
            <a:r>
              <a:rPr lang="en-US" dirty="0"/>
              <a:t>Best recent paper as a resource to stop doing dumb stuff with AIC</a:t>
            </a:r>
          </a:p>
        </p:txBody>
      </p:sp>
      <p:pic>
        <p:nvPicPr>
          <p:cNvPr id="4" name="Content Placeholder 3">
            <a:extLst>
              <a:ext uri="{FF2B5EF4-FFF2-40B4-BE49-F238E27FC236}">
                <a16:creationId xmlns:a16="http://schemas.microsoft.com/office/drawing/2014/main" id="{C9B06C9B-DE80-9D19-76A8-C80A4842E3A5}"/>
              </a:ext>
            </a:extLst>
          </p:cNvPr>
          <p:cNvPicPr>
            <a:picLocks noGrp="1" noChangeAspect="1"/>
          </p:cNvPicPr>
          <p:nvPr>
            <p:ph idx="1"/>
          </p:nvPr>
        </p:nvPicPr>
        <p:blipFill>
          <a:blip r:embed="rId2"/>
          <a:stretch>
            <a:fillRect/>
          </a:stretch>
        </p:blipFill>
        <p:spPr>
          <a:xfrm>
            <a:off x="838200" y="2598893"/>
            <a:ext cx="10515600" cy="2804802"/>
          </a:xfrm>
          <a:prstGeom prst="rect">
            <a:avLst/>
          </a:prstGeom>
        </p:spPr>
      </p:pic>
    </p:spTree>
    <p:extLst>
      <p:ext uri="{BB962C8B-B14F-4D97-AF65-F5344CB8AC3E}">
        <p14:creationId xmlns:p14="http://schemas.microsoft.com/office/powerpoint/2010/main" val="24756700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93208" y="77741"/>
            <a:ext cx="9048654" cy="6780259"/>
          </a:xfrm>
        </p:spPr>
      </p:pic>
    </p:spTree>
    <p:extLst>
      <p:ext uri="{BB962C8B-B14F-4D97-AF65-F5344CB8AC3E}">
        <p14:creationId xmlns:p14="http://schemas.microsoft.com/office/powerpoint/2010/main" val="1409287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8545" y="0"/>
            <a:ext cx="12053455" cy="1343891"/>
          </a:xfrm>
        </p:spPr>
        <p:txBody>
          <a:bodyPr>
            <a:normAutofit fontScale="90000"/>
          </a:bodyPr>
          <a:lstStyle/>
          <a:p>
            <a:r>
              <a:rPr lang="en-US" dirty="0"/>
              <a:t>Burnham and Anderson did not advocate model dredging (fitting all/many combinations of predictors)</a:t>
            </a:r>
          </a:p>
        </p:txBody>
      </p:sp>
      <p:sp>
        <p:nvSpPr>
          <p:cNvPr id="3" name="Content Placeholder 2"/>
          <p:cNvSpPr>
            <a:spLocks noGrp="1"/>
          </p:cNvSpPr>
          <p:nvPr>
            <p:ph idx="1"/>
          </p:nvPr>
        </p:nvSpPr>
        <p:spPr>
          <a:xfrm>
            <a:off x="838200" y="1537855"/>
            <a:ext cx="10515600" cy="5320145"/>
          </a:xfrm>
        </p:spPr>
        <p:txBody>
          <a:bodyPr>
            <a:normAutofit fontScale="85000" lnSpcReduction="20000"/>
          </a:bodyPr>
          <a:lstStyle/>
          <a:p>
            <a:r>
              <a:rPr lang="en-US" dirty="0"/>
              <a:t>If you look at many models, you will have many Type I errors leading to “overfitting”.</a:t>
            </a:r>
          </a:p>
          <a:p>
            <a:endParaRPr lang="en-US" dirty="0"/>
          </a:p>
          <a:p>
            <a:endParaRPr lang="en-US" dirty="0"/>
          </a:p>
          <a:p>
            <a:endParaRPr lang="en-US" dirty="0"/>
          </a:p>
          <a:p>
            <a:endParaRPr lang="en-US" dirty="0"/>
          </a:p>
          <a:p>
            <a:endParaRPr lang="en-US" dirty="0"/>
          </a:p>
          <a:p>
            <a:endParaRPr lang="en-US" dirty="0"/>
          </a:p>
          <a:p>
            <a:endParaRPr lang="en-US" dirty="0"/>
          </a:p>
          <a:p>
            <a:r>
              <a:rPr lang="en-US" dirty="0"/>
              <a:t> But did ecologists listen to B&amp;A and construct sensible model sets?</a:t>
            </a:r>
          </a:p>
          <a:p>
            <a:pPr lvl="1"/>
            <a:r>
              <a:rPr lang="en-US" dirty="0"/>
              <a:t>Hell no</a:t>
            </a:r>
          </a:p>
          <a:p>
            <a:r>
              <a:rPr lang="en-US" dirty="0"/>
              <a:t>Do ecologists even think about whether the purpose of modeling is inference or prediction?</a:t>
            </a:r>
          </a:p>
          <a:p>
            <a:pPr lvl="1"/>
            <a:r>
              <a:rPr lang="en-US" dirty="0"/>
              <a:t>Also no</a:t>
            </a:r>
          </a:p>
          <a:p>
            <a:endParaRPr lang="en-US" dirty="0"/>
          </a:p>
        </p:txBody>
      </p:sp>
      <p:sp>
        <p:nvSpPr>
          <p:cNvPr id="6" name="TextBox 5"/>
          <p:cNvSpPr txBox="1"/>
          <p:nvPr/>
        </p:nvSpPr>
        <p:spPr>
          <a:xfrm>
            <a:off x="838200" y="2331146"/>
            <a:ext cx="10134600" cy="2554545"/>
          </a:xfrm>
          <a:prstGeom prst="rect">
            <a:avLst/>
          </a:prstGeom>
          <a:noFill/>
        </p:spPr>
        <p:txBody>
          <a:bodyPr wrap="square" rtlCol="0">
            <a:spAutoFit/>
          </a:bodyPr>
          <a:lstStyle/>
          <a:p>
            <a:r>
              <a:rPr lang="en-US" sz="2000" dirty="0"/>
              <a:t>“An investigator with, say, 10 explanatory variables cannot expect to learn much from his data and a multiple linear regression analysis unless there is some substantial supporting science that can be used to help narrow the number of models to consider. In this example, there would be 1,024 models (many more if transformations or interaction terms were allowed), and over-ﬁtting would surely be a serious risk. The analysis, by whatever method, should probably be considered exploratory and the results used to design further data gathering leading to a more conﬁrmatory analysis, based on some a priori considerations” (Burnham and Anderson 2002:85)</a:t>
            </a:r>
          </a:p>
          <a:p>
            <a:endParaRPr lang="en-US" sz="2000" dirty="0"/>
          </a:p>
        </p:txBody>
      </p:sp>
    </p:spTree>
    <p:extLst>
      <p:ext uri="{BB962C8B-B14F-4D97-AF65-F5344CB8AC3E}">
        <p14:creationId xmlns:p14="http://schemas.microsoft.com/office/powerpoint/2010/main" val="541001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D81FB-ADBA-F9C0-F556-0C2D5A0AB65A}"/>
              </a:ext>
            </a:extLst>
          </p:cNvPr>
          <p:cNvSpPr>
            <a:spLocks noGrp="1"/>
          </p:cNvSpPr>
          <p:nvPr>
            <p:ph type="title"/>
          </p:nvPr>
        </p:nvSpPr>
        <p:spPr/>
        <p:txBody>
          <a:bodyPr/>
          <a:lstStyle/>
          <a:p>
            <a:endParaRPr lang="en-US"/>
          </a:p>
        </p:txBody>
      </p:sp>
      <p:pic>
        <p:nvPicPr>
          <p:cNvPr id="5" name="Content Placeholder 4" descr="Cartoon character writing on a chalkboard&#10;&#10;AI-generated content may be incorrect.">
            <a:extLst>
              <a:ext uri="{FF2B5EF4-FFF2-40B4-BE49-F238E27FC236}">
                <a16:creationId xmlns:a16="http://schemas.microsoft.com/office/drawing/2014/main" id="{9F5EE0FD-9ED2-DA8F-C57F-F4E1D9BFE690}"/>
              </a:ext>
            </a:extLst>
          </p:cNvPr>
          <p:cNvPicPr>
            <a:picLocks noGrp="1" noChangeAspect="1"/>
          </p:cNvPicPr>
          <p:nvPr>
            <p:ph idx="1"/>
          </p:nvPr>
        </p:nvPicPr>
        <p:blipFill>
          <a:blip r:embed="rId2"/>
          <a:stretch>
            <a:fillRect/>
          </a:stretch>
        </p:blipFill>
        <p:spPr>
          <a:xfrm>
            <a:off x="1554278" y="0"/>
            <a:ext cx="9083444" cy="6858000"/>
          </a:xfrm>
        </p:spPr>
      </p:pic>
    </p:spTree>
    <p:extLst>
      <p:ext uri="{BB962C8B-B14F-4D97-AF65-F5344CB8AC3E}">
        <p14:creationId xmlns:p14="http://schemas.microsoft.com/office/powerpoint/2010/main" val="1306481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p:cNvSpPr>
            <a:spLocks noGrp="1"/>
          </p:cNvSpPr>
          <p:nvPr>
            <p:ph type="title"/>
          </p:nvPr>
        </p:nvSpPr>
        <p:spPr>
          <a:xfrm>
            <a:off x="1524000" y="-152400"/>
            <a:ext cx="10058400" cy="1325563"/>
          </a:xfrm>
        </p:spPr>
        <p:txBody>
          <a:bodyPr/>
          <a:lstStyle/>
          <a:p>
            <a:r>
              <a:rPr lang="en-US" altLang="en-US" sz="4000" dirty="0"/>
              <a:t>Then what about BIC? </a:t>
            </a:r>
            <a:br>
              <a:rPr lang="en-US" altLang="en-US" sz="4000" dirty="0"/>
            </a:br>
            <a:r>
              <a:rPr lang="en-US" altLang="en-US" sz="4000" dirty="0"/>
              <a:t>Is it just a similar alternative?</a:t>
            </a:r>
          </a:p>
        </p:txBody>
      </p:sp>
      <p:sp>
        <p:nvSpPr>
          <p:cNvPr id="73730" name="Content Placeholder 2"/>
          <p:cNvSpPr>
            <a:spLocks noGrp="1"/>
          </p:cNvSpPr>
          <p:nvPr>
            <p:ph idx="1"/>
          </p:nvPr>
        </p:nvSpPr>
        <p:spPr>
          <a:xfrm>
            <a:off x="1177636" y="3604550"/>
            <a:ext cx="10404764" cy="3200400"/>
          </a:xfrm>
        </p:spPr>
        <p:txBody>
          <a:bodyPr rtlCol="0">
            <a:normAutofit/>
          </a:bodyPr>
          <a:lstStyle/>
          <a:p>
            <a:pPr>
              <a:buFont typeface="Arial" panose="020B0604020202020204" pitchFamily="34" charset="0"/>
              <a:buChar char="•"/>
              <a:defRPr/>
            </a:pPr>
            <a:r>
              <a:rPr lang="en-US" altLang="en-US" dirty="0"/>
              <a:t>The penalty in BIC increases with the sample size</a:t>
            </a:r>
          </a:p>
          <a:p>
            <a:pPr>
              <a:buFont typeface="Arial" panose="020B0604020202020204" pitchFamily="34" charset="0"/>
              <a:buChar char="•"/>
              <a:defRPr/>
            </a:pPr>
            <a:r>
              <a:rPr lang="en-US" altLang="en-US" dirty="0"/>
              <a:t>AIC retains more complex models than BIC or p-values</a:t>
            </a:r>
          </a:p>
          <a:p>
            <a:pPr>
              <a:buFont typeface="Arial" panose="020B0604020202020204" pitchFamily="34" charset="0"/>
              <a:buChar char="•"/>
              <a:defRPr/>
            </a:pPr>
            <a:r>
              <a:rPr lang="en-US" altLang="en-US" dirty="0"/>
              <a:t>AIC chooses the model that gives the best prediction. It is </a:t>
            </a:r>
            <a:r>
              <a:rPr lang="en-US" altLang="en-US" b="1" dirty="0"/>
              <a:t>efficient</a:t>
            </a:r>
            <a:r>
              <a:rPr lang="en-US" altLang="en-US" dirty="0"/>
              <a:t> for prediction.</a:t>
            </a:r>
          </a:p>
          <a:p>
            <a:pPr>
              <a:buFont typeface="Arial" panose="020B0604020202020204" pitchFamily="34" charset="0"/>
              <a:buChar char="•"/>
              <a:defRPr/>
            </a:pPr>
            <a:r>
              <a:rPr lang="en-US" altLang="en-US" dirty="0"/>
              <a:t>BIC chooses the “correct” model if it is in the set.</a:t>
            </a:r>
          </a:p>
        </p:txBody>
      </p:sp>
      <p:pic>
        <p:nvPicPr>
          <p:cNvPr id="62467" name="Picture 2" descr="mage result for AIC equ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1360489"/>
            <a:ext cx="4351338" cy="1697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702488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AIC vs BIC</a:t>
            </a:r>
          </a:p>
        </p:txBody>
      </p:sp>
      <p:sp>
        <p:nvSpPr>
          <p:cNvPr id="3" name="Content Placeholder 2"/>
          <p:cNvSpPr>
            <a:spLocks noGrp="1"/>
          </p:cNvSpPr>
          <p:nvPr>
            <p:ph idx="1"/>
          </p:nvPr>
        </p:nvSpPr>
        <p:spPr>
          <a:xfrm>
            <a:off x="596461" y="1690688"/>
            <a:ext cx="11269717" cy="4351338"/>
          </a:xfrm>
        </p:spPr>
        <p:txBody>
          <a:bodyPr>
            <a:normAutofit/>
          </a:bodyPr>
          <a:lstStyle/>
          <a:p>
            <a:r>
              <a:rPr lang="en-US" sz="3200" dirty="0"/>
              <a:t>“Theoretically, AIC is optimal in the sense of minimizing the mean square error of predictions, whereas a competing metric, the Bayesian Information Criterion (BIC; Schwarz </a:t>
            </a:r>
            <a:r>
              <a:rPr lang="en-US" sz="3200" b="1" u="sng" dirty="0">
                <a:hlinkClick r:id="rId2"/>
              </a:rPr>
              <a:t>1978</a:t>
            </a:r>
            <a:r>
              <a:rPr lang="en-US" sz="3200" dirty="0"/>
              <a:t>), is </a:t>
            </a:r>
            <a:r>
              <a:rPr lang="en-US" sz="3200" i="1" dirty="0"/>
              <a:t>consistent</a:t>
            </a:r>
            <a:r>
              <a:rPr lang="en-US" sz="3200" dirty="0"/>
              <a:t> – that is, it will tend to select the ‘true’ model as the sample size increases to infinity.”</a:t>
            </a:r>
          </a:p>
          <a:p>
            <a:endParaRPr lang="en-US" sz="3200" dirty="0"/>
          </a:p>
          <a:p>
            <a:r>
              <a:rPr lang="en-US" sz="3200" dirty="0"/>
              <a:t>AIC is asymptotically equivalent to leave-one-out </a:t>
            </a:r>
            <a:r>
              <a:rPr lang="en-US" sz="3200" dirty="0" err="1"/>
              <a:t>crossvalidation</a:t>
            </a:r>
            <a:r>
              <a:rPr lang="en-US" sz="3200" dirty="0"/>
              <a:t> (prediction), and BIC is most similar to inference (p-values)</a:t>
            </a:r>
          </a:p>
        </p:txBody>
      </p:sp>
    </p:spTree>
    <p:extLst>
      <p:ext uri="{BB962C8B-B14F-4D97-AF65-F5344CB8AC3E}">
        <p14:creationId xmlns:p14="http://schemas.microsoft.com/office/powerpoint/2010/main" val="8152468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a:xfrm>
            <a:off x="284020" y="-48712"/>
            <a:ext cx="11755580" cy="1325563"/>
          </a:xfrm>
        </p:spPr>
        <p:txBody>
          <a:bodyPr>
            <a:noAutofit/>
          </a:bodyPr>
          <a:lstStyle/>
          <a:p>
            <a:pPr algn="ctr"/>
            <a:r>
              <a:rPr lang="en-US" sz="3200" dirty="0" err="1"/>
              <a:t>Crossvalidation</a:t>
            </a:r>
            <a:r>
              <a:rPr lang="en-US" sz="3200" dirty="0"/>
              <a:t>: Split data, train model, compare predictions to actual using test data. Repeat. </a:t>
            </a:r>
          </a:p>
        </p:txBody>
      </p:sp>
      <p:sp>
        <p:nvSpPr>
          <p:cNvPr id="390147" name="Rectangle 3"/>
          <p:cNvSpPr>
            <a:spLocks noGrp="1" noChangeArrowheads="1"/>
          </p:cNvSpPr>
          <p:nvPr>
            <p:ph type="body" idx="1"/>
          </p:nvPr>
        </p:nvSpPr>
        <p:spPr>
          <a:xfrm>
            <a:off x="284020" y="1495282"/>
            <a:ext cx="10515600" cy="4351338"/>
          </a:xfrm>
        </p:spPr>
        <p:txBody>
          <a:bodyPr/>
          <a:lstStyle/>
          <a:p>
            <a:r>
              <a:rPr lang="en-US" dirty="0"/>
              <a:t>k-fold </a:t>
            </a:r>
            <a:r>
              <a:rPr lang="en-US" dirty="0" err="1"/>
              <a:t>crossvalidation</a:t>
            </a:r>
            <a:endParaRPr lang="en-US" dirty="0"/>
          </a:p>
          <a:p>
            <a:endParaRPr lang="en-US" dirty="0"/>
          </a:p>
          <a:p>
            <a:endParaRPr lang="en-US" dirty="0"/>
          </a:p>
          <a:p>
            <a:endParaRPr lang="en-US" dirty="0"/>
          </a:p>
          <a:p>
            <a:endParaRPr lang="en-US" dirty="0"/>
          </a:p>
          <a:p>
            <a:endParaRPr lang="en-US" dirty="0"/>
          </a:p>
          <a:p>
            <a:r>
              <a:rPr lang="en-US" dirty="0"/>
              <a:t>Leave-one-out (n-fold </a:t>
            </a:r>
            <a:r>
              <a:rPr lang="en-US" dirty="0" err="1"/>
              <a:t>crossvalidation</a:t>
            </a:r>
            <a:r>
              <a:rPr lang="en-US" dirty="0"/>
              <a:t>)</a:t>
            </a:r>
          </a:p>
          <a:p>
            <a:pPr marL="0" indent="0">
              <a:buNone/>
            </a:pPr>
            <a:endParaRPr lang="en-US" dirty="0"/>
          </a:p>
        </p:txBody>
      </p:sp>
      <p:sp>
        <p:nvSpPr>
          <p:cNvPr id="390216" name="Rectangle 72"/>
          <p:cNvSpPr>
            <a:spLocks noChangeArrowheads="1"/>
          </p:cNvSpPr>
          <p:nvPr/>
        </p:nvSpPr>
        <p:spPr bwMode="auto">
          <a:xfrm>
            <a:off x="2854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7" name="Rectangle 73"/>
          <p:cNvSpPr>
            <a:spLocks noChangeArrowheads="1"/>
          </p:cNvSpPr>
          <p:nvPr/>
        </p:nvSpPr>
        <p:spPr bwMode="auto">
          <a:xfrm>
            <a:off x="5140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8" name="Rectangle 74"/>
          <p:cNvSpPr>
            <a:spLocks noChangeArrowheads="1"/>
          </p:cNvSpPr>
          <p:nvPr/>
        </p:nvSpPr>
        <p:spPr bwMode="auto">
          <a:xfrm>
            <a:off x="7426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9" name="Rectangle 75"/>
          <p:cNvSpPr>
            <a:spLocks noChangeArrowheads="1"/>
          </p:cNvSpPr>
          <p:nvPr/>
        </p:nvSpPr>
        <p:spPr bwMode="auto">
          <a:xfrm>
            <a:off x="2777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0" name="Rectangle 76"/>
          <p:cNvSpPr>
            <a:spLocks noChangeArrowheads="1"/>
          </p:cNvSpPr>
          <p:nvPr/>
        </p:nvSpPr>
        <p:spPr bwMode="auto">
          <a:xfrm>
            <a:off x="5063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1" name="Rectangle 77"/>
          <p:cNvSpPr>
            <a:spLocks noChangeArrowheads="1"/>
          </p:cNvSpPr>
          <p:nvPr/>
        </p:nvSpPr>
        <p:spPr bwMode="auto">
          <a:xfrm>
            <a:off x="7502238" y="3027220"/>
            <a:ext cx="2286000" cy="304800"/>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2" name="Text Box 78"/>
          <p:cNvSpPr txBox="1">
            <a:spLocks noChangeArrowheads="1"/>
          </p:cNvSpPr>
          <p:nvPr/>
        </p:nvSpPr>
        <p:spPr bwMode="auto">
          <a:xfrm>
            <a:off x="3920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Train</a:t>
            </a:r>
          </a:p>
        </p:txBody>
      </p:sp>
      <p:sp>
        <p:nvSpPr>
          <p:cNvPr id="390223" name="Text Box 79"/>
          <p:cNvSpPr txBox="1">
            <a:spLocks noChangeArrowheads="1"/>
          </p:cNvSpPr>
          <p:nvPr/>
        </p:nvSpPr>
        <p:spPr bwMode="auto">
          <a:xfrm>
            <a:off x="7349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Test</a:t>
            </a:r>
          </a:p>
        </p:txBody>
      </p:sp>
      <p:grpSp>
        <p:nvGrpSpPr>
          <p:cNvPr id="390243" name="Group 99"/>
          <p:cNvGrpSpPr>
            <a:grpSpLocks/>
          </p:cNvGrpSpPr>
          <p:nvPr/>
        </p:nvGrpSpPr>
        <p:grpSpPr bwMode="auto">
          <a:xfrm>
            <a:off x="2701638" y="3484420"/>
            <a:ext cx="7162800" cy="838200"/>
            <a:chOff x="672" y="2160"/>
            <a:chExt cx="4512" cy="528"/>
          </a:xfrm>
        </p:grpSpPr>
        <p:sp>
          <p:nvSpPr>
            <p:cNvPr id="390224" name="Rectangle 80"/>
            <p:cNvSpPr>
              <a:spLocks noChangeArrowheads="1"/>
            </p:cNvSpPr>
            <p:nvPr/>
          </p:nvSpPr>
          <p:spPr bwMode="auto">
            <a:xfrm>
              <a:off x="720" y="2160"/>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5" name="Rectangle 81"/>
            <p:cNvSpPr>
              <a:spLocks noChangeArrowheads="1"/>
            </p:cNvSpPr>
            <p:nvPr/>
          </p:nvSpPr>
          <p:spPr bwMode="auto">
            <a:xfrm>
              <a:off x="225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6" name="Rectangle 82"/>
            <p:cNvSpPr>
              <a:spLocks noChangeArrowheads="1"/>
            </p:cNvSpPr>
            <p:nvPr/>
          </p:nvSpPr>
          <p:spPr bwMode="auto">
            <a:xfrm>
              <a:off x="369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7" name="Rectangle 83"/>
            <p:cNvSpPr>
              <a:spLocks noChangeArrowheads="1"/>
            </p:cNvSpPr>
            <p:nvPr/>
          </p:nvSpPr>
          <p:spPr bwMode="auto">
            <a:xfrm>
              <a:off x="672"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8" name="Rectangle 84"/>
            <p:cNvSpPr>
              <a:spLocks noChangeArrowheads="1"/>
            </p:cNvSpPr>
            <p:nvPr/>
          </p:nvSpPr>
          <p:spPr bwMode="auto">
            <a:xfrm>
              <a:off x="2208" y="2496"/>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9" name="Rectangle 85"/>
            <p:cNvSpPr>
              <a:spLocks noChangeArrowheads="1"/>
            </p:cNvSpPr>
            <p:nvPr/>
          </p:nvSpPr>
          <p:spPr bwMode="auto">
            <a:xfrm>
              <a:off x="3744"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390244" name="Group 100"/>
          <p:cNvGrpSpPr>
            <a:grpSpLocks/>
          </p:cNvGrpSpPr>
          <p:nvPr/>
        </p:nvGrpSpPr>
        <p:grpSpPr bwMode="auto">
          <a:xfrm>
            <a:off x="2854038" y="5008420"/>
            <a:ext cx="6858000" cy="1600200"/>
            <a:chOff x="816" y="3216"/>
            <a:chExt cx="4320" cy="1008"/>
          </a:xfrm>
        </p:grpSpPr>
        <p:sp>
          <p:nvSpPr>
            <p:cNvPr id="390230" name="Rectangle 86"/>
            <p:cNvSpPr>
              <a:spLocks noChangeArrowheads="1"/>
            </p:cNvSpPr>
            <p:nvPr/>
          </p:nvSpPr>
          <p:spPr bwMode="auto">
            <a:xfrm>
              <a:off x="1152" y="3216"/>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3" name="Oval 89"/>
            <p:cNvSpPr>
              <a:spLocks noChangeArrowheads="1"/>
            </p:cNvSpPr>
            <p:nvPr/>
          </p:nvSpPr>
          <p:spPr bwMode="auto">
            <a:xfrm>
              <a:off x="816" y="3216"/>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4" name="Rectangle 90"/>
            <p:cNvSpPr>
              <a:spLocks noChangeArrowheads="1"/>
            </p:cNvSpPr>
            <p:nvPr/>
          </p:nvSpPr>
          <p:spPr bwMode="auto">
            <a:xfrm>
              <a:off x="1488" y="3504"/>
              <a:ext cx="3648"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5" name="Oval 91"/>
            <p:cNvSpPr>
              <a:spLocks noChangeArrowheads="1"/>
            </p:cNvSpPr>
            <p:nvPr/>
          </p:nvSpPr>
          <p:spPr bwMode="auto">
            <a:xfrm>
              <a:off x="1152" y="3504"/>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6" name="Rectangle 92"/>
            <p:cNvSpPr>
              <a:spLocks noChangeArrowheads="1"/>
            </p:cNvSpPr>
            <p:nvPr/>
          </p:nvSpPr>
          <p:spPr bwMode="auto">
            <a:xfrm>
              <a:off x="816" y="4032"/>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7" name="Oval 93"/>
            <p:cNvSpPr>
              <a:spLocks noChangeArrowheads="1"/>
            </p:cNvSpPr>
            <p:nvPr/>
          </p:nvSpPr>
          <p:spPr bwMode="auto">
            <a:xfrm>
              <a:off x="4944" y="4032"/>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8" name="Rectangle 94"/>
            <p:cNvSpPr>
              <a:spLocks noChangeArrowheads="1"/>
            </p:cNvSpPr>
            <p:nvPr/>
          </p:nvSpPr>
          <p:spPr bwMode="auto">
            <a:xfrm>
              <a:off x="816" y="3504"/>
              <a:ext cx="192"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9" name="Oval 95"/>
            <p:cNvSpPr>
              <a:spLocks noChangeArrowheads="1"/>
            </p:cNvSpPr>
            <p:nvPr/>
          </p:nvSpPr>
          <p:spPr bwMode="auto">
            <a:xfrm>
              <a:off x="2592" y="3744"/>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0" name="Oval 96"/>
            <p:cNvSpPr>
              <a:spLocks noChangeArrowheads="1"/>
            </p:cNvSpPr>
            <p:nvPr/>
          </p:nvSpPr>
          <p:spPr bwMode="auto">
            <a:xfrm>
              <a:off x="2592" y="3840"/>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1" name="Oval 97"/>
            <p:cNvSpPr>
              <a:spLocks noChangeArrowheads="1"/>
            </p:cNvSpPr>
            <p:nvPr/>
          </p:nvSpPr>
          <p:spPr bwMode="auto">
            <a:xfrm>
              <a:off x="2592" y="3936"/>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grpSp>
      <p:sp>
        <p:nvSpPr>
          <p:cNvPr id="390242" name="Text Box 98"/>
          <p:cNvSpPr txBox="1">
            <a:spLocks noChangeArrowheads="1"/>
          </p:cNvSpPr>
          <p:nvPr/>
        </p:nvSpPr>
        <p:spPr bwMode="auto">
          <a:xfrm>
            <a:off x="1711038" y="2189021"/>
            <a:ext cx="11430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t>Dataset</a:t>
            </a:r>
          </a:p>
        </p:txBody>
      </p:sp>
    </p:spTree>
    <p:extLst>
      <p:ext uri="{BB962C8B-B14F-4D97-AF65-F5344CB8AC3E}">
        <p14:creationId xmlns:p14="http://schemas.microsoft.com/office/powerpoint/2010/main" val="14638324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90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411" y="-117196"/>
            <a:ext cx="10515600" cy="1325563"/>
          </a:xfrm>
        </p:spPr>
        <p:txBody>
          <a:bodyPr/>
          <a:lstStyle/>
          <a:p>
            <a:r>
              <a:rPr lang="en-US" dirty="0"/>
              <a:t>Recommended Readings</a:t>
            </a:r>
          </a:p>
        </p:txBody>
      </p:sp>
      <p:sp>
        <p:nvSpPr>
          <p:cNvPr id="3" name="Content Placeholder 2"/>
          <p:cNvSpPr>
            <a:spLocks noGrp="1"/>
          </p:cNvSpPr>
          <p:nvPr>
            <p:ph idx="1"/>
          </p:nvPr>
        </p:nvSpPr>
        <p:spPr>
          <a:xfrm>
            <a:off x="466411" y="1453835"/>
            <a:ext cx="10817888" cy="4585224"/>
          </a:xfrm>
        </p:spPr>
        <p:txBody>
          <a:bodyPr>
            <a:normAutofit fontScale="85000" lnSpcReduction="20000"/>
          </a:bodyPr>
          <a:lstStyle/>
          <a:p>
            <a:r>
              <a:rPr lang="en-US" dirty="0" err="1"/>
              <a:t>Aho</a:t>
            </a:r>
            <a:r>
              <a:rPr lang="en-US" dirty="0"/>
              <a:t> et al. 2014 “Model selection for ecologists: The worldviews of AIC and BIC”. Ecology</a:t>
            </a:r>
          </a:p>
          <a:p>
            <a:r>
              <a:rPr lang="en-US" dirty="0" err="1"/>
              <a:t>Shmueli</a:t>
            </a:r>
            <a:r>
              <a:rPr lang="en-US" dirty="0"/>
              <a:t> 2010 “To explain or to predict”. Statistical Science</a:t>
            </a:r>
          </a:p>
          <a:p>
            <a:r>
              <a:rPr lang="en-US" dirty="0" err="1"/>
              <a:t>Murtaugh</a:t>
            </a:r>
            <a:r>
              <a:rPr lang="en-US" dirty="0"/>
              <a:t> 2007 “Simplicity and complexity in ecological data analysis”. Ecology</a:t>
            </a:r>
          </a:p>
          <a:p>
            <a:r>
              <a:rPr lang="en-US" dirty="0"/>
              <a:t>Arnold </a:t>
            </a:r>
            <a:r>
              <a:rPr lang="en-US" dirty="0">
                <a:latin typeface="Calibri" panose="020F0502020204030204" pitchFamily="34" charset="0"/>
                <a:cs typeface="Calibri" panose="020F0502020204030204" pitchFamily="34" charset="0"/>
              </a:rPr>
              <a:t>2010 “</a:t>
            </a:r>
            <a:r>
              <a:rPr lang="en-US" i="0" dirty="0">
                <a:solidFill>
                  <a:srgbClr val="1C1D1E"/>
                </a:solidFill>
                <a:effectLst/>
                <a:highlight>
                  <a:srgbClr val="FFFFFF"/>
                </a:highlight>
                <a:latin typeface="Calibri" panose="020F0502020204030204" pitchFamily="34" charset="0"/>
                <a:cs typeface="Calibri" panose="020F0502020204030204" pitchFamily="34" charset="0"/>
              </a:rPr>
              <a:t>Uninformative Parameters and Model Selection Using Akaike's Information Criterion” JWM</a:t>
            </a:r>
          </a:p>
          <a:p>
            <a:r>
              <a:rPr lang="en-US" dirty="0">
                <a:latin typeface="Calibri" panose="020F0502020204030204" pitchFamily="34" charset="0"/>
                <a:cs typeface="Calibri" panose="020F0502020204030204" pitchFamily="34" charset="0"/>
              </a:rPr>
              <a:t>”Murtaugh </a:t>
            </a:r>
            <a:r>
              <a:rPr lang="en-US" dirty="0"/>
              <a:t>2014 “In defense of P-values”. Ecology</a:t>
            </a:r>
          </a:p>
          <a:p>
            <a:r>
              <a:rPr lang="en-US" dirty="0" err="1"/>
              <a:t>Fieberg</a:t>
            </a:r>
            <a:r>
              <a:rPr lang="en-US" dirty="0"/>
              <a:t> and Johnson 2015 “MMI: </a:t>
            </a:r>
            <a:r>
              <a:rPr lang="en-US" dirty="0" err="1"/>
              <a:t>Multimodel</a:t>
            </a:r>
            <a:r>
              <a:rPr lang="en-US" dirty="0"/>
              <a:t> Inference or Models </a:t>
            </a:r>
            <a:r>
              <a:rPr lang="en-US" dirty="0">
                <a:latin typeface="Calibri" panose="020F0502020204030204" pitchFamily="34" charset="0"/>
                <a:cs typeface="Calibri" panose="020F0502020204030204" pitchFamily="34" charset="0"/>
              </a:rPr>
              <a:t>With Management Implications?”. Journal of Wildlife Management </a:t>
            </a:r>
          </a:p>
          <a:p>
            <a:r>
              <a:rPr lang="en-US" dirty="0">
                <a:latin typeface="Calibri" panose="020F0502020204030204" pitchFamily="34" charset="0"/>
                <a:cs typeface="Calibri" panose="020F0502020204030204" pitchFamily="34" charset="0"/>
              </a:rPr>
              <a:t>Sutherland et al. 2023 “Practical advice on variable selection and reporting using Akaike information criterion. Proceedings B</a:t>
            </a:r>
          </a:p>
          <a:p>
            <a:r>
              <a:rPr lang="en-US" dirty="0" err="1">
                <a:latin typeface="Calibri" panose="020F0502020204030204" pitchFamily="34" charset="0"/>
                <a:cs typeface="Calibri" panose="020F0502020204030204" pitchFamily="34" charset="0"/>
              </a:rPr>
              <a:t>Bolker</a:t>
            </a:r>
            <a:r>
              <a:rPr lang="en-US" dirty="0">
                <a:latin typeface="Calibri" panose="020F0502020204030204" pitchFamily="34" charset="0"/>
                <a:cs typeface="Calibri" panose="020F0502020204030204" pitchFamily="34" charset="0"/>
              </a:rPr>
              <a:t> 2024 “</a:t>
            </a:r>
            <a:r>
              <a:rPr lang="en-US" i="0" dirty="0" err="1">
                <a:solidFill>
                  <a:srgbClr val="000000"/>
                </a:solidFill>
                <a:effectLst/>
                <a:highlight>
                  <a:srgbClr val="FFFFFF"/>
                </a:highlight>
                <a:latin typeface="Calibri" panose="020F0502020204030204" pitchFamily="34" charset="0"/>
                <a:cs typeface="Calibri" panose="020F0502020204030204" pitchFamily="34" charset="0"/>
              </a:rPr>
              <a:t>Multimodel</a:t>
            </a:r>
            <a:r>
              <a:rPr lang="en-US" i="0" dirty="0">
                <a:solidFill>
                  <a:srgbClr val="000000"/>
                </a:solidFill>
                <a:effectLst/>
                <a:highlight>
                  <a:srgbClr val="FFFFFF"/>
                </a:highlight>
                <a:latin typeface="Calibri" panose="020F0502020204030204" pitchFamily="34" charset="0"/>
                <a:cs typeface="Calibri" panose="020F0502020204030204" pitchFamily="34" charset="0"/>
              </a:rPr>
              <a:t> Approaches Are Not the Best Way to Understand Multifactorial Systems</a:t>
            </a:r>
            <a:r>
              <a:rPr lang="en-US" dirty="0">
                <a:latin typeface="Calibri" panose="020F0502020204030204" pitchFamily="34" charset="0"/>
                <a:cs typeface="Calibri" panose="020F0502020204030204" pitchFamily="34" charset="0"/>
              </a:rPr>
              <a:t>”. Entropy</a:t>
            </a:r>
          </a:p>
          <a:p>
            <a:endParaRPr lang="en-US" dirty="0"/>
          </a:p>
        </p:txBody>
      </p:sp>
    </p:spTree>
    <p:extLst>
      <p:ext uri="{BB962C8B-B14F-4D97-AF65-F5344CB8AC3E}">
        <p14:creationId xmlns:p14="http://schemas.microsoft.com/office/powerpoint/2010/main" val="3335242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688" y="0"/>
            <a:ext cx="9765792" cy="4335535"/>
          </a:xfrm>
          <a:prstGeom prst="rect">
            <a:avLst/>
          </a:prstGeom>
        </p:spPr>
      </p:pic>
      <p:pic>
        <p:nvPicPr>
          <p:cNvPr id="5" name="Picture 4"/>
          <p:cNvPicPr>
            <a:picLocks noChangeAspect="1"/>
          </p:cNvPicPr>
          <p:nvPr/>
        </p:nvPicPr>
        <p:blipFill>
          <a:blip r:embed="rId3"/>
          <a:stretch>
            <a:fillRect/>
          </a:stretch>
        </p:blipFill>
        <p:spPr>
          <a:xfrm>
            <a:off x="3260852" y="4800600"/>
            <a:ext cx="5816600" cy="1828800"/>
          </a:xfrm>
          <a:prstGeom prst="rect">
            <a:avLst/>
          </a:prstGeom>
        </p:spPr>
      </p:pic>
    </p:spTree>
    <p:extLst>
      <p:ext uri="{BB962C8B-B14F-4D97-AF65-F5344CB8AC3E}">
        <p14:creationId xmlns:p14="http://schemas.microsoft.com/office/powerpoint/2010/main" val="9844961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34300" y="440072"/>
            <a:ext cx="4610100" cy="1325563"/>
          </a:xfrm>
        </p:spPr>
        <p:txBody>
          <a:bodyPr>
            <a:normAutofit/>
          </a:bodyPr>
          <a:lstStyle/>
          <a:p>
            <a:r>
              <a:rPr lang="en-US" sz="3200" dirty="0"/>
              <a:t>Don’t take my word for it</a:t>
            </a:r>
            <a:r>
              <a:rPr lang="mr-IN" sz="3200" dirty="0"/>
              <a:t>…</a:t>
            </a:r>
            <a:endParaRPr lang="en-US" sz="32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5790" y="0"/>
            <a:ext cx="7687690" cy="2590800"/>
          </a:xfrm>
        </p:spPr>
      </p:pic>
      <p:sp>
        <p:nvSpPr>
          <p:cNvPr id="5" name="TextBox 4"/>
          <p:cNvSpPr txBox="1"/>
          <p:nvPr/>
        </p:nvSpPr>
        <p:spPr>
          <a:xfrm>
            <a:off x="468351" y="3107470"/>
            <a:ext cx="11318488" cy="1200329"/>
          </a:xfrm>
          <a:prstGeom prst="rect">
            <a:avLst/>
          </a:prstGeom>
          <a:noFill/>
        </p:spPr>
        <p:txBody>
          <a:bodyPr wrap="square" rtlCol="0">
            <a:spAutoFit/>
          </a:bodyPr>
          <a:lstStyle/>
          <a:p>
            <a:r>
              <a:rPr lang="en-US" dirty="0"/>
              <a:t>One way to avoid some of the problems associated with model selection is to “just say no” to data-driven model selection—in other words, ﬁt a single pre-speciﬁed model, one in which all explanatory variables are chosen prior to looking at their relationship with the response variable, and then use this model for inference (Harrell 2001, </a:t>
            </a:r>
            <a:r>
              <a:rPr lang="en-US" dirty="0" err="1"/>
              <a:t>Babyak</a:t>
            </a:r>
            <a:r>
              <a:rPr lang="en-US" dirty="0"/>
              <a:t> 2004, Whittingham et al. 2006, </a:t>
            </a:r>
            <a:r>
              <a:rPr lang="en-US" dirty="0" err="1"/>
              <a:t>Guidice</a:t>
            </a:r>
            <a:r>
              <a:rPr lang="en-US" dirty="0"/>
              <a:t> et al. 2012).</a:t>
            </a:r>
          </a:p>
        </p:txBody>
      </p:sp>
    </p:spTree>
    <p:extLst>
      <p:ext uri="{BB962C8B-B14F-4D97-AF65-F5344CB8AC3E}">
        <p14:creationId xmlns:p14="http://schemas.microsoft.com/office/powerpoint/2010/main" val="11304427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933699"/>
            <a:ext cx="10515600" cy="3167063"/>
          </a:xfrm>
        </p:spPr>
        <p:txBody>
          <a:bodyPr/>
          <a:lstStyle/>
          <a:p>
            <a:r>
              <a:rPr lang="en-US" dirty="0"/>
              <a:t>“If researchers want to accurately estimate the strength of multiple competing ecological processes along with reliable confidence intervals, their best hope is to use full (maximal) statistical models after making principled, </a:t>
            </a:r>
            <a:r>
              <a:rPr lang="en-US" i="1" dirty="0"/>
              <a:t>a priori </a:t>
            </a:r>
            <a:r>
              <a:rPr lang="en-US" dirty="0"/>
              <a:t>decisions about which predictors to include. “</a:t>
            </a:r>
          </a:p>
          <a:p>
            <a:endParaRPr lang="en-US" dirty="0"/>
          </a:p>
        </p:txBody>
      </p:sp>
      <p:pic>
        <p:nvPicPr>
          <p:cNvPr id="6" name="Picture 5"/>
          <p:cNvPicPr>
            <a:picLocks noChangeAspect="1"/>
          </p:cNvPicPr>
          <p:nvPr/>
        </p:nvPicPr>
        <p:blipFill>
          <a:blip r:embed="rId2"/>
          <a:stretch>
            <a:fillRect/>
          </a:stretch>
        </p:blipFill>
        <p:spPr>
          <a:xfrm>
            <a:off x="-9525" y="0"/>
            <a:ext cx="6459257" cy="2206645"/>
          </a:xfrm>
          <a:prstGeom prst="rect">
            <a:avLst/>
          </a:prstGeom>
        </p:spPr>
      </p:pic>
      <p:sp>
        <p:nvSpPr>
          <p:cNvPr id="7" name="Title 1"/>
          <p:cNvSpPr txBox="1">
            <a:spLocks/>
          </p:cNvSpPr>
          <p:nvPr/>
        </p:nvSpPr>
        <p:spPr>
          <a:xfrm>
            <a:off x="7734300" y="440072"/>
            <a:ext cx="46101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a:t>Don’t take my word for it</a:t>
            </a:r>
            <a:r>
              <a:rPr lang="mr-IN" sz="3200"/>
              <a:t>…</a:t>
            </a:r>
            <a:endParaRPr lang="en-US" sz="3200" dirty="0"/>
          </a:p>
        </p:txBody>
      </p:sp>
      <p:sp>
        <p:nvSpPr>
          <p:cNvPr id="2" name="TextBox 1">
            <a:extLst>
              <a:ext uri="{FF2B5EF4-FFF2-40B4-BE49-F238E27FC236}">
                <a16:creationId xmlns:a16="http://schemas.microsoft.com/office/drawing/2014/main" id="{D4209813-2DE1-51FF-FDDB-74CC992238B0}"/>
              </a:ext>
            </a:extLst>
          </p:cNvPr>
          <p:cNvSpPr txBox="1"/>
          <p:nvPr/>
        </p:nvSpPr>
        <p:spPr>
          <a:xfrm>
            <a:off x="838200" y="6417928"/>
            <a:ext cx="10155922" cy="369332"/>
          </a:xfrm>
          <a:prstGeom prst="rect">
            <a:avLst/>
          </a:prstGeom>
          <a:noFill/>
        </p:spPr>
        <p:txBody>
          <a:bodyPr wrap="none" rtlCol="0">
            <a:spAutoFit/>
          </a:bodyPr>
          <a:lstStyle/>
          <a:p>
            <a:r>
              <a:rPr lang="en-US" dirty="0"/>
              <a:t>Left as a preprint for years until Bolker finally submitted it to a journal after we chatted about this problem</a:t>
            </a:r>
          </a:p>
        </p:txBody>
      </p:sp>
    </p:spTree>
    <p:extLst>
      <p:ext uri="{BB962C8B-B14F-4D97-AF65-F5344CB8AC3E}">
        <p14:creationId xmlns:p14="http://schemas.microsoft.com/office/powerpoint/2010/main" val="6180751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8000" y="0"/>
            <a:ext cx="9613900" cy="3467100"/>
          </a:xfrm>
        </p:spPr>
      </p:pic>
      <p:sp>
        <p:nvSpPr>
          <p:cNvPr id="6" name="Rectangle 5"/>
          <p:cNvSpPr/>
          <p:nvPr/>
        </p:nvSpPr>
        <p:spPr>
          <a:xfrm>
            <a:off x="104775" y="3638550"/>
            <a:ext cx="12087225" cy="923330"/>
          </a:xfrm>
          <a:prstGeom prst="rect">
            <a:avLst/>
          </a:prstGeom>
        </p:spPr>
        <p:txBody>
          <a:bodyPr wrap="square">
            <a:spAutoFit/>
          </a:bodyPr>
          <a:lstStyle/>
          <a:p>
            <a:r>
              <a:rPr lang="en-US" dirty="0">
                <a:solidFill>
                  <a:srgbClr val="1C1D1E"/>
                </a:solidFill>
                <a:latin typeface="Calibri" charset="0"/>
                <a:ea typeface="Calibri" charset="0"/>
                <a:cs typeface="Calibri" charset="0"/>
              </a:rPr>
              <a:t>The associated sums of AIC model weights recommended to assess relative importance of individual predictors are really a measure of relative importance of models, with little information about contributions by individual predictors compared to other measures of relative importance based on effects size or variance reduction.</a:t>
            </a:r>
            <a:endParaRPr lang="en-US" dirty="0">
              <a:latin typeface="Calibri" charset="0"/>
              <a:ea typeface="Calibri" charset="0"/>
              <a:cs typeface="Calibri" charset="0"/>
            </a:endParaRPr>
          </a:p>
        </p:txBody>
      </p:sp>
      <p:sp>
        <p:nvSpPr>
          <p:cNvPr id="7" name="TextBox 6"/>
          <p:cNvSpPr txBox="1"/>
          <p:nvPr/>
        </p:nvSpPr>
        <p:spPr>
          <a:xfrm>
            <a:off x="71322" y="4804785"/>
            <a:ext cx="12058650" cy="1754326"/>
          </a:xfrm>
          <a:prstGeom prst="rect">
            <a:avLst/>
          </a:prstGeom>
          <a:noFill/>
        </p:spPr>
        <p:txBody>
          <a:bodyPr wrap="square" rtlCol="0">
            <a:spAutoFit/>
          </a:bodyPr>
          <a:lstStyle/>
          <a:p>
            <a:r>
              <a:rPr lang="en-US" dirty="0"/>
              <a:t>The standardized estimates or equivalently the </a:t>
            </a:r>
            <a:r>
              <a:rPr lang="en-US" i="1" dirty="0"/>
              <a:t>t</a:t>
            </a:r>
            <a:r>
              <a:rPr lang="en-US" dirty="0"/>
              <a:t> statistics on unstandardized estimates also can be used to provide more informative measures of relative importance than sums of AIC weights. Finally, I illustrate how seriously compromised statistical interpretations and predictions can be for all three of these flawed practices by critiquing their use in a recent species distribution modeling technique developed for predicting Greater Sage‐Grouse (</a:t>
            </a:r>
            <a:r>
              <a:rPr lang="en-US" i="1" dirty="0" err="1"/>
              <a:t>Centrocercus</a:t>
            </a:r>
            <a:r>
              <a:rPr lang="en-US" i="1" dirty="0"/>
              <a:t> </a:t>
            </a:r>
            <a:r>
              <a:rPr lang="en-US" i="1" dirty="0" err="1"/>
              <a:t>urophasianus</a:t>
            </a:r>
            <a:r>
              <a:rPr lang="en-US" dirty="0"/>
              <a:t>) distribution in Colorado, USA. These model averaging issues are common in other ecological literature and ought to be discontinued if we are to make effective scientific contributions to ecological knowledge and conservation of natural resources.</a:t>
            </a:r>
          </a:p>
        </p:txBody>
      </p:sp>
      <p:sp>
        <p:nvSpPr>
          <p:cNvPr id="8" name="Title 1"/>
          <p:cNvSpPr>
            <a:spLocks noGrp="1"/>
          </p:cNvSpPr>
          <p:nvPr>
            <p:ph type="title"/>
          </p:nvPr>
        </p:nvSpPr>
        <p:spPr>
          <a:xfrm>
            <a:off x="7734300" y="138990"/>
            <a:ext cx="4610100" cy="1325563"/>
          </a:xfrm>
        </p:spPr>
        <p:txBody>
          <a:bodyPr>
            <a:normAutofit/>
          </a:bodyPr>
          <a:lstStyle/>
          <a:p>
            <a:r>
              <a:rPr lang="en-US" sz="3200" dirty="0"/>
              <a:t>Don’t take my word for it</a:t>
            </a:r>
            <a:r>
              <a:rPr lang="mr-IN" sz="3200" dirty="0"/>
              <a:t>…</a:t>
            </a:r>
            <a:endParaRPr lang="en-US" sz="3200" dirty="0"/>
          </a:p>
        </p:txBody>
      </p:sp>
    </p:spTree>
    <p:extLst>
      <p:ext uri="{BB962C8B-B14F-4D97-AF65-F5344CB8AC3E}">
        <p14:creationId xmlns:p14="http://schemas.microsoft.com/office/powerpoint/2010/main" val="6767407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5418" y="-18918"/>
            <a:ext cx="9177650" cy="6876918"/>
          </a:xfrm>
          <a:prstGeom prst="rect">
            <a:avLst/>
          </a:prstGeom>
        </p:spPr>
      </p:pic>
    </p:spTree>
    <p:extLst>
      <p:ext uri="{BB962C8B-B14F-4D97-AF65-F5344CB8AC3E}">
        <p14:creationId xmlns:p14="http://schemas.microsoft.com/office/powerpoint/2010/main" val="8765521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a:fillRect/>
          </a:stretch>
        </p:blipFill>
        <p:spPr>
          <a:xfrm>
            <a:off x="1460500" y="688167"/>
            <a:ext cx="9207013" cy="5247683"/>
          </a:xfrm>
          <a:prstGeom prst="rect">
            <a:avLst/>
          </a:prstGeom>
        </p:spPr>
      </p:pic>
    </p:spTree>
    <p:extLst>
      <p:ext uri="{BB962C8B-B14F-4D97-AF65-F5344CB8AC3E}">
        <p14:creationId xmlns:p14="http://schemas.microsoft.com/office/powerpoint/2010/main" val="10948021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3220" y="-73755"/>
            <a:ext cx="11158780" cy="1325563"/>
          </a:xfrm>
        </p:spPr>
        <p:txBody>
          <a:bodyPr>
            <a:normAutofit/>
          </a:bodyPr>
          <a:lstStyle/>
          <a:p>
            <a:r>
              <a:rPr lang="en-US" dirty="0"/>
              <a:t>Are any statistical </a:t>
            </a:r>
            <a:r>
              <a:rPr lang="en-US"/>
              <a:t>procedures required?</a:t>
            </a:r>
            <a:endParaRPr lang="en-US" dirty="0"/>
          </a:p>
        </p:txBody>
      </p:sp>
      <p:sp>
        <p:nvSpPr>
          <p:cNvPr id="4" name="TextBox 3"/>
          <p:cNvSpPr txBox="1"/>
          <p:nvPr/>
        </p:nvSpPr>
        <p:spPr>
          <a:xfrm>
            <a:off x="519194" y="1329301"/>
            <a:ext cx="11205274" cy="2677656"/>
          </a:xfrm>
          <a:prstGeom prst="rect">
            <a:avLst/>
          </a:prstGeom>
          <a:noFill/>
        </p:spPr>
        <p:txBody>
          <a:bodyPr wrap="square" rtlCol="0">
            <a:spAutoFit/>
          </a:bodyPr>
          <a:lstStyle/>
          <a:p>
            <a:r>
              <a:rPr lang="en-US" sz="2800" i="1" dirty="0"/>
              <a:t>No, because the state of the art remains uncertain. However, BASP will require strong descriptive statistics, including effect sizes. We also encourage the presentation of frequency or distributional data when this is feasible. Finally, we encourage the use of larger sample sizes than is typical in much psychology research, because as the sample size increases, descriptive statistics become increasingly stable and sampling error is less of a problem.</a:t>
            </a:r>
            <a:endParaRPr lang="en-US" sz="2800" dirty="0"/>
          </a:p>
        </p:txBody>
      </p:sp>
      <p:sp>
        <p:nvSpPr>
          <p:cNvPr id="5" name="TextBox 4"/>
          <p:cNvSpPr txBox="1"/>
          <p:nvPr/>
        </p:nvSpPr>
        <p:spPr>
          <a:xfrm>
            <a:off x="453326" y="4640022"/>
            <a:ext cx="11337009" cy="1384995"/>
          </a:xfrm>
          <a:prstGeom prst="rect">
            <a:avLst/>
          </a:prstGeom>
          <a:noFill/>
        </p:spPr>
        <p:txBody>
          <a:bodyPr wrap="square" rtlCol="0">
            <a:spAutoFit/>
          </a:bodyPr>
          <a:lstStyle/>
          <a:p>
            <a:r>
              <a:rPr lang="en-US" sz="2800" i="1" dirty="0"/>
              <a:t>banning the NHSTP will have the effect of increasing the quality of submitted manuscripts by liberating authors from the stultified structure of NHSTP thinking thereby eliminating an important obstacle to creative thinking</a:t>
            </a:r>
          </a:p>
        </p:txBody>
      </p:sp>
    </p:spTree>
    <p:extLst>
      <p:ext uri="{BB962C8B-B14F-4D97-AF65-F5344CB8AC3E}">
        <p14:creationId xmlns:p14="http://schemas.microsoft.com/office/powerpoint/2010/main" val="656600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2956" y="0"/>
            <a:ext cx="11789044" cy="6858000"/>
          </a:xfrm>
        </p:spPr>
        <p:txBody>
          <a:bodyPr>
            <a:normAutofit/>
          </a:bodyPr>
          <a:lstStyle/>
          <a:p>
            <a:r>
              <a:rPr lang="en-US" b="1" u="sng" dirty="0"/>
              <a:t>Hmm</a:t>
            </a:r>
            <a:r>
              <a:rPr lang="mr-IN" b="1" u="sng" dirty="0"/>
              <a:t>…</a:t>
            </a:r>
            <a:r>
              <a:rPr lang="en-US" b="1" u="sng" dirty="0"/>
              <a:t>let’s think, will banning the use of p-values</a:t>
            </a:r>
            <a:br>
              <a:rPr lang="en-US" b="1" u="sng" dirty="0"/>
            </a:br>
            <a:br>
              <a:rPr lang="en-US" dirty="0"/>
            </a:br>
            <a:r>
              <a:rPr lang="en-US" dirty="0"/>
              <a:t>1. Reduce type I errors and help solve the replication crisis in Psychology?</a:t>
            </a:r>
            <a:br>
              <a:rPr lang="en-US" dirty="0"/>
            </a:br>
            <a:br>
              <a:rPr lang="en-US" dirty="0"/>
            </a:br>
            <a:r>
              <a:rPr lang="en-US" dirty="0"/>
              <a:t>2. Allow absolute garbage conclusions to be published that would otherwise not have passed “significance testing”</a:t>
            </a:r>
            <a:br>
              <a:rPr lang="en-US" dirty="0"/>
            </a:br>
            <a:endParaRPr lang="en-US" dirty="0"/>
          </a:p>
        </p:txBody>
      </p:sp>
      <p:sp>
        <p:nvSpPr>
          <p:cNvPr id="3" name="TextBox 2">
            <a:extLst>
              <a:ext uri="{FF2B5EF4-FFF2-40B4-BE49-F238E27FC236}">
                <a16:creationId xmlns:a16="http://schemas.microsoft.com/office/drawing/2014/main" id="{5A3EFEA9-4F4C-F103-5FD6-962889C70F21}"/>
              </a:ext>
            </a:extLst>
          </p:cNvPr>
          <p:cNvSpPr txBox="1"/>
          <p:nvPr/>
        </p:nvSpPr>
        <p:spPr>
          <a:xfrm>
            <a:off x="132347" y="6124074"/>
            <a:ext cx="11927305" cy="646331"/>
          </a:xfrm>
          <a:prstGeom prst="rect">
            <a:avLst/>
          </a:prstGeom>
          <a:noFill/>
        </p:spPr>
        <p:txBody>
          <a:bodyPr wrap="square" rtlCol="0">
            <a:spAutoFit/>
          </a:bodyPr>
          <a:lstStyle/>
          <a:p>
            <a:r>
              <a:rPr lang="en-US" dirty="0"/>
              <a:t>Large-scale efforts (e.g., the </a:t>
            </a:r>
            <a:r>
              <a:rPr lang="en-US" i="1" dirty="0"/>
              <a:t>Open Science Collaboration’s Reproducibility Project</a:t>
            </a:r>
            <a:r>
              <a:rPr lang="en-US" dirty="0"/>
              <a:t> in 2015) showed that </a:t>
            </a:r>
            <a:r>
              <a:rPr lang="en-US" b="1" dirty="0"/>
              <a:t>only about 35–40% of published effects could be replicated</a:t>
            </a:r>
            <a:r>
              <a:rPr lang="en-US" dirty="0"/>
              <a:t> with similar effect sizes.</a:t>
            </a:r>
          </a:p>
        </p:txBody>
      </p:sp>
    </p:spTree>
    <p:extLst>
      <p:ext uri="{BB962C8B-B14F-4D97-AF65-F5344CB8AC3E}">
        <p14:creationId xmlns:p14="http://schemas.microsoft.com/office/powerpoint/2010/main" val="6034308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539031" y="0"/>
            <a:ext cx="7454900" cy="24638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5850" y="2641600"/>
            <a:ext cx="7480300" cy="4216400"/>
          </a:xfrm>
          <a:prstGeom prst="rect">
            <a:avLst/>
          </a:prstGeom>
        </p:spPr>
      </p:pic>
    </p:spTree>
    <p:extLst>
      <p:ext uri="{BB962C8B-B14F-4D97-AF65-F5344CB8AC3E}">
        <p14:creationId xmlns:p14="http://schemas.microsoft.com/office/powerpoint/2010/main" val="4668913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079" y="-116271"/>
            <a:ext cx="10515600" cy="1325563"/>
          </a:xfrm>
        </p:spPr>
        <p:txBody>
          <a:bodyPr/>
          <a:lstStyle/>
          <a:p>
            <a:pPr algn="ctr"/>
            <a:r>
              <a:rPr lang="en-US" dirty="0"/>
              <a:t>Further buffoonery </a:t>
            </a:r>
          </a:p>
        </p:txBody>
      </p:sp>
      <p:sp>
        <p:nvSpPr>
          <p:cNvPr id="3" name="Content Placeholder 2"/>
          <p:cNvSpPr>
            <a:spLocks noGrp="1"/>
          </p:cNvSpPr>
          <p:nvPr>
            <p:ph idx="1"/>
          </p:nvPr>
        </p:nvSpPr>
        <p:spPr>
          <a:xfrm>
            <a:off x="1228984" y="1105640"/>
            <a:ext cx="10515600" cy="4334266"/>
          </a:xfrm>
        </p:spPr>
        <p:txBody>
          <a:bodyPr>
            <a:normAutofit/>
          </a:bodyPr>
          <a:lstStyle/>
          <a:p>
            <a:r>
              <a:rPr lang="en-US" dirty="0"/>
              <a:t>Journal: you should use Cohen’s d to compare two samples</a:t>
            </a:r>
          </a:p>
          <a:p>
            <a:pPr lvl="1"/>
            <a:r>
              <a:rPr lang="en-US" dirty="0"/>
              <a:t>0.2≤d&lt;0.5 indicates there is a “small” practical effect</a:t>
            </a:r>
          </a:p>
          <a:p>
            <a:pPr lvl="1"/>
            <a:r>
              <a:rPr lang="en-US" dirty="0"/>
              <a:t> 0.5≤d&lt;0.8 indicates a “medium” practical effect</a:t>
            </a:r>
          </a:p>
          <a:p>
            <a:pPr lvl="1"/>
            <a:r>
              <a:rPr lang="en-US" dirty="0"/>
              <a:t>d≥0.8 indicates a “large” practical effect </a:t>
            </a:r>
          </a:p>
          <a:p>
            <a:pPr lvl="1"/>
            <a:endParaRPr lang="en-US" dirty="0"/>
          </a:p>
          <a:p>
            <a:endParaRPr lang="en-US" dirty="0"/>
          </a:p>
          <a:p>
            <a:endParaRPr lang="en-US" dirty="0"/>
          </a:p>
          <a:p>
            <a:r>
              <a:rPr lang="en-US" dirty="0"/>
              <a:t>Does Cohen’s d look familiar?</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4" name="Picture 3"/>
          <p:cNvPicPr>
            <a:picLocks noChangeAspect="1"/>
          </p:cNvPicPr>
          <p:nvPr/>
        </p:nvPicPr>
        <p:blipFill>
          <a:blip r:embed="rId2"/>
          <a:stretch>
            <a:fillRect/>
          </a:stretch>
        </p:blipFill>
        <p:spPr>
          <a:xfrm>
            <a:off x="2673477" y="2944818"/>
            <a:ext cx="1718453" cy="1069527"/>
          </a:xfrm>
          <a:prstGeom prst="rect">
            <a:avLst/>
          </a:prstGeom>
        </p:spPr>
      </p:pic>
      <p:pic>
        <p:nvPicPr>
          <p:cNvPr id="7" name="Picture 6"/>
          <p:cNvPicPr>
            <a:picLocks noChangeAspect="1"/>
          </p:cNvPicPr>
          <p:nvPr/>
        </p:nvPicPr>
        <p:blipFill>
          <a:blip r:embed="rId3"/>
          <a:stretch>
            <a:fillRect/>
          </a:stretch>
        </p:blipFill>
        <p:spPr>
          <a:xfrm>
            <a:off x="2489083" y="5312044"/>
            <a:ext cx="2540000" cy="1130300"/>
          </a:xfrm>
          <a:prstGeom prst="rect">
            <a:avLst/>
          </a:prstGeom>
        </p:spPr>
      </p:pic>
    </p:spTree>
    <p:extLst>
      <p:ext uri="{BB962C8B-B14F-4D97-AF65-F5344CB8AC3E}">
        <p14:creationId xmlns:p14="http://schemas.microsoft.com/office/powerpoint/2010/main" val="422900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079" y="-303757"/>
            <a:ext cx="10515600" cy="1325563"/>
          </a:xfrm>
        </p:spPr>
        <p:txBody>
          <a:bodyPr/>
          <a:lstStyle/>
          <a:p>
            <a:pPr algn="ctr"/>
            <a:r>
              <a:rPr lang="en-US" dirty="0"/>
              <a:t>Further buffoonery </a:t>
            </a:r>
          </a:p>
        </p:txBody>
      </p:sp>
      <p:pic>
        <p:nvPicPr>
          <p:cNvPr id="1026" name="Picture 2" descr="https://amstat.tandfonline.com/na101/home/literatum/publisher/tandf/journals/content/utas20/2019/utas20.v073.sup01/00031305.2018.1537892/20191003/images/medium/utas_a_1537892_f0001_c.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7318" y="1317354"/>
            <a:ext cx="5023220" cy="5471917"/>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7177318" y="2402235"/>
            <a:ext cx="1191763" cy="2247255"/>
          </a:xfrm>
          <a:prstGeom prst="rect">
            <a:avLst/>
          </a:prstGeom>
          <a:solidFill>
            <a:srgbClr val="FFFF00">
              <a:alpha val="13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4"/>
          <p:cNvSpPr>
            <a:spLocks noGrp="1"/>
          </p:cNvSpPr>
          <p:nvPr>
            <p:ph idx="1"/>
          </p:nvPr>
        </p:nvSpPr>
        <p:spPr>
          <a:xfrm>
            <a:off x="-46495" y="817311"/>
            <a:ext cx="7346197" cy="6040689"/>
          </a:xfrm>
        </p:spPr>
        <p:txBody>
          <a:bodyPr>
            <a:normAutofit/>
          </a:bodyPr>
          <a:lstStyle/>
          <a:p>
            <a:r>
              <a:rPr lang="en-US" i="1" dirty="0"/>
              <a:t>d</a:t>
            </a:r>
            <a:r>
              <a:rPr lang="en-US" dirty="0"/>
              <a:t> values larger than Cohen’s minimum medium effect size were statistically significant and all below Cohen’s small effect size limit were not</a:t>
            </a:r>
          </a:p>
          <a:p>
            <a:endParaRPr lang="en-US" dirty="0"/>
          </a:p>
          <a:p>
            <a:r>
              <a:rPr lang="en-US" dirty="0"/>
              <a:t>For </a:t>
            </a:r>
            <a:r>
              <a:rPr lang="en-US" i="1" dirty="0"/>
              <a:t>d</a:t>
            </a:r>
            <a:r>
              <a:rPr lang="en-US" dirty="0"/>
              <a:t> values that correspond to small effect sizes (45.3% of the </a:t>
            </a:r>
            <a:r>
              <a:rPr lang="en-US" i="1" dirty="0"/>
              <a:t>d</a:t>
            </a:r>
            <a:r>
              <a:rPr lang="en-US" dirty="0"/>
              <a:t> values), there is no way to decide whether a particular </a:t>
            </a:r>
            <a:r>
              <a:rPr lang="en-US" i="1" dirty="0"/>
              <a:t>d</a:t>
            </a:r>
            <a:r>
              <a:rPr lang="en-US" dirty="0"/>
              <a:t> value is consistent with random fluctuations in the data under the assumption of equal population means without some measure of statistical significance</a:t>
            </a:r>
          </a:p>
          <a:p>
            <a:endParaRPr lang="en-US" dirty="0"/>
          </a:p>
          <a:p>
            <a:r>
              <a:rPr lang="en-US" dirty="0"/>
              <a:t>How do you think the media will report on these results? Cautious and measured?</a:t>
            </a:r>
          </a:p>
        </p:txBody>
      </p:sp>
    </p:spTree>
    <p:extLst>
      <p:ext uri="{BB962C8B-B14F-4D97-AF65-F5344CB8AC3E}">
        <p14:creationId xmlns:p14="http://schemas.microsoft.com/office/powerpoint/2010/main" val="138504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50031"/>
            <a:ext cx="5800726" cy="1325563"/>
          </a:xfrm>
        </p:spPr>
        <p:txBody>
          <a:bodyPr/>
          <a:lstStyle/>
          <a:p>
            <a:pPr algn="ctr"/>
            <a:r>
              <a:rPr lang="en-US" dirty="0"/>
              <a:t>The chief benefit of AIC/BIC</a:t>
            </a:r>
          </a:p>
        </p:txBody>
      </p:sp>
      <p:sp>
        <p:nvSpPr>
          <p:cNvPr id="3" name="Content Placeholder 2"/>
          <p:cNvSpPr>
            <a:spLocks noGrp="1"/>
          </p:cNvSpPr>
          <p:nvPr>
            <p:ph idx="1"/>
          </p:nvPr>
        </p:nvSpPr>
        <p:spPr>
          <a:xfrm>
            <a:off x="542926" y="2414587"/>
            <a:ext cx="10515600" cy="3662363"/>
          </a:xfrm>
        </p:spPr>
        <p:txBody>
          <a:bodyPr/>
          <a:lstStyle/>
          <a:p>
            <a:r>
              <a:rPr lang="en-US" dirty="0"/>
              <a:t>Stresses the importance of evaluating multiple competing hypotheses when applied properly to actual competing hypothesis</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43625" y="0"/>
            <a:ext cx="6048375" cy="2180350"/>
          </a:xfrm>
          <a:prstGeom prst="rect">
            <a:avLst/>
          </a:prstGeom>
        </p:spPr>
      </p:pic>
      <p:sp>
        <p:nvSpPr>
          <p:cNvPr id="5" name="TextBox 4"/>
          <p:cNvSpPr txBox="1"/>
          <p:nvPr/>
        </p:nvSpPr>
        <p:spPr>
          <a:xfrm>
            <a:off x="2025650" y="3507104"/>
            <a:ext cx="8235950" cy="1938992"/>
          </a:xfrm>
          <a:prstGeom prst="rect">
            <a:avLst/>
          </a:prstGeom>
          <a:noFill/>
        </p:spPr>
        <p:txBody>
          <a:bodyPr wrap="square" rtlCol="0">
            <a:spAutoFit/>
          </a:bodyPr>
          <a:lstStyle/>
          <a:p>
            <a:r>
              <a:rPr lang="en-US" sz="2000" dirty="0"/>
              <a:t>“While often used as a tool for statistical inference, a set of regression models containing partially overlapping sets of explanatory variables does not necessarily represent a valid evaluation of multiple hypotheses unless each statistical model represents a unique research hypothesis [</a:t>
            </a:r>
            <a:r>
              <a:rPr lang="en-US" sz="2000" b="1" dirty="0">
                <a:hlinkClick r:id="rId3"/>
              </a:rPr>
              <a:t>31</a:t>
            </a:r>
            <a:r>
              <a:rPr lang="en-US" sz="2000" dirty="0"/>
              <a:t>]. In other words, model competition, based on AIC and BIC, is not a stepwise regression procedure.”</a:t>
            </a:r>
          </a:p>
        </p:txBody>
      </p:sp>
    </p:spTree>
    <p:extLst>
      <p:ext uri="{BB962C8B-B14F-4D97-AF65-F5344CB8AC3E}">
        <p14:creationId xmlns:p14="http://schemas.microsoft.com/office/powerpoint/2010/main" val="750664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nvGraphicFramePr>
        <p:xfrm>
          <a:off x="2641600" y="968465"/>
          <a:ext cx="5937250" cy="762000"/>
        </p:xfrm>
        <a:graphic>
          <a:graphicData uri="http://schemas.openxmlformats.org/drawingml/2006/table">
            <a:tbl>
              <a:tblPr firstRow="1" firstCol="1" bandRow="1">
                <a:tableStyleId>{5C22544A-7EE6-4342-B048-85BDC9FD1C3A}</a:tableStyleId>
              </a:tblPr>
              <a:tblGrid>
                <a:gridCol w="1978660">
                  <a:extLst>
                    <a:ext uri="{9D8B030D-6E8A-4147-A177-3AD203B41FA5}">
                      <a16:colId xmlns:a16="http://schemas.microsoft.com/office/drawing/2014/main" val="20000"/>
                    </a:ext>
                  </a:extLst>
                </a:gridCol>
                <a:gridCol w="1979295">
                  <a:extLst>
                    <a:ext uri="{9D8B030D-6E8A-4147-A177-3AD203B41FA5}">
                      <a16:colId xmlns:a16="http://schemas.microsoft.com/office/drawing/2014/main" val="20001"/>
                    </a:ext>
                  </a:extLst>
                </a:gridCol>
                <a:gridCol w="1979295">
                  <a:extLst>
                    <a:ext uri="{9D8B030D-6E8A-4147-A177-3AD203B41FA5}">
                      <a16:colId xmlns:a16="http://schemas.microsoft.com/office/drawing/2014/main" val="20002"/>
                    </a:ext>
                  </a:extLst>
                </a:gridCol>
              </a:tblGrid>
              <a:tr h="0">
                <a:tc>
                  <a:txBody>
                    <a:bodyPr/>
                    <a:lstStyle/>
                    <a:p>
                      <a:pPr marL="0" marR="0">
                        <a:spcBef>
                          <a:spcPts val="0"/>
                        </a:spcBef>
                        <a:spcAft>
                          <a:spcPts val="0"/>
                        </a:spcAft>
                      </a:pPr>
                      <a:r>
                        <a:rPr lang="en-US" sz="1000">
                          <a:effectLst/>
                        </a:rPr>
                        <a:t>Species</a:t>
                      </a:r>
                      <a:endParaRPr lang="en-US" sz="1200">
                        <a:effectLst/>
                        <a:latin typeface="Times New Roman" charset="0"/>
                        <a:ea typeface="Times New Roman" charset="0"/>
                        <a:cs typeface="Times New Roman" charset="0"/>
                      </a:endParaRPr>
                    </a:p>
                  </a:txBody>
                  <a:tcPr marL="68580" marR="68580" marT="0" marB="0"/>
                </a:tc>
                <a:tc gridSpan="2">
                  <a:txBody>
                    <a:bodyPr/>
                    <a:lstStyle/>
                    <a:p>
                      <a:pPr marL="0" marR="0" algn="ctr">
                        <a:spcBef>
                          <a:spcPts val="0"/>
                        </a:spcBef>
                        <a:spcAft>
                          <a:spcPts val="0"/>
                        </a:spcAft>
                      </a:pPr>
                      <a:r>
                        <a:rPr lang="en-US" sz="1000">
                          <a:effectLst/>
                        </a:rPr>
                        <a:t>ΔAIC</a:t>
                      </a:r>
                      <a:endParaRPr lang="en-US" sz="1200">
                        <a:effectLst/>
                        <a:latin typeface="Times New Roman" charset="0"/>
                        <a:ea typeface="Times New Roman" charset="0"/>
                        <a:cs typeface="Times New Roman" charset="0"/>
                      </a:endParaRPr>
                    </a:p>
                  </a:txBody>
                  <a:tcPr marL="68580" marR="68580" marT="0" marB="0"/>
                </a:tc>
                <a:tc hMerge="1">
                  <a:txBody>
                    <a:bodyPr/>
                    <a:lstStyle/>
                    <a:p>
                      <a:endParaRPr lang="en-US"/>
                    </a:p>
                  </a:txBody>
                  <a:tcPr/>
                </a:tc>
                <a:extLst>
                  <a:ext uri="{0D108BD9-81ED-4DB2-BD59-A6C34878D82A}">
                    <a16:rowId xmlns:a16="http://schemas.microsoft.com/office/drawing/2014/main" val="10000"/>
                  </a:ext>
                </a:extLst>
              </a:tr>
              <a:tr h="0">
                <a:tc>
                  <a:txBody>
                    <a:bodyPr/>
                    <a:lstStyle/>
                    <a:p>
                      <a:pPr marL="0" marR="0">
                        <a:spcBef>
                          <a:spcPts val="0"/>
                        </a:spcBef>
                        <a:spcAft>
                          <a:spcPts val="0"/>
                        </a:spcAft>
                      </a:pPr>
                      <a:r>
                        <a:rPr lang="en-US" sz="1000">
                          <a:effectLst/>
                        </a:rPr>
                        <a:t> </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a:effectLst/>
                        </a:rPr>
                        <a:t>Habitat Only</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a:effectLst/>
                        </a:rPr>
                        <a:t>Habitat + Cougar</a:t>
                      </a:r>
                      <a:endParaRPr lang="en-US" sz="1200">
                        <a:effectLst/>
                        <a:latin typeface="Times New Roman" charset="0"/>
                        <a:ea typeface="Times New Roman" charset="0"/>
                        <a:cs typeface="Times New Roman" charset="0"/>
                      </a:endParaRPr>
                    </a:p>
                  </a:txBody>
                  <a:tcPr marL="68580" marR="68580" marT="0" marB="0"/>
                </a:tc>
                <a:extLst>
                  <a:ext uri="{0D108BD9-81ED-4DB2-BD59-A6C34878D82A}">
                    <a16:rowId xmlns:a16="http://schemas.microsoft.com/office/drawing/2014/main" val="10001"/>
                  </a:ext>
                </a:extLst>
              </a:tr>
              <a:tr h="0">
                <a:tc>
                  <a:txBody>
                    <a:bodyPr/>
                    <a:lstStyle/>
                    <a:p>
                      <a:pPr marL="0" marR="0">
                        <a:spcBef>
                          <a:spcPts val="0"/>
                        </a:spcBef>
                        <a:spcAft>
                          <a:spcPts val="0"/>
                        </a:spcAft>
                      </a:pPr>
                      <a:r>
                        <a:rPr lang="en-US" sz="1000">
                          <a:effectLst/>
                        </a:rPr>
                        <a:t>Bobcat</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a:effectLst/>
                        </a:rPr>
                        <a:t>0</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a:effectLst/>
                        </a:rPr>
                        <a:t>2.69</a:t>
                      </a:r>
                      <a:endParaRPr lang="en-US" sz="1200">
                        <a:effectLst/>
                        <a:latin typeface="Times New Roman" charset="0"/>
                        <a:ea typeface="Times New Roman" charset="0"/>
                        <a:cs typeface="Times New Roman" charset="0"/>
                      </a:endParaRPr>
                    </a:p>
                  </a:txBody>
                  <a:tcPr marL="68580" marR="68580" marT="0" marB="0"/>
                </a:tc>
                <a:extLst>
                  <a:ext uri="{0D108BD9-81ED-4DB2-BD59-A6C34878D82A}">
                    <a16:rowId xmlns:a16="http://schemas.microsoft.com/office/drawing/2014/main" val="10002"/>
                  </a:ext>
                </a:extLst>
              </a:tr>
              <a:tr h="0">
                <a:tc>
                  <a:txBody>
                    <a:bodyPr/>
                    <a:lstStyle/>
                    <a:p>
                      <a:pPr marL="0" marR="0">
                        <a:spcBef>
                          <a:spcPts val="0"/>
                        </a:spcBef>
                        <a:spcAft>
                          <a:spcPts val="0"/>
                        </a:spcAft>
                      </a:pPr>
                      <a:r>
                        <a:rPr lang="en-US" sz="1000">
                          <a:effectLst/>
                        </a:rPr>
                        <a:t>Bear</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a:effectLst/>
                        </a:rPr>
                        <a:t>10.36</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a:effectLst/>
                        </a:rPr>
                        <a:t>0</a:t>
                      </a:r>
                      <a:endParaRPr lang="en-US" sz="1200">
                        <a:effectLst/>
                        <a:latin typeface="Times New Roman" charset="0"/>
                        <a:ea typeface="Times New Roman" charset="0"/>
                        <a:cs typeface="Times New Roman" charset="0"/>
                      </a:endParaRPr>
                    </a:p>
                  </a:txBody>
                  <a:tcPr marL="68580" marR="68580" marT="0" marB="0"/>
                </a:tc>
                <a:extLst>
                  <a:ext uri="{0D108BD9-81ED-4DB2-BD59-A6C34878D82A}">
                    <a16:rowId xmlns:a16="http://schemas.microsoft.com/office/drawing/2014/main" val="10003"/>
                  </a:ext>
                </a:extLst>
              </a:tr>
              <a:tr h="0">
                <a:tc>
                  <a:txBody>
                    <a:bodyPr/>
                    <a:lstStyle/>
                    <a:p>
                      <a:pPr marL="0" marR="0">
                        <a:spcBef>
                          <a:spcPts val="0"/>
                        </a:spcBef>
                        <a:spcAft>
                          <a:spcPts val="0"/>
                        </a:spcAft>
                      </a:pPr>
                      <a:r>
                        <a:rPr lang="en-US" sz="1000">
                          <a:effectLst/>
                        </a:rPr>
                        <a:t>Coyote</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a:effectLst/>
                        </a:rPr>
                        <a:t>24.0</a:t>
                      </a:r>
                      <a:endParaRPr lang="en-US" sz="1200">
                        <a:effectLst/>
                        <a:latin typeface="Times New Roman" charset="0"/>
                        <a:ea typeface="Times New Roman" charset="0"/>
                        <a:cs typeface="Times New Roman" charset="0"/>
                      </a:endParaRPr>
                    </a:p>
                  </a:txBody>
                  <a:tcPr marL="68580" marR="68580" marT="0" marB="0"/>
                </a:tc>
                <a:tc>
                  <a:txBody>
                    <a:bodyPr/>
                    <a:lstStyle/>
                    <a:p>
                      <a:pPr marL="0" marR="0">
                        <a:spcBef>
                          <a:spcPts val="0"/>
                        </a:spcBef>
                        <a:spcAft>
                          <a:spcPts val="0"/>
                        </a:spcAft>
                      </a:pPr>
                      <a:r>
                        <a:rPr lang="en-US" sz="1000" dirty="0">
                          <a:effectLst/>
                        </a:rPr>
                        <a:t>0</a:t>
                      </a:r>
                      <a:endParaRPr lang="en-US" sz="1200" dirty="0">
                        <a:effectLst/>
                        <a:latin typeface="Times New Roman" charset="0"/>
                        <a:ea typeface="Times New Roman" charset="0"/>
                        <a:cs typeface="Times New Roman" charset="0"/>
                      </a:endParaRPr>
                    </a:p>
                  </a:txBody>
                  <a:tcPr marL="68580" marR="68580" marT="0" marB="0"/>
                </a:tc>
                <a:extLst>
                  <a:ext uri="{0D108BD9-81ED-4DB2-BD59-A6C34878D82A}">
                    <a16:rowId xmlns:a16="http://schemas.microsoft.com/office/drawing/2014/main" val="10004"/>
                  </a:ext>
                </a:extLst>
              </a:tr>
            </a:tbl>
          </a:graphicData>
        </a:graphic>
      </p:graphicFrame>
      <p:sp>
        <p:nvSpPr>
          <p:cNvPr id="5" name="Rectangle 1"/>
          <p:cNvSpPr>
            <a:spLocks noChangeArrowheads="1"/>
          </p:cNvSpPr>
          <p:nvPr/>
        </p:nvSpPr>
        <p:spPr bwMode="auto">
          <a:xfrm>
            <a:off x="347242" y="172336"/>
            <a:ext cx="12110976"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Arial" charset="0"/>
              </a:rPr>
              <a:t>Compare habitat only models for resource selection</a:t>
            </a:r>
            <a:r>
              <a:rPr kumimoji="0" lang="en-US" altLang="en-US" sz="1800" b="1" i="0" u="none" strike="noStrike" cap="none" normalizeH="0" dirty="0">
                <a:ln>
                  <a:noFill/>
                </a:ln>
                <a:solidFill>
                  <a:schemeClr val="tx1"/>
                </a:solidFill>
                <a:effectLst/>
                <a:latin typeface="Arial" charset="0"/>
              </a:rPr>
              <a:t> vs. models that include interactions with cougars.</a:t>
            </a:r>
            <a:r>
              <a:rPr kumimoji="0" lang="en-US" altLang="en-US" sz="1800" b="1" i="0" u="none" strike="noStrike" cap="none" normalizeH="0" baseline="0" dirty="0">
                <a:ln>
                  <a:noFill/>
                </a:ln>
                <a:solidFill>
                  <a:schemeClr val="tx1"/>
                </a:solidFill>
                <a:effectLst/>
                <a:latin typeface="Arial" charset="0"/>
              </a:rPr>
              <a:t> </a:t>
            </a:r>
            <a:br>
              <a:rPr kumimoji="0" lang="en-US" altLang="en-US" sz="1800" b="0" i="0" u="none" strike="noStrike" cap="none" normalizeH="0" baseline="0" dirty="0">
                <a:ln>
                  <a:noFill/>
                </a:ln>
                <a:solidFill>
                  <a:schemeClr val="tx1"/>
                </a:solidFill>
                <a:effectLst/>
                <a:latin typeface="Arial" charset="0"/>
              </a:rPr>
            </a:br>
            <a:endParaRPr kumimoji="0" lang="en-US" altLang="en-US" sz="1800" b="0" i="0" u="none" strike="noStrike" cap="none" normalizeH="0" baseline="0" dirty="0">
              <a:ln>
                <a:noFill/>
              </a:ln>
              <a:solidFill>
                <a:schemeClr val="tx1"/>
              </a:solidFill>
              <a:effectLst/>
              <a:latin typeface="Arial"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charset="0"/>
            </a:endParaRPr>
          </a:p>
        </p:txBody>
      </p:sp>
      <p:pic>
        <p:nvPicPr>
          <p:cNvPr id="9" name="Picture 8"/>
          <p:cNvPicPr>
            <a:picLocks noChangeAspect="1"/>
          </p:cNvPicPr>
          <p:nvPr/>
        </p:nvPicPr>
        <p:blipFill>
          <a:blip r:embed="rId2"/>
          <a:stretch>
            <a:fillRect/>
          </a:stretch>
        </p:blipFill>
        <p:spPr>
          <a:xfrm>
            <a:off x="2182037" y="1982234"/>
            <a:ext cx="7525488" cy="4703430"/>
          </a:xfrm>
          <a:prstGeom prst="rect">
            <a:avLst/>
          </a:prstGeom>
        </p:spPr>
      </p:pic>
      <p:sp>
        <p:nvSpPr>
          <p:cNvPr id="2" name="Rectangle 1">
            <a:extLst>
              <a:ext uri="{FF2B5EF4-FFF2-40B4-BE49-F238E27FC236}">
                <a16:creationId xmlns:a16="http://schemas.microsoft.com/office/drawing/2014/main" id="{CF5D07D5-4873-EB00-511D-36370057222A}"/>
              </a:ext>
            </a:extLst>
          </p:cNvPr>
          <p:cNvSpPr/>
          <p:nvPr/>
        </p:nvSpPr>
        <p:spPr>
          <a:xfrm>
            <a:off x="2045718" y="4178461"/>
            <a:ext cx="1854950" cy="2126209"/>
          </a:xfrm>
          <a:prstGeom prst="rect">
            <a:avLst/>
          </a:prstGeom>
          <a:solidFill>
            <a:srgbClr val="FFFF00">
              <a:alpha val="13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04F3BC7-AB49-6D8A-5F74-5F83C1F55274}"/>
              </a:ext>
            </a:extLst>
          </p:cNvPr>
          <p:cNvSpPr/>
          <p:nvPr/>
        </p:nvSpPr>
        <p:spPr>
          <a:xfrm>
            <a:off x="2043137" y="3545692"/>
            <a:ext cx="1854950" cy="2758977"/>
          </a:xfrm>
          <a:prstGeom prst="rect">
            <a:avLst/>
          </a:prstGeom>
          <a:solidFill>
            <a:srgbClr val="FFFF00">
              <a:alpha val="13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8660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p:nvPr/>
        </p:nvPicPr>
        <p:blipFill>
          <a:blip r:embed="rId2">
            <a:extLst>
              <a:ext uri="{28A0092B-C50C-407E-A947-70E740481C1C}">
                <a14:useLocalDpi xmlns:a14="http://schemas.microsoft.com/office/drawing/2010/main" val="0"/>
              </a:ext>
            </a:extLst>
          </a:blip>
          <a:srcRect/>
          <a:stretch>
            <a:fillRect/>
          </a:stretch>
        </p:blipFill>
        <p:spPr bwMode="auto">
          <a:xfrm>
            <a:off x="3104471" y="707886"/>
            <a:ext cx="5576542" cy="4907548"/>
          </a:xfrm>
          <a:prstGeom prst="rect">
            <a:avLst/>
          </a:prstGeom>
          <a:noFill/>
        </p:spPr>
      </p:pic>
      <p:sp>
        <p:nvSpPr>
          <p:cNvPr id="3" name="Text Box 6"/>
          <p:cNvSpPr txBox="1">
            <a:spLocks noChangeArrowheads="1"/>
          </p:cNvSpPr>
          <p:nvPr/>
        </p:nvSpPr>
        <p:spPr bwMode="auto">
          <a:xfrm>
            <a:off x="1329958" y="0"/>
            <a:ext cx="9502921"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4000" b="1" dirty="0">
                <a:latin typeface="Arial" charset="0"/>
              </a:rPr>
              <a:t>How SHOULD we be making inference</a:t>
            </a:r>
          </a:p>
        </p:txBody>
      </p:sp>
      <p:sp>
        <p:nvSpPr>
          <p:cNvPr id="4" name="Text Box 6">
            <a:extLst>
              <a:ext uri="{FF2B5EF4-FFF2-40B4-BE49-F238E27FC236}">
                <a16:creationId xmlns:a16="http://schemas.microsoft.com/office/drawing/2014/main" id="{B70A27E4-6A09-8AA9-E01D-7C47293132D4}"/>
              </a:ext>
            </a:extLst>
          </p:cNvPr>
          <p:cNvSpPr txBox="1">
            <a:spLocks noChangeArrowheads="1"/>
          </p:cNvSpPr>
          <p:nvPr/>
        </p:nvSpPr>
        <p:spPr bwMode="auto">
          <a:xfrm>
            <a:off x="205547" y="5703716"/>
            <a:ext cx="1175174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marL="342900" indent="-342900" algn="ctr">
              <a:spcBef>
                <a:spcPct val="0"/>
              </a:spcBef>
              <a:buClrTx/>
              <a:buSzTx/>
            </a:pPr>
            <a:r>
              <a:rPr lang="en-US" altLang="en-US" sz="2400" b="1" dirty="0">
                <a:latin typeface="Arial" charset="0"/>
              </a:rPr>
              <a:t>Interpret point estimates algebraically and geometrically with uncertainty</a:t>
            </a:r>
          </a:p>
          <a:p>
            <a:pPr marL="342900" indent="-342900" algn="ctr">
              <a:spcBef>
                <a:spcPct val="0"/>
              </a:spcBef>
              <a:buClrTx/>
              <a:buSzTx/>
            </a:pPr>
            <a:r>
              <a:rPr lang="en-US" altLang="en-US" sz="2400" b="1" dirty="0">
                <a:latin typeface="Arial" charset="0"/>
              </a:rPr>
              <a:t>Don’t ask “if” there is an effect. Ask how much a variable affects an outcome</a:t>
            </a:r>
          </a:p>
          <a:p>
            <a:pPr marL="342900" indent="-342900" algn="ctr">
              <a:spcBef>
                <a:spcPct val="0"/>
              </a:spcBef>
              <a:buClrTx/>
              <a:buSzTx/>
            </a:pPr>
            <a:r>
              <a:rPr lang="en-US" altLang="en-US" sz="2400" b="1" dirty="0">
                <a:latin typeface="Arial" charset="0"/>
              </a:rPr>
              <a:t>Quantify our uncertainty around this</a:t>
            </a:r>
          </a:p>
        </p:txBody>
      </p:sp>
    </p:spTree>
    <p:extLst>
      <p:ext uri="{BB962C8B-B14F-4D97-AF65-F5344CB8AC3E}">
        <p14:creationId xmlns:p14="http://schemas.microsoft.com/office/powerpoint/2010/main" val="1386963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27153</TotalTime>
  <Words>2785</Words>
  <Application>Microsoft Macintosh PowerPoint</Application>
  <PresentationFormat>Widescreen</PresentationFormat>
  <Paragraphs>263</Paragraphs>
  <Slides>59</Slides>
  <Notes>12</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59</vt:i4>
      </vt:variant>
    </vt:vector>
  </HeadingPairs>
  <TitlesOfParts>
    <vt:vector size="67" baseType="lpstr">
      <vt:lpstr>Arial</vt:lpstr>
      <vt:lpstr>Calibri</vt:lpstr>
      <vt:lpstr>Calibri Light</vt:lpstr>
      <vt:lpstr>Mangal</vt:lpstr>
      <vt:lpstr>Tahoma</vt:lpstr>
      <vt:lpstr>Times New Roman</vt:lpstr>
      <vt:lpstr>Office Theme</vt:lpstr>
      <vt:lpstr>Equation</vt:lpstr>
      <vt:lpstr> </vt:lpstr>
      <vt:lpstr>Hypothesis Tests to Compare Models  (not parameters)</vt:lpstr>
      <vt:lpstr>Nested Models</vt:lpstr>
      <vt:lpstr>Hypothesis Tests for Models</vt:lpstr>
      <vt:lpstr>Hypothesis Tests for Models</vt:lpstr>
      <vt:lpstr>Example where null is nonzero</vt:lpstr>
      <vt:lpstr>Example-I</vt:lpstr>
      <vt:lpstr>Example-II</vt:lpstr>
      <vt:lpstr>Example-II</vt:lpstr>
      <vt:lpstr>PowerPoint Presentation</vt:lpstr>
      <vt:lpstr>Information Theoretic Criteria for Model Selection (i.e. AIC, BIC, etc.)</vt:lpstr>
      <vt:lpstr>Information Theoretic Criteria for Model Selection</vt:lpstr>
      <vt:lpstr>PowerPoint Presentation</vt:lpstr>
      <vt:lpstr>PowerPoint Presentation</vt:lpstr>
      <vt:lpstr>PowerPoint Presentation</vt:lpstr>
      <vt:lpstr>Most common mistake in ecology!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Confidence intervals and p-values</vt:lpstr>
      <vt:lpstr>P-values should be interpreted on a continuum. Not a step function at 0.05.  AIC should be interpreted in the same way!</vt:lpstr>
      <vt:lpstr>So why use AIC?</vt:lpstr>
      <vt:lpstr>PowerPoint Presentation</vt:lpstr>
      <vt:lpstr>PowerPoint Presentation</vt:lpstr>
      <vt:lpstr>PowerPoint Presentation</vt:lpstr>
      <vt:lpstr>AIC in practice</vt:lpstr>
      <vt:lpstr>Most common mistake in ecology!</vt:lpstr>
      <vt:lpstr>PowerPoint Presentation</vt:lpstr>
      <vt:lpstr>Best recent paper as a resource to stop doing dumb stuff with AIC</vt:lpstr>
      <vt:lpstr>PowerPoint Presentation</vt:lpstr>
      <vt:lpstr>Burnham and Anderson did not advocate model dredging (fitting all/many combinations of predictors)</vt:lpstr>
      <vt:lpstr>PowerPoint Presentation</vt:lpstr>
      <vt:lpstr>Then what about BIC?  Is it just a similar alternative?</vt:lpstr>
      <vt:lpstr>AIC vs BIC</vt:lpstr>
      <vt:lpstr>Crossvalidation: Split data, train model, compare predictions to actual using test data. Repeat. </vt:lpstr>
      <vt:lpstr>Recommended Readings</vt:lpstr>
      <vt:lpstr>PowerPoint Presentation</vt:lpstr>
      <vt:lpstr>Don’t take my word for it…</vt:lpstr>
      <vt:lpstr>PowerPoint Presentation</vt:lpstr>
      <vt:lpstr>Don’t take my word for it…</vt:lpstr>
      <vt:lpstr>PowerPoint Presentation</vt:lpstr>
      <vt:lpstr>PowerPoint Presentation</vt:lpstr>
      <vt:lpstr>Are any statistical procedures required?</vt:lpstr>
      <vt:lpstr>Hmm…let’s think, will banning the use of p-values  1. Reduce type I errors and help solve the replication crisis in Psychology?  2. Allow absolute garbage conclusions to be published that would otherwise not have passed “significance testing” </vt:lpstr>
      <vt:lpstr>PowerPoint Presentation</vt:lpstr>
      <vt:lpstr>Further buffoonery </vt:lpstr>
      <vt:lpstr>Further buffoonery </vt:lpstr>
      <vt:lpstr>The chief benefit of AIC/BIC</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135</cp:revision>
  <dcterms:created xsi:type="dcterms:W3CDTF">2020-12-09T20:57:53Z</dcterms:created>
  <dcterms:modified xsi:type="dcterms:W3CDTF">2025-10-09T20:23:15Z</dcterms:modified>
</cp:coreProperties>
</file>