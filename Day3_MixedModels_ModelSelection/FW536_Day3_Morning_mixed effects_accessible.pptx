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7" r:id="rId2"/>
    <p:sldId id="258" r:id="rId3"/>
    <p:sldId id="259" r:id="rId4"/>
    <p:sldId id="260" r:id="rId5"/>
    <p:sldId id="261" r:id="rId6"/>
    <p:sldId id="333" r:id="rId7"/>
    <p:sldId id="334" r:id="rId8"/>
    <p:sldId id="335" r:id="rId9"/>
    <p:sldId id="265" r:id="rId10"/>
    <p:sldId id="336" r:id="rId11"/>
    <p:sldId id="268" r:id="rId12"/>
    <p:sldId id="323" r:id="rId13"/>
    <p:sldId id="269" r:id="rId14"/>
    <p:sldId id="270" r:id="rId15"/>
    <p:sldId id="271" r:id="rId16"/>
    <p:sldId id="272" r:id="rId17"/>
    <p:sldId id="273" r:id="rId18"/>
    <p:sldId id="324" r:id="rId19"/>
    <p:sldId id="274" r:id="rId20"/>
    <p:sldId id="312" r:id="rId21"/>
    <p:sldId id="275" r:id="rId22"/>
    <p:sldId id="276" r:id="rId23"/>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27" r:id="rId43"/>
    <p:sldId id="328" r:id="rId44"/>
    <p:sldId id="329" r:id="rId45"/>
    <p:sldId id="330" r:id="rId46"/>
    <p:sldId id="331" r:id="rId47"/>
    <p:sldId id="332" r:id="rId48"/>
    <p:sldId id="32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15"/>
    <p:restoredTop sz="77397"/>
  </p:normalViewPr>
  <p:slideViewPr>
    <p:cSldViewPr snapToGrid="0" snapToObjects="1">
      <p:cViewPr varScale="1">
        <p:scale>
          <a:sx n="97" d="100"/>
          <a:sy n="97" d="100"/>
        </p:scale>
        <p:origin x="7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242200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Image Placeholder 1"/>
          <p:cNvSpPr>
            <a:spLocks noGrp="1" noRot="1" noChangeAspect="1" noChangeArrowheads="1" noTextEdit="1"/>
          </p:cNvSpPr>
          <p:nvPr>
            <p:ph type="sldImg"/>
          </p:nvPr>
        </p:nvSpPr>
        <p:spPr>
          <a:ln/>
        </p:spPr>
      </p:sp>
      <p:sp>
        <p:nvSpPr>
          <p:cNvPr id="9933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327557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10547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915146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7/14/26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7/14/26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7/14/26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7/14/26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w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oleObject" Target="../embeddings/oleObject1.bin"/><Relationship Id="rId4" Type="http://schemas.openxmlformats.org/officeDocument/2006/relationships/image" Target="../media/image3.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tif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bbolker.github.io/mixedmodels-misc/glmmFAQ.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2.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oleObject" Target="../embeddings/oleObject2.bin"/><Relationship Id="rId4" Type="http://schemas.openxmlformats.org/officeDocument/2006/relationships/image" Target="../media/image23.wmf"/><Relationship Id="rId5"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oleObject" Target="../embeddings/oleObject2.bin"/><Relationship Id="rId4" Type="http://schemas.openxmlformats.org/officeDocument/2006/relationships/image" Target="../media/image23.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oleObject" Target="../embeddings/oleObject2.bin"/><Relationship Id="rId4" Type="http://schemas.openxmlformats.org/officeDocument/2006/relationships/image" Target="../media/image23.w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5.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6.w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8.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9.w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30.wmf"/><Relationship Id="rId4" Type="http://schemas.openxmlformats.org/officeDocument/2006/relationships/image" Target="../media/image31.wmf"/></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2.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447800"/>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sp>
        <p:nvSpPr>
          <p:cNvPr id="28676" name="Text Box 10"/>
          <p:cNvSpPr txBox="1">
            <a:spLocks noChangeArrowheads="1"/>
          </p:cNvSpPr>
          <p:nvPr/>
        </p:nvSpPr>
        <p:spPr bwMode="auto">
          <a:xfrm>
            <a:off x="1752600" y="5486401"/>
            <a:ext cx="89154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a:t>This analysis attributed all the error to within-stream variation. However, it is clear that there is between-stream variation in density but we have no way to comment on it. </a:t>
            </a:r>
          </a:p>
        </p:txBody>
      </p:sp>
      <p:sp>
        <p:nvSpPr>
          <p:cNvPr id="9061" name="EqText6"/>
          <p:cNvSpPr/>
          <p:nvPr/>
        </p:nvSpPr>
        <p:spPr>
          <a:xfrm>
            <a:off x="2108200" y="2184400"/>
            <a:ext cx="4064000" cy="1397000"/>
          </a:xfrm>
          <a:prstGeom prst="rect">
            <a:avLst/>
          </a:prstGeom>
          <a:noFill/>
        </p:spPr>
        <p:txBody>
          <a:bodyPr wrap="square" lIns="0" tIns="0" rIns="0" bIns="0" anchor="t">
            <a:normAutofit/>
          </a:bodyPr>
          <a:lstStyle/>
          <a:p>
            <a:pPr algn="l"/>
            <a:r>
              <a:rPr lang="en-US" sz="1800" i="1" dirty="0">
                <a:latin typeface="Cambria"/>
                <a:cs typeface="Cambria"/>
              </a:rPr>
              <a:t>y</a:t>
            </a:r>
            <a:r>
              <a:rPr lang="en-US" sz="1404" i="1" baseline="-25000" dirty="0">
                <a:latin typeface="Cambria"/>
                <a:cs typeface="Cambria"/>
              </a:rPr>
              <a:t>i,j</a:t>
            </a:r>
            <a:r>
              <a:rPr lang="en-US" sz="1800" dirty="0">
                <a:latin typeface="Cambria"/>
                <a:cs typeface="Cambria"/>
              </a:rPr>
              <a:t> = </a:t>
            </a:r>
            <a:r>
              <a:rPr lang="en-US" sz="1800" i="1" dirty="0">
                <a:latin typeface="Cambria"/>
                <a:cs typeface="Cambria"/>
              </a:rPr>
              <a:t>β</a:t>
            </a:r>
            <a:r>
              <a:rPr lang="en-US" sz="1800" dirty="0">
                <a:latin typeface="Cambria"/>
                <a:cs typeface="Cambria"/>
              </a:rPr>
              <a:t> + </a:t>
            </a:r>
            <a:r>
              <a:rPr lang="en-US" sz="1800" i="1" dirty="0">
                <a:latin typeface="Cambria"/>
                <a:cs typeface="Cambria"/>
              </a:rPr>
              <a:t>ε</a:t>
            </a:r>
            <a:r>
              <a:rPr lang="en-US" sz="1404" i="1" baseline="-25000" dirty="0">
                <a:latin typeface="Cambria"/>
                <a:cs typeface="Cambria"/>
              </a:rPr>
              <a:t>i,j</a:t>
            </a:r>
          </a:p>
          <a:p>
            <a:pPr algn="l"/>
            <a:r>
              <a:rPr lang="en-US" sz="1800" i="1" dirty="0">
                <a:latin typeface="Cambria"/>
                <a:cs typeface="Cambria"/>
              </a:rPr>
              <a:t>i</a:t>
            </a:r>
            <a:r>
              <a:rPr lang="en-US" sz="1800" dirty="0">
                <a:latin typeface="Cambria"/>
                <a:cs typeface="Cambria"/>
              </a:rPr>
              <a:t> = 1,2,..,6;  </a:t>
            </a:r>
            <a:r>
              <a:rPr lang="en-US" sz="1800" i="1" dirty="0">
                <a:latin typeface="Cambria"/>
                <a:cs typeface="Cambria"/>
              </a:rPr>
              <a:t>j</a:t>
            </a:r>
            <a:r>
              <a:rPr lang="en-US" sz="1800" dirty="0">
                <a:latin typeface="Cambria"/>
                <a:cs typeface="Cambria"/>
              </a:rPr>
              <a:t> = 1,2,3</a:t>
            </a:r>
          </a:p>
          <a:p>
            <a:pPr algn="l"/>
            <a:r>
              <a:rPr lang="en-US" sz="1800" i="1" dirty="0">
                <a:latin typeface="Cambria"/>
                <a:cs typeface="Cambria"/>
              </a:rPr>
              <a:t>β̂</a:t>
            </a:r>
            <a:r>
              <a:rPr lang="en-US" sz="1800" dirty="0">
                <a:latin typeface="Cambria"/>
                <a:cs typeface="Cambria"/>
              </a:rPr>
              <a:t> = 78.63;  </a:t>
            </a:r>
            <a:r>
              <a:rPr lang="en-US" sz="1800" i="1" dirty="0">
                <a:latin typeface="Cambria"/>
                <a:cs typeface="Cambria"/>
              </a:rPr>
              <a:t>σ̂</a:t>
            </a:r>
            <a:r>
              <a:rPr lang="en-US" sz="1800" dirty="0">
                <a:latin typeface="Cambria"/>
                <a:cs typeface="Cambria"/>
              </a:rPr>
              <a:t> = 16.03</a:t>
            </a:r>
          </a:p>
        </p:txBody>
      </p:sp>
    </p:spTree>
    <p:extLst>
      <p:ext uri="{BB962C8B-B14F-4D97-AF65-F5344CB8AC3E}">
        <p14:creationId xmlns:p14="http://schemas.microsoft.com/office/powerpoint/2010/main" val="691397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pic>
        <p:nvPicPr>
          <p:cNvPr id="28676" name="Picture 7"/>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
        <p:nvSpPr>
          <p:cNvPr id="9071" name="EqText7"/>
          <p:cNvSpPr/>
          <p:nvPr/>
        </p:nvSpPr>
        <p:spPr>
          <a:xfrm>
            <a:off x="2159000" y="2260600"/>
            <a:ext cx="4064000" cy="1397000"/>
          </a:xfrm>
          <a:prstGeom prst="rect">
            <a:avLst/>
          </a:prstGeom>
          <a:noFill/>
        </p:spPr>
        <p:txBody>
          <a:bodyPr wrap="square" lIns="0" tIns="0" rIns="0" bIns="0" anchor="t">
            <a:normAutofit/>
          </a:bodyPr>
          <a:lstStyle/>
          <a:p>
            <a:pPr algn="l"/>
            <a:r>
              <a:rPr lang="en-US" sz="1800" i="1" dirty="0">
                <a:latin typeface="Cambria"/>
                <a:cs typeface="Cambria"/>
              </a:rPr>
              <a:t>y</a:t>
            </a:r>
            <a:r>
              <a:rPr lang="en-US" sz="1404" i="1" baseline="-25000" dirty="0">
                <a:latin typeface="Cambria"/>
                <a:cs typeface="Cambria"/>
              </a:rPr>
              <a:t>i,j</a:t>
            </a:r>
            <a:r>
              <a:rPr lang="en-US" sz="1800" dirty="0">
                <a:latin typeface="Cambria"/>
                <a:cs typeface="Cambria"/>
              </a:rPr>
              <a:t> = </a:t>
            </a:r>
            <a:r>
              <a:rPr lang="en-US" sz="1800" i="1" dirty="0">
                <a:latin typeface="Cambria"/>
                <a:cs typeface="Cambria"/>
              </a:rPr>
              <a:t>β</a:t>
            </a:r>
            <a:r>
              <a:rPr lang="en-US" sz="1404" i="1" baseline="-25000" dirty="0">
                <a:latin typeface="Cambria"/>
                <a:cs typeface="Cambria"/>
              </a:rPr>
              <a:t>i</a:t>
            </a:r>
            <a:r>
              <a:rPr lang="en-US" sz="1800" dirty="0">
                <a:latin typeface="Cambria"/>
                <a:cs typeface="Cambria"/>
              </a:rPr>
              <a:t> + </a:t>
            </a:r>
            <a:r>
              <a:rPr lang="en-US" sz="1800" i="1" dirty="0">
                <a:latin typeface="Cambria"/>
                <a:cs typeface="Cambria"/>
              </a:rPr>
              <a:t>ε</a:t>
            </a:r>
            <a:r>
              <a:rPr lang="en-US" sz="1404" i="1" baseline="-25000" dirty="0">
                <a:latin typeface="Cambria"/>
                <a:cs typeface="Cambria"/>
              </a:rPr>
              <a:t>i,j</a:t>
            </a:r>
          </a:p>
          <a:p>
            <a:pPr algn="l"/>
            <a:r>
              <a:rPr lang="en-US" sz="1800" i="1" dirty="0">
                <a:latin typeface="Cambria"/>
                <a:cs typeface="Cambria"/>
              </a:rPr>
              <a:t>i</a:t>
            </a:r>
            <a:r>
              <a:rPr lang="en-US" sz="1800" dirty="0">
                <a:latin typeface="Cambria"/>
                <a:cs typeface="Cambria"/>
              </a:rPr>
              <a:t> = 1,2,..,6;  </a:t>
            </a:r>
            <a:r>
              <a:rPr lang="en-US" sz="1800" i="1" dirty="0">
                <a:latin typeface="Cambria"/>
                <a:cs typeface="Cambria"/>
              </a:rPr>
              <a:t>j</a:t>
            </a:r>
            <a:r>
              <a:rPr lang="en-US" sz="1800" dirty="0">
                <a:latin typeface="Cambria"/>
                <a:cs typeface="Cambria"/>
              </a:rPr>
              <a:t> = 1,2,3</a:t>
            </a:r>
          </a:p>
          <a:p>
            <a:pPr algn="l"/>
            <a:r>
              <a:rPr lang="en-US" sz="1800" i="1" dirty="0">
                <a:latin typeface="Cambria"/>
                <a:cs typeface="Cambria"/>
              </a:rPr>
              <a:t>σ̂</a:t>
            </a:r>
            <a:r>
              <a:rPr lang="en-US" sz="1800" dirty="0">
                <a:latin typeface="Cambria"/>
                <a:cs typeface="Cambria"/>
              </a:rPr>
              <a:t> = 6.1</a:t>
            </a:r>
          </a:p>
        </p:txBody>
      </p:sp>
    </p:spTree>
    <p:extLst>
      <p:ext uri="{BB962C8B-B14F-4D97-AF65-F5344CB8AC3E}">
        <p14:creationId xmlns:p14="http://schemas.microsoft.com/office/powerpoint/2010/main" val="913276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077278" y="-127945"/>
            <a:ext cx="8392285" cy="1143000"/>
          </a:xfrm>
        </p:spPr>
        <p:txBody>
          <a:bodyPr>
            <a:normAutofit fontScale="90000"/>
          </a:bodyPr>
          <a:lstStyle/>
          <a:p>
            <a:pPr algn="ctr" eaLnBrk="1" hangingPunct="1">
              <a:defRPr/>
            </a:pPr>
            <a:r>
              <a:rPr lang="en-US" altLang="en-US" dirty="0">
                <a:solidFill>
                  <a:srgbClr val="0070C0"/>
                </a:solidFill>
              </a:rPr>
              <a:t>Partial pooling</a:t>
            </a:r>
            <a:r>
              <a:rPr lang="en-US" altLang="en-US" dirty="0"/>
              <a:t>: A Mixed Effects Model</a:t>
            </a:r>
            <a:endParaRPr lang="en-US" altLang="en-US" sz="2700" dirty="0"/>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sym typeface="Symbol" charset="2"/>
              </a:rPr>
              <a:t></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sym typeface="Symbol" charset="2"/>
              </a:rPr>
              <a:t></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sp>
        <p:nvSpPr>
          <p:cNvPr id="2" name="Line Callout 2 1"/>
          <p:cNvSpPr>
            <a:spLocks/>
          </p:cNvSpPr>
          <p:nvPr/>
        </p:nvSpPr>
        <p:spPr bwMode="auto">
          <a:xfrm>
            <a:off x="5312736" y="6277372"/>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1847223" y="4025504"/>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
        <p:nvSpPr>
          <p:cNvPr id="9081" name="EqText8a"/>
          <p:cNvSpPr/>
          <p:nvPr/>
        </p:nvSpPr>
        <p:spPr>
          <a:xfrm>
            <a:off x="3962400" y="1905000"/>
            <a:ext cx="4572000" cy="508000"/>
          </a:xfrm>
          <a:prstGeom prst="rect">
            <a:avLst/>
          </a:prstGeom>
          <a:noFill/>
        </p:spPr>
        <p:txBody>
          <a:bodyPr wrap="square" lIns="0" tIns="0" rIns="0" bIns="0" anchor="ctr">
            <a:normAutofit/>
          </a:bodyPr>
          <a:lstStyle/>
          <a:p>
            <a:pPr algn="ctr"/>
            <a:r>
              <a:rPr lang="en-US" sz="2000" i="1" dirty="0">
                <a:latin typeface="Cambria"/>
                <a:cs typeface="Cambria"/>
              </a:rPr>
              <a:t>y</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β</a:t>
            </a:r>
            <a:r>
              <a:rPr lang="en-US" sz="2000" dirty="0">
                <a:latin typeface="Cambria"/>
                <a:cs typeface="Cambria"/>
              </a:rPr>
              <a:t> + </a:t>
            </a: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ε</a:t>
            </a:r>
            <a:r>
              <a:rPr lang="en-US" sz="1560" i="1" baseline="-25000" dirty="0">
                <a:latin typeface="Cambria"/>
                <a:cs typeface="Cambria"/>
              </a:rPr>
              <a:t>i,j</a:t>
            </a:r>
          </a:p>
        </p:txBody>
      </p:sp>
      <p:sp>
        <p:nvSpPr>
          <p:cNvPr id="9082" name="EqText8b"/>
          <p:cNvSpPr/>
          <p:nvPr/>
        </p:nvSpPr>
        <p:spPr>
          <a:xfrm>
            <a:off x="3517900" y="3390900"/>
            <a:ext cx="4572000" cy="508000"/>
          </a:xfrm>
          <a:prstGeom prst="rect">
            <a:avLst/>
          </a:prstGeom>
          <a:noFill/>
        </p:spPr>
        <p:txBody>
          <a:bodyPr wrap="square" lIns="0" tIns="0" rIns="0" bIns="0" anchor="ctr">
            <a:normAutofit/>
          </a:bodyPr>
          <a:lstStyle/>
          <a:p>
            <a:pPr algn="ct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1560" i="1" baseline="-25000" dirty="0">
                <a:latin typeface="Cambria"/>
                <a:cs typeface="Cambria"/>
              </a:rPr>
              <a:t>b</a:t>
            </a:r>
            <a:r>
              <a:rPr lang="en-US" sz="2000" dirty="0">
                <a:latin typeface="Cambria"/>
                <a:cs typeface="Cambria"/>
              </a:rPr>
              <a:t>)</a:t>
            </a:r>
          </a:p>
        </p:txBody>
      </p:sp>
      <p:sp>
        <p:nvSpPr>
          <p:cNvPr id="9083" name="EqText8c"/>
          <p:cNvSpPr/>
          <p:nvPr/>
        </p:nvSpPr>
        <p:spPr>
          <a:xfrm>
            <a:off x="2146300" y="5372100"/>
            <a:ext cx="4572000" cy="508000"/>
          </a:xfrm>
          <a:prstGeom prst="rect">
            <a:avLst/>
          </a:prstGeom>
          <a:noFill/>
        </p:spPr>
        <p:txBody>
          <a:bodyPr wrap="square" lIns="0" tIns="0" rIns="0" bIns="0" anchor="ctr">
            <a:normAutofit/>
          </a:bodyPr>
          <a:lstStyle/>
          <a:p>
            <a:pPr algn="ctr"/>
            <a:r>
              <a:rPr lang="en-US" sz="2000" i="1" dirty="0">
                <a:latin typeface="Cambria"/>
                <a:cs typeface="Cambria"/>
              </a:rPr>
              <a:t>ε</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2000" dirty="0">
                <a:latin typeface="Cambria"/>
                <a:cs typeface="Cambria"/>
              </a:rPr>
              <a:t>)</a:t>
            </a:r>
          </a:p>
        </p:txBody>
      </p:sp>
    </p:spTree>
    <p:extLst>
      <p:ext uri="{BB962C8B-B14F-4D97-AF65-F5344CB8AC3E}">
        <p14:creationId xmlns:p14="http://schemas.microsoft.com/office/powerpoint/2010/main" val="6841783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8934893" cy="4114800"/>
          </a:xfrm>
        </p:spPr>
        <p:txBody>
          <a:bodyPr/>
          <a:lstStyle/>
          <a:p>
            <a:pPr eaLnBrk="1" hangingPunct="1">
              <a:lnSpc>
                <a:spcPct val="80000"/>
              </a:lnSpc>
              <a:defRPr/>
            </a:pPr>
            <a:r>
              <a:rPr lang="en-US" altLang="en-US" sz="2400" dirty="0"/>
              <a:t>The residuals are assumed to be independent, normally distributed random variables with constant variance.</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random effects are assumed to be normally distributed.</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number of parameters in this model is three (</a:t>
            </a:r>
            <a:r>
              <a:rPr lang="en-US" altLang="en-US" sz="2400" dirty="0">
                <a:sym typeface="Symbol" charset="2"/>
              </a:rPr>
              <a:t>,  and </a:t>
            </a:r>
            <a:r>
              <a:rPr lang="en-US" altLang="en-US" sz="2400" baseline="-25000" dirty="0">
                <a:sym typeface="Symbol" charset="2"/>
              </a:rPr>
              <a:t>b</a:t>
            </a:r>
            <a:r>
              <a:rPr lang="en-US" altLang="en-US" sz="2400"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
        <p:nvSpPr>
          <p:cNvPr id="9101" name="EqText10"/>
          <p:cNvSpPr/>
          <p:nvPr/>
        </p:nvSpPr>
        <p:spPr>
          <a:xfrm>
            <a:off x="3810000" y="2946400"/>
            <a:ext cx="4699000" cy="508000"/>
          </a:xfrm>
          <a:prstGeom prst="rect">
            <a:avLst/>
          </a:prstGeom>
          <a:noFill/>
        </p:spPr>
        <p:txBody>
          <a:bodyPr wrap="square" lIns="0" tIns="0" rIns="0" bIns="0" anchor="ctr">
            <a:normAutofit/>
          </a:bodyPr>
          <a:lstStyle/>
          <a:p>
            <a:pPr algn="ctr"/>
            <a:r>
              <a:rPr lang="en-US" sz="2000" i="1" dirty="0">
                <a:latin typeface="Cambria"/>
                <a:cs typeface="Cambria"/>
              </a:rPr>
              <a:t>β</a:t>
            </a:r>
            <a:r>
              <a:rPr lang="en-US" sz="2000" dirty="0">
                <a:latin typeface="Cambria"/>
                <a:cs typeface="Cambria"/>
              </a:rPr>
              <a:t> = 78.63;  </a:t>
            </a:r>
            <a:r>
              <a:rPr lang="en-US" sz="2000" i="1" dirty="0">
                <a:latin typeface="Cambria"/>
                <a:cs typeface="Cambria"/>
              </a:rPr>
              <a:t>σ</a:t>
            </a:r>
            <a:r>
              <a:rPr lang="en-US" sz="1560" i="1" baseline="-25000" dirty="0">
                <a:latin typeface="Cambria"/>
                <a:cs typeface="Cambria"/>
              </a:rPr>
              <a:t>b</a:t>
            </a:r>
            <a:r>
              <a:rPr lang="en-US" sz="2000" dirty="0">
                <a:latin typeface="Cambria"/>
                <a:cs typeface="Cambria"/>
              </a:rPr>
              <a:t> = 15.79;  </a:t>
            </a:r>
            <a:r>
              <a:rPr lang="en-US" sz="2000" i="1" dirty="0">
                <a:latin typeface="Cambria"/>
                <a:cs typeface="Cambria"/>
              </a:rPr>
              <a:t>σ</a:t>
            </a:r>
            <a:r>
              <a:rPr lang="en-US" sz="2000" dirty="0">
                <a:latin typeface="Cambria"/>
                <a:cs typeface="Cambria"/>
              </a:rPr>
              <a:t> = 6.1</a:t>
            </a:r>
          </a:p>
        </p:txBody>
      </p:sp>
    </p:spTree>
    <p:extLst>
      <p:ext uri="{BB962C8B-B14F-4D97-AF65-F5344CB8AC3E}">
        <p14:creationId xmlns:p14="http://schemas.microsoft.com/office/powerpoint/2010/main" val="1457092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286000" y="1600200"/>
            <a:ext cx="8021638" cy="4840288"/>
          </a:xfrm>
        </p:spPr>
        <p:txBody>
          <a:bodyPr/>
          <a:lstStyle/>
          <a:p>
            <a:pPr eaLnBrk="1" hangingPunct="1">
              <a:lnSpc>
                <a:spcPct val="80000"/>
              </a:lnSpc>
              <a:defRPr/>
            </a:pPr>
            <a:r>
              <a:rPr lang="en-US" altLang="en-US" sz="2000" dirty="0"/>
              <a:t>The full call is:</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	</a:t>
            </a:r>
            <a:r>
              <a:rPr lang="en-US" altLang="en-US" sz="1200" b="1" dirty="0" err="1"/>
              <a:t>lme</a:t>
            </a:r>
            <a:r>
              <a:rPr lang="en-US" altLang="en-US" sz="1200" b="1" dirty="0"/>
              <a:t>(fixed, data, random, correlation, weights, subset, method, </a:t>
            </a:r>
            <a:r>
              <a:rPr lang="en-US" altLang="en-US" sz="1200" b="1" dirty="0" err="1"/>
              <a:t>na.action</a:t>
            </a:r>
            <a:r>
              <a:rPr lang="en-US" altLang="en-US" sz="1200" b="1" dirty="0"/>
              <a:t>, control) </a:t>
            </a:r>
          </a:p>
          <a:p>
            <a:pPr eaLnBrk="1" hangingPunct="1">
              <a:lnSpc>
                <a:spcPct val="80000"/>
              </a:lnSpc>
              <a:buFont typeface="Wingdings" charset="2"/>
              <a:buNone/>
              <a:defRPr/>
            </a:pPr>
            <a:endParaRPr lang="en-US" altLang="en-US" sz="1200" b="1" dirty="0"/>
          </a:p>
          <a:p>
            <a:pPr eaLnBrk="1" hangingPunct="1">
              <a:lnSpc>
                <a:spcPct val="80000"/>
              </a:lnSpc>
              <a:defRPr/>
            </a:pPr>
            <a:r>
              <a:rPr lang="en-US" altLang="en-US" sz="2000" dirty="0"/>
              <a:t>fixed – formula for the fixed effects;</a:t>
            </a:r>
          </a:p>
          <a:p>
            <a:pPr eaLnBrk="1" hangingPunct="1">
              <a:lnSpc>
                <a:spcPct val="80000"/>
              </a:lnSpc>
              <a:defRPr/>
            </a:pPr>
            <a:r>
              <a:rPr lang="en-US" altLang="en-US" sz="2000" dirty="0"/>
              <a:t>data – must be a data frame;</a:t>
            </a:r>
          </a:p>
          <a:p>
            <a:pPr eaLnBrk="1" hangingPunct="1">
              <a:lnSpc>
                <a:spcPct val="80000"/>
              </a:lnSpc>
              <a:defRPr/>
            </a:pPr>
            <a:r>
              <a:rPr lang="en-US" altLang="en-US" sz="2000" dirty="0"/>
              <a:t>random – the random effects (random effects can be nested);</a:t>
            </a:r>
          </a:p>
          <a:p>
            <a:pPr eaLnBrk="1" hangingPunct="1">
              <a:lnSpc>
                <a:spcPct val="80000"/>
              </a:lnSpc>
              <a:defRPr/>
            </a:pPr>
            <a:r>
              <a:rPr lang="en-US" altLang="en-US" sz="2000" dirty="0"/>
              <a:t>correlation – correlation structure of the residuals (optional);</a:t>
            </a:r>
          </a:p>
          <a:p>
            <a:pPr lvl="1" eaLnBrk="1" hangingPunct="1">
              <a:lnSpc>
                <a:spcPct val="80000"/>
              </a:lnSpc>
              <a:defRPr/>
            </a:pPr>
            <a:r>
              <a:rPr lang="en-US" altLang="en-US" sz="1600" dirty="0"/>
              <a:t>For example “</a:t>
            </a:r>
            <a:r>
              <a:rPr lang="en-US" sz="1600" dirty="0"/>
              <a:t>correlation=corAR1()” for autoregressive term</a:t>
            </a:r>
            <a:endParaRPr lang="en-US" altLang="en-US" sz="1600" dirty="0"/>
          </a:p>
          <a:p>
            <a:pPr eaLnBrk="1" hangingPunct="1">
              <a:lnSpc>
                <a:spcPct val="80000"/>
              </a:lnSpc>
              <a:defRPr/>
            </a:pPr>
            <a:r>
              <a:rPr lang="en-US" altLang="en-US" sz="2000" dirty="0"/>
              <a:t>weights – variance structure of the residuals (optional);</a:t>
            </a:r>
          </a:p>
          <a:p>
            <a:pPr eaLnBrk="1" hangingPunct="1">
              <a:lnSpc>
                <a:spcPct val="80000"/>
              </a:lnSpc>
              <a:defRPr/>
            </a:pPr>
            <a:r>
              <a:rPr lang="en-US" altLang="en-US" sz="2000" dirty="0"/>
              <a:t>subset – which rows of the data set to include (vector of </a:t>
            </a:r>
            <a:r>
              <a:rPr lang="en-US" altLang="en-US" sz="2000" dirty="0" err="1"/>
              <a:t>boolean</a:t>
            </a:r>
            <a:r>
              <a:rPr lang="en-US" altLang="en-US" sz="2000" dirty="0"/>
              <a:t>)</a:t>
            </a:r>
          </a:p>
          <a:p>
            <a:pPr eaLnBrk="1" hangingPunct="1">
              <a:lnSpc>
                <a:spcPct val="80000"/>
              </a:lnSpc>
              <a:defRPr/>
            </a:pPr>
            <a:r>
              <a:rPr lang="en-US" altLang="en-US" sz="2000" b="1" dirty="0"/>
              <a:t>method – ML or REML</a:t>
            </a:r>
          </a:p>
          <a:p>
            <a:pPr eaLnBrk="1" hangingPunct="1">
              <a:lnSpc>
                <a:spcPct val="80000"/>
              </a:lnSpc>
              <a:defRPr/>
            </a:pPr>
            <a:r>
              <a:rPr lang="en-US" altLang="en-US" sz="2000" dirty="0"/>
              <a:t>control – optional control specifications (some of these are pretty useful).</a:t>
            </a:r>
          </a:p>
          <a:p>
            <a:pPr eaLnBrk="1" hangingPunct="1">
              <a:lnSpc>
                <a:spcPct val="80000"/>
              </a:lnSpc>
              <a:buFont typeface="Wingdings" charset="2"/>
              <a:buNone/>
              <a:defRPr/>
            </a:pPr>
            <a:endParaRPr lang="en-US" altLang="en-US" sz="20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752600" y="1400176"/>
            <a:ext cx="8534400" cy="4391025"/>
          </a:xfrm>
        </p:spPr>
        <p:txBody>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is biased (it has 1/n rather than 1/n-1)</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algn="ctr" eaLnBrk="1" hangingPunct="1">
              <a:defRPr/>
            </a:pPr>
            <a:r>
              <a:rPr lang="en-US" altLang="en-US" sz="4000"/>
              <a:t>Linear Mixed Models </a:t>
            </a:r>
            <a:br>
              <a:rPr lang="en-US" altLang="en-US" sz="4000"/>
            </a:br>
            <a:r>
              <a:rPr lang="en-US" altLang="en-US" sz="4000"/>
              <a:t>(Understanding the output)</a:t>
            </a:r>
          </a:p>
        </p:txBody>
      </p:sp>
      <p:sp>
        <p:nvSpPr>
          <p:cNvPr id="47107" name="Rectangle 3"/>
          <p:cNvSpPr>
            <a:spLocks noGrp="1" noChangeArrowheads="1"/>
          </p:cNvSpPr>
          <p:nvPr>
            <p:ph type="body" idx="1"/>
          </p:nvPr>
        </p:nvSpPr>
        <p:spPr>
          <a:xfrm>
            <a:off x="2743200" y="1981200"/>
            <a:ext cx="7772400" cy="4114800"/>
          </a:xfrm>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Streams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133.7973 136.2969 -63.89865</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Stream</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15.78877 6.083881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Density ~ 1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78.62872   6.60332 12 11.90745  0</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-1.670431 -0.8239512 0.1256738 0.5295573 1.298799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18</a:t>
            </a:r>
          </a:p>
          <a:p>
            <a:pPr eaLnBrk="1" hangingPunct="1">
              <a:lnSpc>
                <a:spcPct val="80000"/>
              </a:lnSpc>
              <a:buFont typeface="Wingdings" charset="2"/>
              <a:buNone/>
              <a:defRPr/>
            </a:pPr>
            <a:r>
              <a:rPr lang="en-US" altLang="en-US" sz="1400" dirty="0"/>
              <a:t>Number of Groups: 6 </a:t>
            </a:r>
          </a:p>
          <a:p>
            <a:pPr eaLnBrk="1" hangingPunct="1">
              <a:lnSpc>
                <a:spcPct val="80000"/>
              </a:lnSpc>
              <a:defRPr/>
            </a:pPr>
            <a:endParaRPr lang="en-US" altLang="en-US" sz="1400" dirty="0"/>
          </a:p>
        </p:txBody>
      </p:sp>
      <p:sp>
        <p:nvSpPr>
          <p:cNvPr id="2" name="Text Box 4"/>
          <p:cNvSpPr txBox="1">
            <a:spLocks noChangeArrowheads="1"/>
          </p:cNvSpPr>
          <p:nvPr/>
        </p:nvSpPr>
        <p:spPr bwMode="auto">
          <a:xfrm>
            <a:off x="6915151" y="190500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4706" y="2888900"/>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5410200" y="2286000"/>
            <a:ext cx="14478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3515831" y="3117499"/>
            <a:ext cx="22860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4105820" y="3733798"/>
            <a:ext cx="1676400" cy="304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799203" y="4609761"/>
            <a:ext cx="1981200" cy="762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524000" y="1752600"/>
            <a:ext cx="9532776" cy="4114800"/>
          </a:xfrm>
        </p:spPr>
        <p:txBody>
          <a:bodyPr/>
          <a:lstStyle/>
          <a:p>
            <a:pPr eaLnBrk="1" hangingPunct="1">
              <a:defRPr/>
            </a:pPr>
            <a:r>
              <a:rPr lang="en-US" altLang="en-US" dirty="0"/>
              <a:t>Typically we will have cases in which there are some known sources of variability (the random effects) and some factors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r>
              <a:rPr lang="en-US" altLang="en-US" sz="2000" dirty="0"/>
              <a:t>Modeling decision – do we care about estimate for each individual fish? Not at all. So let’s let intercept be random</a:t>
            </a:r>
          </a:p>
          <a:p>
            <a:pPr lvl="1" eaLnBrk="1" hangingPunct="1">
              <a:defRPr/>
            </a:pPr>
            <a:endParaRPr lang="en-US" altLang="en-US" sz="2000" dirty="0"/>
          </a:p>
          <a:p>
            <a:pPr lvl="1" eaLnBrk="1" hangingPunct="1">
              <a:defRPr/>
            </a:pPr>
            <a:r>
              <a:rPr lang="en-US" altLang="en-US" sz="1600" dirty="0" err="1"/>
              <a:t>lme</a:t>
            </a:r>
            <a:r>
              <a:rPr lang="en-US" altLang="en-US" sz="1600" dirty="0"/>
              <a:t>(</a:t>
            </a:r>
            <a:r>
              <a:rPr lang="en-US" altLang="en-US" sz="1600" dirty="0" err="1"/>
              <a:t>Weight~Length,data</a:t>
            </a:r>
            <a:r>
              <a:rPr lang="en-US" altLang="en-US" sz="1600" dirty="0"/>
              <a:t>=</a:t>
            </a:r>
            <a:r>
              <a:rPr lang="en-US" altLang="en-US" sz="1600" dirty="0" err="1"/>
              <a:t>LenW,random</a:t>
            </a:r>
            <a:r>
              <a:rPr lang="en-US" altLang="en-US" sz="1600" dirty="0"/>
              <a:t> = ~1 |</a:t>
            </a:r>
            <a:r>
              <a:rPr lang="en-US" altLang="en-US" sz="1600" dirty="0" err="1"/>
              <a:t>Subject,method</a:t>
            </a:r>
            <a:r>
              <a:rPr lang="en-US" altLang="en-US" sz="1600" dirty="0"/>
              <a:t>="REML") </a:t>
            </a:r>
          </a:p>
          <a:p>
            <a:pPr lvl="2" eaLnBrk="1" hangingPunct="1">
              <a:buFont typeface="Wingdings" charset="2"/>
              <a:buNone/>
              <a:defRPr/>
            </a:pPr>
            <a:r>
              <a:rPr lang="en-US" altLang="en-US" sz="1400" dirty="0"/>
              <a:t> 	</a:t>
            </a:r>
          </a:p>
        </p:txBody>
      </p:sp>
      <p:graphicFrame>
        <p:nvGraphicFramePr>
          <p:cNvPr id="2" name="Object 4"/>
          <p:cNvGraphicFramePr>
            <a:graphicFrameLocks noGrp="1" noChangeAspect="1"/>
          </p:cNvGraphicFramePr>
          <p:nvPr>
            <p:ph sz="half" idx="2"/>
            <p:extLst>
              <p:ext uri="{D42A27DB-BD31-4B8C-83A1-F6EECF244321}">
                <p14:modId xmlns:p14="http://schemas.microsoft.com/office/powerpoint/2010/main" val="1391779649"/>
              </p:ext>
            </p:extLst>
          </p:nvPr>
        </p:nvGraphicFramePr>
        <p:xfrm>
          <a:off x="3252788" y="2678114"/>
          <a:ext cx="5815012" cy="623887"/>
        </p:xfrm>
        <a:graphic>
          <a:graphicData uri="http://schemas.openxmlformats.org/presentationml/2006/ole">
            <mc:AlternateContent xmlns:mc="http://schemas.openxmlformats.org/markup-compatibility/2006">
              <mc:Choice xmlns:v="urn:schemas-microsoft-com:vml" Requires="v">
                <p:oleObj name="Equation" r:id="rId3" imgW="2247900" imgH="241300" progId="Equation.DSMT4">
                  <p:embed/>
                </p:oleObj>
              </mc:Choice>
              <mc:Fallback>
                <p:oleObj name="Equation" r:id="rId3" imgW="2247900" imgH="2413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52788" y="2678114"/>
                        <a:ext cx="5815012" cy="6238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sp>
        <p:nvSpPr>
          <p:cNvPr id="57347" name="Rectangle 3"/>
          <p:cNvSpPr>
            <a:spLocks noGrp="1" noChangeArrowheads="1"/>
          </p:cNvSpPr>
          <p:nvPr>
            <p:ph type="body" idx="1"/>
          </p:nvPr>
        </p:nvSpPr>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a:t>
            </a:r>
            <a:r>
              <a:rPr lang="en-US" altLang="en-US" sz="1400" dirty="0" err="1"/>
              <a:t>LenW</a:t>
            </a:r>
            <a:r>
              <a:rPr lang="en-US" altLang="en-US" sz="1400" dirty="0"/>
              <a:t>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6.72662 17.06649 0.63669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Subject</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0.2113517 0.205754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Weight ~ Length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-0.026674 0.09560888 89   -0.2790  0.7809</a:t>
            </a:r>
          </a:p>
          <a:p>
            <a:pPr eaLnBrk="1" hangingPunct="1">
              <a:lnSpc>
                <a:spcPct val="80000"/>
              </a:lnSpc>
              <a:buFont typeface="Wingdings" charset="2"/>
              <a:buNone/>
              <a:defRPr/>
            </a:pPr>
            <a:r>
              <a:rPr lang="en-US" altLang="en-US" sz="1400" dirty="0"/>
              <a:t>     Length  3.017151 0.02958709 89  101.9753  &lt;.0001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-2.419116 -0.5799786 -0.05204277 0.5719096 2.320844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100</a:t>
            </a:r>
          </a:p>
          <a:p>
            <a:pPr eaLnBrk="1" hangingPunct="1">
              <a:lnSpc>
                <a:spcPct val="80000"/>
              </a:lnSpc>
              <a:buFont typeface="Wingdings" charset="2"/>
              <a:buNone/>
              <a:defRPr/>
            </a:pPr>
            <a:r>
              <a:rPr lang="en-US" altLang="en-US" sz="1400" dirty="0"/>
              <a:t>Number of Groups: 10 </a:t>
            </a:r>
          </a:p>
          <a:p>
            <a:pPr eaLnBrk="1" hangingPunct="1">
              <a:lnSpc>
                <a:spcPct val="80000"/>
              </a:lnSpc>
              <a:defRPr/>
            </a:pPr>
            <a:endParaRPr lang="en-US" altLang="en-US" sz="1400" dirty="0"/>
          </a:p>
        </p:txBody>
      </p:sp>
    </p:spTree>
    <p:extLst>
      <p:ext uri="{BB962C8B-B14F-4D97-AF65-F5344CB8AC3E}">
        <p14:creationId xmlns:p14="http://schemas.microsoft.com/office/powerpoint/2010/main" val="105664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If you use REML estimation, you can only compare models with the same fixed-effects structure.</a:t>
            </a:r>
          </a:p>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4800600"/>
          </a:xfrm>
        </p:spPr>
        <p:txBody>
          <a:bodyPr/>
          <a:lstStyle/>
          <a:p>
            <a:pPr eaLnBrk="1" hangingPunct="1">
              <a:defRPr/>
            </a:pPr>
            <a:r>
              <a:rPr lang="en-US" altLang="en-US" dirty="0"/>
              <a:t>LOTS OF UNANSWERED QUESTIONS! ESPECIALLY FOR NON-NORMAL RESIDUALS, NONLINEAR MODELS, AND MODEL SELECTION!</a:t>
            </a:r>
          </a:p>
          <a:p>
            <a:pPr eaLnBrk="1" hangingPunct="1">
              <a:defRPr/>
            </a:pPr>
            <a:r>
              <a:rPr lang="en-US" altLang="en-US" dirty="0"/>
              <a:t>Let’s let Ben </a:t>
            </a:r>
            <a:r>
              <a:rPr lang="en-US" altLang="en-US" dirty="0" err="1"/>
              <a:t>Bolker</a:t>
            </a:r>
            <a:r>
              <a:rPr lang="en-US" altLang="en-US" dirty="0"/>
              <a:t> help us:</a:t>
            </a:r>
          </a:p>
          <a:p>
            <a:pPr eaLnBrk="1" hangingPunct="1">
              <a:defRPr/>
            </a:pPr>
            <a:endParaRPr lang="en-US" altLang="en-US" dirty="0"/>
          </a:p>
          <a:p>
            <a:pPr eaLnBrk="1" hangingPunct="1">
              <a:defRPr/>
            </a:pPr>
            <a:endParaRPr lang="en-US" altLang="en-US" dirty="0"/>
          </a:p>
          <a:p>
            <a:pPr eaLnBrk="1" hangingPunct="1">
              <a:buFont typeface="Wingdings" charset="2"/>
              <a:buNone/>
              <a:defRPr/>
            </a:pPr>
            <a:endParaRPr lang="en-US" altLang="en-US" dirty="0"/>
          </a:p>
        </p:txBody>
      </p:sp>
      <p:sp>
        <p:nvSpPr>
          <p:cNvPr id="2" name="TextBox 1"/>
          <p:cNvSpPr txBox="1">
            <a:spLocks noChangeArrowheads="1"/>
          </p:cNvSpPr>
          <p:nvPr/>
        </p:nvSpPr>
        <p:spPr bwMode="auto">
          <a:xfrm>
            <a:off x="1900239" y="4419601"/>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variation among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853797"/>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a:t>
            </a:r>
          </a:p>
        </p:txBody>
      </p:sp>
      <p:pic>
        <p:nvPicPr>
          <p:cNvPr id="71683"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and length</a:t>
            </a:r>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524435" y="1038411"/>
            <a:ext cx="11080377"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Inappropriate use of random effects with unbalanced designs + shrinkage can lead to incorrect conclusions. </a:t>
            </a:r>
          </a:p>
        </p:txBody>
      </p:sp>
      <p:pic>
        <p:nvPicPr>
          <p:cNvPr id="74756" name="Picture 4" descr="Schematic of shrinkage: the fitted line for species 1 (blue, three data points) is pulled toward the black species-level mean line rather than fitting its own points, illustrating borrowing strengt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2000" dirty="0"/>
              <a:t>Model 8 (</a:t>
            </a:r>
            <a:r>
              <a:rPr lang="en-US" altLang="en-US" sz="2000" dirty="0" err="1"/>
              <a:t>AICc</a:t>
            </a:r>
            <a:r>
              <a:rPr lang="en-US" altLang="en-US" sz="2000" dirty="0"/>
              <a:t>=36.3) and Model 2 (</a:t>
            </a:r>
            <a:r>
              <a:rPr lang="en-US" altLang="en-US" sz="2000" dirty="0" err="1"/>
              <a:t>AICc</a:t>
            </a:r>
            <a:r>
              <a:rPr lang="en-US" altLang="en-US" sz="2000" dirty="0"/>
              <a:t>=39.6) much lower than others </a:t>
            </a:r>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nter image description here"/>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nter image description here"/>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r>
              <a:rPr lang="en-US" sz="2800" b="1" dirty="0"/>
              <a:t>SAME RESULTS</a:t>
            </a:r>
          </a:p>
          <a:p>
            <a:pPr algn="ctr"/>
            <a:r>
              <a:rPr lang="en-US" sz="2800" b="1" dirty="0"/>
              <a:t>Both nested due to labelling</a:t>
            </a: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1905000"/>
            <a:ext cx="9652000" cy="3429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White stork: Is breeding success affected by weather conditions?</a:t>
            </a:r>
          </a:p>
        </p:txBody>
      </p:sp>
      <p:sp>
        <p:nvSpPr>
          <p:cNvPr id="902" name="CodeTxt"/>
          <p:cNvSpPr/>
          <p:nvPr/>
        </p:nvSpPr>
        <p:spPr>
          <a:xfrm>
            <a:off x="736600" y="2057400"/>
            <a:ext cx="11176000" cy="3175000"/>
          </a:xfrm>
          <a:prstGeom prst="rect">
            <a:avLst/>
          </a:prstGeom>
          <a:noFill/>
        </p:spPr>
        <p:txBody>
          <a:bodyPr wrap="none" lIns="0" tIns="0" rIns="0" bIns="0" anchor="t"/>
          <a:lstStyle/>
          <a:p>
            <a:pPr algn="l">
              <a:lnSpc>
                <a:spcPts val="2250"/>
              </a:lnSpc>
            </a:pPr>
            <a:r>
              <a:rPr lang="en-US" sz="1800" dirty="0">
                <a:solidFill>
                  <a:srgbClr val="25373C"/>
                </a:solidFill>
                <a:latin typeface="Consolas"/>
                <a:cs typeface="Consolas"/>
              </a:rPr>
              <a:t>nbchicks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105</a:t>
            </a:r>
            <a:r>
              <a:rPr lang="en-US" sz="1800" dirty="0">
                <a:solidFill>
                  <a:srgbClr val="25373C"/>
                </a:solidFill>
                <a:latin typeface="Consolas"/>
                <a:cs typeface="Consolas"/>
              </a:rPr>
              <a:t>,</a:t>
            </a:r>
            <a:r>
              <a:rPr lang="en-US" sz="1800" dirty="0">
                <a:solidFill>
                  <a:srgbClr val="2B4C9E"/>
                </a:solidFill>
                <a:latin typeface="Consolas"/>
                <a:cs typeface="Consolas"/>
              </a:rPr>
              <a:t>73</a:t>
            </a:r>
            <a:r>
              <a:rPr lang="en-US" sz="1800" dirty="0">
                <a:solidFill>
                  <a:srgbClr val="25373C"/>
                </a:solidFill>
                <a:latin typeface="Consolas"/>
                <a:cs typeface="Consolas"/>
              </a:rPr>
              <a:t>,</a:t>
            </a:r>
            <a:r>
              <a:rPr lang="en-US" sz="1800" dirty="0">
                <a:solidFill>
                  <a:srgbClr val="2B4C9E"/>
                </a:solidFill>
                <a:latin typeface="Consolas"/>
                <a:cs typeface="Consolas"/>
              </a:rPr>
              <a:t>107</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r>
              <a:rPr lang="en-US" sz="1800" dirty="0">
                <a:solidFill>
                  <a:srgbClr val="2B4C9E"/>
                </a:solidFill>
                <a:latin typeface="Consolas"/>
                <a:cs typeface="Consolas"/>
              </a:rPr>
              <a:t>77</a:t>
            </a:r>
            <a:r>
              <a:rPr lang="en-US" sz="1800" dirty="0">
                <a:solidFill>
                  <a:srgbClr val="25373C"/>
                </a:solidFill>
                <a:latin typeface="Consolas"/>
                <a:cs typeface="Consolas"/>
              </a:rPr>
              <a:t>,</a:t>
            </a:r>
            <a:r>
              <a:rPr lang="en-US" sz="1800" dirty="0">
                <a:solidFill>
                  <a:srgbClr val="2B4C9E"/>
                </a:solidFill>
                <a:latin typeface="Consolas"/>
                <a:cs typeface="Consolas"/>
              </a:rPr>
              <a:t>108</a:t>
            </a:r>
            <a:r>
              <a:rPr lang="en-US" sz="1800" dirty="0">
                <a:solidFill>
                  <a:srgbClr val="25373C"/>
                </a:solidFill>
                <a:latin typeface="Consolas"/>
                <a:cs typeface="Consolas"/>
              </a:rPr>
              <a:t>,</a:t>
            </a:r>
            <a:r>
              <a:rPr lang="en-US" sz="1800" dirty="0">
                <a:solidFill>
                  <a:srgbClr val="2B4C9E"/>
                </a:solidFill>
                <a:latin typeface="Consolas"/>
                <a:cs typeface="Consolas"/>
              </a:rPr>
              <a:t>118</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120</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89</a:t>
            </a:r>
            <a:r>
              <a:rPr lang="en-US" sz="1800" dirty="0">
                <a:solidFill>
                  <a:srgbClr val="25373C"/>
                </a:solidFill>
                <a:latin typeface="Consolas"/>
                <a:cs typeface="Consolas"/>
              </a:rPr>
              <a:t>,</a:t>
            </a:r>
            <a:r>
              <a:rPr lang="en-US" sz="1800" dirty="0">
                <a:solidFill>
                  <a:srgbClr val="2B4C9E"/>
                </a:solidFill>
                <a:latin typeface="Consolas"/>
                <a:cs typeface="Consolas"/>
              </a:rPr>
              <a:t>69</a:t>
            </a:r>
            <a:r>
              <a:rPr lang="en-US" sz="1800" dirty="0">
                <a:solidFill>
                  <a:srgbClr val="25373C"/>
                </a:solidFill>
                <a:latin typeface="Consolas"/>
                <a:cs typeface="Consolas"/>
              </a:rPr>
              <a:t>,</a:t>
            </a:r>
            <a:r>
              <a:rPr lang="en-US" sz="1800" dirty="0">
                <a:solidFill>
                  <a:srgbClr val="2B4C9E"/>
                </a:solidFill>
                <a:latin typeface="Consolas"/>
                <a:cs typeface="Consolas"/>
              </a:rPr>
              <a:t>71</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41</a:t>
            </a:r>
            <a:r>
              <a:rPr lang="en-US" sz="1800" dirty="0">
                <a:solidFill>
                  <a:srgbClr val="25373C"/>
                </a:solidFill>
                <a:latin typeface="Consolas"/>
                <a:cs typeface="Consolas"/>
              </a:rPr>
              <a:t>,</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31</a:t>
            </a:r>
            <a:r>
              <a:rPr lang="en-US" sz="1800" dirty="0">
                <a:solidFill>
                  <a:srgbClr val="25373C"/>
                </a:solidFill>
                <a:latin typeface="Consolas"/>
                <a:cs typeface="Consolas"/>
              </a:rPr>
              <a:t>,</a:t>
            </a:r>
            <a:r>
              <a:rPr lang="en-US" sz="1800" dirty="0">
                <a:solidFill>
                  <a:srgbClr val="2B4C9E"/>
                </a:solidFill>
                <a:latin typeface="Consolas"/>
                <a:cs typeface="Consolas"/>
              </a:rPr>
              <a:t>35</a:t>
            </a:r>
            <a:r>
              <a:rPr lang="en-US" sz="1800" dirty="0">
                <a:solidFill>
                  <a:srgbClr val="25373C"/>
                </a:solidFill>
                <a:latin typeface="Consolas"/>
                <a:cs typeface="Consolas"/>
              </a:rPr>
              <a:t>,</a:t>
            </a:r>
            <a:r>
              <a:rPr lang="en-US" sz="1800" dirty="0">
                <a:solidFill>
                  <a:srgbClr val="2B4C9E"/>
                </a:solidFill>
                <a:latin typeface="Consolas"/>
                <a:cs typeface="Consolas"/>
              </a:rPr>
              <a:t>14</a:t>
            </a:r>
            <a:r>
              <a:rPr lang="en-US" sz="1800" dirty="0">
                <a:solidFill>
                  <a:srgbClr val="25373C"/>
                </a:solidFill>
                <a:latin typeface="Consolas"/>
                <a:cs typeface="Consolas"/>
              </a:rPr>
              <a:t>,</a:t>
            </a:r>
            <a:r>
              <a:rPr lang="en-US" sz="1800" dirty="0">
                <a:solidFill>
                  <a:srgbClr val="2B4C9E"/>
                </a:solidFill>
                <a:latin typeface="Consolas"/>
                <a:cs typeface="Consolas"/>
              </a:rPr>
              <a:t>18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nbpairs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173</a:t>
            </a:r>
            <a:r>
              <a:rPr lang="en-US" sz="1800" dirty="0">
                <a:solidFill>
                  <a:srgbClr val="25373C"/>
                </a:solidFill>
                <a:latin typeface="Consolas"/>
                <a:cs typeface="Consolas"/>
              </a:rPr>
              <a:t>,</a:t>
            </a:r>
            <a:r>
              <a:rPr lang="en-US" sz="1800" dirty="0">
                <a:solidFill>
                  <a:srgbClr val="2B4C9E"/>
                </a:solidFill>
                <a:latin typeface="Consolas"/>
                <a:cs typeface="Consolas"/>
              </a:rPr>
              <a:t>164</a:t>
            </a:r>
            <a:r>
              <a:rPr lang="en-US" sz="1800" dirty="0">
                <a:solidFill>
                  <a:srgbClr val="25373C"/>
                </a:solidFill>
                <a:latin typeface="Consolas"/>
                <a:cs typeface="Consolas"/>
              </a:rPr>
              <a:t>,</a:t>
            </a:r>
            <a:r>
              <a:rPr lang="en-US" sz="1800" dirty="0">
                <a:solidFill>
                  <a:srgbClr val="2B4C9E"/>
                </a:solidFill>
                <a:latin typeface="Consolas"/>
                <a:cs typeface="Consolas"/>
              </a:rPr>
              <a:t>103</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98</a:t>
            </a:r>
            <a:r>
              <a:rPr lang="en-US" sz="1800" dirty="0">
                <a:solidFill>
                  <a:srgbClr val="25373C"/>
                </a:solidFill>
                <a:latin typeface="Consolas"/>
                <a:cs typeface="Consolas"/>
              </a:rPr>
              <a:t>,</a:t>
            </a:r>
            <a:r>
              <a:rPr lang="en-US" sz="1800" dirty="0">
                <a:solidFill>
                  <a:srgbClr val="2B4C9E"/>
                </a:solidFill>
                <a:latin typeface="Consolas"/>
                <a:cs typeface="Consolas"/>
              </a:rPr>
              <a:t>121</a:t>
            </a:r>
            <a:r>
              <a:rPr lang="en-US" sz="1800" dirty="0">
                <a:solidFill>
                  <a:srgbClr val="25373C"/>
                </a:solidFill>
                <a:latin typeface="Consolas"/>
                <a:cs typeface="Consolas"/>
              </a:rPr>
              <a:t>,</a:t>
            </a:r>
            <a:r>
              <a:rPr lang="en-US" sz="1800" dirty="0">
                <a:solidFill>
                  <a:srgbClr val="2B4C9E"/>
                </a:solidFill>
                <a:latin typeface="Consolas"/>
                <a:cs typeface="Consolas"/>
              </a:rPr>
              <a:t>132</a:t>
            </a:r>
            <a:r>
              <a:rPr lang="en-US" sz="1800" dirty="0">
                <a:solidFill>
                  <a:srgbClr val="25373C"/>
                </a:solidFill>
                <a:latin typeface="Consolas"/>
                <a:cs typeface="Consolas"/>
              </a:rPr>
              <a:t>,</a:t>
            </a:r>
            <a:r>
              <a:rPr lang="en-US" sz="1800" dirty="0">
                <a:solidFill>
                  <a:srgbClr val="2B4C9E"/>
                </a:solidFill>
                <a:latin typeface="Consolas"/>
                <a:cs typeface="Consolas"/>
              </a:rPr>
              <a:t>136</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137</a:t>
            </a:r>
            <a:r>
              <a:rPr lang="en-US" sz="1800" dirty="0">
                <a:solidFill>
                  <a:srgbClr val="25373C"/>
                </a:solidFill>
                <a:latin typeface="Consolas"/>
                <a:cs typeface="Consolas"/>
              </a:rPr>
              <a:t>,</a:t>
            </a:r>
            <a:r>
              <a:rPr lang="en-US" sz="1800" dirty="0">
                <a:solidFill>
                  <a:srgbClr val="2B4C9E"/>
                </a:solidFill>
                <a:latin typeface="Consolas"/>
                <a:cs typeface="Consolas"/>
              </a:rPr>
              <a:t>145</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90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80</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54</a:t>
            </a:r>
            <a:r>
              <a:rPr lang="en-US" sz="1800" dirty="0">
                <a:solidFill>
                  <a:srgbClr val="25373C"/>
                </a:solidFill>
                <a:latin typeface="Consolas"/>
                <a:cs typeface="Consolas"/>
              </a:rPr>
              <a:t>,</a:t>
            </a:r>
            <a:r>
              <a:rPr lang="en-US" sz="1800" dirty="0">
                <a:solidFill>
                  <a:srgbClr val="2B4C9E"/>
                </a:solidFill>
                <a:latin typeface="Consolas"/>
                <a:cs typeface="Consolas"/>
              </a:rPr>
              <a:t>58</a:t>
            </a:r>
            <a:r>
              <a:rPr lang="en-US" sz="1800" dirty="0">
                <a:solidFill>
                  <a:srgbClr val="25373C"/>
                </a:solidFill>
                <a:latin typeface="Consolas"/>
                <a:cs typeface="Consolas"/>
              </a:rPr>
              <a:t>,</a:t>
            </a:r>
            <a:r>
              <a:rPr lang="en-US" sz="1800" dirty="0">
                <a:solidFill>
                  <a:srgbClr val="2B4C9E"/>
                </a:solidFill>
                <a:latin typeface="Consolas"/>
                <a:cs typeface="Consolas"/>
              </a:rPr>
              <a:t>39</a:t>
            </a:r>
            <a:r>
              <a:rPr lang="en-US" sz="1800" dirty="0">
                <a:solidFill>
                  <a:srgbClr val="25373C"/>
                </a:solidFill>
                <a:latin typeface="Consolas"/>
                <a:cs typeface="Consolas"/>
              </a:rPr>
              <a:t>,</a:t>
            </a:r>
            <a:r>
              <a:rPr lang="en-US" sz="1800" dirty="0">
                <a:solidFill>
                  <a:srgbClr val="2B4C9E"/>
                </a:solidFill>
                <a:latin typeface="Consolas"/>
                <a:cs typeface="Consolas"/>
              </a:rPr>
              <a:t>42</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temp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14.6</a:t>
            </a:r>
            <a:r>
              <a:rPr lang="en-US" sz="1800" dirty="0">
                <a:solidFill>
                  <a:srgbClr val="25373C"/>
                </a:solidFill>
                <a:latin typeface="Consolas"/>
                <a:cs typeface="Consolas"/>
              </a:rPr>
              <a:t>,</a:t>
            </a:r>
            <a:r>
              <a:rPr lang="en-US" sz="1800" dirty="0">
                <a:solidFill>
                  <a:srgbClr val="2B4C9E"/>
                </a:solidFill>
                <a:latin typeface="Consolas"/>
                <a:cs typeface="Consolas"/>
              </a:rPr>
              <a:t>15.6</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15.0</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14.4</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14.4</a:t>
            </a:r>
            <a:r>
              <a:rPr lang="en-US" sz="1800" dirty="0">
                <a:solidFill>
                  <a:srgbClr val="25373C"/>
                </a:solidFill>
                <a:latin typeface="Consolas"/>
                <a:cs typeface="Consolas"/>
              </a:rPr>
              <a:t>,</a:t>
            </a:r>
            <a:r>
              <a:rPr lang="en-US" sz="1800" dirty="0">
                <a:solidFill>
                  <a:srgbClr val="2B4C9E"/>
                </a:solidFill>
                <a:latin typeface="Consolas"/>
                <a:cs typeface="Consolas"/>
              </a:rPr>
              <a:t>12.7</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11.9</a:t>
            </a:r>
            <a:r>
              <a:rPr lang="en-US" sz="1800" dirty="0">
                <a:solidFill>
                  <a:srgbClr val="25373C"/>
                </a:solidFill>
                <a:latin typeface="Consolas"/>
                <a:cs typeface="Consolas"/>
              </a:rPr>
              <a:t>,</a:t>
            </a:r>
            <a:r>
              <a:rPr lang="en-US" sz="1800" dirty="0">
                <a:solidFill>
                  <a:srgbClr val="2B4C9E"/>
                </a:solidFill>
                <a:latin typeface="Consolas"/>
                <a:cs typeface="Consolas"/>
              </a:rPr>
              <a:t>15.9</a:t>
            </a:r>
            <a:r>
              <a:rPr lang="en-US" sz="1800" dirty="0">
                <a:solidFill>
                  <a:srgbClr val="25373C"/>
                </a:solidFill>
                <a:latin typeface="Consolas"/>
                <a:cs typeface="Consolas"/>
              </a:rPr>
              <a:t>,</a:t>
            </a:r>
            <a:r>
              <a:rPr lang="en-US" sz="1800" dirty="0">
                <a:solidFill>
                  <a:srgbClr val="2B4C9E"/>
                </a:solidFill>
                <a:latin typeface="Consolas"/>
                <a:cs typeface="Consolas"/>
              </a:rPr>
              <a:t>13.4</a:t>
            </a:r>
            <a:r>
              <a:rPr lang="en-US" sz="1800" dirty="0">
                <a:solidFill>
                  <a:srgbClr val="25373C"/>
                </a:solidFill>
                <a:latin typeface="Consolas"/>
                <a:cs typeface="Consolas"/>
              </a:rPr>
              <a:t>,</a:t>
            </a:r>
            <a:r>
              <a:rPr lang="en-US" sz="1800" dirty="0">
                <a:solidFill>
                  <a:srgbClr val="2B4C9E"/>
                </a:solidFill>
                <a:latin typeface="Consolas"/>
                <a:cs typeface="Consolas"/>
              </a:rPr>
              <a:t>14.0</a:t>
            </a:r>
            <a:r>
              <a:rPr lang="en-US" sz="1800" dirty="0">
                <a:solidFill>
                  <a:srgbClr val="25373C"/>
                </a:solidFill>
                <a:latin typeface="Consolas"/>
                <a:cs typeface="Consolas"/>
              </a:rPr>
              <a:t>,</a:t>
            </a:r>
            <a:r>
              <a:rPr lang="en-US" sz="1800" dirty="0">
                <a:solidFill>
                  <a:srgbClr val="2B4C9E"/>
                </a:solidFill>
                <a:latin typeface="Consolas"/>
                <a:cs typeface="Consolas"/>
              </a:rPr>
              <a:t>13.9</a:t>
            </a:r>
            <a:r>
              <a:rPr lang="en-US" sz="1800" dirty="0">
                <a:solidFill>
                  <a:srgbClr val="25373C"/>
                </a:solidFill>
                <a:latin typeface="Consolas"/>
                <a:cs typeface="Consolas"/>
              </a:rPr>
              <a:t>,</a:t>
            </a:r>
            <a:r>
              <a:rPr lang="en-US" sz="1800" dirty="0">
                <a:solidFill>
                  <a:srgbClr val="2B4C9E"/>
                </a:solidFill>
                <a:latin typeface="Consolas"/>
                <a:cs typeface="Consolas"/>
              </a:rPr>
              <a:t>12.9</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rainfall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52</a:t>
            </a:r>
            <a:r>
              <a:rPr lang="en-US" sz="1800" dirty="0">
                <a:solidFill>
                  <a:srgbClr val="25373C"/>
                </a:solidFill>
                <a:latin typeface="Consolas"/>
                <a:cs typeface="Consolas"/>
              </a:rPr>
              <a:t>,</a:t>
            </a:r>
            <a:r>
              <a:rPr lang="en-US" sz="1800" dirty="0">
                <a:solidFill>
                  <a:srgbClr val="2B4C9E"/>
                </a:solidFill>
                <a:latin typeface="Consolas"/>
                <a:cs typeface="Consolas"/>
              </a:rPr>
              <a:t>88</a:t>
            </a:r>
            <a:r>
              <a:rPr lang="en-US" sz="1800" dirty="0">
                <a:solidFill>
                  <a:srgbClr val="25373C"/>
                </a:solidFill>
                <a:latin typeface="Consolas"/>
                <a:cs typeface="Consolas"/>
              </a:rPr>
              <a:t>,</a:t>
            </a:r>
            <a:r>
              <a:rPr lang="en-US" sz="1800" dirty="0">
                <a:solidFill>
                  <a:srgbClr val="2B4C9E"/>
                </a:solidFill>
                <a:latin typeface="Consolas"/>
                <a:cs typeface="Consolas"/>
              </a:rPr>
              <a:t>61</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36</a:t>
            </a:r>
            <a:r>
              <a:rPr lang="en-US" sz="1800" dirty="0">
                <a:solidFill>
                  <a:srgbClr val="25373C"/>
                </a:solidFill>
                <a:latin typeface="Consolas"/>
                <a:cs typeface="Consolas"/>
              </a:rPr>
              <a:t>,</a:t>
            </a:r>
            <a:r>
              <a:rPr lang="en-US" sz="1800" dirty="0">
                <a:solidFill>
                  <a:srgbClr val="2B4C9E"/>
                </a:solidFill>
                <a:latin typeface="Consolas"/>
                <a:cs typeface="Consolas"/>
              </a:rPr>
              <a:t>72</a:t>
            </a:r>
            <a:r>
              <a:rPr lang="en-US" sz="1800" dirty="0">
                <a:solidFill>
                  <a:srgbClr val="25373C"/>
                </a:solidFill>
                <a:latin typeface="Consolas"/>
                <a:cs typeface="Consolas"/>
              </a:rPr>
              <a:t>,</a:t>
            </a:r>
            <a:r>
              <a:rPr lang="en-US" sz="1800" dirty="0">
                <a:solidFill>
                  <a:srgbClr val="2B4C9E"/>
                </a:solidFill>
                <a:latin typeface="Consolas"/>
                <a:cs typeface="Consolas"/>
              </a:rPr>
              <a:t>43</a:t>
            </a:r>
            <a:r>
              <a:rPr lang="en-US" sz="1800" dirty="0">
                <a:solidFill>
                  <a:srgbClr val="25373C"/>
                </a:solidFill>
                <a:latin typeface="Consolas"/>
                <a:cs typeface="Consolas"/>
              </a:rPr>
              <a:t>,</a:t>
            </a:r>
            <a:r>
              <a:rPr lang="en-US" sz="1800" dirty="0">
                <a:solidFill>
                  <a:srgbClr val="2B4C9E"/>
                </a:solidFill>
                <a:latin typeface="Consolas"/>
                <a:cs typeface="Consolas"/>
              </a:rPr>
              <a:t>92</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57</a:t>
            </a:r>
            <a:r>
              <a:rPr lang="en-US" sz="1800" dirty="0">
                <a:solidFill>
                  <a:srgbClr val="25373C"/>
                </a:solidFill>
                <a:latin typeface="Consolas"/>
                <a:cs typeface="Consolas"/>
              </a:rPr>
              <a:t>,</a:t>
            </a:r>
            <a:r>
              <a:rPr lang="en-US" sz="1800" dirty="0">
                <a:solidFill>
                  <a:srgbClr val="2B4C9E"/>
                </a:solidFill>
                <a:latin typeface="Consolas"/>
                <a:cs typeface="Consolas"/>
              </a:rPr>
              <a:t>55</a:t>
            </a:r>
            <a:r>
              <a:rPr lang="en-US" sz="1800" dirty="0">
                <a:solidFill>
                  <a:srgbClr val="25373C"/>
                </a:solidFill>
                <a:latin typeface="Consolas"/>
                <a:cs typeface="Consolas"/>
              </a:rPr>
              <a:t>,</a:t>
            </a:r>
            <a:r>
              <a:rPr lang="en-US" sz="1800" dirty="0">
                <a:solidFill>
                  <a:srgbClr val="2B4C9E"/>
                </a:solidFill>
                <a:latin typeface="Consolas"/>
                <a:cs typeface="Consolas"/>
              </a:rPr>
              <a:t>66</a:t>
            </a:r>
            <a:r>
              <a:rPr lang="en-US" sz="1800" dirty="0">
                <a:solidFill>
                  <a:srgbClr val="25373C"/>
                </a:solidFill>
                <a:latin typeface="Consolas"/>
                <a:cs typeface="Consolas"/>
              </a:rPr>
              <a:t>,</a:t>
            </a:r>
            <a:r>
              <a:rPr lang="en-US" sz="1800" dirty="0">
                <a:solidFill>
                  <a:srgbClr val="2B4C9E"/>
                </a:solidFill>
                <a:latin typeface="Consolas"/>
                <a:cs typeface="Consolas"/>
              </a:rPr>
              <a:t>26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96</a:t>
            </a:r>
            <a:r>
              <a:rPr lang="en-US" sz="1800" dirty="0">
                <a:solidFill>
                  <a:srgbClr val="25373C"/>
                </a:solidFill>
                <a:latin typeface="Consolas"/>
                <a:cs typeface="Consolas"/>
              </a:rPr>
              <a:t>,</a:t>
            </a:r>
            <a:r>
              <a:rPr lang="en-US" sz="1800" dirty="0">
                <a:solidFill>
                  <a:srgbClr val="2B4C9E"/>
                </a:solidFill>
                <a:latin typeface="Consolas"/>
                <a:cs typeface="Consolas"/>
              </a:rPr>
              <a:t>48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90</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78</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p>
          <a:p>
            <a:pPr algn="l">
              <a:lnSpc>
                <a:spcPts val="2250"/>
              </a:lnSpc>
            </a:pPr>
            <a:endParaRPr sz="1800" dirty="0"/>
          </a:p>
          <a:p>
            <a:pPr algn="l">
              <a:lnSpc>
                <a:spcPts val="2250"/>
              </a:lnSpc>
            </a:pPr>
            <a:r>
              <a:rPr lang="en-US" sz="1800" dirty="0">
                <a:solidFill>
                  <a:srgbClr val="25373C"/>
                </a:solidFill>
                <a:latin typeface="Consolas"/>
                <a:cs typeface="Consolas"/>
              </a:rPr>
              <a:t>year = </a:t>
            </a:r>
            <a:r>
              <a:rPr lang="en-US" sz="1800" dirty="0">
                <a:solidFill>
                  <a:srgbClr val="2B4C9E"/>
                </a:solidFill>
                <a:latin typeface="Consolas"/>
                <a:cs typeface="Consolas"/>
              </a:rPr>
              <a:t>seq</a:t>
            </a:r>
            <a:r>
              <a:rPr lang="en-US" sz="1800" dirty="0">
                <a:solidFill>
                  <a:srgbClr val="25373C"/>
                </a:solidFill>
                <a:latin typeface="Consolas"/>
                <a:cs typeface="Consolas"/>
              </a:rPr>
              <a:t>(</a:t>
            </a:r>
            <a:r>
              <a:rPr lang="en-US" sz="1800" dirty="0">
                <a:solidFill>
                  <a:srgbClr val="2B4C9E"/>
                </a:solidFill>
                <a:latin typeface="Consolas"/>
                <a:cs typeface="Consolas"/>
              </a:rPr>
              <a:t>1</a:t>
            </a:r>
            <a:r>
              <a:rPr lang="en-US" sz="1800" dirty="0">
                <a:solidFill>
                  <a:srgbClr val="25373C"/>
                </a:solidFill>
                <a:latin typeface="Consolas"/>
                <a:cs typeface="Consolas"/>
              </a:rPr>
              <a:t>,</a:t>
            </a:r>
            <a:r>
              <a:rPr lang="en-US" sz="1800" dirty="0">
                <a:solidFill>
                  <a:srgbClr val="2B4C9E"/>
                </a:solidFill>
                <a:latin typeface="Consolas"/>
                <a:cs typeface="Consolas"/>
              </a:rPr>
              <a:t>length</a:t>
            </a:r>
            <a:r>
              <a:rPr lang="en-US" sz="1800" dirty="0">
                <a:solidFill>
                  <a:srgbClr val="25373C"/>
                </a:solidFill>
                <a:latin typeface="Consolas"/>
                <a:cs typeface="Consolas"/>
              </a:rPr>
              <a:t>(nbchicks))</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286</a:t>
            </a:r>
          </a:p>
        </p:txBody>
      </p:sp>
    </p:spTree>
    <p:extLst>
      <p:ext uri="{BB962C8B-B14F-4D97-AF65-F5344CB8AC3E}">
        <p14:creationId xmlns:p14="http://schemas.microsoft.com/office/powerpoint/2010/main" val="3553683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0</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287</a:t>
            </a:r>
          </a:p>
        </p:txBody>
      </p:sp>
    </p:spTree>
    <p:extLst>
      <p:ext uri="{BB962C8B-B14F-4D97-AF65-F5344CB8AC3E}">
        <p14:creationId xmlns:p14="http://schemas.microsoft.com/office/powerpoint/2010/main" val="299763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
        <p:nvSpPr>
          <p:cNvPr id="901" name="CodeBg"/>
          <p:cNvSpPr/>
          <p:nvPr/>
        </p:nvSpPr>
        <p:spPr>
          <a:xfrm>
            <a:off x="533400" y="1752600"/>
            <a:ext cx="9271000" cy="2921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 in R</a:t>
            </a:r>
          </a:p>
        </p:txBody>
      </p:sp>
      <p:sp>
        <p:nvSpPr>
          <p:cNvPr id="902" name="CodeTxt"/>
          <p:cNvSpPr/>
          <p:nvPr/>
        </p:nvSpPr>
        <p:spPr>
          <a:xfrm>
            <a:off x="736600" y="1905000"/>
            <a:ext cx="10922000" cy="2667000"/>
          </a:xfrm>
          <a:prstGeom prst="rect">
            <a:avLst/>
          </a:prstGeom>
          <a:noFill/>
        </p:spPr>
        <p:txBody>
          <a:bodyPr wrap="none" lIns="0" tIns="0" rIns="0" bIns="0" anchor="t"/>
          <a:lstStyle/>
          <a:p>
            <a:pPr algn="l">
              <a:lnSpc>
                <a:spcPts val="2050"/>
              </a:lnSpc>
            </a:pPr>
            <a:r>
              <a:rPr lang="en-US" sz="1600" dirty="0">
                <a:solidFill>
                  <a:srgbClr val="25373C"/>
                </a:solidFill>
                <a:latin typeface="Consolas"/>
                <a:cs typeface="Consolas"/>
              </a:rPr>
              <a:t>stork_glm &lt;- </a:t>
            </a:r>
            <a:r>
              <a:rPr lang="en-US" sz="1600" dirty="0">
                <a:solidFill>
                  <a:srgbClr val="2B4C9E"/>
                </a:solidFill>
                <a:latin typeface="Consolas"/>
                <a:cs typeface="Consolas"/>
              </a:rPr>
              <a:t>glm</a:t>
            </a:r>
            <a:r>
              <a:rPr lang="en-US" sz="1600" dirty="0">
                <a:solidFill>
                  <a:srgbClr val="25373C"/>
                </a:solidFill>
                <a:latin typeface="Consolas"/>
                <a:cs typeface="Consolas"/>
              </a:rPr>
              <a:t>(</a:t>
            </a:r>
            <a:r>
              <a:rPr lang="en-US" sz="1600" dirty="0">
                <a:solidFill>
                  <a:srgbClr val="2B4C9E"/>
                </a:solidFill>
                <a:latin typeface="Consolas"/>
                <a:cs typeface="Consolas"/>
              </a:rPr>
              <a:t>cbind</a:t>
            </a:r>
            <a:r>
              <a:rPr lang="en-US" sz="1600" dirty="0">
                <a:solidFill>
                  <a:srgbClr val="25373C"/>
                </a:solidFill>
                <a:latin typeface="Consolas"/>
                <a:cs typeface="Consolas"/>
              </a:rPr>
              <a:t>(nbchicks,nbpairs</a:t>
            </a:r>
            <a:r>
              <a:rPr lang="en-US" sz="1600" dirty="0">
                <a:solidFill>
                  <a:srgbClr val="C1671E"/>
                </a:solidFill>
                <a:latin typeface="Consolas"/>
                <a:cs typeface="Consolas"/>
              </a:rPr>
              <a:t>-</a:t>
            </a:r>
            <a:r>
              <a:rPr lang="en-US" sz="1600" dirty="0">
                <a:solidFill>
                  <a:srgbClr val="25373C"/>
                </a:solidFill>
                <a:latin typeface="Consolas"/>
                <a:cs typeface="Consolas"/>
              </a:rPr>
              <a:t>nbchicks) </a:t>
            </a:r>
            <a:r>
              <a:rPr lang="en-US" sz="1600" dirty="0">
                <a:solidFill>
                  <a:srgbClr val="C1671E"/>
                </a:solidFill>
                <a:latin typeface="Consolas"/>
                <a:cs typeface="Consolas"/>
              </a:rPr>
              <a:t>~</a:t>
            </a:r>
            <a:r>
              <a:rPr lang="en-US" sz="1600" dirty="0">
                <a:solidFill>
                  <a:srgbClr val="25373C"/>
                </a:solidFill>
                <a:latin typeface="Consolas"/>
                <a:cs typeface="Consolas"/>
              </a:rPr>
              <a:t> temp </a:t>
            </a:r>
            <a:r>
              <a:rPr lang="en-US" sz="1600" dirty="0">
                <a:solidFill>
                  <a:srgbClr val="C1671E"/>
                </a:solidFill>
                <a:latin typeface="Consolas"/>
                <a:cs typeface="Consolas"/>
              </a:rPr>
              <a:t>+</a:t>
            </a:r>
            <a:r>
              <a:rPr lang="en-US" sz="1600" dirty="0">
                <a:solidFill>
                  <a:srgbClr val="25373C"/>
                </a:solidFill>
                <a:latin typeface="Consolas"/>
                <a:cs typeface="Consolas"/>
              </a:rPr>
              <a:t> rainfall,</a:t>
            </a:r>
          </a:p>
          <a:p>
            <a:pPr algn="l">
              <a:lnSpc>
                <a:spcPts val="2050"/>
              </a:lnSpc>
            </a:pPr>
            <a:r>
              <a:rPr lang="en-US" sz="1600" dirty="0">
                <a:solidFill>
                  <a:srgbClr val="25373C"/>
                </a:solidFill>
                <a:latin typeface="Consolas"/>
                <a:cs typeface="Consolas"/>
              </a:rPr>
              <a:t>                                                   </a:t>
            </a:r>
            <a:r>
              <a:rPr lang="en-US" sz="1600" dirty="0">
                <a:solidFill>
                  <a:srgbClr val="2B4C9E"/>
                </a:solidFill>
                <a:latin typeface="Consolas"/>
                <a:cs typeface="Consolas"/>
              </a:rPr>
              <a:t>family</a:t>
            </a:r>
            <a:r>
              <a:rPr lang="en-US" sz="1600" dirty="0">
                <a:solidFill>
                  <a:srgbClr val="25373C"/>
                </a:solidFill>
                <a:latin typeface="Consolas"/>
                <a:cs typeface="Consolas"/>
              </a:rPr>
              <a:t> = binomial)</a:t>
            </a:r>
          </a:p>
          <a:p>
            <a:pPr algn="l">
              <a:lnSpc>
                <a:spcPts val="2050"/>
              </a:lnSpc>
            </a:pPr>
            <a:r>
              <a:rPr lang="en-US" sz="1600" dirty="0">
                <a:solidFill>
                  <a:srgbClr val="2B4C9E"/>
                </a:solidFill>
                <a:latin typeface="Consolas"/>
                <a:cs typeface="Consolas"/>
              </a:rPr>
              <a:t>tidy</a:t>
            </a:r>
            <a:r>
              <a:rPr lang="en-US" sz="1600" dirty="0">
                <a:solidFill>
                  <a:srgbClr val="25373C"/>
                </a:solidFill>
                <a:latin typeface="Consolas"/>
                <a:cs typeface="Consolas"/>
              </a:rPr>
              <a:t>(stork_glm)</a:t>
            </a:r>
          </a:p>
          <a:p>
            <a:pPr algn="l">
              <a:lnSpc>
                <a:spcPts val="2050"/>
              </a:lnSpc>
            </a:pPr>
            <a:r>
              <a:rPr lang="en-US" sz="1600" i="1" dirty="0">
                <a:solidFill>
                  <a:srgbClr val="9E6A28"/>
                </a:solidFill>
                <a:latin typeface="Consolas"/>
                <a:cs typeface="Consolas"/>
              </a:rPr>
              <a:t>#&gt; # A tibble: 3 x 5</a:t>
            </a:r>
          </a:p>
          <a:p>
            <a:pPr algn="l">
              <a:lnSpc>
                <a:spcPts val="2050"/>
              </a:lnSpc>
            </a:pPr>
            <a:r>
              <a:rPr lang="en-US" sz="1600" i="1" dirty="0">
                <a:solidFill>
                  <a:srgbClr val="9E6A28"/>
                </a:solidFill>
                <a:latin typeface="Consolas"/>
                <a:cs typeface="Consolas"/>
              </a:rPr>
              <a:t>#&gt;   term        estimate std.error statistic p.value</a:t>
            </a:r>
          </a:p>
          <a:p>
            <a:pPr algn="l">
              <a:lnSpc>
                <a:spcPts val="2050"/>
              </a:lnSpc>
            </a:pPr>
            <a:r>
              <a:rPr lang="en-US" sz="1600" i="1" dirty="0">
                <a:solidFill>
                  <a:srgbClr val="9E6A28"/>
                </a:solidFill>
                <a:latin typeface="Consolas"/>
                <a:cs typeface="Consolas"/>
              </a:rPr>
              <a:t>#&gt;   &lt;chr&gt;          &lt;dbl&gt;     &lt;dbl&gt;     &lt;dbl&gt;   &lt;dbl&gt;</a:t>
            </a:r>
          </a:p>
          <a:p>
            <a:pPr algn="l">
              <a:lnSpc>
                <a:spcPts val="2050"/>
              </a:lnSpc>
            </a:pPr>
            <a:r>
              <a:rPr lang="en-US" sz="1600" i="1" dirty="0">
                <a:solidFill>
                  <a:srgbClr val="9E6A28"/>
                </a:solidFill>
                <a:latin typeface="Consolas"/>
                <a:cs typeface="Consolas"/>
              </a:rPr>
              <a:t>#&gt; 1 (Intercept)   1.62      0.629     2.58   0.00999</a:t>
            </a:r>
          </a:p>
          <a:p>
            <a:pPr algn="l">
              <a:lnSpc>
                <a:spcPts val="2050"/>
              </a:lnSpc>
            </a:pPr>
            <a:r>
              <a:rPr lang="en-US" sz="1600" i="1" dirty="0">
                <a:solidFill>
                  <a:srgbClr val="9E6A28"/>
                </a:solidFill>
                <a:latin typeface="Consolas"/>
                <a:cs typeface="Consolas"/>
              </a:rPr>
              <a:t>#&gt; 2 temp          0.0239    0.0465    0.515  0.607</a:t>
            </a:r>
          </a:p>
          <a:p>
            <a:pPr algn="l">
              <a:lnSpc>
                <a:spcPts val="2050"/>
              </a:lnSpc>
            </a:pPr>
            <a:r>
              <a:rPr lang="en-US" sz="1600" i="1" dirty="0">
                <a:solidFill>
                  <a:srgbClr val="9E6A28"/>
                </a:solidFill>
                <a:latin typeface="Consolas"/>
                <a:cs typeface="Consolas"/>
              </a:rPr>
              <a:t>#&gt; 3 rainfall     -0.00656   0.00260  -2.52   0.0116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288</a:t>
            </a:r>
          </a:p>
        </p:txBody>
      </p:sp>
    </p:spTree>
    <p:extLst>
      <p:ext uri="{BB962C8B-B14F-4D97-AF65-F5344CB8AC3E}">
        <p14:creationId xmlns:p14="http://schemas.microsoft.com/office/powerpoint/2010/main" val="120829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i="1" baseline="-25000" dirty="0">
                <a:solidFill>
                  <a:srgbClr val="25373C"/>
                </a:solidFill>
              </a:rPr>
              <a:t>0i</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a:p>
            <a:pPr algn="ctr">
              <a:lnSpc>
                <a:spcPts val="4200"/>
              </a:lnSpc>
              <a:spcAft>
                <a:spcPts val="600"/>
              </a:spcAft>
            </a:pPr>
            <a:r>
              <a:rPr lang="en-US" sz="2600" i="1" dirty="0">
                <a:solidFill>
                  <a:srgbClr val="25373C"/>
                </a:solidFill>
              </a:rPr>
              <a:t>β</a:t>
            </a:r>
            <a:r>
              <a:rPr lang="en-US" sz="1800" i="1" baseline="-25000" dirty="0">
                <a:solidFill>
                  <a:srgbClr val="25373C"/>
                </a:solidFill>
              </a:rPr>
              <a:t>0i</a:t>
            </a:r>
            <a:r>
              <a:rPr lang="en-US" sz="2600" dirty="0">
                <a:solidFill>
                  <a:srgbClr val="25373C"/>
                </a:solidFill>
              </a:rPr>
              <a:t> ∼ Normal(</a:t>
            </a:r>
            <a:r>
              <a:rPr lang="en-US" sz="2600" i="1" dirty="0">
                <a:solidFill>
                  <a:srgbClr val="25373C"/>
                </a:solidFill>
              </a:rPr>
              <a:t>μ</a:t>
            </a:r>
            <a:r>
              <a:rPr lang="en-US" sz="1800" i="1" baseline="-25000" dirty="0">
                <a:solidFill>
                  <a:srgbClr val="25373C"/>
                </a:solidFill>
              </a:rPr>
              <a:t>y</a:t>
            </a:r>
            <a:r>
              <a:rPr lang="en-US" sz="2600" dirty="0">
                <a:solidFill>
                  <a:srgbClr val="25373C"/>
                </a:solidFill>
              </a:rPr>
              <a:t>, </a:t>
            </a:r>
            <a:r>
              <a:rPr lang="en-US" sz="2600" i="1" dirty="0">
                <a:solidFill>
                  <a:srgbClr val="25373C"/>
                </a:solidFill>
              </a:rPr>
              <a:t>σ</a:t>
            </a:r>
            <a:r>
              <a:rPr lang="en-US" sz="1800" baseline="30000" dirty="0">
                <a:solidFill>
                  <a:srgbClr val="25373C"/>
                </a:solidFill>
              </a:rPr>
              <a:t>2</a:t>
            </a:r>
            <a:r>
              <a:rPr lang="en-US" sz="1800" i="1" baseline="-25000" dirty="0">
                <a:solidFill>
                  <a:srgbClr val="25373C"/>
                </a:solidFill>
              </a:rPr>
              <a:t>y</a:t>
            </a:r>
            <a:r>
              <a:rPr lang="en-US" sz="2600" dirty="0">
                <a:solidFill>
                  <a:srgbClr val="25373C"/>
                </a:solidFill>
              </a:rPr>
              <a:t>)</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289</a:t>
            </a:r>
          </a:p>
        </p:txBody>
      </p:sp>
    </p:spTree>
    <p:extLst>
      <p:ext uri="{BB962C8B-B14F-4D97-AF65-F5344CB8AC3E}">
        <p14:creationId xmlns:p14="http://schemas.microsoft.com/office/powerpoint/2010/main" val="1395093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3708400"/>
            <a:ext cx="10541000" cy="9906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3835400"/>
            <a:ext cx="10922000" cy="762000"/>
          </a:xfrm>
          <a:prstGeom prst="rect">
            <a:avLst/>
          </a:prstGeom>
          <a:noFill/>
        </p:spPr>
        <p:txBody>
          <a:bodyPr wrap="none" lIns="0" tIns="0" rIns="0" bIns="0" anchor="t"/>
          <a:lstStyle/>
          <a:p>
            <a:pPr algn="l">
              <a:lnSpc>
                <a:spcPts val="2300"/>
              </a:lnSpc>
            </a:pPr>
            <a:r>
              <a:rPr lang="en-US" sz="1800" dirty="0">
                <a:solidFill>
                  <a:srgbClr val="25373C"/>
                </a:solidFill>
                <a:latin typeface="Consolas"/>
                <a:cs typeface="Consolas"/>
              </a:rPr>
              <a:t>m &lt;- </a:t>
            </a:r>
            <a:r>
              <a:rPr lang="en-US" sz="1800" dirty="0">
                <a:solidFill>
                  <a:srgbClr val="2B4C9E"/>
                </a:solidFill>
                <a:latin typeface="Consolas"/>
                <a:cs typeface="Consolas"/>
              </a:rPr>
              <a:t>glmer</a:t>
            </a:r>
            <a:r>
              <a:rPr lang="en-US" sz="1800" dirty="0">
                <a:solidFill>
                  <a:srgbClr val="25373C"/>
                </a:solidFill>
                <a:latin typeface="Consolas"/>
                <a:cs typeface="Consolas"/>
              </a:rPr>
              <a:t>(</a:t>
            </a:r>
            <a:r>
              <a:rPr lang="en-US" sz="1800" dirty="0">
                <a:solidFill>
                  <a:srgbClr val="2B4C9E"/>
                </a:solidFill>
                <a:latin typeface="Consolas"/>
                <a:cs typeface="Consolas"/>
              </a:rPr>
              <a:t>cbind</a:t>
            </a:r>
            <a:r>
              <a:rPr lang="en-US" sz="1800" dirty="0">
                <a:solidFill>
                  <a:srgbClr val="25373C"/>
                </a:solidFill>
                <a:latin typeface="Consolas"/>
                <a:cs typeface="Consolas"/>
              </a:rPr>
              <a:t>(nbchicks,nbpairs</a:t>
            </a:r>
            <a:r>
              <a:rPr lang="en-US" sz="1800" dirty="0">
                <a:solidFill>
                  <a:srgbClr val="C1671E"/>
                </a:solidFill>
                <a:latin typeface="Consolas"/>
                <a:cs typeface="Consolas"/>
              </a:rPr>
              <a:t>-</a:t>
            </a:r>
            <a:r>
              <a:rPr lang="en-US" sz="1800" dirty="0">
                <a:solidFill>
                  <a:srgbClr val="25373C"/>
                </a:solidFill>
                <a:latin typeface="Consolas"/>
                <a:cs typeface="Consolas"/>
              </a:rPr>
              <a:t>nbchicks) </a:t>
            </a:r>
            <a:r>
              <a:rPr lang="en-US" sz="1800" dirty="0">
                <a:solidFill>
                  <a:srgbClr val="C1671E"/>
                </a:solidFill>
                <a:latin typeface="Consolas"/>
                <a:cs typeface="Consolas"/>
              </a:rPr>
              <a:t>~</a:t>
            </a:r>
            <a:r>
              <a:rPr lang="en-US" sz="1800" dirty="0">
                <a:solidFill>
                  <a:srgbClr val="25373C"/>
                </a:solidFill>
                <a:latin typeface="Consolas"/>
                <a:cs typeface="Consolas"/>
              </a:rPr>
              <a:t> temp </a:t>
            </a:r>
            <a:r>
              <a:rPr lang="en-US" sz="1800" dirty="0">
                <a:solidFill>
                  <a:srgbClr val="C1671E"/>
                </a:solidFill>
                <a:latin typeface="Consolas"/>
                <a:cs typeface="Consolas"/>
              </a:rPr>
              <a:t>+</a:t>
            </a:r>
            <a:r>
              <a:rPr lang="en-US" sz="1800" dirty="0">
                <a:solidFill>
                  <a:srgbClr val="25373C"/>
                </a:solidFill>
                <a:latin typeface="Consolas"/>
                <a:cs typeface="Consolas"/>
              </a:rPr>
              <a:t> rainfall</a:t>
            </a:r>
          </a:p>
          <a:p>
            <a:pPr algn="l">
              <a:lnSpc>
                <a:spcPts val="2300"/>
              </a:lnSpc>
            </a:pPr>
            <a:r>
              <a:rPr lang="en-US" sz="1800" dirty="0">
                <a:solidFill>
                  <a:srgbClr val="25373C"/>
                </a:solidFill>
                <a:latin typeface="Consolas"/>
                <a:cs typeface="Consolas"/>
              </a:rPr>
              <a:t>                             </a:t>
            </a:r>
            <a:r>
              <a:rPr lang="en-US" sz="1800" dirty="0">
                <a:solidFill>
                  <a:srgbClr val="C1671E"/>
                </a:solidFill>
                <a:latin typeface="Consolas"/>
                <a:cs typeface="Consolas"/>
              </a:rPr>
              <a:t>+</a:t>
            </a:r>
            <a:r>
              <a:rPr lang="en-US" sz="1800" dirty="0">
                <a:solidFill>
                  <a:srgbClr val="25373C"/>
                </a:solidFill>
                <a:latin typeface="Consolas"/>
                <a:cs typeface="Consolas"/>
              </a:rPr>
              <a:t> (</a:t>
            </a:r>
            <a:r>
              <a:rPr lang="en-US" sz="1800" dirty="0">
                <a:solidFill>
                  <a:srgbClr val="2B4C9E"/>
                </a:solidFill>
                <a:latin typeface="Consolas"/>
                <a:cs typeface="Consolas"/>
              </a:rPr>
              <a:t>1</a:t>
            </a:r>
            <a:r>
              <a:rPr lang="en-US" sz="1800" dirty="0">
                <a:solidFill>
                  <a:srgbClr val="25373C"/>
                </a:solidFill>
                <a:latin typeface="Consolas"/>
                <a:cs typeface="Consolas"/>
              </a:rPr>
              <a:t> | year), </a:t>
            </a:r>
            <a:r>
              <a:rPr lang="en-US" sz="1800" dirty="0">
                <a:solidFill>
                  <a:srgbClr val="2B4C9E"/>
                </a:solidFill>
                <a:latin typeface="Consolas"/>
                <a:cs typeface="Consolas"/>
              </a:rPr>
              <a:t>family</a:t>
            </a:r>
            <a:r>
              <a:rPr lang="en-US" sz="1800" dirty="0">
                <a:solidFill>
                  <a:srgbClr val="25373C"/>
                </a:solidFill>
                <a:latin typeface="Consolas"/>
                <a:cs typeface="Consolas"/>
              </a:rPr>
              <a:t> = binomial)</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290</a:t>
            </a:r>
          </a:p>
        </p:txBody>
      </p:sp>
    </p:spTree>
    <p:extLst>
      <p:ext uri="{BB962C8B-B14F-4D97-AF65-F5344CB8AC3E}">
        <p14:creationId xmlns:p14="http://schemas.microsoft.com/office/powerpoint/2010/main" val="29615049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1168400"/>
            <a:ext cx="11176000" cy="4953000"/>
          </a:xfrm>
          <a:prstGeom prst="rect">
            <a:avLst/>
          </a:prstGeom>
          <a:noFill/>
        </p:spPr>
        <p:txBody>
          <a:bodyPr wrap="none" lIns="0" tIns="0" rIns="0" bIns="0" anchor="t"/>
          <a:lstStyle/>
          <a:p>
            <a:pPr algn="l">
              <a:lnSpc>
                <a:spcPts val="2000"/>
              </a:lnSpc>
            </a:pPr>
            <a:r>
              <a:rPr lang="en-US" sz="1600" dirty="0">
                <a:solidFill>
                  <a:srgbClr val="333333"/>
                </a:solidFill>
                <a:latin typeface="Consolas"/>
                <a:cs typeface="Consolas"/>
              </a:rPr>
              <a:t>#&gt; Generalized linear mixed model fit by maximum likelihood (Laplace</a:t>
            </a:r>
          </a:p>
          <a:p>
            <a:pPr algn="l">
              <a:lnSpc>
                <a:spcPts val="2000"/>
              </a:lnSpc>
            </a:pPr>
            <a:r>
              <a:rPr lang="en-US" sz="1600" dirty="0">
                <a:solidFill>
                  <a:srgbClr val="333333"/>
                </a:solidFill>
                <a:latin typeface="Consolas"/>
                <a:cs typeface="Consolas"/>
              </a:rPr>
              <a:t>#&gt;   Approximation) [glmerMod]</a:t>
            </a:r>
          </a:p>
          <a:p>
            <a:pPr algn="l">
              <a:lnSpc>
                <a:spcPts val="2000"/>
              </a:lnSpc>
            </a:pPr>
            <a:r>
              <a:rPr lang="en-US" sz="1600" dirty="0">
                <a:solidFill>
                  <a:srgbClr val="333333"/>
                </a:solidFill>
                <a:latin typeface="Consolas"/>
                <a:cs typeface="Consolas"/>
              </a:rPr>
              <a:t>#&gt;  Family: binomial  ( logit )</a:t>
            </a:r>
          </a:p>
          <a:p>
            <a:pPr algn="l">
              <a:lnSpc>
                <a:spcPts val="2000"/>
              </a:lnSpc>
            </a:pPr>
            <a:r>
              <a:rPr lang="en-US" sz="1600" dirty="0">
                <a:solidFill>
                  <a:srgbClr val="333333"/>
                </a:solidFill>
                <a:latin typeface="Consolas"/>
                <a:cs typeface="Consolas"/>
              </a:rPr>
              <a:t>#&gt; Formula: cbind(nbchicks, nbpairs - nbchicks) ~ temp + rainfall + (1 |</a:t>
            </a:r>
          </a:p>
          <a:p>
            <a:pPr algn="l">
              <a:lnSpc>
                <a:spcPts val="2000"/>
              </a:lnSpc>
            </a:pPr>
            <a:r>
              <a:rPr lang="en-US" sz="1600" dirty="0">
                <a:solidFill>
                  <a:srgbClr val="333333"/>
                </a:solidFill>
                <a:latin typeface="Consolas"/>
                <a:cs typeface="Consolas"/>
              </a:rPr>
              <a:t>#&gt;     year)</a:t>
            </a:r>
          </a:p>
          <a:p>
            <a:pPr algn="l">
              <a:lnSpc>
                <a:spcPts val="2000"/>
              </a:lnSpc>
            </a:pPr>
            <a:r>
              <a:rPr lang="en-US" sz="1600" dirty="0">
                <a:solidFill>
                  <a:srgbClr val="333333"/>
                </a:solidFill>
                <a:latin typeface="Consolas"/>
                <a:cs typeface="Consolas"/>
              </a:rPr>
              <a:t>#&gt;      AIC      BIC   logLik deviance df.resid</a:t>
            </a:r>
          </a:p>
          <a:p>
            <a:pPr algn="l">
              <a:lnSpc>
                <a:spcPts val="2000"/>
              </a:lnSpc>
            </a:pPr>
            <a:r>
              <a:rPr lang="en-US" sz="1600" dirty="0">
                <a:solidFill>
                  <a:srgbClr val="333333"/>
                </a:solidFill>
                <a:latin typeface="Consolas"/>
                <a:cs typeface="Consolas"/>
              </a:rPr>
              <a:t>#&gt; 159.7418 164.2838 -75.8709 151.7418       19</a:t>
            </a:r>
          </a:p>
          <a:p>
            <a:pPr algn="l">
              <a:lnSpc>
                <a:spcPts val="2000"/>
              </a:lnSpc>
            </a:pPr>
            <a:r>
              <a:rPr lang="en-US" sz="1600" dirty="0">
                <a:solidFill>
                  <a:srgbClr val="333333"/>
                </a:solidFill>
                <a:latin typeface="Consolas"/>
                <a:cs typeface="Consolas"/>
              </a:rPr>
              <a:t>#&gt; Random effects:</a:t>
            </a:r>
          </a:p>
          <a:p>
            <a:pPr algn="l">
              <a:lnSpc>
                <a:spcPts val="2000"/>
              </a:lnSpc>
            </a:pPr>
            <a:r>
              <a:rPr lang="en-US" sz="1600" dirty="0">
                <a:solidFill>
                  <a:srgbClr val="333333"/>
                </a:solidFill>
                <a:latin typeface="Consolas"/>
                <a:cs typeface="Consolas"/>
              </a:rPr>
              <a:t>#&gt;  Groups Name        Std.Dev.</a:t>
            </a:r>
          </a:p>
          <a:p>
            <a:pPr algn="l">
              <a:lnSpc>
                <a:spcPts val="2000"/>
              </a:lnSpc>
            </a:pPr>
            <a:r>
              <a:rPr lang="en-US" sz="1600" dirty="0">
                <a:solidFill>
                  <a:srgbClr val="333333"/>
                </a:solidFill>
                <a:latin typeface="Consolas"/>
                <a:cs typeface="Consolas"/>
              </a:rPr>
              <a:t>#&gt;  year   (Intercept) 0.478</a:t>
            </a:r>
          </a:p>
          <a:p>
            <a:pPr algn="l">
              <a:lnSpc>
                <a:spcPts val="2000"/>
              </a:lnSpc>
            </a:pPr>
            <a:r>
              <a:rPr lang="en-US" sz="1600" dirty="0">
                <a:solidFill>
                  <a:srgbClr val="333333"/>
                </a:solidFill>
                <a:latin typeface="Consolas"/>
                <a:cs typeface="Consolas"/>
              </a:rPr>
              <a:t>#&gt; Number of obs: 23, groups:  year, 23</a:t>
            </a:r>
          </a:p>
          <a:p>
            <a:pPr algn="l">
              <a:lnSpc>
                <a:spcPts val="2000"/>
              </a:lnSpc>
            </a:pPr>
            <a:r>
              <a:rPr lang="en-US" sz="1600" dirty="0">
                <a:solidFill>
                  <a:srgbClr val="333333"/>
                </a:solidFill>
                <a:latin typeface="Consolas"/>
                <a:cs typeface="Consolas"/>
              </a:rPr>
              <a:t>#&gt; Fixed Effects:</a:t>
            </a:r>
          </a:p>
          <a:p>
            <a:pPr algn="l">
              <a:lnSpc>
                <a:spcPts val="2000"/>
              </a:lnSpc>
            </a:pPr>
            <a:r>
              <a:rPr lang="en-US" sz="1600" dirty="0">
                <a:solidFill>
                  <a:srgbClr val="333333"/>
                </a:solidFill>
                <a:latin typeface="Consolas"/>
                <a:cs typeface="Consolas"/>
              </a:rPr>
              <a:t>#&gt; (Intercept)         temp     rainfall</a:t>
            </a:r>
          </a:p>
          <a:p>
            <a:pPr algn="l">
              <a:lnSpc>
                <a:spcPts val="2000"/>
              </a:lnSpc>
            </a:pPr>
            <a:r>
              <a:rPr lang="en-US" sz="1600" dirty="0">
                <a:solidFill>
                  <a:srgbClr val="333333"/>
                </a:solidFill>
                <a:latin typeface="Consolas"/>
                <a:cs typeface="Consolas"/>
              </a:rPr>
              <a:t>#&gt;    2.478277    -0.026616    -0.008226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291</a:t>
            </a:r>
          </a:p>
        </p:txBody>
      </p:sp>
    </p:spTree>
    <p:extLst>
      <p:ext uri="{BB962C8B-B14F-4D97-AF65-F5344CB8AC3E}">
        <p14:creationId xmlns:p14="http://schemas.microsoft.com/office/powerpoint/2010/main" val="7358197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terpillar (dot-and-line) plot of the estimated yearly random intercepts from the mixed model, from the R output labelled '$year'. The horizontal axis is the intercept deviation from the overall mean, running from about -1.0 to +1.3; each row is one year (years 1 to about 22). A blue dot marks each year's estimated random intercept and a horizontal line shows its confidence interval. Years are sorted from the highest intercept at the top (year 4, near +0.8) down to the lowest at the bottom (year 2, near -1.0). Most intervals overlap zero, showing how much the baseline response varies from year to year around the population mean.">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graphicFrame>
        <p:nvGraphicFramePr>
          <p:cNvPr id="79875" name="Object 10"/>
          <p:cNvGraphicFramePr>
            <a:graphicFrameLocks noChangeAspect="1"/>
          </p:cNvGraphicFramePr>
          <p:nvPr>
            <p:extLst>
              <p:ext uri="{D42A27DB-BD31-4B8C-83A1-F6EECF244321}">
                <p14:modId xmlns:p14="http://schemas.microsoft.com/office/powerpoint/2010/main" val="2591857975"/>
              </p:ext>
            </p:extLst>
          </p:nvPr>
        </p:nvGraphicFramePr>
        <p:xfrm>
          <a:off x="4125914" y="2035624"/>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4" y="2035624"/>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79876" name="Picture 1" descr="von Bertalanffy growth curve: Total Length in mm (y) versus Age (x, 0 to 12). Points scatter around a curve rising then leveling at asymptote L-infinity (dashed line); t0 marked at length zero."/>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a:t>
            </a:r>
            <a:r>
              <a:rPr lang="en-US" altLang="en-US" dirty="0">
                <a:sym typeface="Symbol" charset="2"/>
              </a:rPr>
              <a:t>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measurement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graphicFrame>
        <p:nvGraphicFramePr>
          <p:cNvPr id="81923" name="Object 10"/>
          <p:cNvGraphicFramePr>
            <a:graphicFrameLocks noChangeAspect="1"/>
          </p:cNvGraphicFramePr>
          <p:nvPr>
            <p:extLst>
              <p:ext uri="{D42A27DB-BD31-4B8C-83A1-F6EECF244321}">
                <p14:modId xmlns:p14="http://schemas.microsoft.com/office/powerpoint/2010/main" val="3786212161"/>
              </p:ext>
            </p:extLst>
          </p:nvPr>
        </p:nvGraphicFramePr>
        <p:xfrm>
          <a:off x="4125914" y="2246689"/>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4" y="2246689"/>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graphicFrame>
        <p:nvGraphicFramePr>
          <p:cNvPr id="83974" name="Object 10"/>
          <p:cNvGraphicFramePr>
            <a:graphicFrameLocks noGrp="1" noChangeAspect="1"/>
          </p:cNvGraphicFramePr>
          <p:nvPr>
            <p:ph sz="quarter" idx="3"/>
            <p:extLst>
              <p:ext uri="{D42A27DB-BD31-4B8C-83A1-F6EECF244321}">
                <p14:modId xmlns:p14="http://schemas.microsoft.com/office/powerpoint/2010/main" val="3534137078"/>
              </p:ext>
            </p:extLst>
          </p:nvPr>
        </p:nvGraphicFramePr>
        <p:xfrm>
          <a:off x="4125912" y="1888711"/>
          <a:ext cx="3940175" cy="666750"/>
        </p:xfrm>
        <a:graphic>
          <a:graphicData uri="http://schemas.openxmlformats.org/presentationml/2006/ole">
            <mc:AlternateContent xmlns:mc="http://schemas.openxmlformats.org/markup-compatibility/2006">
              <mc:Choice xmlns:v="urn:schemas-microsoft-com:vml" Requires="v">
                <p:oleObj name="Equation" r:id="rId3" imgW="1574117" imgH="266584" progId="Equation.DSMT4">
                  <p:embed/>
                </p:oleObj>
              </mc:Choice>
              <mc:Fallback>
                <p:oleObj name="Equation" r:id="rId3" imgW="1574117" imgH="266584"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5912" y="1888711"/>
                        <a:ext cx="3940175"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3975" name="Text Box 12"/>
          <p:cNvSpPr txBox="1">
            <a:spLocks noChangeArrowheads="1"/>
          </p:cNvSpPr>
          <p:nvPr/>
        </p:nvSpPr>
        <p:spPr bwMode="auto">
          <a:xfrm>
            <a:off x="1619196" y="280311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765910" y="3641312"/>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2803112"/>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3211511" y="2345911"/>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5040311" y="24221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335711" y="2193511"/>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760446" y="3666026"/>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574610" y="2218225"/>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21511" y="2193511"/>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28800" y="3449096"/>
            <a:ext cx="4012060"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pPr algn="ctr" eaLnBrk="1" hangingPunct="1">
              <a:defRPr/>
            </a:pPr>
            <a:r>
              <a:rPr lang="en-US" altLang="en-US"/>
              <a:t>The NLME Function-I</a:t>
            </a:r>
          </a:p>
        </p:txBody>
      </p:sp>
      <p:sp>
        <p:nvSpPr>
          <p:cNvPr id="55299" name="Rectangle 3"/>
          <p:cNvSpPr>
            <a:spLocks noGrp="1" noChangeArrowheads="1"/>
          </p:cNvSpPr>
          <p:nvPr>
            <p:ph type="body" idx="1"/>
          </p:nvPr>
        </p:nvSpPr>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600" b="1" dirty="0" err="1"/>
              <a:t>nlme</a:t>
            </a:r>
            <a:r>
              <a:rPr lang="en-US" altLang="en-US" sz="1600" b="1" dirty="0"/>
              <a:t>(model, data, fixed, random, groups, start, correlation, weights, subset, </a:t>
            </a:r>
            <a:r>
              <a:rPr lang="en-US" altLang="en-US" sz="1600" b="1" dirty="0" err="1"/>
              <a:t>method,na.action,naPattern</a:t>
            </a:r>
            <a:r>
              <a:rPr lang="en-US" altLang="en-US" sz="1600" b="1" dirty="0"/>
              <a:t>, </a:t>
            </a:r>
            <a:r>
              <a:rPr lang="en-US" altLang="en-US" sz="1600" b="1" dirty="0" err="1"/>
              <a:t>control,verbose</a:t>
            </a:r>
            <a:r>
              <a:rPr lang="en-US" altLang="en-US" sz="16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p:txBody>
          <a:bodyPr/>
          <a:lstStyle/>
          <a:p>
            <a:pPr eaLnBrk="1" hangingPunct="1">
              <a:defRPr/>
            </a:pPr>
            <a:endParaRPr lang="en-US" altLang="en-US" sz="2400">
              <a:solidFill>
                <a:schemeClr val="hlink"/>
              </a:solidFill>
            </a:endParaRPr>
          </a:p>
          <a:p>
            <a:pPr eaLnBrk="1" hangingPunct="1">
              <a:defRPr/>
            </a:pPr>
            <a:endParaRPr lang="en-US" altLang="en-US" sz="2400">
              <a:solidFill>
                <a:schemeClr val="hlink"/>
              </a:solidFill>
            </a:endParaRPr>
          </a:p>
          <a:p>
            <a:pPr eaLnBrk="1" hangingPunct="1">
              <a:defRPr/>
            </a:pPr>
            <a:r>
              <a:rPr lang="en-US" altLang="en-US" sz="2400">
                <a:solidFill>
                  <a:schemeClr val="hlink"/>
                </a:solidFill>
              </a:rPr>
              <a:t>random</a:t>
            </a:r>
            <a:r>
              <a:rPr lang="en-US" altLang="en-US" sz="2400"/>
              <a:t>: “random=c(rnd1 ~ var1, rnd1 ~ 1)”. Leaving out a “random” specification implies all fixed effects have an associated random effect.</a:t>
            </a:r>
          </a:p>
          <a:p>
            <a:pPr eaLnBrk="1" hangingPunct="1">
              <a:defRPr/>
            </a:pPr>
            <a:r>
              <a:rPr lang="en-US" altLang="en-US" sz="2400">
                <a:solidFill>
                  <a:schemeClr val="hlink"/>
                </a:solidFill>
              </a:rPr>
              <a:t>start</a:t>
            </a:r>
            <a:r>
              <a:rPr lang="en-US" altLang="en-US" sz="2400"/>
              <a:t>: “start = c(fix1=x1,fix2=x2,..)” – the initial values for the fixed parameters of the model.</a:t>
            </a:r>
          </a:p>
          <a:p>
            <a:pPr eaLnBrk="1" hangingPunct="1">
              <a:defRPr/>
            </a:pPr>
            <a:endParaRPr lang="en-US" altLang="en-US" sz="2400"/>
          </a:p>
          <a:p>
            <a:pPr eaLnBrk="1" hangingPunct="1">
              <a:defRPr/>
            </a:pPr>
            <a:r>
              <a:rPr lang="en-US" altLang="en-US" sz="2400"/>
              <a:t>Be wary of using NLME to make predictions when some of the parameters are non-linear.</a:t>
            </a:r>
          </a:p>
          <a:p>
            <a:pPr eaLnBrk="1" hangingPunct="1">
              <a:defRPr/>
            </a:pPr>
            <a:endParaRPr lang="en-US" altLang="en-US" sz="2400"/>
          </a:p>
          <a:p>
            <a:pPr eaLnBrk="1" hangingPunct="1">
              <a:defRPr/>
            </a:pPr>
            <a:endParaRPr lang="en-US" altLang="en-US" sz="360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algn="ctr" eaLnBrk="1" hangingPunct="1">
              <a:defRPr/>
            </a:pPr>
            <a:r>
              <a:rPr lang="en-US" altLang="en-US"/>
              <a:t>The NLME Function-III</a:t>
            </a:r>
            <a:endParaRPr lang="en-AU" altLang="en-US"/>
          </a:p>
        </p:txBody>
      </p:sp>
      <p:sp>
        <p:nvSpPr>
          <p:cNvPr id="59395" name="Rectangle 3"/>
          <p:cNvSpPr>
            <a:spLocks noGrp="1" noChangeArrowheads="1"/>
          </p:cNvSpPr>
          <p:nvPr>
            <p:ph type="body" idx="1"/>
          </p:nvPr>
        </p:nvSpPr>
        <p:spPr>
          <a:xfrm>
            <a:off x="2743200" y="3657601"/>
            <a:ext cx="3124200" cy="2474913"/>
          </a:xfrm>
        </p:spPr>
        <p:txBody>
          <a:bodyPr/>
          <a:lstStyle/>
          <a:p>
            <a:pPr eaLnBrk="1" hangingPunct="1">
              <a:defRPr/>
            </a:pPr>
            <a:r>
              <a:rPr lang="en-AU" altLang="en-US"/>
              <a:t>update</a:t>
            </a:r>
          </a:p>
          <a:p>
            <a:pPr eaLnBrk="1" hangingPunct="1">
              <a:defRPr/>
            </a:pPr>
            <a:r>
              <a:rPr lang="en-AU" altLang="en-US"/>
              <a:t>logLik</a:t>
            </a:r>
          </a:p>
          <a:p>
            <a:pPr eaLnBrk="1" hangingPunct="1">
              <a:defRPr/>
            </a:pPr>
            <a:r>
              <a:rPr lang="en-AU" altLang="en-US"/>
              <a:t>plot</a:t>
            </a:r>
          </a:p>
          <a:p>
            <a:pPr eaLnBrk="1" hangingPunct="1">
              <a:defRPr/>
            </a:pPr>
            <a:r>
              <a:rPr lang="en-AU" altLang="en-US"/>
              <a:t>predict</a:t>
            </a:r>
          </a:p>
          <a:p>
            <a:pPr eaLnBrk="1" hangingPunct="1">
              <a:defRPr/>
            </a:pPr>
            <a:endParaRPr lang="en-AU" altLang="en-US"/>
          </a:p>
        </p:txBody>
      </p:sp>
      <p:sp>
        <p:nvSpPr>
          <p:cNvPr id="98307" name="Rectangle 4"/>
          <p:cNvSpPr>
            <a:spLocks noChangeArrowheads="1"/>
          </p:cNvSpPr>
          <p:nvPr/>
        </p:nvSpPr>
        <p:spPr bwMode="auto">
          <a:xfrm>
            <a:off x="2057401" y="2209801"/>
            <a:ext cx="8352799" cy="90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AU" altLang="en-US" sz="2400"/>
              <a:t>You can use many of the functions defined for linear models</a:t>
            </a:r>
          </a:p>
          <a:p>
            <a:pPr eaLnBrk="1" hangingPunct="1">
              <a:buFont typeface="Wingdings" charset="2"/>
              <a:buNone/>
            </a:pPr>
            <a:r>
              <a:rPr lang="en-AU" altLang="en-US" sz="2400"/>
              <a:t> with nlme, e.g.:</a:t>
            </a:r>
          </a:p>
        </p:txBody>
      </p:sp>
      <p:sp>
        <p:nvSpPr>
          <p:cNvPr id="98308" name="Rectangle 5"/>
          <p:cNvSpPr>
            <a:spLocks noChangeArrowheads="1"/>
          </p:cNvSpPr>
          <p:nvPr/>
        </p:nvSpPr>
        <p:spPr bwMode="auto">
          <a:xfrm>
            <a:off x="6629400" y="3657601"/>
            <a:ext cx="3124200" cy="2474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lnSpc>
                <a:spcPct val="90000"/>
              </a:lnSpc>
            </a:pPr>
            <a:r>
              <a:rPr lang="en-AU" altLang="en-US" sz="2800"/>
              <a:t>intervals</a:t>
            </a:r>
          </a:p>
          <a:p>
            <a:pPr eaLnBrk="1" hangingPunct="1">
              <a:lnSpc>
                <a:spcPct val="90000"/>
              </a:lnSpc>
            </a:pPr>
            <a:r>
              <a:rPr lang="en-AU" altLang="en-US" sz="2800"/>
              <a:t>anova</a:t>
            </a:r>
          </a:p>
          <a:p>
            <a:pPr eaLnBrk="1" hangingPunct="1">
              <a:lnSpc>
                <a:spcPct val="90000"/>
              </a:lnSpc>
            </a:pPr>
            <a:r>
              <a:rPr lang="en-AU" altLang="en-US" sz="2800"/>
              <a:t>residuals</a:t>
            </a:r>
          </a:p>
        </p:txBody>
      </p:sp>
    </p:spTree>
    <p:extLst>
      <p:ext uri="{BB962C8B-B14F-4D97-AF65-F5344CB8AC3E}">
        <p14:creationId xmlns:p14="http://schemas.microsoft.com/office/powerpoint/2010/main" val="20132316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Print(lm1$modelStruct)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model-III)</a:t>
            </a:r>
          </a:p>
        </p:txBody>
      </p:sp>
      <p:sp>
        <p:nvSpPr>
          <p:cNvPr id="104450" name="Rectangle 5"/>
          <p:cNvSpPr>
            <a:spLocks noChangeArrowheads="1"/>
          </p:cNvSpPr>
          <p:nvPr/>
        </p:nvSpPr>
        <p:spPr bwMode="auto">
          <a:xfrm>
            <a:off x="1828800" y="2070100"/>
            <a:ext cx="8610600"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AU" altLang="en-US" sz="1400"/>
              <a:t>Nonlinear mixed-effects model fit by maximum likelihood</a:t>
            </a:r>
          </a:p>
          <a:p>
            <a:pPr eaLnBrk="1" hangingPunct="1">
              <a:spcBef>
                <a:spcPct val="0"/>
              </a:spcBef>
              <a:buClrTx/>
              <a:buSzTx/>
              <a:buFontTx/>
              <a:buNone/>
            </a:pPr>
            <a:r>
              <a:rPr lang="en-AU" altLang="en-US" sz="1400"/>
              <a:t>  Model: Length ~ Linf * (1 - exp(-1 * Kappa * (Age - Tzero))) </a:t>
            </a:r>
          </a:p>
          <a:p>
            <a:pPr eaLnBrk="1" hangingPunct="1">
              <a:spcBef>
                <a:spcPct val="0"/>
              </a:spcBef>
              <a:buClrTx/>
              <a:buSzTx/>
              <a:buFontTx/>
              <a:buNone/>
            </a:pPr>
            <a:r>
              <a:rPr lang="en-AU" altLang="en-US" sz="1400"/>
              <a:t> Data: AgeLen </a:t>
            </a:r>
          </a:p>
          <a:p>
            <a:pPr eaLnBrk="1" hangingPunct="1">
              <a:spcBef>
                <a:spcPct val="0"/>
              </a:spcBef>
              <a:buClrTx/>
              <a:buSzTx/>
              <a:buFontTx/>
              <a:buNone/>
            </a:pPr>
            <a:r>
              <a:rPr lang="en-AU" altLang="en-US" sz="1400"/>
              <a:t>        AIC       BIC   logLik</a:t>
            </a:r>
          </a:p>
          <a:p>
            <a:pPr eaLnBrk="1" hangingPunct="1">
              <a:spcBef>
                <a:spcPct val="0"/>
              </a:spcBef>
              <a:buClrTx/>
              <a:buSzTx/>
              <a:buFontTx/>
              <a:buNone/>
            </a:pPr>
            <a:r>
              <a:rPr lang="en-AU" altLang="en-US" sz="1400"/>
              <a:t>  -53.64647 -40.62062 31.82323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Random effects:</a:t>
            </a:r>
          </a:p>
          <a:p>
            <a:pPr eaLnBrk="1" hangingPunct="1">
              <a:spcBef>
                <a:spcPct val="0"/>
              </a:spcBef>
              <a:buClrTx/>
              <a:buSzTx/>
              <a:buFontTx/>
              <a:buNone/>
            </a:pPr>
            <a:r>
              <a:rPr lang="en-AU" altLang="en-US" sz="1400"/>
              <a:t> Formula: Linf ~ 1 | Subject</a:t>
            </a:r>
          </a:p>
          <a:p>
            <a:pPr eaLnBrk="1" hangingPunct="1">
              <a:spcBef>
                <a:spcPct val="0"/>
              </a:spcBef>
              <a:buClrTx/>
              <a:buSzTx/>
              <a:buFontTx/>
              <a:buNone/>
            </a:pPr>
            <a:r>
              <a:rPr lang="en-AU" altLang="en-US" sz="1400"/>
              <a:t>           Linf  Residual</a:t>
            </a:r>
          </a:p>
          <a:p>
            <a:pPr eaLnBrk="1" hangingPunct="1">
              <a:spcBef>
                <a:spcPct val="0"/>
              </a:spcBef>
              <a:buClrTx/>
              <a:buSzTx/>
              <a:buFontTx/>
              <a:buNone/>
            </a:pPr>
            <a:r>
              <a:rPr lang="en-AU" altLang="en-US" sz="1400"/>
              <a:t>StdDev: 8.28837 0.1060163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Fixed effects: Linf + Kappa + Tzero ~ 1 </a:t>
            </a:r>
          </a:p>
          <a:p>
            <a:pPr eaLnBrk="1" hangingPunct="1">
              <a:spcBef>
                <a:spcPct val="0"/>
              </a:spcBef>
              <a:buClrTx/>
              <a:buSzTx/>
              <a:buFontTx/>
              <a:buNone/>
            </a:pPr>
            <a:r>
              <a:rPr lang="en-AU" altLang="en-US" sz="1400"/>
              <a:t>         Value Std.Error DF  t-value p-value</a:t>
            </a:r>
          </a:p>
          <a:p>
            <a:pPr eaLnBrk="1" hangingPunct="1">
              <a:spcBef>
                <a:spcPct val="0"/>
              </a:spcBef>
              <a:buClrTx/>
              <a:buSzTx/>
              <a:buFontTx/>
              <a:buNone/>
            </a:pPr>
            <a:r>
              <a:rPr lang="en-AU" altLang="en-US" sz="1400"/>
              <a:t>Linf  97.02240 2.6629267 88  36.4345  0.0000</a:t>
            </a:r>
          </a:p>
          <a:p>
            <a:pPr eaLnBrk="1" hangingPunct="1">
              <a:spcBef>
                <a:spcPct val="0"/>
              </a:spcBef>
              <a:buClrTx/>
              <a:buSzTx/>
              <a:buFontTx/>
              <a:buNone/>
            </a:pPr>
            <a:r>
              <a:rPr lang="en-AU" altLang="en-US" sz="1400"/>
              <a:t>Kappa  0.19960 0.0005324 88 374.8752  0.0000</a:t>
            </a:r>
          </a:p>
          <a:p>
            <a:pPr eaLnBrk="1" hangingPunct="1">
              <a:spcBef>
                <a:spcPct val="0"/>
              </a:spcBef>
              <a:buClrTx/>
              <a:buSzTx/>
              <a:buFontTx/>
              <a:buNone/>
            </a:pPr>
            <a:r>
              <a:rPr lang="en-AU" altLang="en-US" sz="1400"/>
              <a:t>Tzero -0.00453 0.0040570 88  -1.1176  0.2668</a:t>
            </a:r>
          </a:p>
          <a:p>
            <a:pPr eaLnBrk="1" hangingPunct="1">
              <a:spcBef>
                <a:spcPct val="0"/>
              </a:spcBef>
              <a:buClrTx/>
              <a:buSzTx/>
              <a:buFontTx/>
              <a:buNone/>
            </a:pPr>
            <a:r>
              <a:rPr lang="en-AU" altLang="en-US" sz="1400"/>
              <a:t> Correlation: </a:t>
            </a:r>
          </a:p>
          <a:p>
            <a:pPr eaLnBrk="1" hangingPunct="1">
              <a:spcBef>
                <a:spcPct val="0"/>
              </a:spcBef>
              <a:buClrTx/>
              <a:buSzTx/>
              <a:buFontTx/>
              <a:buNone/>
            </a:pPr>
            <a:r>
              <a:rPr lang="en-AU" altLang="en-US" sz="1400"/>
              <a:t>      Linf   Kappa </a:t>
            </a:r>
          </a:p>
          <a:p>
            <a:pPr eaLnBrk="1" hangingPunct="1">
              <a:spcBef>
                <a:spcPct val="0"/>
              </a:spcBef>
              <a:buClrTx/>
              <a:buSzTx/>
              <a:buFontTx/>
              <a:buNone/>
            </a:pPr>
            <a:r>
              <a:rPr lang="en-AU" altLang="en-US" sz="1400"/>
              <a:t>Kappa -0.034       </a:t>
            </a:r>
          </a:p>
          <a:p>
            <a:pPr eaLnBrk="1" hangingPunct="1">
              <a:spcBef>
                <a:spcPct val="0"/>
              </a:spcBef>
              <a:buClrTx/>
              <a:buSzTx/>
              <a:buFontTx/>
              <a:buNone/>
            </a:pPr>
            <a:r>
              <a:rPr lang="en-AU" altLang="en-US" sz="1400"/>
              <a:t>Tzero -0.027  0.876</a:t>
            </a:r>
          </a:p>
          <a:p>
            <a:pPr eaLnBrk="1" hangingPunct="1">
              <a:spcBef>
                <a:spcPct val="0"/>
              </a:spcBef>
              <a:buClrTx/>
              <a:buSzTx/>
              <a:buFontTx/>
              <a:buNone/>
            </a:pPr>
            <a:endParaRPr lang="en-AU" altLang="en-US" sz="1400"/>
          </a:p>
        </p:txBody>
      </p:sp>
    </p:spTree>
    <p:extLst>
      <p:ext uri="{BB962C8B-B14F-4D97-AF65-F5344CB8AC3E}">
        <p14:creationId xmlns:p14="http://schemas.microsoft.com/office/powerpoint/2010/main" val="8741849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CCDC579-0A6A-DF48-9F68-7F9E1E8F1C5F}">
  <we:reference id="WA200010001" version="1.0.0.1" store="Omex" storeType="OMEX"/>
  <we:alternateReferences>
    <we:reference id="WA200010001" version="1.0.0.1" store="WA200010001" storeType="OMEX"/>
  </we:alternateReferences>
  <we:properties>
    <we:property name="claude.fileId" value="&quot;5bffa6b9-a4ab-49ae-99ea-fdba4896d6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12046</TotalTime>
  <Words>3800</Words>
  <Application>Microsoft Macintosh PowerPoint</Application>
  <PresentationFormat>Widescreen</PresentationFormat>
  <Paragraphs>444</Paragraphs>
  <Slides>63</Slides>
  <Notes>40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63</vt:i4>
      </vt:variant>
    </vt:vector>
  </HeadingPairs>
  <TitlesOfParts>
    <vt:vector size="73" baseType="lpstr">
      <vt:lpstr>Arial</vt:lpstr>
      <vt:lpstr>Calibri</vt:lpstr>
      <vt:lpstr>Calibri Light</vt:lpstr>
      <vt:lpstr>Cambria</vt:lpstr>
      <vt:lpstr>Consolas</vt:lpstr>
      <vt:lpstr>Symbol</vt:lpstr>
      <vt:lpstr>Times New Roman</vt:lpstr>
      <vt:lpstr>Wingdings</vt:lpstr>
      <vt:lpstr>Office Theme</vt:lpstr>
      <vt:lpstr>Equation</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The NLME Function-III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72</cp:revision>
  <dcterms:created xsi:type="dcterms:W3CDTF">2020-12-09T21:00:17Z</dcterms:created>
  <dcterms:modified xsi:type="dcterms:W3CDTF">2026-07-15T21:32:36Z</dcterms:modified>
</cp:coreProperties>
</file>