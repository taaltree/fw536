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7" r:id="rId2"/>
    <p:sldId id="559" r:id="rId3"/>
    <p:sldId id="561" r:id="rId4"/>
    <p:sldId id="307" r:id="rId5"/>
    <p:sldId id="527" r:id="rId6"/>
    <p:sldId id="532" r:id="rId7"/>
    <p:sldId id="538" r:id="rId8"/>
    <p:sldId id="526" r:id="rId9"/>
    <p:sldId id="528" r:id="rId10"/>
    <p:sldId id="558" r:id="rId11"/>
    <p:sldId id="529" r:id="rId12"/>
    <p:sldId id="555" r:id="rId13"/>
    <p:sldId id="557" r:id="rId14"/>
    <p:sldId id="462" r:id="rId15"/>
    <p:sldId id="535" r:id="rId16"/>
    <p:sldId id="513" r:id="rId17"/>
    <p:sldId id="414" r:id="rId18"/>
    <p:sldId id="418" r:id="rId19"/>
    <p:sldId id="468" r:id="rId20"/>
    <p:sldId id="533" r:id="rId21"/>
    <p:sldId id="544" r:id="rId22"/>
    <p:sldId id="548" r:id="rId23"/>
    <p:sldId id="556" r:id="rId24"/>
    <p:sldId id="549" r:id="rId25"/>
    <p:sldId id="536" r:id="rId26"/>
    <p:sldId id="537"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40"/>
    <p:restoredTop sz="94624"/>
  </p:normalViewPr>
  <p:slideViewPr>
    <p:cSldViewPr snapToGrid="0" snapToObjects="1">
      <p:cViewPr varScale="1">
        <p:scale>
          <a:sx n="127" d="100"/>
          <a:sy n="127" d="100"/>
        </p:scale>
        <p:origin x="41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9C91A6-D3CC-A448-A30A-303E1C36A033}" type="datetimeFigureOut">
              <a:rPr lang="en-US" smtClean="0"/>
              <a:t>9/22/25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AC092-695C-464D-9CD8-909DC0001E20}" type="slidenum">
              <a:rPr lang="en-US" smtClean="0"/>
              <a:t>‹#›</a:t>
            </a:fld>
            <a:endParaRPr lang="en-US"/>
          </a:p>
        </p:txBody>
      </p:sp>
    </p:spTree>
    <p:extLst>
      <p:ext uri="{BB962C8B-B14F-4D97-AF65-F5344CB8AC3E}">
        <p14:creationId xmlns:p14="http://schemas.microsoft.com/office/powerpoint/2010/main" val="1023035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AC092-695C-464D-9CD8-909DC0001E20}" type="slidenum">
              <a:rPr lang="en-US" smtClean="0"/>
              <a:t>7</a:t>
            </a:fld>
            <a:endParaRPr lang="en-US"/>
          </a:p>
        </p:txBody>
      </p:sp>
    </p:spTree>
    <p:extLst>
      <p:ext uri="{BB962C8B-B14F-4D97-AF65-F5344CB8AC3E}">
        <p14:creationId xmlns:p14="http://schemas.microsoft.com/office/powerpoint/2010/main" val="31944009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A4348FE-E9FB-B34F-9F58-56AAD0FE21CF}" type="datetimeFigureOut">
              <a:rPr lang="en-US" smtClean="0"/>
              <a:t>9/22/25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7530330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1059950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4348FE-E9FB-B34F-9F58-56AAD0FE21CF}" type="datetimeFigureOut">
              <a:rPr lang="en-US" smtClean="0"/>
              <a:t>9/22/25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987874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A4348FE-E9FB-B34F-9F58-56AAD0FE21CF}" type="datetimeFigureOut">
              <a:rPr lang="en-US" smtClean="0"/>
              <a:t>9/22/25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8230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A4348FE-E9FB-B34F-9F58-56AAD0FE21CF}" type="datetimeFigureOut">
              <a:rPr lang="en-US" smtClean="0"/>
              <a:t>9/22/25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3154894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A4348FE-E9FB-B34F-9F58-56AAD0FE21CF}" type="datetimeFigureOut">
              <a:rPr lang="en-US" smtClean="0"/>
              <a:t>9/22/25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08766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4348FE-E9FB-B34F-9F58-56AAD0FE21CF}" type="datetimeFigureOut">
              <a:rPr lang="en-US" smtClean="0"/>
              <a:t>9/22/25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95685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36267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624486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0446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961024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348FE-E9FB-B34F-9F58-56AAD0FE21CF}" type="datetimeFigureOut">
              <a:rPr lang="en-US" smtClean="0"/>
              <a:t>9/22/25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A051B9-200A-AF4F-B497-CA0B88E8F75A}" type="slidenum">
              <a:rPr lang="en-US" smtClean="0"/>
              <a:t>‹#›</a:t>
            </a:fld>
            <a:endParaRPr lang="en-US"/>
          </a:p>
        </p:txBody>
      </p:sp>
    </p:spTree>
    <p:extLst>
      <p:ext uri="{BB962C8B-B14F-4D97-AF65-F5344CB8AC3E}">
        <p14:creationId xmlns:p14="http://schemas.microsoft.com/office/powerpoint/2010/main" val="2016708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e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eg"/><Relationship Id="rId3" Type="http://schemas.openxmlformats.org/officeDocument/2006/relationships/image" Target="../media/image8.jpeg"/><Relationship Id="rId4" Type="http://schemas.openxmlformats.org/officeDocument/2006/relationships/image" Target="../media/image9.jpeg"/><Relationship Id="rId5" Type="http://schemas.openxmlformats.org/officeDocument/2006/relationships/image" Target="../media/image10.jpeg"/><Relationship Id="rId6" Type="http://schemas.openxmlformats.org/officeDocument/2006/relationships/image" Target="../media/image11.jpeg"/><Relationship Id="rId7" Type="http://schemas.openxmlformats.org/officeDocument/2006/relationships/image" Target="../media/image1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5.tiff"/><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e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em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e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extBox 3"/>
          <p:cNvSpPr txBox="1"/>
          <p:nvPr/>
        </p:nvSpPr>
        <p:spPr>
          <a:xfrm>
            <a:off x="368440" y="0"/>
            <a:ext cx="11455120" cy="830997"/>
          </a:xfrm>
          <a:prstGeom prst="rect">
            <a:avLst/>
          </a:prstGeom>
          <a:noFill/>
        </p:spPr>
        <p:txBody>
          <a:bodyPr wrap="square" rtlCol="0">
            <a:spAutoFit/>
          </a:bodyPr>
          <a:lstStyle/>
          <a:p>
            <a:pPr algn="ctr"/>
            <a:r>
              <a:rPr lang="en-US" sz="4800" b="1" dirty="0">
                <a:solidFill>
                  <a:srgbClr val="FFFF00"/>
                </a:solidFill>
              </a:rPr>
              <a:t>Introduction to Bayesian Analysis Part Deux</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6401" y="3650456"/>
            <a:ext cx="4276725" cy="3207544"/>
          </a:xfrm>
          <a:prstGeom prst="rect">
            <a:avLst/>
          </a:prstGeom>
        </p:spPr>
      </p:pic>
      <p:sp>
        <p:nvSpPr>
          <p:cNvPr id="8" name="TextBox 7"/>
          <p:cNvSpPr txBox="1"/>
          <p:nvPr/>
        </p:nvSpPr>
        <p:spPr>
          <a:xfrm>
            <a:off x="6490010" y="5023395"/>
            <a:ext cx="5701989" cy="1938992"/>
          </a:xfrm>
          <a:prstGeom prst="rect">
            <a:avLst/>
          </a:prstGeom>
          <a:noFill/>
        </p:spPr>
        <p:txBody>
          <a:bodyPr wrap="square" rtlCol="0">
            <a:spAutoFit/>
          </a:bodyPr>
          <a:lstStyle/>
          <a:p>
            <a:r>
              <a:rPr lang="en-US" sz="2400" b="1" dirty="0">
                <a:solidFill>
                  <a:srgbClr val="FFFF00"/>
                </a:solidFill>
              </a:rPr>
              <a:t>Many slides adapted from Matt </a:t>
            </a:r>
            <a:r>
              <a:rPr lang="en-US" sz="2400" b="1" dirty="0" err="1">
                <a:solidFill>
                  <a:srgbClr val="FFFF00"/>
                </a:solidFill>
              </a:rPr>
              <a:t>Falcy</a:t>
            </a:r>
            <a:r>
              <a:rPr lang="en-US" sz="2400" b="1" dirty="0">
                <a:solidFill>
                  <a:srgbClr val="FFFF00"/>
                </a:solidFill>
              </a:rPr>
              <a:t> ODFW, and SESYNC course by Chris </a:t>
            </a:r>
            <a:r>
              <a:rPr lang="en-US" sz="2400" b="1" dirty="0" err="1">
                <a:solidFill>
                  <a:srgbClr val="FFFF00"/>
                </a:solidFill>
              </a:rPr>
              <a:t>Che-Castaldo</a:t>
            </a:r>
            <a:r>
              <a:rPr lang="en-US" sz="2400" b="1" dirty="0">
                <a:solidFill>
                  <a:srgbClr val="FFFF00"/>
                </a:solidFill>
              </a:rPr>
              <a:t>, Mary B. Collins, N. Thompson Hobbs (with permission)</a:t>
            </a:r>
          </a:p>
          <a:p>
            <a:endParaRPr lang="en-US" sz="2400" b="1" dirty="0">
              <a:solidFill>
                <a:srgbClr val="FFFF00"/>
              </a:solidFill>
            </a:endParaRPr>
          </a:p>
        </p:txBody>
      </p:sp>
      <p:pic>
        <p:nvPicPr>
          <p:cNvPr id="1026" name="Picture 2" descr="https://www.sciencenews.org/sites/default/files/2016/05/main/articles/052816_bayesian-opener_free.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889008"/>
            <a:ext cx="5162706" cy="2761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6502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C5A5A-2E82-2E62-E6DD-F4C822267DBA}"/>
              </a:ext>
            </a:extLst>
          </p:cNvPr>
          <p:cNvSpPr>
            <a:spLocks noGrp="1"/>
          </p:cNvSpPr>
          <p:nvPr>
            <p:ph type="title"/>
          </p:nvPr>
        </p:nvSpPr>
        <p:spPr>
          <a:xfrm>
            <a:off x="3251200" y="18255"/>
            <a:ext cx="8102600" cy="1109663"/>
          </a:xfrm>
        </p:spPr>
        <p:txBody>
          <a:bodyPr/>
          <a:lstStyle/>
          <a:p>
            <a:r>
              <a:rPr lang="en-US" dirty="0"/>
              <a:t>Where to go from here</a:t>
            </a:r>
          </a:p>
        </p:txBody>
      </p:sp>
      <p:pic>
        <p:nvPicPr>
          <p:cNvPr id="1026" name="Picture 2">
            <a:extLst>
              <a:ext uri="{FF2B5EF4-FFF2-40B4-BE49-F238E27FC236}">
                <a16:creationId xmlns:a16="http://schemas.microsoft.com/office/drawing/2014/main" id="{137C9C55-5945-AD56-3B7C-82F3715692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6207" y="1127918"/>
            <a:ext cx="3651280" cy="538536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043F95B9-21EE-5D64-E989-DE76B5A20DCC}"/>
              </a:ext>
            </a:extLst>
          </p:cNvPr>
          <p:cNvPicPr>
            <a:picLocks noChangeAspect="1"/>
          </p:cNvPicPr>
          <p:nvPr/>
        </p:nvPicPr>
        <p:blipFill>
          <a:blip r:embed="rId3"/>
          <a:stretch>
            <a:fillRect/>
          </a:stretch>
        </p:blipFill>
        <p:spPr>
          <a:xfrm>
            <a:off x="4419600" y="1256149"/>
            <a:ext cx="7772400" cy="5128905"/>
          </a:xfrm>
          <a:prstGeom prst="rect">
            <a:avLst/>
          </a:prstGeom>
        </p:spPr>
      </p:pic>
    </p:spTree>
    <p:extLst>
      <p:ext uri="{BB962C8B-B14F-4D97-AF65-F5344CB8AC3E}">
        <p14:creationId xmlns:p14="http://schemas.microsoft.com/office/powerpoint/2010/main" val="148728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20532-25B7-C28C-A311-1C861CCCC8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5B649A-1584-4FE6-C735-4D582A944875}"/>
              </a:ext>
            </a:extLst>
          </p:cNvPr>
          <p:cNvSpPr>
            <a:spLocks noGrp="1"/>
          </p:cNvSpPr>
          <p:nvPr>
            <p:ph type="title"/>
          </p:nvPr>
        </p:nvSpPr>
        <p:spPr>
          <a:xfrm>
            <a:off x="3124200" y="-134145"/>
            <a:ext cx="8102600" cy="1109663"/>
          </a:xfrm>
        </p:spPr>
        <p:txBody>
          <a:bodyPr/>
          <a:lstStyle/>
          <a:p>
            <a:r>
              <a:rPr lang="en-US" dirty="0"/>
              <a:t>Where to go from here</a:t>
            </a:r>
          </a:p>
        </p:txBody>
      </p:sp>
      <p:pic>
        <p:nvPicPr>
          <p:cNvPr id="2050" name="Picture 2" descr="The Theoretical Biologist's Toolbox">
            <a:extLst>
              <a:ext uri="{FF2B5EF4-FFF2-40B4-BE49-F238E27FC236}">
                <a16:creationId xmlns:a16="http://schemas.microsoft.com/office/drawing/2014/main" id="{C42113EA-5EF8-2E4B-0BD3-D09C1425CA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6" y="1663700"/>
            <a:ext cx="3631200" cy="5194300"/>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2B3C5935-F187-33FD-FACC-041F023D952C}"/>
              </a:ext>
            </a:extLst>
          </p:cNvPr>
          <p:cNvSpPr>
            <a:spLocks noGrp="1"/>
          </p:cNvSpPr>
          <p:nvPr>
            <p:ph idx="1"/>
          </p:nvPr>
        </p:nvSpPr>
        <p:spPr>
          <a:xfrm>
            <a:off x="4281970" y="1253331"/>
            <a:ext cx="6239912" cy="4351338"/>
          </a:xfrm>
        </p:spPr>
        <p:txBody>
          <a:bodyPr/>
          <a:lstStyle/>
          <a:p>
            <a:r>
              <a:rPr lang="en-US" dirty="0"/>
              <a:t>If you have strong quantitative skills and want to become a master</a:t>
            </a:r>
          </a:p>
          <a:p>
            <a:endParaRPr lang="en-US" dirty="0"/>
          </a:p>
          <a:p>
            <a:r>
              <a:rPr lang="en-US" dirty="0"/>
              <a:t>Covers a diverse array of topics</a:t>
            </a:r>
          </a:p>
        </p:txBody>
      </p:sp>
      <p:pic>
        <p:nvPicPr>
          <p:cNvPr id="2052" name="Picture 4">
            <a:extLst>
              <a:ext uri="{FF2B5EF4-FFF2-40B4-BE49-F238E27FC236}">
                <a16:creationId xmlns:a16="http://schemas.microsoft.com/office/drawing/2014/main" id="{9B99AB1B-BDFA-F367-8466-42476992CF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11207" y="2720974"/>
            <a:ext cx="2680793" cy="41370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1604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14" y="0"/>
            <a:ext cx="10515600" cy="1325563"/>
          </a:xfrm>
        </p:spPr>
        <p:txBody>
          <a:bodyPr/>
          <a:lstStyle/>
          <a:p>
            <a:r>
              <a:rPr lang="en-US"/>
              <a:t>This course is just a </a:t>
            </a:r>
            <a:r>
              <a:rPr lang="en-US" dirty="0"/>
              <a:t>jumping off point</a:t>
            </a:r>
          </a:p>
        </p:txBody>
      </p:sp>
      <p:sp>
        <p:nvSpPr>
          <p:cNvPr id="3" name="Content Placeholder 2"/>
          <p:cNvSpPr>
            <a:spLocks noGrp="1"/>
          </p:cNvSpPr>
          <p:nvPr>
            <p:ph idx="1"/>
          </p:nvPr>
        </p:nvSpPr>
        <p:spPr>
          <a:xfrm>
            <a:off x="90614" y="1453184"/>
            <a:ext cx="10515600" cy="4351338"/>
          </a:xfrm>
        </p:spPr>
        <p:txBody>
          <a:bodyPr/>
          <a:lstStyle/>
          <a:p>
            <a:r>
              <a:rPr lang="en-US" dirty="0"/>
              <a:t>Train yourself by reading books.</a:t>
            </a:r>
          </a:p>
          <a:p>
            <a:r>
              <a:rPr lang="en-US" dirty="0"/>
              <a:t>Consider pursuing side project using methods you want to learn</a:t>
            </a:r>
          </a:p>
          <a:p>
            <a:r>
              <a:rPr lang="en-US" dirty="0"/>
              <a:t>Consider attending weekly math/stats seminars</a:t>
            </a:r>
          </a:p>
        </p:txBody>
      </p:sp>
      <p:pic>
        <p:nvPicPr>
          <p:cNvPr id="1026" name="Picture 2" descr="https://images-na.ssl-images-amazon.com/images/I/31u9N2X5r8L._SX322_BO1,204,203,200_.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760" y="3228073"/>
            <a:ext cx="2137647" cy="32922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ttps://images-na.ssl-images-amazon.com/images/I/51XOcl4OxJL._SX352_BO1,204,203,200_.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75164" y="3309711"/>
            <a:ext cx="2219745" cy="312896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ttps://images-na.ssl-images-amazon.com/images/I/41kftfun6qL._SX350_BO1,204,203,200_.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84497" y="3309711"/>
            <a:ext cx="2305910" cy="326888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https://images-na.ssl-images-amazon.com/images/I/51WB04KqNOL._SX404_BO1,204,203,200_.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57280" y="168436"/>
            <a:ext cx="2284385" cy="2813282"/>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https://images-na.ssl-images-amazon.com/images/I/51jDoyeOrDL._SX405_BO1,204,203,200_.jp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751653" y="3479908"/>
            <a:ext cx="2290012" cy="2813282"/>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https://images-na.ssl-images-amazon.com/images/I/51Qk2MOCfWL._SX312_BO1,204,203,200_.jpg"/>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435403" y="3326099"/>
            <a:ext cx="2036350" cy="32361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7060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5441" b="5734"/>
          <a:stretch/>
        </p:blipFill>
        <p:spPr>
          <a:xfrm>
            <a:off x="1836117" y="162560"/>
            <a:ext cx="9403383" cy="6258560"/>
          </a:xfrm>
          <a:prstGeom prst="rect">
            <a:avLst/>
          </a:prstGeom>
        </p:spPr>
      </p:pic>
    </p:spTree>
    <p:extLst>
      <p:ext uri="{BB962C8B-B14F-4D97-AF65-F5344CB8AC3E}">
        <p14:creationId xmlns:p14="http://schemas.microsoft.com/office/powerpoint/2010/main" val="1007281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12934" b="26412"/>
          <a:stretch/>
        </p:blipFill>
        <p:spPr>
          <a:xfrm>
            <a:off x="529906" y="1729009"/>
            <a:ext cx="11222353" cy="5100419"/>
          </a:xfrm>
          <a:prstGeom prst="rect">
            <a:avLst/>
          </a:prstGeom>
        </p:spPr>
      </p:pic>
      <p:sp>
        <p:nvSpPr>
          <p:cNvPr id="3" name="TextBox 2"/>
          <p:cNvSpPr txBox="1"/>
          <p:nvPr/>
        </p:nvSpPr>
        <p:spPr>
          <a:xfrm>
            <a:off x="385763" y="34090"/>
            <a:ext cx="11806237" cy="1631216"/>
          </a:xfrm>
          <a:prstGeom prst="rect">
            <a:avLst/>
          </a:prstGeom>
          <a:noFill/>
        </p:spPr>
        <p:txBody>
          <a:bodyPr wrap="square" rtlCol="0">
            <a:spAutoFit/>
          </a:bodyPr>
          <a:lstStyle/>
          <a:p>
            <a:pPr algn="ctr"/>
            <a:r>
              <a:rPr lang="en-US" sz="4000" b="1" dirty="0"/>
              <a:t>Unlike with lm() and </a:t>
            </a:r>
            <a:r>
              <a:rPr lang="en-US" sz="4000" b="1" dirty="0" err="1"/>
              <a:t>glm</a:t>
            </a:r>
            <a:r>
              <a:rPr lang="en-US" sz="4000" b="1" dirty="0"/>
              <a:t>()</a:t>
            </a:r>
          </a:p>
          <a:p>
            <a:pPr algn="ctr"/>
            <a:r>
              <a:rPr lang="en-US" sz="4000" b="1" dirty="0"/>
              <a:t>this easily extends to nonlinear functional forms</a:t>
            </a:r>
          </a:p>
          <a:p>
            <a:pPr algn="ctr"/>
            <a:r>
              <a:rPr lang="en-US" sz="2000" b="1" dirty="0"/>
              <a:t>(e.g. Spawner-Recruit Lab)</a:t>
            </a:r>
          </a:p>
        </p:txBody>
      </p:sp>
    </p:spTree>
    <p:extLst>
      <p:ext uri="{BB962C8B-B14F-4D97-AF65-F5344CB8AC3E}">
        <p14:creationId xmlns:p14="http://schemas.microsoft.com/office/powerpoint/2010/main" val="3302564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565689" y="-19047"/>
            <a:ext cx="7281609" cy="1200329"/>
          </a:xfrm>
          <a:prstGeom prst="rect">
            <a:avLst/>
          </a:prstGeom>
          <a:noFill/>
        </p:spPr>
        <p:txBody>
          <a:bodyPr wrap="none" rtlCol="0">
            <a:spAutoFit/>
          </a:bodyPr>
          <a:lstStyle/>
          <a:p>
            <a:r>
              <a:rPr lang="en-US" sz="4000" b="1" dirty="0"/>
              <a:t>Spawner-Recruit Lab</a:t>
            </a:r>
          </a:p>
          <a:p>
            <a:r>
              <a:rPr lang="en-US" sz="3200" b="1" dirty="0"/>
              <a:t>Another Example with Derived Quantities</a:t>
            </a:r>
          </a:p>
        </p:txBody>
      </p:sp>
      <p:sp>
        <p:nvSpPr>
          <p:cNvPr id="4" name="TextBox 3"/>
          <p:cNvSpPr txBox="1"/>
          <p:nvPr/>
        </p:nvSpPr>
        <p:spPr>
          <a:xfrm>
            <a:off x="0" y="1147499"/>
            <a:ext cx="12192000" cy="1477328"/>
          </a:xfrm>
          <a:prstGeom prst="rect">
            <a:avLst/>
          </a:prstGeom>
          <a:noFill/>
        </p:spPr>
        <p:txBody>
          <a:bodyPr wrap="square" rtlCol="0">
            <a:spAutoFit/>
          </a:bodyPr>
          <a:lstStyle/>
          <a:p>
            <a:pPr marL="285750" indent="-285750">
              <a:buFont typeface="Arial" charset="0"/>
              <a:buChar char="•"/>
            </a:pPr>
            <a:r>
              <a:rPr lang="en-US" sz="2400" dirty="0"/>
              <a:t>Spawner-recruit problem. </a:t>
            </a:r>
            <a:r>
              <a:rPr lang="en-US" sz="2200" dirty="0"/>
              <a:t>We want to estimate </a:t>
            </a:r>
          </a:p>
          <a:p>
            <a:pPr marL="914400" lvl="1" indent="-457200">
              <a:buFont typeface="+mj-lt"/>
              <a:buAutoNum type="arabicPeriod"/>
            </a:pPr>
            <a:r>
              <a:rPr lang="en-US" sz="2200" dirty="0"/>
              <a:t>equilibrium number of </a:t>
            </a:r>
            <a:r>
              <a:rPr lang="en-US" sz="2200" dirty="0" err="1"/>
              <a:t>spawners</a:t>
            </a:r>
            <a:r>
              <a:rPr lang="en-US" sz="2200" dirty="0"/>
              <a:t> without harvest, </a:t>
            </a:r>
            <a:r>
              <a:rPr lang="en-US" sz="2200" dirty="0" err="1"/>
              <a:t>Neq</a:t>
            </a:r>
            <a:endParaRPr lang="en-US" sz="2200" dirty="0"/>
          </a:p>
          <a:p>
            <a:pPr marL="914400" lvl="1" indent="-457200">
              <a:buFont typeface="+mj-lt"/>
              <a:buAutoNum type="arabicPeriod"/>
            </a:pPr>
            <a:r>
              <a:rPr lang="en-US" sz="2200" dirty="0" err="1"/>
              <a:t>Spawners</a:t>
            </a:r>
            <a:r>
              <a:rPr lang="en-US" sz="2200" dirty="0"/>
              <a:t> that maximize sustained yield</a:t>
            </a:r>
          </a:p>
          <a:p>
            <a:pPr marL="914400" lvl="1" indent="-457200">
              <a:buFont typeface="+mj-lt"/>
              <a:buAutoNum type="arabicPeriod"/>
            </a:pPr>
            <a:r>
              <a:rPr lang="en-US" sz="2200" dirty="0"/>
              <a:t>The MSY harvest</a:t>
            </a:r>
          </a:p>
        </p:txBody>
      </p:sp>
      <p:pic>
        <p:nvPicPr>
          <p:cNvPr id="7" name="Picture 6"/>
          <p:cNvPicPr>
            <a:picLocks noChangeAspect="1"/>
          </p:cNvPicPr>
          <p:nvPr/>
        </p:nvPicPr>
        <p:blipFill rotWithShape="1">
          <a:blip r:embed="rId3"/>
          <a:srcRect l="2394" t="8144" r="5599" b="4100"/>
          <a:stretch/>
        </p:blipFill>
        <p:spPr>
          <a:xfrm>
            <a:off x="5657855" y="1947718"/>
            <a:ext cx="6286501" cy="4892696"/>
          </a:xfrm>
          <a:prstGeom prst="rect">
            <a:avLst/>
          </a:prstGeom>
        </p:spPr>
      </p:pic>
      <p:cxnSp>
        <p:nvCxnSpPr>
          <p:cNvPr id="10" name="Straight Arrow Connector 9"/>
          <p:cNvCxnSpPr/>
          <p:nvPr/>
        </p:nvCxnSpPr>
        <p:spPr>
          <a:xfrm flipH="1" flipV="1">
            <a:off x="9429756" y="3911478"/>
            <a:ext cx="14183" cy="197167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090316" y="5421486"/>
            <a:ext cx="707245" cy="461665"/>
          </a:xfrm>
          <a:prstGeom prst="rect">
            <a:avLst/>
          </a:prstGeom>
          <a:noFill/>
        </p:spPr>
        <p:txBody>
          <a:bodyPr wrap="none" rtlCol="0">
            <a:spAutoFit/>
          </a:bodyPr>
          <a:lstStyle/>
          <a:p>
            <a:r>
              <a:rPr lang="en-US" sz="2400" b="1"/>
              <a:t>Neq</a:t>
            </a:r>
            <a:endParaRPr lang="en-US" sz="2400" b="1" dirty="0"/>
          </a:p>
        </p:txBody>
      </p:sp>
      <p:cxnSp>
        <p:nvCxnSpPr>
          <p:cNvPr id="15" name="Straight Arrow Connector 14"/>
          <p:cNvCxnSpPr/>
          <p:nvPr/>
        </p:nvCxnSpPr>
        <p:spPr>
          <a:xfrm flipH="1" flipV="1">
            <a:off x="7447751" y="4539952"/>
            <a:ext cx="9493" cy="1216995"/>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7146400" y="5502442"/>
            <a:ext cx="845296" cy="461665"/>
          </a:xfrm>
          <a:prstGeom prst="rect">
            <a:avLst/>
          </a:prstGeom>
          <a:noFill/>
        </p:spPr>
        <p:txBody>
          <a:bodyPr wrap="none" rtlCol="0">
            <a:spAutoFit/>
          </a:bodyPr>
          <a:lstStyle/>
          <a:p>
            <a:r>
              <a:rPr lang="en-US" sz="2400" b="1" dirty="0" err="1"/>
              <a:t>Smsy</a:t>
            </a:r>
            <a:endParaRPr lang="en-US" sz="2400" b="1" dirty="0"/>
          </a:p>
        </p:txBody>
      </p:sp>
      <p:sp>
        <p:nvSpPr>
          <p:cNvPr id="18" name="Right Brace 17"/>
          <p:cNvSpPr/>
          <p:nvPr/>
        </p:nvSpPr>
        <p:spPr>
          <a:xfrm>
            <a:off x="7457244" y="4539952"/>
            <a:ext cx="743787" cy="743124"/>
          </a:xfrm>
          <a:prstGeom prst="rightBrace">
            <a:avLst/>
          </a:prstGeom>
          <a:ln w="254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p:cNvSpPr txBox="1"/>
          <p:nvPr/>
        </p:nvSpPr>
        <p:spPr>
          <a:xfrm>
            <a:off x="8210524" y="4666481"/>
            <a:ext cx="893386" cy="461665"/>
          </a:xfrm>
          <a:prstGeom prst="rect">
            <a:avLst/>
          </a:prstGeom>
          <a:noFill/>
        </p:spPr>
        <p:txBody>
          <a:bodyPr wrap="none" rtlCol="0">
            <a:spAutoFit/>
          </a:bodyPr>
          <a:lstStyle/>
          <a:p>
            <a:r>
              <a:rPr lang="en-US" sz="2400" b="1" dirty="0" err="1"/>
              <a:t>Hmsy</a:t>
            </a:r>
            <a:endParaRPr lang="en-US" sz="2400" b="1" dirty="0"/>
          </a:p>
        </p:txBody>
      </p:sp>
      <p:pic>
        <p:nvPicPr>
          <p:cNvPr id="19" name="Picture 18"/>
          <p:cNvPicPr>
            <a:picLocks noChangeAspect="1"/>
          </p:cNvPicPr>
          <p:nvPr/>
        </p:nvPicPr>
        <p:blipFill>
          <a:blip r:embed="rId4"/>
          <a:stretch>
            <a:fillRect/>
          </a:stretch>
        </p:blipFill>
        <p:spPr>
          <a:xfrm>
            <a:off x="564871" y="4287760"/>
            <a:ext cx="3654924" cy="1542857"/>
          </a:xfrm>
          <a:prstGeom prst="rect">
            <a:avLst/>
          </a:prstGeom>
        </p:spPr>
      </p:pic>
      <p:sp>
        <p:nvSpPr>
          <p:cNvPr id="23" name="TextBox 22"/>
          <p:cNvSpPr txBox="1"/>
          <p:nvPr/>
        </p:nvSpPr>
        <p:spPr>
          <a:xfrm>
            <a:off x="501739" y="3053660"/>
            <a:ext cx="3341171" cy="954107"/>
          </a:xfrm>
          <a:prstGeom prst="rect">
            <a:avLst/>
          </a:prstGeom>
          <a:noFill/>
        </p:spPr>
        <p:txBody>
          <a:bodyPr wrap="none" rtlCol="0">
            <a:spAutoFit/>
          </a:bodyPr>
          <a:lstStyle/>
          <a:p>
            <a:pPr algn="ctr"/>
            <a:r>
              <a:rPr lang="en-US" sz="2800" u="sng" dirty="0" err="1"/>
              <a:t>Beverton</a:t>
            </a:r>
            <a:r>
              <a:rPr lang="en-US" sz="2800" u="sng" dirty="0"/>
              <a:t>-Holt Model</a:t>
            </a:r>
          </a:p>
          <a:p>
            <a:pPr algn="ctr"/>
            <a:r>
              <a:rPr lang="en-US" sz="2800" dirty="0"/>
              <a:t>R = </a:t>
            </a:r>
            <a:r>
              <a:rPr lang="mr-IN" sz="2800" dirty="0"/>
              <a:t>(</a:t>
            </a:r>
            <a:r>
              <a:rPr lang="mr-IN" sz="2800" dirty="0" err="1"/>
              <a:t>a</a:t>
            </a:r>
            <a:r>
              <a:rPr lang="mr-IN" sz="2800" dirty="0"/>
              <a:t>*</a:t>
            </a:r>
            <a:r>
              <a:rPr lang="en-US" sz="2800" dirty="0"/>
              <a:t>S</a:t>
            </a:r>
            <a:r>
              <a:rPr lang="mr-IN" sz="2800" dirty="0"/>
              <a:t>)/(1+a/</a:t>
            </a:r>
            <a:r>
              <a:rPr lang="mr-IN" sz="2800" dirty="0" err="1"/>
              <a:t>b</a:t>
            </a:r>
            <a:r>
              <a:rPr lang="mr-IN" sz="2800" dirty="0"/>
              <a:t>*</a:t>
            </a:r>
            <a:r>
              <a:rPr lang="en-US" sz="2800" dirty="0"/>
              <a:t>S</a:t>
            </a:r>
            <a:r>
              <a:rPr lang="mr-IN" sz="2800" dirty="0"/>
              <a:t>)</a:t>
            </a:r>
            <a:endParaRPr lang="en-US" sz="2800" dirty="0"/>
          </a:p>
        </p:txBody>
      </p:sp>
      <p:sp>
        <p:nvSpPr>
          <p:cNvPr id="24" name="TextBox 23"/>
          <p:cNvSpPr txBox="1"/>
          <p:nvPr/>
        </p:nvSpPr>
        <p:spPr>
          <a:xfrm>
            <a:off x="270639" y="6110610"/>
            <a:ext cx="4243388" cy="646331"/>
          </a:xfrm>
          <a:prstGeom prst="rect">
            <a:avLst/>
          </a:prstGeom>
          <a:noFill/>
        </p:spPr>
        <p:txBody>
          <a:bodyPr wrap="square" rtlCol="0">
            <a:spAutoFit/>
          </a:bodyPr>
          <a:lstStyle/>
          <a:p>
            <a:r>
              <a:rPr lang="en-US" dirty="0"/>
              <a:t>How would you estimate these with uncertainty in frequentist framework?</a:t>
            </a:r>
          </a:p>
        </p:txBody>
      </p:sp>
    </p:spTree>
    <p:extLst>
      <p:ext uri="{BB962C8B-B14F-4D97-AF65-F5344CB8AC3E}">
        <p14:creationId xmlns:p14="http://schemas.microsoft.com/office/powerpoint/2010/main" val="4884613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030" b="5735"/>
          <a:stretch/>
        </p:blipFill>
        <p:spPr>
          <a:xfrm>
            <a:off x="900113" y="86672"/>
            <a:ext cx="10095547" cy="6674742"/>
          </a:xfrm>
          <a:prstGeom prst="rect">
            <a:avLst/>
          </a:prstGeom>
        </p:spPr>
      </p:pic>
      <p:sp>
        <p:nvSpPr>
          <p:cNvPr id="3" name="TextBox 2">
            <a:extLst>
              <a:ext uri="{FF2B5EF4-FFF2-40B4-BE49-F238E27FC236}">
                <a16:creationId xmlns:a16="http://schemas.microsoft.com/office/drawing/2014/main" id="{7DAE66BF-4E39-179B-D76C-A5AC32210850}"/>
              </a:ext>
            </a:extLst>
          </p:cNvPr>
          <p:cNvSpPr txBox="1"/>
          <p:nvPr/>
        </p:nvSpPr>
        <p:spPr>
          <a:xfrm>
            <a:off x="1085222" y="6392082"/>
            <a:ext cx="1038233" cy="369332"/>
          </a:xfrm>
          <a:prstGeom prst="rect">
            <a:avLst/>
          </a:prstGeom>
          <a:noFill/>
        </p:spPr>
        <p:txBody>
          <a:bodyPr wrap="none" rtlCol="0">
            <a:spAutoFit/>
          </a:bodyPr>
          <a:lstStyle/>
          <a:p>
            <a:r>
              <a:rPr lang="en-US" dirty="0"/>
              <a:t>Wrong</a:t>
            </a:r>
            <a:r>
              <a:rPr lang="en-US" dirty="0">
                <a:sym typeface="Wingdings" pitchFamily="2" charset="2"/>
              </a:rPr>
              <a:t></a:t>
            </a:r>
            <a:endParaRPr lang="en-US" dirty="0"/>
          </a:p>
        </p:txBody>
      </p:sp>
    </p:spTree>
    <p:extLst>
      <p:ext uri="{BB962C8B-B14F-4D97-AF65-F5344CB8AC3E}">
        <p14:creationId xmlns:p14="http://schemas.microsoft.com/office/powerpoint/2010/main" val="539398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030" b="3970"/>
          <a:stretch/>
        </p:blipFill>
        <p:spPr>
          <a:xfrm>
            <a:off x="1879152" y="284480"/>
            <a:ext cx="9400988" cy="6339840"/>
          </a:xfrm>
          <a:prstGeom prst="rect">
            <a:avLst/>
          </a:prstGeom>
        </p:spPr>
      </p:pic>
    </p:spTree>
    <p:extLst>
      <p:ext uri="{BB962C8B-B14F-4D97-AF65-F5344CB8AC3E}">
        <p14:creationId xmlns:p14="http://schemas.microsoft.com/office/powerpoint/2010/main" val="18441976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619A0-5E13-9A17-9F29-B8B2AD12542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E2D5A9-D624-E40D-FA91-08D19A885A43}"/>
              </a:ext>
            </a:extLst>
          </p:cNvPr>
          <p:cNvSpPr txBox="1"/>
          <p:nvPr/>
        </p:nvSpPr>
        <p:spPr>
          <a:xfrm>
            <a:off x="317500" y="1281026"/>
            <a:ext cx="11544300" cy="3170099"/>
          </a:xfrm>
          <a:prstGeom prst="rect">
            <a:avLst/>
          </a:prstGeom>
          <a:noFill/>
        </p:spPr>
        <p:txBody>
          <a:bodyPr wrap="square" rtlCol="0">
            <a:spAutoFit/>
          </a:bodyPr>
          <a:lstStyle/>
          <a:p>
            <a:pPr algn="ctr"/>
            <a:r>
              <a:rPr lang="en-US" sz="4000" dirty="0"/>
              <a:t>Many models have nonlinear transformations such as link functions</a:t>
            </a:r>
          </a:p>
          <a:p>
            <a:pPr algn="ctr"/>
            <a:endParaRPr lang="en-US" sz="4000" dirty="0"/>
          </a:p>
          <a:p>
            <a:pPr algn="ctr"/>
            <a:r>
              <a:rPr lang="en-US" sz="4000" dirty="0"/>
              <a:t>We will use a Poisson regression model for ant richness to highlight issues to be aware of</a:t>
            </a:r>
          </a:p>
        </p:txBody>
      </p:sp>
      <p:sp>
        <p:nvSpPr>
          <p:cNvPr id="3" name="TextBox 2">
            <a:extLst>
              <a:ext uri="{FF2B5EF4-FFF2-40B4-BE49-F238E27FC236}">
                <a16:creationId xmlns:a16="http://schemas.microsoft.com/office/drawing/2014/main" id="{AAE383B9-1277-4C47-7E21-E74062815346}"/>
              </a:ext>
            </a:extLst>
          </p:cNvPr>
          <p:cNvSpPr txBox="1"/>
          <p:nvPr/>
        </p:nvSpPr>
        <p:spPr>
          <a:xfrm>
            <a:off x="4675976" y="105368"/>
            <a:ext cx="2703497" cy="830997"/>
          </a:xfrm>
          <a:prstGeom prst="rect">
            <a:avLst/>
          </a:prstGeom>
          <a:noFill/>
        </p:spPr>
        <p:txBody>
          <a:bodyPr wrap="none" rtlCol="0">
            <a:spAutoFit/>
          </a:bodyPr>
          <a:lstStyle/>
          <a:p>
            <a:pPr algn="ctr"/>
            <a:r>
              <a:rPr lang="en-US" sz="4800" b="1" dirty="0"/>
              <a:t>Priors Lab</a:t>
            </a:r>
          </a:p>
        </p:txBody>
      </p:sp>
    </p:spTree>
    <p:extLst>
      <p:ext uri="{BB962C8B-B14F-4D97-AF65-F5344CB8AC3E}">
        <p14:creationId xmlns:p14="http://schemas.microsoft.com/office/powerpoint/2010/main" val="30769041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618" b="3382"/>
          <a:stretch/>
        </p:blipFill>
        <p:spPr>
          <a:xfrm>
            <a:off x="1139165" y="431942"/>
            <a:ext cx="9528835" cy="6426057"/>
          </a:xfrm>
          <a:prstGeom prst="rect">
            <a:avLst/>
          </a:prstGeom>
        </p:spPr>
      </p:pic>
    </p:spTree>
    <p:extLst>
      <p:ext uri="{BB962C8B-B14F-4D97-AF65-F5344CB8AC3E}">
        <p14:creationId xmlns:p14="http://schemas.microsoft.com/office/powerpoint/2010/main" val="21774379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45014F-8C5C-BD8F-0099-9F888A7D5687}"/>
              </a:ext>
            </a:extLst>
          </p:cNvPr>
          <p:cNvSpPr txBox="1"/>
          <p:nvPr/>
        </p:nvSpPr>
        <p:spPr>
          <a:xfrm>
            <a:off x="315894" y="748532"/>
            <a:ext cx="11182485" cy="6247864"/>
          </a:xfrm>
          <a:prstGeom prst="rect">
            <a:avLst/>
          </a:prstGeom>
          <a:noFill/>
        </p:spPr>
        <p:txBody>
          <a:bodyPr wrap="none" rtlCol="0">
            <a:spAutoFit/>
          </a:bodyPr>
          <a:lstStyle/>
          <a:p>
            <a:pPr algn="ctr"/>
            <a:r>
              <a:rPr lang="en-US" sz="4000" dirty="0"/>
              <a:t>Work Through the Lizards Labs</a:t>
            </a:r>
          </a:p>
          <a:p>
            <a:pPr algn="ctr"/>
            <a:r>
              <a:rPr lang="en-US" sz="4000" b="1" u="sng" dirty="0"/>
              <a:t>Use the lab page (section B) to guide you through Lizards_Nimble.R.</a:t>
            </a:r>
          </a:p>
          <a:p>
            <a:pPr algn="ctr"/>
            <a:endParaRPr lang="en-US" sz="4000" dirty="0"/>
          </a:p>
          <a:p>
            <a:pPr algn="ctr"/>
            <a:r>
              <a:rPr lang="en-US" sz="4000" dirty="0"/>
              <a:t>Use the </a:t>
            </a:r>
            <a:r>
              <a:rPr lang="en-US" sz="4000" b="1" u="sng" dirty="0"/>
              <a:t>lab page</a:t>
            </a:r>
            <a:r>
              <a:rPr lang="en-US" sz="4000" dirty="0"/>
              <a:t> to guide you through the code</a:t>
            </a:r>
          </a:p>
          <a:p>
            <a:pPr algn="ctr"/>
            <a:endParaRPr lang="en-US" sz="4000" dirty="0"/>
          </a:p>
          <a:p>
            <a:pPr algn="ctr"/>
            <a:r>
              <a:rPr lang="en-US" sz="4000" dirty="0"/>
              <a:t>Fit the model in Nimble (lizzard.R is the original JAGS version, for comparison).</a:t>
            </a:r>
          </a:p>
          <a:p>
            <a:pPr algn="ctr"/>
            <a:r>
              <a:rPr lang="en-US" sz="4000" dirty="0"/>
              <a:t>The Nimble code for the walkthrough is provided.</a:t>
            </a:r>
          </a:p>
          <a:p>
            <a:pPr algn="ctr"/>
            <a:r>
              <a:rPr lang="en-US" sz="4000" dirty="0"/>
              <a:t>Problems 5 and 6 ask you to write your own lizards model.</a:t>
            </a:r>
          </a:p>
          <a:p>
            <a:pPr algn="ctr"/>
            <a:endParaRPr lang="en-US" sz="4000" dirty="0"/>
          </a:p>
          <a:p>
            <a:pPr algn="ctr"/>
            <a:r>
              <a:rPr lang="en-US" sz="4000" dirty="0"/>
              <a:t>Visualize and interpret the output</a:t>
            </a:r>
          </a:p>
        </p:txBody>
      </p:sp>
      <p:sp>
        <p:nvSpPr>
          <p:cNvPr id="3" name="TextBox 2">
            <a:extLst>
              <a:ext uri="{FF2B5EF4-FFF2-40B4-BE49-F238E27FC236}">
                <a16:creationId xmlns:a16="http://schemas.microsoft.com/office/drawing/2014/main" id="{AEC5D9CD-F00C-9B95-CEFF-54960B6C8C1F}"/>
              </a:ext>
            </a:extLst>
          </p:cNvPr>
          <p:cNvSpPr txBox="1"/>
          <p:nvPr/>
        </p:nvSpPr>
        <p:spPr>
          <a:xfrm>
            <a:off x="1742693" y="-60288"/>
            <a:ext cx="8706614" cy="830997"/>
          </a:xfrm>
          <a:prstGeom prst="rect">
            <a:avLst/>
          </a:prstGeom>
          <a:noFill/>
        </p:spPr>
        <p:txBody>
          <a:bodyPr wrap="none" rtlCol="0">
            <a:spAutoFit/>
          </a:bodyPr>
          <a:lstStyle/>
          <a:p>
            <a:pPr algn="ctr"/>
            <a:r>
              <a:rPr lang="en-US" sz="4800" b="1" dirty="0"/>
              <a:t>Lizard Occurrence on Islands Labs</a:t>
            </a:r>
          </a:p>
        </p:txBody>
      </p:sp>
    </p:spTree>
    <p:extLst>
      <p:ext uri="{BB962C8B-B14F-4D97-AF65-F5344CB8AC3E}">
        <p14:creationId xmlns:p14="http://schemas.microsoft.com/office/powerpoint/2010/main" val="13719470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F73431-EB21-16AD-4E77-577DD9BBEFA0}"/>
              </a:ext>
            </a:extLst>
          </p:cNvPr>
          <p:cNvSpPr txBox="1"/>
          <p:nvPr/>
        </p:nvSpPr>
        <p:spPr>
          <a:xfrm>
            <a:off x="-1" y="15544"/>
            <a:ext cx="11515411" cy="646331"/>
          </a:xfrm>
          <a:prstGeom prst="rect">
            <a:avLst/>
          </a:prstGeom>
          <a:noFill/>
        </p:spPr>
        <p:txBody>
          <a:bodyPr wrap="square" rtlCol="0">
            <a:spAutoFit/>
          </a:bodyPr>
          <a:lstStyle/>
          <a:p>
            <a:pPr algn="ctr"/>
            <a:r>
              <a:rPr lang="en-US" sz="3600" dirty="0"/>
              <a:t>Latent Variable Modeling I - Occupancy</a:t>
            </a:r>
          </a:p>
        </p:txBody>
      </p:sp>
      <p:pic>
        <p:nvPicPr>
          <p:cNvPr id="3" name="Picture 2">
            <a:extLst>
              <a:ext uri="{FF2B5EF4-FFF2-40B4-BE49-F238E27FC236}">
                <a16:creationId xmlns:a16="http://schemas.microsoft.com/office/drawing/2014/main" id="{E6FC8BCD-426B-68E3-E751-821BFA22C751}"/>
              </a:ext>
            </a:extLst>
          </p:cNvPr>
          <p:cNvPicPr>
            <a:picLocks noChangeAspect="1"/>
          </p:cNvPicPr>
          <p:nvPr/>
        </p:nvPicPr>
        <p:blipFill>
          <a:blip r:embed="rId2"/>
          <a:stretch>
            <a:fillRect/>
          </a:stretch>
        </p:blipFill>
        <p:spPr>
          <a:xfrm>
            <a:off x="63918" y="721210"/>
            <a:ext cx="7772400" cy="3738622"/>
          </a:xfrm>
          <a:prstGeom prst="rect">
            <a:avLst/>
          </a:prstGeom>
        </p:spPr>
      </p:pic>
      <p:sp>
        <p:nvSpPr>
          <p:cNvPr id="4" name="TextBox 3">
            <a:extLst>
              <a:ext uri="{FF2B5EF4-FFF2-40B4-BE49-F238E27FC236}">
                <a16:creationId xmlns:a16="http://schemas.microsoft.com/office/drawing/2014/main" id="{976683B4-5C03-3EE1-B22C-BBB9B271B8A3}"/>
              </a:ext>
            </a:extLst>
          </p:cNvPr>
          <p:cNvSpPr txBox="1"/>
          <p:nvPr/>
        </p:nvSpPr>
        <p:spPr>
          <a:xfrm>
            <a:off x="8712201" y="1473340"/>
            <a:ext cx="3415882" cy="830997"/>
          </a:xfrm>
          <a:prstGeom prst="rect">
            <a:avLst/>
          </a:prstGeom>
          <a:noFill/>
        </p:spPr>
        <p:txBody>
          <a:bodyPr wrap="square" rtlCol="0">
            <a:spAutoFit/>
          </a:bodyPr>
          <a:lstStyle/>
          <a:p>
            <a:r>
              <a:rPr lang="en-US" sz="2400" dirty="0"/>
              <a:t>“Latent variable” inferred rather than observed</a:t>
            </a:r>
          </a:p>
        </p:txBody>
      </p:sp>
      <p:cxnSp>
        <p:nvCxnSpPr>
          <p:cNvPr id="6" name="Straight Arrow Connector 5">
            <a:extLst>
              <a:ext uri="{FF2B5EF4-FFF2-40B4-BE49-F238E27FC236}">
                <a16:creationId xmlns:a16="http://schemas.microsoft.com/office/drawing/2014/main" id="{5B84EB79-CE0D-54BB-B305-6D1B72C9A427}"/>
              </a:ext>
            </a:extLst>
          </p:cNvPr>
          <p:cNvCxnSpPr>
            <a:cxnSpLocks/>
          </p:cNvCxnSpPr>
          <p:nvPr/>
        </p:nvCxnSpPr>
        <p:spPr>
          <a:xfrm flipH="1">
            <a:off x="7416800" y="2073505"/>
            <a:ext cx="1314799" cy="31648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pic>
        <p:nvPicPr>
          <p:cNvPr id="10" name="Picture 9">
            <a:extLst>
              <a:ext uri="{FF2B5EF4-FFF2-40B4-BE49-F238E27FC236}">
                <a16:creationId xmlns:a16="http://schemas.microsoft.com/office/drawing/2014/main" id="{2FF510BD-2E1D-9375-BE31-7973E64EF4A2}"/>
              </a:ext>
            </a:extLst>
          </p:cNvPr>
          <p:cNvPicPr>
            <a:picLocks noChangeAspect="1"/>
          </p:cNvPicPr>
          <p:nvPr/>
        </p:nvPicPr>
        <p:blipFill>
          <a:blip r:embed="rId3"/>
          <a:stretch>
            <a:fillRect/>
          </a:stretch>
        </p:blipFill>
        <p:spPr>
          <a:xfrm>
            <a:off x="393701" y="4459832"/>
            <a:ext cx="5918200" cy="2273300"/>
          </a:xfrm>
          <a:prstGeom prst="rect">
            <a:avLst/>
          </a:prstGeom>
        </p:spPr>
      </p:pic>
      <p:sp>
        <p:nvSpPr>
          <p:cNvPr id="11" name="TextBox 10">
            <a:extLst>
              <a:ext uri="{FF2B5EF4-FFF2-40B4-BE49-F238E27FC236}">
                <a16:creationId xmlns:a16="http://schemas.microsoft.com/office/drawing/2014/main" id="{B80C1BBE-84F7-5044-9615-245210B2EFF2}"/>
              </a:ext>
            </a:extLst>
          </p:cNvPr>
          <p:cNvSpPr txBox="1"/>
          <p:nvPr/>
        </p:nvSpPr>
        <p:spPr>
          <a:xfrm>
            <a:off x="7836318" y="5812127"/>
            <a:ext cx="6127750" cy="523220"/>
          </a:xfrm>
          <a:prstGeom prst="rect">
            <a:avLst/>
          </a:prstGeom>
          <a:noFill/>
        </p:spPr>
        <p:txBody>
          <a:bodyPr wrap="square">
            <a:spAutoFit/>
          </a:bodyPr>
          <a:lstStyle/>
          <a:p>
            <a:r>
              <a:rPr lang="en-US" sz="2800" dirty="0"/>
              <a:t>What should the priors be?</a:t>
            </a:r>
          </a:p>
        </p:txBody>
      </p:sp>
    </p:spTree>
    <p:extLst>
      <p:ext uri="{BB962C8B-B14F-4D97-AF65-F5344CB8AC3E}">
        <p14:creationId xmlns:p14="http://schemas.microsoft.com/office/powerpoint/2010/main" val="2095353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4265" b="5147"/>
          <a:stretch/>
        </p:blipFill>
        <p:spPr>
          <a:xfrm>
            <a:off x="1219744" y="-38100"/>
            <a:ext cx="9369879" cy="6360160"/>
          </a:xfrm>
          <a:prstGeom prst="rect">
            <a:avLst/>
          </a:prstGeom>
        </p:spPr>
      </p:pic>
      <p:sp>
        <p:nvSpPr>
          <p:cNvPr id="4" name="TextBox 3">
            <a:extLst>
              <a:ext uri="{FF2B5EF4-FFF2-40B4-BE49-F238E27FC236}">
                <a16:creationId xmlns:a16="http://schemas.microsoft.com/office/drawing/2014/main" id="{A9995C0D-21DE-CCE1-2B4D-6900AE05F627}"/>
              </a:ext>
            </a:extLst>
          </p:cNvPr>
          <p:cNvSpPr txBox="1"/>
          <p:nvPr/>
        </p:nvSpPr>
        <p:spPr>
          <a:xfrm>
            <a:off x="170633" y="6036994"/>
            <a:ext cx="11468100" cy="646331"/>
          </a:xfrm>
          <a:prstGeom prst="rect">
            <a:avLst/>
          </a:prstGeom>
          <a:noFill/>
        </p:spPr>
        <p:txBody>
          <a:bodyPr wrap="square">
            <a:spAutoFit/>
          </a:bodyPr>
          <a:lstStyle/>
          <a:p>
            <a:r>
              <a:rPr lang="en-US" dirty="0"/>
              <a:t>An implied Uniform(0,1) prior for </a:t>
            </a:r>
            <a:r>
              <a:rPr lang="el-GR" i="1" dirty="0"/>
              <a:t>ψ</a:t>
            </a:r>
            <a:r>
              <a:rPr lang="el-GR" dirty="0"/>
              <a:t> </a:t>
            </a:r>
            <a:r>
              <a:rPr lang="en-US" dirty="0"/>
              <a:t>is a Logistic distribution prior for </a:t>
            </a:r>
            <a:r>
              <a:rPr lang="en-US" i="1" dirty="0"/>
              <a:t>intercept</a:t>
            </a:r>
            <a:r>
              <a:rPr lang="el-GR" dirty="0"/>
              <a:t> </a:t>
            </a:r>
            <a:r>
              <a:rPr lang="en-US" dirty="0"/>
              <a:t>centered at 0 with scale parameter 1 </a:t>
            </a:r>
          </a:p>
          <a:p>
            <a:pPr algn="ctr"/>
            <a:r>
              <a:rPr lang="en-US" dirty="0"/>
              <a:t>Logistic(</a:t>
            </a:r>
            <a:r>
              <a:rPr lang="el-GR" dirty="0"/>
              <a:t>μ = 0, σ = 1) </a:t>
            </a:r>
            <a:endParaRPr lang="en-US" dirty="0"/>
          </a:p>
        </p:txBody>
      </p:sp>
    </p:spTree>
    <p:extLst>
      <p:ext uri="{BB962C8B-B14F-4D97-AF65-F5344CB8AC3E}">
        <p14:creationId xmlns:p14="http://schemas.microsoft.com/office/powerpoint/2010/main" val="34614307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86013" y="141377"/>
            <a:ext cx="8798673" cy="646331"/>
          </a:xfrm>
          <a:prstGeom prst="rect">
            <a:avLst/>
          </a:prstGeom>
          <a:noFill/>
        </p:spPr>
        <p:txBody>
          <a:bodyPr wrap="square" rtlCol="0">
            <a:spAutoFit/>
          </a:bodyPr>
          <a:lstStyle/>
          <a:p>
            <a:r>
              <a:rPr lang="en-US" sz="3600"/>
              <a:t>DYNAMIC OCCUPANCY MODELING </a:t>
            </a:r>
            <a:r>
              <a:rPr lang="en-US" sz="3600" dirty="0"/>
              <a:t>LAB</a:t>
            </a:r>
          </a:p>
        </p:txBody>
      </p:sp>
      <p:pic>
        <p:nvPicPr>
          <p:cNvPr id="5122" name="Picture 2" descr="ynamic site-occupancy model. z is true occupancy (0 or 1) of a sit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1836" y="1377819"/>
            <a:ext cx="5381625" cy="42609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69560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551073" y="355600"/>
            <a:ext cx="4408899" cy="707886"/>
          </a:xfrm>
          <a:prstGeom prst="rect">
            <a:avLst/>
          </a:prstGeom>
          <a:noFill/>
        </p:spPr>
        <p:txBody>
          <a:bodyPr wrap="none" rtlCol="0">
            <a:spAutoFit/>
          </a:bodyPr>
          <a:lstStyle/>
          <a:p>
            <a:pPr algn="ctr"/>
            <a:r>
              <a:rPr lang="en-US" sz="4000" b="1" dirty="0"/>
              <a:t>Hierarchical Models</a:t>
            </a:r>
          </a:p>
        </p:txBody>
      </p:sp>
      <p:sp>
        <p:nvSpPr>
          <p:cNvPr id="2" name="Rectangle 1"/>
          <p:cNvSpPr/>
          <p:nvPr/>
        </p:nvSpPr>
        <p:spPr>
          <a:xfrm>
            <a:off x="787400" y="2253843"/>
            <a:ext cx="10769600" cy="1785104"/>
          </a:xfrm>
          <a:prstGeom prst="rect">
            <a:avLst/>
          </a:prstGeom>
        </p:spPr>
        <p:txBody>
          <a:bodyPr wrap="square">
            <a:spAutoFit/>
          </a:bodyPr>
          <a:lstStyle/>
          <a:p>
            <a:r>
              <a:rPr lang="en-US" sz="2200" b="1" dirty="0">
                <a:solidFill>
                  <a:srgbClr val="202122"/>
                </a:solidFill>
                <a:latin typeface="Arial" charset="0"/>
              </a:rPr>
              <a:t>From Wikipedia: </a:t>
            </a:r>
          </a:p>
          <a:p>
            <a:endParaRPr lang="en-US" sz="2200" b="1" dirty="0">
              <a:solidFill>
                <a:srgbClr val="202122"/>
              </a:solidFill>
              <a:latin typeface="Arial" charset="0"/>
            </a:endParaRPr>
          </a:p>
          <a:p>
            <a:r>
              <a:rPr lang="en-US" sz="2200" b="1" dirty="0">
                <a:solidFill>
                  <a:srgbClr val="202122"/>
                </a:solidFill>
                <a:latin typeface="Arial" charset="0"/>
              </a:rPr>
              <a:t>Multilevel models</a:t>
            </a:r>
            <a:r>
              <a:rPr lang="en-US" sz="2200" dirty="0">
                <a:solidFill>
                  <a:srgbClr val="202122"/>
                </a:solidFill>
                <a:latin typeface="Arial" charset="0"/>
              </a:rPr>
              <a:t> (also known as </a:t>
            </a:r>
            <a:r>
              <a:rPr lang="en-US" sz="2200" b="1" dirty="0">
                <a:solidFill>
                  <a:srgbClr val="202122"/>
                </a:solidFill>
                <a:latin typeface="Arial" charset="0"/>
              </a:rPr>
              <a:t>hierarchical linear models</a:t>
            </a:r>
            <a:r>
              <a:rPr lang="en-US" sz="2200" dirty="0">
                <a:solidFill>
                  <a:srgbClr val="202122"/>
                </a:solidFill>
                <a:latin typeface="Arial" charset="0"/>
              </a:rPr>
              <a:t>, </a:t>
            </a:r>
            <a:r>
              <a:rPr lang="en-US" sz="2200" b="1" dirty="0">
                <a:solidFill>
                  <a:srgbClr val="202122"/>
                </a:solidFill>
                <a:latin typeface="Arial" charset="0"/>
              </a:rPr>
              <a:t>linear mixed-effect model</a:t>
            </a:r>
            <a:r>
              <a:rPr lang="en-US" sz="2200" dirty="0">
                <a:solidFill>
                  <a:srgbClr val="202122"/>
                </a:solidFill>
                <a:latin typeface="Arial" charset="0"/>
              </a:rPr>
              <a:t>, </a:t>
            </a:r>
            <a:r>
              <a:rPr lang="en-US" sz="2200" b="1" dirty="0">
                <a:solidFill>
                  <a:srgbClr val="202122"/>
                </a:solidFill>
                <a:latin typeface="Arial" charset="0"/>
              </a:rPr>
              <a:t>mixed models</a:t>
            </a:r>
            <a:r>
              <a:rPr lang="en-US" sz="2200" dirty="0">
                <a:solidFill>
                  <a:srgbClr val="202122"/>
                </a:solidFill>
                <a:latin typeface="Arial" charset="0"/>
              </a:rPr>
              <a:t>, </a:t>
            </a:r>
            <a:r>
              <a:rPr lang="en-US" sz="2200" b="1" dirty="0">
                <a:solidFill>
                  <a:srgbClr val="202122"/>
                </a:solidFill>
                <a:latin typeface="Arial" charset="0"/>
              </a:rPr>
              <a:t>nested data models</a:t>
            </a:r>
            <a:r>
              <a:rPr lang="en-US" sz="2200" dirty="0">
                <a:solidFill>
                  <a:srgbClr val="202122"/>
                </a:solidFill>
                <a:latin typeface="Arial" charset="0"/>
              </a:rPr>
              <a:t>, </a:t>
            </a:r>
            <a:r>
              <a:rPr lang="en-US" sz="2200" b="1" dirty="0">
                <a:solidFill>
                  <a:srgbClr val="202122"/>
                </a:solidFill>
                <a:latin typeface="Arial" charset="0"/>
              </a:rPr>
              <a:t>random coefficient</a:t>
            </a:r>
            <a:r>
              <a:rPr lang="en-US" sz="2200" dirty="0">
                <a:solidFill>
                  <a:srgbClr val="202122"/>
                </a:solidFill>
                <a:latin typeface="Arial" charset="0"/>
              </a:rPr>
              <a:t>, </a:t>
            </a:r>
            <a:r>
              <a:rPr lang="en-US" sz="2200" b="1" dirty="0">
                <a:solidFill>
                  <a:srgbClr val="202122"/>
                </a:solidFill>
                <a:latin typeface="Arial" charset="0"/>
              </a:rPr>
              <a:t>random-effects models</a:t>
            </a:r>
            <a:r>
              <a:rPr lang="en-US" sz="2200" dirty="0">
                <a:solidFill>
                  <a:srgbClr val="202122"/>
                </a:solidFill>
                <a:latin typeface="Arial" charset="0"/>
              </a:rPr>
              <a:t>, </a:t>
            </a:r>
            <a:r>
              <a:rPr lang="en-US" sz="2200" b="1" dirty="0">
                <a:solidFill>
                  <a:srgbClr val="202122"/>
                </a:solidFill>
                <a:latin typeface="Arial" charset="0"/>
              </a:rPr>
              <a:t>random parameter models</a:t>
            </a:r>
            <a:r>
              <a:rPr lang="en-US" sz="2200" dirty="0">
                <a:solidFill>
                  <a:srgbClr val="202122"/>
                </a:solidFill>
                <a:latin typeface="Arial" charset="0"/>
              </a:rPr>
              <a:t>, or </a:t>
            </a:r>
            <a:r>
              <a:rPr lang="en-US" sz="2200" b="1" dirty="0">
                <a:solidFill>
                  <a:srgbClr val="202122"/>
                </a:solidFill>
                <a:latin typeface="Arial" charset="0"/>
              </a:rPr>
              <a:t>split-plot designs</a:t>
            </a:r>
            <a:r>
              <a:rPr lang="en-US" sz="2200" dirty="0">
                <a:solidFill>
                  <a:srgbClr val="202122"/>
                </a:solidFill>
                <a:latin typeface="Arial" charset="0"/>
              </a:rPr>
              <a:t>)</a:t>
            </a:r>
            <a:endParaRPr lang="en-US" sz="2200" dirty="0"/>
          </a:p>
        </p:txBody>
      </p:sp>
      <p:sp>
        <p:nvSpPr>
          <p:cNvPr id="7" name="TextBox 6"/>
          <p:cNvSpPr txBox="1"/>
          <p:nvPr/>
        </p:nvSpPr>
        <p:spPr>
          <a:xfrm>
            <a:off x="496800" y="5229304"/>
            <a:ext cx="11350800" cy="615553"/>
          </a:xfrm>
          <a:prstGeom prst="rect">
            <a:avLst/>
          </a:prstGeom>
          <a:noFill/>
        </p:spPr>
        <p:txBody>
          <a:bodyPr wrap="none" rtlCol="0">
            <a:spAutoFit/>
          </a:bodyPr>
          <a:lstStyle/>
          <a:p>
            <a:pPr algn="ctr"/>
            <a:r>
              <a:rPr lang="en-US" sz="3400" b="1" dirty="0"/>
              <a:t>Hierarchical models are very natural in a Bayesian framework </a:t>
            </a:r>
          </a:p>
        </p:txBody>
      </p:sp>
    </p:spTree>
    <p:extLst>
      <p:ext uri="{BB962C8B-B14F-4D97-AF65-F5344CB8AC3E}">
        <p14:creationId xmlns:p14="http://schemas.microsoft.com/office/powerpoint/2010/main" val="16451420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5827" b="16919"/>
          <a:stretch/>
        </p:blipFill>
        <p:spPr>
          <a:xfrm>
            <a:off x="1231900" y="622300"/>
            <a:ext cx="9017000" cy="5219700"/>
          </a:xfrm>
          <a:prstGeom prst="rect">
            <a:avLst/>
          </a:prstGeom>
        </p:spPr>
      </p:pic>
      <p:cxnSp>
        <p:nvCxnSpPr>
          <p:cNvPr id="4" name="Straight Connector 3"/>
          <p:cNvCxnSpPr/>
          <p:nvPr/>
        </p:nvCxnSpPr>
        <p:spPr>
          <a:xfrm>
            <a:off x="6543675" y="2628900"/>
            <a:ext cx="248602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a:off x="2452687" y="2967037"/>
            <a:ext cx="106203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076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5514" b="9927"/>
          <a:stretch/>
        </p:blipFill>
        <p:spPr>
          <a:xfrm>
            <a:off x="1130299" y="139700"/>
            <a:ext cx="9821517" cy="6223000"/>
          </a:xfrm>
          <a:prstGeom prst="rect">
            <a:avLst/>
          </a:prstGeom>
        </p:spPr>
      </p:pic>
      <p:sp>
        <p:nvSpPr>
          <p:cNvPr id="3" name="TextBox 2"/>
          <p:cNvSpPr txBox="1"/>
          <p:nvPr/>
        </p:nvSpPr>
        <p:spPr>
          <a:xfrm>
            <a:off x="7821540" y="3646269"/>
            <a:ext cx="4059584" cy="646331"/>
          </a:xfrm>
          <a:prstGeom prst="rect">
            <a:avLst/>
          </a:prstGeom>
          <a:noFill/>
        </p:spPr>
        <p:txBody>
          <a:bodyPr wrap="square" rtlCol="0">
            <a:spAutoFit/>
          </a:bodyPr>
          <a:lstStyle/>
          <a:p>
            <a:r>
              <a:rPr lang="en-US" dirty="0"/>
              <a:t>Gamma is the conjugate prior and flexible/non-negative. Good choice here</a:t>
            </a:r>
          </a:p>
        </p:txBody>
      </p:sp>
      <p:cxnSp>
        <p:nvCxnSpPr>
          <p:cNvPr id="4" name="Straight Arrow Connector 3"/>
          <p:cNvCxnSpPr/>
          <p:nvPr/>
        </p:nvCxnSpPr>
        <p:spPr>
          <a:xfrm flipH="1">
            <a:off x="7666932" y="4292600"/>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5637140" y="6034553"/>
            <a:ext cx="4827660" cy="646331"/>
          </a:xfrm>
          <a:prstGeom prst="rect">
            <a:avLst/>
          </a:prstGeom>
          <a:noFill/>
        </p:spPr>
        <p:txBody>
          <a:bodyPr wrap="square" rtlCol="0">
            <a:spAutoFit/>
          </a:bodyPr>
          <a:lstStyle/>
          <a:p>
            <a:r>
              <a:rPr lang="en-US" dirty="0"/>
              <a:t>These are called </a:t>
            </a:r>
            <a:r>
              <a:rPr lang="en-US" dirty="0" err="1"/>
              <a:t>hyperpriors</a:t>
            </a:r>
            <a:r>
              <a:rPr lang="en-US" dirty="0"/>
              <a:t>. </a:t>
            </a:r>
          </a:p>
          <a:p>
            <a:r>
              <a:rPr lang="en-US" dirty="0"/>
              <a:t>What is going on here? Is this possible in </a:t>
            </a:r>
            <a:r>
              <a:rPr lang="en-US" dirty="0" err="1"/>
              <a:t>glmer</a:t>
            </a:r>
            <a:r>
              <a:rPr lang="en-US" dirty="0"/>
              <a:t>()</a:t>
            </a:r>
          </a:p>
        </p:txBody>
      </p:sp>
      <p:cxnSp>
        <p:nvCxnSpPr>
          <p:cNvPr id="6" name="Straight Arrow Connector 5"/>
          <p:cNvCxnSpPr/>
          <p:nvPr/>
        </p:nvCxnSpPr>
        <p:spPr>
          <a:xfrm flipH="1" flipV="1">
            <a:off x="5753100" y="5740400"/>
            <a:ext cx="1168400" cy="2941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7125796" y="514177"/>
            <a:ext cx="2643260" cy="369332"/>
          </a:xfrm>
          <a:prstGeom prst="rect">
            <a:avLst/>
          </a:prstGeom>
          <a:noFill/>
        </p:spPr>
        <p:txBody>
          <a:bodyPr wrap="square" rtlCol="0">
            <a:spAutoFit/>
          </a:bodyPr>
          <a:lstStyle/>
          <a:p>
            <a:r>
              <a:rPr lang="en-US" dirty="0"/>
              <a:t>#</a:t>
            </a:r>
            <a:r>
              <a:rPr lang="en-US"/>
              <a:t>offspring per pair of owls</a:t>
            </a:r>
            <a:endParaRPr lang="en-US" dirty="0"/>
          </a:p>
        </p:txBody>
      </p:sp>
      <p:cxnSp>
        <p:nvCxnSpPr>
          <p:cNvPr id="14" name="Straight Arrow Connector 13"/>
          <p:cNvCxnSpPr>
            <a:stCxn id="13" idx="2"/>
          </p:cNvCxnSpPr>
          <p:nvPr/>
        </p:nvCxnSpPr>
        <p:spPr>
          <a:xfrm flipH="1">
            <a:off x="6384232" y="883509"/>
            <a:ext cx="2063194" cy="65851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222250" y="973867"/>
            <a:ext cx="3860800" cy="2031325"/>
          </a:xfrm>
          <a:prstGeom prst="rect">
            <a:avLst/>
          </a:prstGeom>
          <a:noFill/>
        </p:spPr>
        <p:txBody>
          <a:bodyPr wrap="square" rtlCol="0">
            <a:spAutoFit/>
          </a:bodyPr>
          <a:lstStyle/>
          <a:p>
            <a:r>
              <a:rPr lang="en-US" dirty="0"/>
              <a:t>Model offspring counts with Poisson, but each individual’s rate parameter drawn from a Gamma distribution.</a:t>
            </a:r>
          </a:p>
          <a:p>
            <a:endParaRPr lang="en-US" dirty="0"/>
          </a:p>
          <a:p>
            <a:r>
              <a:rPr lang="en-US" dirty="0"/>
              <a:t>Not just variance in counts, but variance within owl pair and among owl pairs!</a:t>
            </a:r>
          </a:p>
        </p:txBody>
      </p:sp>
      <p:cxnSp>
        <p:nvCxnSpPr>
          <p:cNvPr id="18" name="Straight Arrow Connector 17"/>
          <p:cNvCxnSpPr/>
          <p:nvPr/>
        </p:nvCxnSpPr>
        <p:spPr>
          <a:xfrm>
            <a:off x="3746500" y="1859097"/>
            <a:ext cx="2006600" cy="7825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4689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5514" b="9927"/>
          <a:stretch/>
        </p:blipFill>
        <p:spPr>
          <a:xfrm>
            <a:off x="1130299" y="139700"/>
            <a:ext cx="9821517" cy="6223000"/>
          </a:xfrm>
          <a:prstGeom prst="rect">
            <a:avLst/>
          </a:prstGeom>
        </p:spPr>
      </p:pic>
      <p:sp>
        <p:nvSpPr>
          <p:cNvPr id="3" name="TextBox 2"/>
          <p:cNvSpPr txBox="1"/>
          <p:nvPr/>
        </p:nvSpPr>
        <p:spPr>
          <a:xfrm>
            <a:off x="7821540" y="3646269"/>
            <a:ext cx="4059584" cy="646331"/>
          </a:xfrm>
          <a:prstGeom prst="rect">
            <a:avLst/>
          </a:prstGeom>
          <a:noFill/>
        </p:spPr>
        <p:txBody>
          <a:bodyPr wrap="square" rtlCol="0">
            <a:spAutoFit/>
          </a:bodyPr>
          <a:lstStyle/>
          <a:p>
            <a:r>
              <a:rPr lang="en-US" dirty="0"/>
              <a:t>Gamma is the conjugate prior and flexible/non-negative. Good choice here</a:t>
            </a:r>
          </a:p>
        </p:txBody>
      </p:sp>
      <p:cxnSp>
        <p:nvCxnSpPr>
          <p:cNvPr id="4" name="Straight Arrow Connector 3"/>
          <p:cNvCxnSpPr/>
          <p:nvPr/>
        </p:nvCxnSpPr>
        <p:spPr>
          <a:xfrm flipH="1">
            <a:off x="7759700" y="4292600"/>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5637140" y="6034553"/>
            <a:ext cx="4059584" cy="646331"/>
          </a:xfrm>
          <a:prstGeom prst="rect">
            <a:avLst/>
          </a:prstGeom>
          <a:noFill/>
        </p:spPr>
        <p:txBody>
          <a:bodyPr wrap="square" rtlCol="0">
            <a:spAutoFit/>
          </a:bodyPr>
          <a:lstStyle/>
          <a:p>
            <a:r>
              <a:rPr lang="en-US" dirty="0"/>
              <a:t>These are called </a:t>
            </a:r>
            <a:r>
              <a:rPr lang="en-US" dirty="0" err="1"/>
              <a:t>hyperpriors</a:t>
            </a:r>
            <a:r>
              <a:rPr lang="en-US" dirty="0"/>
              <a:t>. </a:t>
            </a:r>
          </a:p>
          <a:p>
            <a:r>
              <a:rPr lang="en-US" dirty="0"/>
              <a:t>What is going on here?</a:t>
            </a:r>
          </a:p>
        </p:txBody>
      </p:sp>
      <p:cxnSp>
        <p:nvCxnSpPr>
          <p:cNvPr id="6" name="Straight Arrow Connector 5"/>
          <p:cNvCxnSpPr/>
          <p:nvPr/>
        </p:nvCxnSpPr>
        <p:spPr>
          <a:xfrm flipH="1" flipV="1">
            <a:off x="5753100" y="5740400"/>
            <a:ext cx="1168400" cy="2941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0" y="99508"/>
            <a:ext cx="12191999" cy="1046440"/>
          </a:xfrm>
          <a:prstGeom prst="rect">
            <a:avLst/>
          </a:prstGeom>
          <a:solidFill>
            <a:schemeClr val="bg1"/>
          </a:solidFill>
        </p:spPr>
        <p:txBody>
          <a:bodyPr wrap="square" rtlCol="0">
            <a:spAutoFit/>
          </a:bodyPr>
          <a:lstStyle/>
          <a:p>
            <a:pPr algn="ctr"/>
            <a:r>
              <a:rPr lang="en-US" sz="4000" dirty="0"/>
              <a:t>This model is hierarchical. </a:t>
            </a:r>
          </a:p>
          <a:p>
            <a:pPr algn="ctr"/>
            <a:r>
              <a:rPr lang="en-US" sz="2200" dirty="0"/>
              <a:t>Individual fecundity comes from data from that individual </a:t>
            </a:r>
            <a:r>
              <a:rPr lang="en-US" sz="2200" i="1" dirty="0"/>
              <a:t>and </a:t>
            </a:r>
            <a:r>
              <a:rPr lang="en-US" sz="2200" dirty="0"/>
              <a:t>is informed by entire population</a:t>
            </a:r>
          </a:p>
        </p:txBody>
      </p:sp>
      <p:sp>
        <p:nvSpPr>
          <p:cNvPr id="8" name="TextBox 7"/>
          <p:cNvSpPr txBox="1"/>
          <p:nvPr/>
        </p:nvSpPr>
        <p:spPr>
          <a:xfrm>
            <a:off x="6553748" y="1851858"/>
            <a:ext cx="3297584" cy="369332"/>
          </a:xfrm>
          <a:prstGeom prst="rect">
            <a:avLst/>
          </a:prstGeom>
          <a:noFill/>
        </p:spPr>
        <p:txBody>
          <a:bodyPr wrap="square" rtlCol="0">
            <a:spAutoFit/>
          </a:bodyPr>
          <a:lstStyle/>
          <a:p>
            <a:r>
              <a:rPr lang="en-US"/>
              <a:t>Every individual has one of these</a:t>
            </a:r>
            <a:endParaRPr lang="en-US" dirty="0"/>
          </a:p>
        </p:txBody>
      </p:sp>
      <p:cxnSp>
        <p:nvCxnSpPr>
          <p:cNvPr id="9" name="Straight Arrow Connector 8"/>
          <p:cNvCxnSpPr/>
          <p:nvPr/>
        </p:nvCxnSpPr>
        <p:spPr>
          <a:xfrm flipH="1">
            <a:off x="6337300" y="2255277"/>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7137948" y="2613052"/>
            <a:ext cx="4495252" cy="369332"/>
          </a:xfrm>
          <a:prstGeom prst="rect">
            <a:avLst/>
          </a:prstGeom>
          <a:noFill/>
        </p:spPr>
        <p:txBody>
          <a:bodyPr wrap="square" rtlCol="0">
            <a:spAutoFit/>
          </a:bodyPr>
          <a:lstStyle/>
          <a:p>
            <a:r>
              <a:rPr lang="en-US" dirty="0"/>
              <a:t>But they arise from a common distribution</a:t>
            </a:r>
          </a:p>
        </p:txBody>
      </p:sp>
      <p:cxnSp>
        <p:nvCxnSpPr>
          <p:cNvPr id="11" name="Straight Arrow Connector 10"/>
          <p:cNvCxnSpPr/>
          <p:nvPr/>
        </p:nvCxnSpPr>
        <p:spPr>
          <a:xfrm flipH="1">
            <a:off x="6921500" y="3016471"/>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3234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6031" y="0"/>
            <a:ext cx="5511381" cy="646331"/>
          </a:xfrm>
          <a:prstGeom prst="rect">
            <a:avLst/>
          </a:prstGeom>
          <a:noFill/>
        </p:spPr>
        <p:txBody>
          <a:bodyPr wrap="none" rtlCol="0">
            <a:spAutoFit/>
          </a:bodyPr>
          <a:lstStyle/>
          <a:p>
            <a:r>
              <a:rPr lang="en-US" sz="3600" dirty="0"/>
              <a:t>MULTILEVEL MODELING LAB</a:t>
            </a:r>
          </a:p>
        </p:txBody>
      </p:sp>
      <p:sp>
        <p:nvSpPr>
          <p:cNvPr id="3" name="Rectangle 2"/>
          <p:cNvSpPr/>
          <p:nvPr/>
        </p:nvSpPr>
        <p:spPr>
          <a:xfrm>
            <a:off x="7288829" y="108466"/>
            <a:ext cx="9476142" cy="461665"/>
          </a:xfrm>
          <a:prstGeom prst="rect">
            <a:avLst/>
          </a:prstGeom>
        </p:spPr>
        <p:txBody>
          <a:bodyPr wrap="square">
            <a:spAutoFit/>
          </a:bodyPr>
          <a:lstStyle/>
          <a:p>
            <a:r>
              <a:rPr lang="en-US" sz="2400" dirty="0" err="1"/>
              <a:t>Multilevel_Nimble.R and lab section C</a:t>
            </a:r>
            <a:endParaRPr lang="en-US" sz="2400" dirty="0"/>
          </a:p>
        </p:txBody>
      </p:sp>
      <p:pic>
        <p:nvPicPr>
          <p:cNvPr id="4" name="Picture 3">
            <a:extLst>
              <a:ext uri="{FF2B5EF4-FFF2-40B4-BE49-F238E27FC236}">
                <a16:creationId xmlns:a16="http://schemas.microsoft.com/office/drawing/2014/main" id="{C94226A9-1B6F-3A46-DF61-59426A9DC77C}"/>
              </a:ext>
            </a:extLst>
          </p:cNvPr>
          <p:cNvPicPr>
            <a:picLocks noChangeAspect="1"/>
          </p:cNvPicPr>
          <p:nvPr/>
        </p:nvPicPr>
        <p:blipFill>
          <a:blip r:embed="rId2"/>
          <a:srcRect t="34061"/>
          <a:stretch>
            <a:fillRect/>
          </a:stretch>
        </p:blipFill>
        <p:spPr>
          <a:xfrm>
            <a:off x="336549" y="604282"/>
            <a:ext cx="11547907" cy="5098018"/>
          </a:xfrm>
          <a:prstGeom prst="rect">
            <a:avLst/>
          </a:prstGeom>
        </p:spPr>
      </p:pic>
      <p:sp>
        <p:nvSpPr>
          <p:cNvPr id="5" name="TextBox 4">
            <a:extLst>
              <a:ext uri="{FF2B5EF4-FFF2-40B4-BE49-F238E27FC236}">
                <a16:creationId xmlns:a16="http://schemas.microsoft.com/office/drawing/2014/main" id="{0AAB0D1E-0D7C-D09E-64DA-49A91322F38C}"/>
              </a:ext>
            </a:extLst>
          </p:cNvPr>
          <p:cNvSpPr txBox="1"/>
          <p:nvPr/>
        </p:nvSpPr>
        <p:spPr>
          <a:xfrm>
            <a:off x="336549" y="5930552"/>
            <a:ext cx="11696700" cy="646331"/>
          </a:xfrm>
          <a:prstGeom prst="rect">
            <a:avLst/>
          </a:prstGeom>
          <a:noFill/>
        </p:spPr>
        <p:txBody>
          <a:bodyPr wrap="square" rtlCol="0">
            <a:spAutoFit/>
          </a:bodyPr>
          <a:lstStyle/>
          <a:p>
            <a:r>
              <a:rPr lang="en-US" dirty="0"/>
              <a:t>Sensitivity: changes in parameters of "vague" priors meaningfully changes the posterior when data sets are small or when they have high variance</a:t>
            </a:r>
          </a:p>
        </p:txBody>
      </p:sp>
    </p:spTree>
    <p:extLst>
      <p:ext uri="{BB962C8B-B14F-4D97-AF65-F5344CB8AC3E}">
        <p14:creationId xmlns:p14="http://schemas.microsoft.com/office/powerpoint/2010/main" val="8999104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281939" y="11465"/>
            <a:ext cx="3502369" cy="646331"/>
          </a:xfrm>
          <a:prstGeom prst="rect">
            <a:avLst/>
          </a:prstGeom>
          <a:noFill/>
        </p:spPr>
        <p:txBody>
          <a:bodyPr wrap="none" rtlCol="0">
            <a:spAutoFit/>
          </a:bodyPr>
          <a:lstStyle/>
          <a:p>
            <a:r>
              <a:rPr lang="en-US" sz="3600" dirty="0"/>
              <a:t>Complete pooling</a:t>
            </a:r>
          </a:p>
        </p:txBody>
      </p:sp>
      <p:pic>
        <p:nvPicPr>
          <p:cNvPr id="3" name="Picture 2"/>
          <p:cNvPicPr>
            <a:picLocks noChangeAspect="1"/>
          </p:cNvPicPr>
          <p:nvPr/>
        </p:nvPicPr>
        <p:blipFill>
          <a:blip r:embed="rId2"/>
          <a:stretch>
            <a:fillRect/>
          </a:stretch>
        </p:blipFill>
        <p:spPr>
          <a:xfrm>
            <a:off x="4893579" y="842462"/>
            <a:ext cx="7298421" cy="6015538"/>
          </a:xfrm>
          <a:prstGeom prst="rect">
            <a:avLst/>
          </a:prstGeom>
        </p:spPr>
      </p:pic>
      <p:sp>
        <p:nvSpPr>
          <p:cNvPr id="4" name="TextBox 3"/>
          <p:cNvSpPr txBox="1"/>
          <p:nvPr/>
        </p:nvSpPr>
        <p:spPr>
          <a:xfrm>
            <a:off x="910195" y="2979760"/>
            <a:ext cx="3297584" cy="369332"/>
          </a:xfrm>
          <a:prstGeom prst="rect">
            <a:avLst/>
          </a:prstGeom>
          <a:noFill/>
        </p:spPr>
        <p:txBody>
          <a:bodyPr wrap="square" rtlCol="0">
            <a:spAutoFit/>
          </a:bodyPr>
          <a:lstStyle/>
          <a:p>
            <a:r>
              <a:rPr lang="en-US" dirty="0"/>
              <a:t>Iterate likelihood over </a:t>
            </a:r>
            <a:r>
              <a:rPr lang="en-US"/>
              <a:t>the data</a:t>
            </a:r>
            <a:endParaRPr lang="en-US" dirty="0"/>
          </a:p>
        </p:txBody>
      </p:sp>
      <p:cxnSp>
        <p:nvCxnSpPr>
          <p:cNvPr id="5" name="Straight Arrow Connector 4"/>
          <p:cNvCxnSpPr>
            <a:endCxn id="3" idx="1"/>
          </p:cNvCxnSpPr>
          <p:nvPr/>
        </p:nvCxnSpPr>
        <p:spPr>
          <a:xfrm>
            <a:off x="3670300" y="3349092"/>
            <a:ext cx="1223279" cy="50113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955792" y="3617919"/>
            <a:ext cx="3297584" cy="369332"/>
          </a:xfrm>
          <a:prstGeom prst="rect">
            <a:avLst/>
          </a:prstGeom>
          <a:noFill/>
        </p:spPr>
        <p:txBody>
          <a:bodyPr wrap="square" rtlCol="0">
            <a:spAutoFit/>
          </a:bodyPr>
          <a:lstStyle/>
          <a:p>
            <a:r>
              <a:rPr lang="en-US" dirty="0"/>
              <a:t>Only one alpha and beta</a:t>
            </a:r>
          </a:p>
        </p:txBody>
      </p:sp>
      <p:cxnSp>
        <p:nvCxnSpPr>
          <p:cNvPr id="8" name="Straight Arrow Connector 7"/>
          <p:cNvCxnSpPr/>
          <p:nvPr/>
        </p:nvCxnSpPr>
        <p:spPr>
          <a:xfrm>
            <a:off x="3401561" y="395867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805876" y="1350453"/>
            <a:ext cx="3297584" cy="369332"/>
          </a:xfrm>
          <a:prstGeom prst="rect">
            <a:avLst/>
          </a:prstGeom>
          <a:noFill/>
        </p:spPr>
        <p:txBody>
          <a:bodyPr wrap="square" rtlCol="0">
            <a:spAutoFit/>
          </a:bodyPr>
          <a:lstStyle/>
          <a:p>
            <a:r>
              <a:rPr lang="en-US" dirty="0"/>
              <a:t>Only one alpha and beta</a:t>
            </a:r>
          </a:p>
        </p:txBody>
      </p:sp>
      <p:cxnSp>
        <p:nvCxnSpPr>
          <p:cNvPr id="11" name="Straight Arrow Connector 10"/>
          <p:cNvCxnSpPr/>
          <p:nvPr/>
        </p:nvCxnSpPr>
        <p:spPr>
          <a:xfrm>
            <a:off x="3180215" y="171978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10578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875069" y="0"/>
            <a:ext cx="2231701" cy="646331"/>
          </a:xfrm>
          <a:prstGeom prst="rect">
            <a:avLst/>
          </a:prstGeom>
          <a:noFill/>
        </p:spPr>
        <p:txBody>
          <a:bodyPr wrap="none" rtlCol="0">
            <a:spAutoFit/>
          </a:bodyPr>
          <a:lstStyle/>
          <a:p>
            <a:r>
              <a:rPr lang="en-US" sz="3600"/>
              <a:t>No pooling</a:t>
            </a:r>
            <a:endParaRPr lang="en-US" sz="3600" dirty="0"/>
          </a:p>
        </p:txBody>
      </p:sp>
      <p:pic>
        <p:nvPicPr>
          <p:cNvPr id="3" name="Picture 2"/>
          <p:cNvPicPr>
            <a:picLocks noChangeAspect="1"/>
          </p:cNvPicPr>
          <p:nvPr/>
        </p:nvPicPr>
        <p:blipFill>
          <a:blip r:embed="rId2"/>
          <a:stretch>
            <a:fillRect/>
          </a:stretch>
        </p:blipFill>
        <p:spPr>
          <a:xfrm>
            <a:off x="4292042" y="958273"/>
            <a:ext cx="7899958" cy="6014027"/>
          </a:xfrm>
          <a:prstGeom prst="rect">
            <a:avLst/>
          </a:prstGeom>
        </p:spPr>
      </p:pic>
      <p:sp>
        <p:nvSpPr>
          <p:cNvPr id="4" name="TextBox 3"/>
          <p:cNvSpPr txBox="1"/>
          <p:nvPr/>
        </p:nvSpPr>
        <p:spPr>
          <a:xfrm>
            <a:off x="204339" y="1350453"/>
            <a:ext cx="3297584" cy="369332"/>
          </a:xfrm>
          <a:prstGeom prst="rect">
            <a:avLst/>
          </a:prstGeom>
          <a:noFill/>
        </p:spPr>
        <p:txBody>
          <a:bodyPr wrap="square" rtlCol="0">
            <a:spAutoFit/>
          </a:bodyPr>
          <a:lstStyle/>
          <a:p>
            <a:r>
              <a:rPr lang="en-US" dirty="0"/>
              <a:t>Every site gets its own alpha</a:t>
            </a:r>
          </a:p>
        </p:txBody>
      </p:sp>
      <p:cxnSp>
        <p:nvCxnSpPr>
          <p:cNvPr id="5" name="Straight Arrow Connector 4"/>
          <p:cNvCxnSpPr/>
          <p:nvPr/>
        </p:nvCxnSpPr>
        <p:spPr>
          <a:xfrm>
            <a:off x="2578678" y="171978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296992" y="3594094"/>
            <a:ext cx="3297584" cy="646331"/>
          </a:xfrm>
          <a:prstGeom prst="rect">
            <a:avLst/>
          </a:prstGeom>
          <a:noFill/>
        </p:spPr>
        <p:txBody>
          <a:bodyPr wrap="square" rtlCol="0">
            <a:spAutoFit/>
          </a:bodyPr>
          <a:lstStyle/>
          <a:p>
            <a:r>
              <a:rPr lang="en-US" dirty="0"/>
              <a:t>Every site gets its own alpha</a:t>
            </a:r>
          </a:p>
          <a:p>
            <a:r>
              <a:rPr lang="en-US" dirty="0"/>
              <a:t>“group” was passed as data</a:t>
            </a:r>
          </a:p>
        </p:txBody>
      </p:sp>
      <p:cxnSp>
        <p:nvCxnSpPr>
          <p:cNvPr id="7" name="Straight Arrow Connector 6"/>
          <p:cNvCxnSpPr/>
          <p:nvPr/>
        </p:nvCxnSpPr>
        <p:spPr>
          <a:xfrm>
            <a:off x="2671331" y="3963426"/>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1153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5544"/>
            <a:ext cx="5420390" cy="954107"/>
          </a:xfrm>
          <a:prstGeom prst="rect">
            <a:avLst/>
          </a:prstGeom>
          <a:noFill/>
        </p:spPr>
        <p:txBody>
          <a:bodyPr wrap="square" rtlCol="0">
            <a:spAutoFit/>
          </a:bodyPr>
          <a:lstStyle/>
          <a:p>
            <a:pPr algn="ctr"/>
            <a:r>
              <a:rPr lang="en-US" sz="3600" dirty="0"/>
              <a:t>Random intercept</a:t>
            </a:r>
          </a:p>
          <a:p>
            <a:pPr algn="ctr"/>
            <a:r>
              <a:rPr lang="en-US" sz="2000" dirty="0"/>
              <a:t>Partial pooling</a:t>
            </a:r>
          </a:p>
        </p:txBody>
      </p:sp>
      <p:pic>
        <p:nvPicPr>
          <p:cNvPr id="5" name="Picture 4">
            <a:extLst>
              <a:ext uri="{FF2B5EF4-FFF2-40B4-BE49-F238E27FC236}">
                <a16:creationId xmlns:a16="http://schemas.microsoft.com/office/drawing/2014/main" id="{9309A0EE-E341-D7EC-C9AB-704C3073B7C2}"/>
              </a:ext>
            </a:extLst>
          </p:cNvPr>
          <p:cNvPicPr>
            <a:picLocks noChangeAspect="1"/>
          </p:cNvPicPr>
          <p:nvPr/>
        </p:nvPicPr>
        <p:blipFill>
          <a:blip r:embed="rId2"/>
          <a:stretch>
            <a:fillRect/>
          </a:stretch>
        </p:blipFill>
        <p:spPr>
          <a:xfrm>
            <a:off x="0" y="1841500"/>
            <a:ext cx="3972879" cy="3625850"/>
          </a:xfrm>
          <a:prstGeom prst="rect">
            <a:avLst/>
          </a:prstGeom>
        </p:spPr>
      </p:pic>
      <p:pic>
        <p:nvPicPr>
          <p:cNvPr id="8" name="Picture 7">
            <a:extLst>
              <a:ext uri="{FF2B5EF4-FFF2-40B4-BE49-F238E27FC236}">
                <a16:creationId xmlns:a16="http://schemas.microsoft.com/office/drawing/2014/main" id="{8FB57020-A4DC-3905-75E7-C569E5882051}"/>
              </a:ext>
            </a:extLst>
          </p:cNvPr>
          <p:cNvPicPr>
            <a:picLocks noChangeAspect="1"/>
          </p:cNvPicPr>
          <p:nvPr/>
        </p:nvPicPr>
        <p:blipFill>
          <a:blip r:embed="rId3"/>
          <a:stretch>
            <a:fillRect/>
          </a:stretch>
        </p:blipFill>
        <p:spPr>
          <a:xfrm>
            <a:off x="6439440" y="15544"/>
            <a:ext cx="5358319" cy="6858000"/>
          </a:xfrm>
          <a:prstGeom prst="rect">
            <a:avLst/>
          </a:prstGeom>
        </p:spPr>
      </p:pic>
      <p:sp>
        <p:nvSpPr>
          <p:cNvPr id="9" name="TextBox 8">
            <a:extLst>
              <a:ext uri="{FF2B5EF4-FFF2-40B4-BE49-F238E27FC236}">
                <a16:creationId xmlns:a16="http://schemas.microsoft.com/office/drawing/2014/main" id="{60EB0105-F335-E8EC-3C98-7B85918FDF70}"/>
              </a:ext>
            </a:extLst>
          </p:cNvPr>
          <p:cNvSpPr txBox="1"/>
          <p:nvPr/>
        </p:nvSpPr>
        <p:spPr>
          <a:xfrm>
            <a:off x="8783687" y="1841500"/>
            <a:ext cx="3014072" cy="646331"/>
          </a:xfrm>
          <a:prstGeom prst="rect">
            <a:avLst/>
          </a:prstGeom>
          <a:noFill/>
        </p:spPr>
        <p:txBody>
          <a:bodyPr wrap="square" rtlCol="0">
            <a:spAutoFit/>
          </a:bodyPr>
          <a:lstStyle/>
          <a:p>
            <a:r>
              <a:rPr lang="en-US" dirty="0"/>
              <a:t>Alpha varies by site but within shared distribution </a:t>
            </a:r>
          </a:p>
        </p:txBody>
      </p:sp>
      <p:cxnSp>
        <p:nvCxnSpPr>
          <p:cNvPr id="12" name="Straight Arrow Connector 11">
            <a:extLst>
              <a:ext uri="{FF2B5EF4-FFF2-40B4-BE49-F238E27FC236}">
                <a16:creationId xmlns:a16="http://schemas.microsoft.com/office/drawing/2014/main" id="{DB080A0A-48A4-C880-58D1-751579A98801}"/>
              </a:ext>
            </a:extLst>
          </p:cNvPr>
          <p:cNvCxnSpPr>
            <a:cxnSpLocks/>
            <a:stCxn id="9" idx="1"/>
          </p:cNvCxnSpPr>
          <p:nvPr/>
        </p:nvCxnSpPr>
        <p:spPr>
          <a:xfrm flipH="1" flipV="1">
            <a:off x="8251371" y="1937657"/>
            <a:ext cx="532316" cy="22700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36931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5544"/>
            <a:ext cx="5420390" cy="1261884"/>
          </a:xfrm>
          <a:prstGeom prst="rect">
            <a:avLst/>
          </a:prstGeom>
          <a:noFill/>
        </p:spPr>
        <p:txBody>
          <a:bodyPr wrap="square" rtlCol="0">
            <a:spAutoFit/>
          </a:bodyPr>
          <a:lstStyle/>
          <a:p>
            <a:pPr algn="ctr"/>
            <a:r>
              <a:rPr lang="en-US" sz="3600" dirty="0"/>
              <a:t>Random intercept</a:t>
            </a:r>
          </a:p>
          <a:p>
            <a:pPr algn="ctr"/>
            <a:r>
              <a:rPr lang="en-US" sz="2000" dirty="0"/>
              <a:t>Partial pooling, but also attempt to EXPLAIN site-level differences</a:t>
            </a:r>
          </a:p>
        </p:txBody>
      </p:sp>
      <p:pic>
        <p:nvPicPr>
          <p:cNvPr id="3" name="Picture 2"/>
          <p:cNvPicPr>
            <a:picLocks noChangeAspect="1"/>
          </p:cNvPicPr>
          <p:nvPr/>
        </p:nvPicPr>
        <p:blipFill>
          <a:blip r:embed="rId2"/>
          <a:stretch>
            <a:fillRect/>
          </a:stretch>
        </p:blipFill>
        <p:spPr>
          <a:xfrm>
            <a:off x="5377682" y="0"/>
            <a:ext cx="6814318" cy="6858000"/>
          </a:xfrm>
          <a:prstGeom prst="rect">
            <a:avLst/>
          </a:prstGeom>
        </p:spPr>
      </p:pic>
      <p:sp>
        <p:nvSpPr>
          <p:cNvPr id="4" name="TextBox 3"/>
          <p:cNvSpPr txBox="1"/>
          <p:nvPr/>
        </p:nvSpPr>
        <p:spPr>
          <a:xfrm>
            <a:off x="990152" y="4022216"/>
            <a:ext cx="3297584" cy="369332"/>
          </a:xfrm>
          <a:prstGeom prst="rect">
            <a:avLst/>
          </a:prstGeom>
          <a:noFill/>
        </p:spPr>
        <p:txBody>
          <a:bodyPr wrap="square" rtlCol="0">
            <a:spAutoFit/>
          </a:bodyPr>
          <a:lstStyle/>
          <a:p>
            <a:r>
              <a:rPr lang="en-US" dirty="0"/>
              <a:t>Every site gets its own alpha</a:t>
            </a:r>
          </a:p>
        </p:txBody>
      </p:sp>
      <p:pic>
        <p:nvPicPr>
          <p:cNvPr id="6" name="Picture 5"/>
          <p:cNvPicPr>
            <a:picLocks noChangeAspect="1"/>
          </p:cNvPicPr>
          <p:nvPr/>
        </p:nvPicPr>
        <p:blipFill>
          <a:blip r:embed="rId3"/>
          <a:stretch>
            <a:fillRect/>
          </a:stretch>
        </p:blipFill>
        <p:spPr>
          <a:xfrm>
            <a:off x="889118" y="3613157"/>
            <a:ext cx="3860800" cy="2730500"/>
          </a:xfrm>
          <a:prstGeom prst="rect">
            <a:avLst/>
          </a:prstGeom>
        </p:spPr>
      </p:pic>
      <p:sp>
        <p:nvSpPr>
          <p:cNvPr id="7" name="TextBox 6"/>
          <p:cNvSpPr txBox="1"/>
          <p:nvPr/>
        </p:nvSpPr>
        <p:spPr>
          <a:xfrm>
            <a:off x="0" y="1352206"/>
            <a:ext cx="5377682" cy="2031325"/>
          </a:xfrm>
          <a:prstGeom prst="rect">
            <a:avLst/>
          </a:prstGeom>
          <a:noFill/>
        </p:spPr>
        <p:txBody>
          <a:bodyPr wrap="square" rtlCol="0">
            <a:spAutoFit/>
          </a:bodyPr>
          <a:lstStyle/>
          <a:p>
            <a:r>
              <a:rPr lang="en-US" dirty="0"/>
              <a:t>In the previous example, we assumed that the variation in the intercept was attributable to spatial variation among sites. We did not try to explain that variation, we simply acknowledged that it exists. Now we are going to “model a parameter” using soil carbon content data at the site-level to explain variation in the intercepts among sites. </a:t>
            </a:r>
          </a:p>
        </p:txBody>
      </p:sp>
      <p:sp>
        <p:nvSpPr>
          <p:cNvPr id="10" name="TextBox 9"/>
          <p:cNvSpPr txBox="1"/>
          <p:nvPr/>
        </p:nvSpPr>
        <p:spPr>
          <a:xfrm>
            <a:off x="9177929" y="4530047"/>
            <a:ext cx="3014072" cy="646331"/>
          </a:xfrm>
          <a:prstGeom prst="rect">
            <a:avLst/>
          </a:prstGeom>
          <a:noFill/>
        </p:spPr>
        <p:txBody>
          <a:bodyPr wrap="square" rtlCol="0">
            <a:spAutoFit/>
          </a:bodyPr>
          <a:lstStyle/>
          <a:p>
            <a:r>
              <a:rPr lang="en-US" dirty="0"/>
              <a:t>Alpha varies by site but within shared distribution </a:t>
            </a:r>
          </a:p>
        </p:txBody>
      </p:sp>
      <p:cxnSp>
        <p:nvCxnSpPr>
          <p:cNvPr id="11" name="Straight Arrow Connector 10"/>
          <p:cNvCxnSpPr>
            <a:stCxn id="10" idx="1"/>
          </p:cNvCxnSpPr>
          <p:nvPr/>
        </p:nvCxnSpPr>
        <p:spPr>
          <a:xfrm flipH="1" flipV="1">
            <a:off x="8658225" y="4668547"/>
            <a:ext cx="519704" cy="1846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9177928" y="3383531"/>
            <a:ext cx="3014072" cy="646331"/>
          </a:xfrm>
          <a:prstGeom prst="rect">
            <a:avLst/>
          </a:prstGeom>
          <a:noFill/>
        </p:spPr>
        <p:txBody>
          <a:bodyPr wrap="square" rtlCol="0">
            <a:spAutoFit/>
          </a:bodyPr>
          <a:lstStyle/>
          <a:p>
            <a:r>
              <a:rPr lang="en-US" dirty="0"/>
              <a:t>Flexibility! Intercepts can depend on soil carbon</a:t>
            </a:r>
          </a:p>
        </p:txBody>
      </p:sp>
      <p:cxnSp>
        <p:nvCxnSpPr>
          <p:cNvPr id="18" name="Straight Arrow Connector 17"/>
          <p:cNvCxnSpPr/>
          <p:nvPr/>
        </p:nvCxnSpPr>
        <p:spPr>
          <a:xfrm flipH="1">
            <a:off x="8229600" y="4022217"/>
            <a:ext cx="948329" cy="369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5521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85763" y="34090"/>
            <a:ext cx="11806237" cy="1077218"/>
          </a:xfrm>
          <a:prstGeom prst="rect">
            <a:avLst/>
          </a:prstGeom>
          <a:noFill/>
        </p:spPr>
        <p:txBody>
          <a:bodyPr wrap="square" rtlCol="0">
            <a:spAutoFit/>
          </a:bodyPr>
          <a:lstStyle/>
          <a:p>
            <a:pPr algn="ctr"/>
            <a:r>
              <a:rPr lang="en-US" sz="4000" b="1" dirty="0"/>
              <a:t>N-mixture Models</a:t>
            </a:r>
          </a:p>
          <a:p>
            <a:pPr algn="ctr"/>
            <a:r>
              <a:rPr lang="en-US" sz="2400" b="1" dirty="0"/>
              <a:t>Separating Process and Observation Error</a:t>
            </a:r>
          </a:p>
        </p:txBody>
      </p:sp>
      <p:sp>
        <p:nvSpPr>
          <p:cNvPr id="4" name="TextBox 3"/>
          <p:cNvSpPr txBox="1"/>
          <p:nvPr/>
        </p:nvSpPr>
        <p:spPr>
          <a:xfrm>
            <a:off x="576027" y="1252010"/>
            <a:ext cx="11039945" cy="830997"/>
          </a:xfrm>
          <a:prstGeom prst="rect">
            <a:avLst/>
          </a:prstGeom>
          <a:noFill/>
        </p:spPr>
        <p:txBody>
          <a:bodyPr wrap="none" rtlCol="0">
            <a:spAutoFit/>
          </a:bodyPr>
          <a:lstStyle/>
          <a:p>
            <a:pPr marL="285750" indent="-285750">
              <a:buFont typeface="Arial" charset="0"/>
              <a:buChar char="•"/>
            </a:pPr>
            <a:r>
              <a:rPr lang="en-US" sz="2400" dirty="0"/>
              <a:t>Imperfect detection is also a problem when estimating </a:t>
            </a:r>
            <a:r>
              <a:rPr lang="en-US" sz="2400" b="1" u="sng" dirty="0"/>
              <a:t>abundance</a:t>
            </a:r>
          </a:p>
          <a:p>
            <a:pPr marL="285750" indent="-285750">
              <a:buFont typeface="Arial" charset="0"/>
              <a:buChar char="•"/>
            </a:pPr>
            <a:r>
              <a:rPr lang="en-US" sz="2400" dirty="0"/>
              <a:t>N-mixture models can account for imperfect detection of individuals within a species</a:t>
            </a:r>
          </a:p>
        </p:txBody>
      </p:sp>
      <p:sp>
        <p:nvSpPr>
          <p:cNvPr id="7" name="TextBox 6"/>
          <p:cNvSpPr txBox="1"/>
          <p:nvPr/>
        </p:nvSpPr>
        <p:spPr>
          <a:xfrm>
            <a:off x="700088" y="4774992"/>
            <a:ext cx="10128863" cy="954107"/>
          </a:xfrm>
          <a:prstGeom prst="rect">
            <a:avLst/>
          </a:prstGeom>
          <a:noFill/>
        </p:spPr>
        <p:txBody>
          <a:bodyPr wrap="none" rtlCol="0">
            <a:spAutoFit/>
          </a:bodyPr>
          <a:lstStyle/>
          <a:p>
            <a:pPr marL="514350" indent="-514350">
              <a:buFont typeface="+mj-lt"/>
              <a:buAutoNum type="arabicPeriod"/>
            </a:pPr>
            <a:r>
              <a:rPr lang="en-US" sz="2800" dirty="0"/>
              <a:t>What should the prior distributions be?</a:t>
            </a:r>
          </a:p>
          <a:p>
            <a:pPr marL="514350" indent="-514350">
              <a:buFont typeface="+mj-lt"/>
              <a:buAutoNum type="arabicPeriod"/>
            </a:pPr>
            <a:r>
              <a:rPr lang="en-US" sz="2800" dirty="0"/>
              <a:t>How should we link these variables to environmental covariates?</a:t>
            </a:r>
          </a:p>
        </p:txBody>
      </p:sp>
      <p:pic>
        <p:nvPicPr>
          <p:cNvPr id="8" name="Picture 7"/>
          <p:cNvPicPr>
            <a:picLocks noChangeAspect="1"/>
          </p:cNvPicPr>
          <p:nvPr/>
        </p:nvPicPr>
        <p:blipFill>
          <a:blip r:embed="rId2"/>
          <a:stretch>
            <a:fillRect/>
          </a:stretch>
        </p:blipFill>
        <p:spPr>
          <a:xfrm>
            <a:off x="0" y="2665077"/>
            <a:ext cx="12192000" cy="1527845"/>
          </a:xfrm>
          <a:prstGeom prst="rect">
            <a:avLst/>
          </a:prstGeom>
        </p:spPr>
      </p:pic>
    </p:spTree>
    <p:extLst>
      <p:ext uri="{BB962C8B-B14F-4D97-AF65-F5344CB8AC3E}">
        <p14:creationId xmlns:p14="http://schemas.microsoft.com/office/powerpoint/2010/main" val="14810636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17781" y="2753592"/>
            <a:ext cx="5404043" cy="646331"/>
          </a:xfrm>
          <a:prstGeom prst="rect">
            <a:avLst/>
          </a:prstGeom>
          <a:noFill/>
        </p:spPr>
        <p:txBody>
          <a:bodyPr wrap="none" rtlCol="0">
            <a:spAutoFit/>
          </a:bodyPr>
          <a:lstStyle/>
          <a:p>
            <a:r>
              <a:rPr lang="en-US" sz="3600"/>
              <a:t>N-MIXTURE MODELING </a:t>
            </a:r>
            <a:r>
              <a:rPr lang="en-US" sz="3600" dirty="0"/>
              <a:t>LAB</a:t>
            </a:r>
          </a:p>
        </p:txBody>
      </p:sp>
    </p:spTree>
    <p:extLst>
      <p:ext uri="{BB962C8B-B14F-4D97-AF65-F5344CB8AC3E}">
        <p14:creationId xmlns:p14="http://schemas.microsoft.com/office/powerpoint/2010/main" val="17914242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37425</TotalTime>
  <Words>726</Words>
  <Application>Microsoft Macintosh PowerPoint</Application>
  <PresentationFormat>Widescreen</PresentationFormat>
  <Paragraphs>95</Paragraphs>
  <Slides>26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Calibri Light</vt:lpstr>
      <vt:lpstr>Wingdings</vt:lpstr>
      <vt:lpstr>Office Theme</vt:lpstr>
      <vt:lpstr>PowerPoint Presentation</vt:lpstr>
      <vt:lpstr>Where to go from here</vt:lpstr>
      <vt:lpstr>Where to go from here</vt:lpstr>
      <vt:lpstr>This course is just a jumping off point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Levi, Taal</dc:creator>
  <cp:lastModifiedBy>Levi, Taal</cp:lastModifiedBy>
  <cp:revision>301</cp:revision>
  <dcterms:created xsi:type="dcterms:W3CDTF">2020-12-11T02:21:57Z</dcterms:created>
  <dcterms:modified xsi:type="dcterms:W3CDTF">2025-09-23T16:01:46Z</dcterms:modified>
</cp:coreProperties>
</file>