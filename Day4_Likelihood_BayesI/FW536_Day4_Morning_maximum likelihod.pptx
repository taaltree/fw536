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75" r:id="rId2"/>
    <p:sldId id="281" r:id="rId3"/>
    <p:sldId id="283" r:id="rId4"/>
    <p:sldId id="282" r:id="rId5"/>
    <p:sldId id="284" r:id="rId6"/>
    <p:sldId id="285" r:id="rId7"/>
    <p:sldId id="286" r:id="rId8"/>
    <p:sldId id="287" r:id="rId9"/>
    <p:sldId id="288" r:id="rId10"/>
    <p:sldId id="289" r:id="rId11"/>
    <p:sldId id="308" r:id="rId12"/>
    <p:sldId id="291" r:id="rId13"/>
    <p:sldId id="292" r:id="rId14"/>
    <p:sldId id="293" r:id="rId15"/>
    <p:sldId id="296" r:id="rId16"/>
    <p:sldId id="298" r:id="rId17"/>
    <p:sldId id="299" r:id="rId18"/>
    <p:sldId id="300" r:id="rId19"/>
    <p:sldId id="301" r:id="rId20"/>
    <p:sldId id="302" r:id="rId21"/>
    <p:sldId id="303" r:id="rId22"/>
    <p:sldId id="304" r:id="rId23"/>
    <p:sldId id="311" r:id="rId24"/>
    <p:sldId id="312" r:id="rId25"/>
    <p:sldId id="313" r:id="rId26"/>
    <p:sldId id="314" r:id="rId27"/>
    <p:sldId id="315" r:id="rId28"/>
    <p:sldId id="316" r:id="rId29"/>
    <p:sldId id="317" r:id="rId30"/>
    <p:sldId id="318" r:id="rId31"/>
    <p:sldId id="319" r:id="rId32"/>
    <p:sldId id="320" r:id="rId33"/>
    <p:sldId id="321" r:id="rId34"/>
    <p:sldId id="324" r:id="rId35"/>
    <p:sldId id="325" r:id="rId36"/>
    <p:sldId id="326" r:id="rId37"/>
    <p:sldId id="339" r:id="rId38"/>
    <p:sldId id="340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1348"/>
    <p:restoredTop sz="94705"/>
  </p:normalViewPr>
  <p:slideViewPr>
    <p:cSldViewPr snapToGrid="0" snapToObjects="1">
      <p:cViewPr varScale="1">
        <p:scale>
          <a:sx n="109" d="100"/>
          <a:sy n="109" d="100"/>
        </p:scale>
        <p:origin x="216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E9C380-474B-B64D-9372-661513FD5BBF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CC6C4-586F-AC4B-9BFA-B274AE447F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56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r>
              <a:rPr lang="en-US" altLang="en-US">
                <a:latin typeface="Times New Roman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42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9375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047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3119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62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481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2817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3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36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4038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020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914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17664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94889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390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591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152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2689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05150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093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66526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3532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17697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3095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491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0853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54250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0915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9824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3597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457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4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2587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2629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9753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595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91828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317594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45767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584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72495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052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55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69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71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970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32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668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9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43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140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1706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DC8F3-C415-6641-9620-75163596B5B4}" type="datetimeFigureOut">
              <a:rPr lang="en-US" smtClean="0"/>
              <a:t>9/21/25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D18628-8426-F843-851A-47F420681E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301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Relationship Id="rId5" Type="http://schemas.openxmlformats.org/officeDocument/2006/relationships/oleObject" Target="../embeddings/oleObject4.bin"/><Relationship Id="rId6" Type="http://schemas.openxmlformats.org/officeDocument/2006/relationships/image" Target="../media/image6.wmf"/><Relationship Id="rId7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6.wmf"/><Relationship Id="rId5" Type="http://schemas.openxmlformats.org/officeDocument/2006/relationships/oleObject" Target="../embeddings/oleObject6.bin"/><Relationship Id="rId6" Type="http://schemas.openxmlformats.org/officeDocument/2006/relationships/image" Target="../media/image8.w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9.wmf"/><Relationship Id="rId5" Type="http://schemas.openxmlformats.org/officeDocument/2006/relationships/oleObject" Target="../embeddings/oleObject8.bin"/><Relationship Id="rId6" Type="http://schemas.openxmlformats.org/officeDocument/2006/relationships/image" Target="../media/image10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12.wmf"/><Relationship Id="rId5" Type="http://schemas.openxmlformats.org/officeDocument/2006/relationships/image" Target="../media/image13.wmf"/><Relationship Id="rId6" Type="http://schemas.openxmlformats.org/officeDocument/2006/relationships/oleObject" Target="../embeddings/oleObject10.bin"/><Relationship Id="rId7" Type="http://schemas.openxmlformats.org/officeDocument/2006/relationships/image" Target="../media/image1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wm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image" Target="../media/image15.wm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Relationship Id="rId5" Type="http://schemas.openxmlformats.org/officeDocument/2006/relationships/oleObject" Target="../embeddings/oleObject14.bin"/><Relationship Id="rId6" Type="http://schemas.openxmlformats.org/officeDocument/2006/relationships/image" Target="../media/image16.wm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9.wmf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em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16.wmf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7.wmf"/><Relationship Id="rId7" Type="http://schemas.openxmlformats.org/officeDocument/2006/relationships/oleObject" Target="../embeddings/oleObject13.bin"/><Relationship Id="rId8" Type="http://schemas.openxmlformats.org/officeDocument/2006/relationships/image" Target="../media/image18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oleObject" Target="../embeddings/oleObject13.bin"/><Relationship Id="rId4" Type="http://schemas.openxmlformats.org/officeDocument/2006/relationships/image" Target="../media/image18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Relationship Id="rId3" Type="http://schemas.openxmlformats.org/officeDocument/2006/relationships/oleObject" Target="../embeddings/oleObject15.bin"/><Relationship Id="rId4" Type="http://schemas.openxmlformats.org/officeDocument/2006/relationships/image" Target="../media/image1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2.wm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emf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wmf"/><Relationship Id="rId6" Type="http://schemas.openxmlformats.org/officeDocument/2006/relationships/oleObject" Target="../embeddings/oleObject16.bin"/><Relationship Id="rId7" Type="http://schemas.openxmlformats.org/officeDocument/2006/relationships/image" Target="../media/image2.wm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oleObject" Target="../embeddings/oleObject17.bin"/><Relationship Id="rId4" Type="http://schemas.openxmlformats.org/officeDocument/2006/relationships/image" Target="../media/image22.wm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/>
          <a:lstStyle/>
          <a:p>
            <a:pPr algn="ctr" eaLnBrk="1" hangingPunct="1"/>
            <a:br>
              <a:rPr lang="en-US" altLang="en-US" sz="3200" b="1">
                <a:latin typeface="Arial" charset="0"/>
                <a:ea typeface="Arial" charset="0"/>
                <a:cs typeface="Arial" charset="0"/>
              </a:rPr>
            </a:br>
            <a:endParaRPr lang="en-AU" altLang="en-US" sz="3200" b="1"/>
          </a:p>
        </p:txBody>
      </p:sp>
      <p:sp>
        <p:nvSpPr>
          <p:cNvPr id="3076" name="Text Box 5"/>
          <p:cNvSpPr txBox="1">
            <a:spLocks noChangeArrowheads="1"/>
          </p:cNvSpPr>
          <p:nvPr/>
        </p:nvSpPr>
        <p:spPr bwMode="auto">
          <a:xfrm>
            <a:off x="3489325" y="2243138"/>
            <a:ext cx="18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endParaRPr lang="en-US" altLang="en-US"/>
          </a:p>
        </p:txBody>
      </p:sp>
      <p:sp>
        <p:nvSpPr>
          <p:cNvPr id="3077" name="Text Box 6"/>
          <p:cNvSpPr txBox="1">
            <a:spLocks noChangeArrowheads="1"/>
          </p:cNvSpPr>
          <p:nvPr/>
        </p:nvSpPr>
        <p:spPr bwMode="auto">
          <a:xfrm>
            <a:off x="2773359" y="2243138"/>
            <a:ext cx="702628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Nonlinear Models</a:t>
            </a:r>
          </a:p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</a:rPr>
              <a:t>Maximum Likelihood Primer</a:t>
            </a:r>
          </a:p>
        </p:txBody>
      </p:sp>
    </p:spTree>
    <p:extLst>
      <p:ext uri="{BB962C8B-B14F-4D97-AF65-F5344CB8AC3E}">
        <p14:creationId xmlns:p14="http://schemas.microsoft.com/office/powerpoint/2010/main" val="1224196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2147889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4000"/>
              <a:t>What is Maximum Likelihood-I?</a:t>
            </a:r>
          </a:p>
        </p:txBody>
      </p:sp>
      <p:sp>
        <p:nvSpPr>
          <p:cNvPr id="9219" name="Text Box 4"/>
          <p:cNvSpPr txBox="1">
            <a:spLocks noChangeArrowheads="1"/>
          </p:cNvSpPr>
          <p:nvPr/>
        </p:nvSpPr>
        <p:spPr bwMode="auto">
          <a:xfrm>
            <a:off x="1993075" y="1704110"/>
            <a:ext cx="8534400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Maximum likelihood is a method for fitting a mathematical model to some data. “Fitting” involves estimating the values for the parameters of the model. This is what is happening under the hood when you fit a </a:t>
            </a:r>
            <a:r>
              <a:rPr lang="en-AU" altLang="en-US" dirty="0" err="1"/>
              <a:t>glm</a:t>
            </a:r>
            <a:r>
              <a:rPr lang="en-AU" altLang="en-US" dirty="0"/>
              <a:t>, </a:t>
            </a:r>
            <a:r>
              <a:rPr lang="en-AU" altLang="en-US" dirty="0" err="1"/>
              <a:t>lmer</a:t>
            </a:r>
            <a:r>
              <a:rPr lang="en-AU" altLang="en-US" dirty="0"/>
              <a:t>, </a:t>
            </a:r>
            <a:r>
              <a:rPr lang="en-AU" altLang="en-US" dirty="0" err="1"/>
              <a:t>glmer</a:t>
            </a:r>
            <a:r>
              <a:rPr lang="en-AU" altLang="en-US" dirty="0"/>
              <a:t>, etc.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For some problems, you may not have canned functions, but this has become increasingly uncommon.</a:t>
            </a:r>
          </a:p>
        </p:txBody>
      </p:sp>
    </p:spTree>
    <p:extLst>
      <p:ext uri="{BB962C8B-B14F-4D97-AF65-F5344CB8AC3E}">
        <p14:creationId xmlns:p14="http://schemas.microsoft.com/office/powerpoint/2010/main" val="865999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65314"/>
            <a:ext cx="7793038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Likelihood-II?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1885950" y="1316265"/>
            <a:ext cx="86106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- Given a set of data, and a probability model, maximum </a:t>
            </a:r>
          </a:p>
          <a:p>
            <a:pPr eaLnBrk="1" hangingPunct="1">
              <a:defRPr/>
            </a:pPr>
            <a:r>
              <a:rPr lang="en-AU" altLang="en-US" dirty="0"/>
              <a:t>likelihood chooses the values for the parameters that were most likely to have produced the data</a:t>
            </a:r>
          </a:p>
        </p:txBody>
      </p:sp>
      <p:sp>
        <p:nvSpPr>
          <p:cNvPr id="11269" name="Text Box 7"/>
          <p:cNvSpPr txBox="1">
            <a:spLocks noChangeArrowheads="1"/>
          </p:cNvSpPr>
          <p:nvPr/>
        </p:nvSpPr>
        <p:spPr bwMode="auto">
          <a:xfrm>
            <a:off x="1917700" y="4777015"/>
            <a:ext cx="761093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i="1" dirty="0"/>
              <a:t>Probability</a:t>
            </a:r>
            <a:r>
              <a:rPr lang="en-AU" altLang="en-US" dirty="0"/>
              <a:t>: knowing parameters -&gt; predicting data.</a:t>
            </a:r>
          </a:p>
          <a:p>
            <a:pPr eaLnBrk="1" hangingPunct="1">
              <a:defRPr/>
            </a:pPr>
            <a:r>
              <a:rPr lang="en-AU" altLang="en-US" dirty="0"/>
              <a:t>  </a:t>
            </a:r>
            <a:r>
              <a:rPr lang="en-AU" altLang="en-US" b="1" i="1" dirty="0"/>
              <a:t> Likelihood</a:t>
            </a:r>
            <a:r>
              <a:rPr lang="en-AU" altLang="en-US" dirty="0"/>
              <a:t>: knowing data -&gt; parameter estimation.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495799" y="3062514"/>
            <a:ext cx="2964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L(</a:t>
            </a:r>
            <a:r>
              <a:rPr lang="en-US" sz="2800" dirty="0" err="1"/>
              <a:t>p|x</a:t>
            </a:r>
            <a:r>
              <a:rPr lang="en-US" sz="2800" dirty="0"/>
              <a:t>) = </a:t>
            </a:r>
            <a:r>
              <a:rPr lang="en-US" sz="2800" dirty="0" err="1"/>
              <a:t>Prob</a:t>
            </a:r>
            <a:r>
              <a:rPr lang="en-US" sz="2800" dirty="0"/>
              <a:t>(</a:t>
            </a:r>
            <a:r>
              <a:rPr lang="en-US" sz="2800" dirty="0" err="1"/>
              <a:t>x|p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1452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45677" y="-132229"/>
            <a:ext cx="9372600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 dirty="0"/>
              <a:t>What is Maximum Likelihood-II?</a:t>
            </a:r>
          </a:p>
        </p:txBody>
      </p:sp>
      <p:graphicFrame>
        <p:nvGraphicFramePr>
          <p:cNvPr id="304130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137149165"/>
              </p:ext>
            </p:extLst>
          </p:nvPr>
        </p:nvGraphicFramePr>
        <p:xfrm>
          <a:off x="2590800" y="2772509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2772509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4" name="Text Box 4"/>
          <p:cNvSpPr txBox="1">
            <a:spLocks noChangeArrowheads="1"/>
          </p:cNvSpPr>
          <p:nvPr/>
        </p:nvSpPr>
        <p:spPr bwMode="auto">
          <a:xfrm>
            <a:off x="1927225" y="2086709"/>
            <a:ext cx="56673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Parameters, data and error distributions:</a:t>
            </a:r>
          </a:p>
        </p:txBody>
      </p:sp>
      <p:graphicFrame>
        <p:nvGraphicFramePr>
          <p:cNvPr id="304132" name="Object 7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64039034"/>
              </p:ext>
            </p:extLst>
          </p:nvPr>
        </p:nvGraphicFramePr>
        <p:xfrm>
          <a:off x="7162799" y="2696309"/>
          <a:ext cx="1627188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799" y="2696309"/>
                        <a:ext cx="1627188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46" name="Text Box 9"/>
          <p:cNvSpPr txBox="1">
            <a:spLocks noChangeArrowheads="1"/>
          </p:cNvSpPr>
          <p:nvPr/>
        </p:nvSpPr>
        <p:spPr bwMode="auto">
          <a:xfrm>
            <a:off x="2057399" y="3839309"/>
            <a:ext cx="812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Data</a:t>
            </a:r>
          </a:p>
        </p:txBody>
      </p:sp>
      <p:sp>
        <p:nvSpPr>
          <p:cNvPr id="10247" name="Line 10"/>
          <p:cNvSpPr>
            <a:spLocks noChangeShapeType="1"/>
          </p:cNvSpPr>
          <p:nvPr/>
        </p:nvSpPr>
        <p:spPr bwMode="auto">
          <a:xfrm flipV="1">
            <a:off x="2514599" y="3305909"/>
            <a:ext cx="1524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1"/>
          <p:cNvSpPr>
            <a:spLocks noChangeShapeType="1"/>
          </p:cNvSpPr>
          <p:nvPr/>
        </p:nvSpPr>
        <p:spPr bwMode="auto">
          <a:xfrm flipV="1">
            <a:off x="2743199" y="3001109"/>
            <a:ext cx="1676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Text Box 12"/>
          <p:cNvSpPr txBox="1">
            <a:spLocks noChangeArrowheads="1"/>
          </p:cNvSpPr>
          <p:nvPr/>
        </p:nvSpPr>
        <p:spPr bwMode="auto">
          <a:xfrm>
            <a:off x="5105399" y="3839309"/>
            <a:ext cx="157003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10250" name="Line 13"/>
          <p:cNvSpPr>
            <a:spLocks noChangeShapeType="1"/>
          </p:cNvSpPr>
          <p:nvPr/>
        </p:nvSpPr>
        <p:spPr bwMode="auto">
          <a:xfrm flipH="1" flipV="1">
            <a:off x="3505199" y="3229709"/>
            <a:ext cx="1905000" cy="6858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1" name="Line 14"/>
          <p:cNvSpPr>
            <a:spLocks noChangeShapeType="1"/>
          </p:cNvSpPr>
          <p:nvPr/>
        </p:nvSpPr>
        <p:spPr bwMode="auto">
          <a:xfrm flipH="1" flipV="1">
            <a:off x="4267199" y="3001109"/>
            <a:ext cx="1600200" cy="9144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Line 15"/>
          <p:cNvSpPr>
            <a:spLocks noChangeShapeType="1"/>
          </p:cNvSpPr>
          <p:nvPr/>
        </p:nvSpPr>
        <p:spPr bwMode="auto">
          <a:xfrm flipV="1">
            <a:off x="6019799" y="3077309"/>
            <a:ext cx="2286000" cy="838200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3" name="Text Box 16"/>
          <p:cNvSpPr txBox="1">
            <a:spLocks noChangeArrowheads="1"/>
          </p:cNvSpPr>
          <p:nvPr/>
        </p:nvSpPr>
        <p:spPr bwMode="auto">
          <a:xfrm>
            <a:off x="8469312" y="3839309"/>
            <a:ext cx="84931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Error</a:t>
            </a:r>
          </a:p>
        </p:txBody>
      </p:sp>
      <p:sp>
        <p:nvSpPr>
          <p:cNvPr id="10254" name="Line 17"/>
          <p:cNvSpPr>
            <a:spLocks noChangeShapeType="1"/>
          </p:cNvSpPr>
          <p:nvPr/>
        </p:nvSpPr>
        <p:spPr bwMode="auto">
          <a:xfrm flipH="1" flipV="1">
            <a:off x="7391399" y="3077309"/>
            <a:ext cx="1219200" cy="6858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Line 18"/>
          <p:cNvSpPr>
            <a:spLocks noChangeShapeType="1"/>
          </p:cNvSpPr>
          <p:nvPr/>
        </p:nvSpPr>
        <p:spPr bwMode="auto">
          <a:xfrm flipH="1" flipV="1">
            <a:off x="5105399" y="3077309"/>
            <a:ext cx="3352800" cy="9144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6" name="Text Box 19"/>
          <p:cNvSpPr txBox="1">
            <a:spLocks noChangeArrowheads="1"/>
          </p:cNvSpPr>
          <p:nvPr/>
        </p:nvSpPr>
        <p:spPr bwMode="auto">
          <a:xfrm>
            <a:off x="1774826" y="5029201"/>
            <a:ext cx="8570913" cy="461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What are the data, parameters, and incorporation </a:t>
            </a:r>
            <a:r>
              <a:rPr lang="en-AU" altLang="en-US"/>
              <a:t>of error?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921194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6" grpId="0"/>
      <p:bldP spid="10249" grpId="0"/>
      <p:bldP spid="1025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152400"/>
            <a:ext cx="7793037" cy="1143000"/>
          </a:xfrm>
        </p:spPr>
        <p:txBody>
          <a:bodyPr/>
          <a:lstStyle/>
          <a:p>
            <a:pPr eaLnBrk="1" hangingPunct="1">
              <a:defRPr/>
            </a:pPr>
            <a:r>
              <a:rPr lang="en-AU" altLang="en-US" sz="4000"/>
              <a:t>What is Maximum Likelihood-III?</a:t>
            </a:r>
          </a:p>
        </p:txBody>
      </p:sp>
      <p:pic>
        <p:nvPicPr>
          <p:cNvPr id="1229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135063"/>
            <a:ext cx="5257800" cy="5249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6781800" y="2049464"/>
            <a:ext cx="35080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Which of these curves </a:t>
            </a:r>
          </a:p>
          <a:p>
            <a:pPr eaLnBrk="1" hangingPunct="1">
              <a:defRPr/>
            </a:pPr>
            <a:r>
              <a:rPr lang="en-AU" altLang="en-US"/>
              <a:t>are ”most likely” to have</a:t>
            </a:r>
          </a:p>
          <a:p>
            <a:pPr eaLnBrk="1" hangingPunct="1">
              <a:defRPr/>
            </a:pPr>
            <a:r>
              <a:rPr lang="en-AU" altLang="en-US"/>
              <a:t>generated the data?</a:t>
            </a:r>
          </a:p>
        </p:txBody>
      </p:sp>
      <p:sp>
        <p:nvSpPr>
          <p:cNvPr id="12293" name="Text Box 6"/>
          <p:cNvSpPr txBox="1">
            <a:spLocks noChangeArrowheads="1"/>
          </p:cNvSpPr>
          <p:nvPr/>
        </p:nvSpPr>
        <p:spPr bwMode="auto">
          <a:xfrm>
            <a:off x="6858000" y="4411664"/>
            <a:ext cx="329955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These two seem pretty</a:t>
            </a:r>
          </a:p>
          <a:p>
            <a:pPr eaLnBrk="1" hangingPunct="1">
              <a:defRPr/>
            </a:pPr>
            <a:r>
              <a:rPr lang="en-AU" altLang="en-US"/>
              <a:t>similar – is one better?</a:t>
            </a:r>
          </a:p>
        </p:txBody>
      </p:sp>
      <p:sp>
        <p:nvSpPr>
          <p:cNvPr id="12294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05800" y="5859463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CCEAE8E-A00D-B649-B815-25839E9727C6}" type="slidenum">
              <a:rPr lang="en-US" altLang="en-US" sz="1400"/>
              <a:pPr eaLnBrk="1" hangingPunct="1">
                <a:defRPr/>
              </a:pPr>
              <a:t>5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13658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Basics of Likelihood</a:t>
            </a:r>
          </a:p>
        </p:txBody>
      </p:sp>
      <p:sp>
        <p:nvSpPr>
          <p:cNvPr id="13315" name="Text Box 4"/>
          <p:cNvSpPr txBox="1">
            <a:spLocks noChangeArrowheads="1"/>
          </p:cNvSpPr>
          <p:nvPr/>
        </p:nvSpPr>
        <p:spPr bwMode="auto">
          <a:xfrm>
            <a:off x="581024" y="1312011"/>
            <a:ext cx="106358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likelihood of the data is the product of the likelihoods of each data point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758" y="3286047"/>
            <a:ext cx="6366445" cy="917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 Box 8"/>
          <p:cNvSpPr txBox="1">
            <a:spLocks noChangeArrowheads="1"/>
          </p:cNvSpPr>
          <p:nvPr/>
        </p:nvSpPr>
        <p:spPr bwMode="auto">
          <a:xfrm>
            <a:off x="0" y="5412544"/>
            <a:ext cx="447299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Notation often inconsistent, but IMO better  to put parameters conditional on data</a:t>
            </a:r>
          </a:p>
        </p:txBody>
      </p:sp>
      <p:sp>
        <p:nvSpPr>
          <p:cNvPr id="12" name="Text Box 9"/>
          <p:cNvSpPr txBox="1">
            <a:spLocks noChangeArrowheads="1"/>
          </p:cNvSpPr>
          <p:nvPr/>
        </p:nvSpPr>
        <p:spPr bwMode="auto">
          <a:xfrm>
            <a:off x="4619951" y="5181711"/>
            <a:ext cx="259397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set of data </a:t>
            </a:r>
            <a:r>
              <a:rPr lang="en-AU" altLang="en-US" i="1" dirty="0"/>
              <a:t>X</a:t>
            </a:r>
            <a:r>
              <a:rPr lang="en-AU" altLang="en-US" i="1" baseline="-25000" dirty="0"/>
              <a:t>i</a:t>
            </a:r>
          </a:p>
        </p:txBody>
      </p:sp>
      <p:sp>
        <p:nvSpPr>
          <p:cNvPr id="13" name="Line 10"/>
          <p:cNvSpPr>
            <a:spLocks noChangeShapeType="1"/>
          </p:cNvSpPr>
          <p:nvPr/>
        </p:nvSpPr>
        <p:spPr bwMode="auto">
          <a:xfrm flipV="1">
            <a:off x="2630384" y="4345744"/>
            <a:ext cx="152400" cy="914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" name="Line 11"/>
          <p:cNvSpPr>
            <a:spLocks noChangeShapeType="1"/>
          </p:cNvSpPr>
          <p:nvPr/>
        </p:nvSpPr>
        <p:spPr bwMode="auto">
          <a:xfrm flipH="1" flipV="1">
            <a:off x="4606637" y="4291680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5" name="Text Box 9"/>
          <p:cNvSpPr txBox="1">
            <a:spLocks noChangeArrowheads="1"/>
          </p:cNvSpPr>
          <p:nvPr/>
        </p:nvSpPr>
        <p:spPr bwMode="auto">
          <a:xfrm>
            <a:off x="7522215" y="5260144"/>
            <a:ext cx="429373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Product of the PDF/Likelihood across all data points</a:t>
            </a:r>
            <a:endParaRPr lang="en-AU" altLang="en-US" i="1" baseline="-25000" dirty="0"/>
          </a:p>
        </p:txBody>
      </p:sp>
      <p:sp>
        <p:nvSpPr>
          <p:cNvPr id="16" name="Line 11"/>
          <p:cNvSpPr>
            <a:spLocks noChangeShapeType="1"/>
          </p:cNvSpPr>
          <p:nvPr/>
        </p:nvSpPr>
        <p:spPr bwMode="auto">
          <a:xfrm flipH="1" flipV="1">
            <a:off x="7789860" y="4345744"/>
            <a:ext cx="6858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4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ext Box 5"/>
          <p:cNvSpPr txBox="1">
            <a:spLocks noChangeArrowheads="1"/>
          </p:cNvSpPr>
          <p:nvPr/>
        </p:nvSpPr>
        <p:spPr bwMode="auto">
          <a:xfrm>
            <a:off x="531846" y="2301511"/>
            <a:ext cx="10679723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deterministic (model) relationship </a:t>
            </a:r>
            <a:r>
              <a:rPr lang="en-AU" altLang="en-US" dirty="0"/>
              <a:t>between the input </a:t>
            </a:r>
          </a:p>
          <a:p>
            <a:pPr eaLnBrk="1" hangingPunct="1">
              <a:buFont typeface="Wingdings" charset="2"/>
              <a:buNone/>
              <a:defRPr/>
            </a:pPr>
            <a:r>
              <a:rPr lang="en-AU" altLang="en-US" dirty="0"/>
              <a:t>    variables (covariates) and the (expected) data: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None/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v"/>
              <a:defRPr/>
            </a:pPr>
            <a:r>
              <a:rPr lang="en-AU" altLang="en-US" dirty="0"/>
              <a:t> The </a:t>
            </a:r>
            <a:r>
              <a:rPr lang="en-AU" altLang="en-US" b="1" dirty="0"/>
              <a:t>probability model  </a:t>
            </a:r>
            <a:r>
              <a:rPr lang="en-AU" altLang="en-US" dirty="0"/>
              <a:t>for how the data pertain to the model prediction – in this case normal</a:t>
            </a:r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</a:t>
            </a:r>
          </a:p>
        </p:txBody>
      </p:sp>
      <p:graphicFrame>
        <p:nvGraphicFramePr>
          <p:cNvPr id="314371" name="Object 6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0454184"/>
              </p:ext>
            </p:extLst>
          </p:nvPr>
        </p:nvGraphicFramePr>
        <p:xfrm>
          <a:off x="4572001" y="3225679"/>
          <a:ext cx="2335213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68400" imgH="241300" progId="Equation.DSMT4">
                  <p:embed/>
                </p:oleObj>
              </mc:Choice>
              <mc:Fallback>
                <p:oleObj name="Equation" r:id="rId3" imgW="11684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1" y="3225679"/>
                        <a:ext cx="2335213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1" name="Text Box 4"/>
          <p:cNvSpPr txBox="1">
            <a:spLocks noChangeArrowheads="1"/>
          </p:cNvSpPr>
          <p:nvPr/>
        </p:nvSpPr>
        <p:spPr bwMode="auto">
          <a:xfrm>
            <a:off x="531846" y="1230213"/>
            <a:ext cx="1067972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To compute the likelihood for a given set of parameters we need:</a:t>
            </a:r>
          </a:p>
        </p:txBody>
      </p:sp>
      <p:graphicFrame>
        <p:nvGraphicFramePr>
          <p:cNvPr id="14342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0099472"/>
              </p:ext>
            </p:extLst>
          </p:nvPr>
        </p:nvGraphicFramePr>
        <p:xfrm>
          <a:off x="3610347" y="5045175"/>
          <a:ext cx="2663825" cy="582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33500" imgH="292100" progId="Equation.DSMT4">
                  <p:embed/>
                </p:oleObj>
              </mc:Choice>
              <mc:Fallback>
                <p:oleObj name="Equation" r:id="rId5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0347" y="5045175"/>
                        <a:ext cx="2663825" cy="582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" name="Text Box 10"/>
          <p:cNvSpPr txBox="1">
            <a:spLocks noChangeArrowheads="1"/>
          </p:cNvSpPr>
          <p:nvPr/>
        </p:nvSpPr>
        <p:spPr bwMode="auto">
          <a:xfrm>
            <a:off x="2915771" y="5730976"/>
            <a:ext cx="2051139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dirty="0"/>
              <a:t>Model prediction</a:t>
            </a:r>
          </a:p>
          <a:p>
            <a:pPr algn="ctr" eaLnBrk="1" hangingPunct="1">
              <a:defRPr/>
            </a:pPr>
            <a:r>
              <a:rPr lang="en-AU" altLang="en-US" sz="2000" dirty="0"/>
              <a:t>(Q: why here?)</a:t>
            </a:r>
          </a:p>
        </p:txBody>
      </p:sp>
      <p:sp>
        <p:nvSpPr>
          <p:cNvPr id="14344" name="Text Box 11"/>
          <p:cNvSpPr txBox="1">
            <a:spLocks noChangeArrowheads="1"/>
          </p:cNvSpPr>
          <p:nvPr/>
        </p:nvSpPr>
        <p:spPr bwMode="auto">
          <a:xfrm>
            <a:off x="6048747" y="5715101"/>
            <a:ext cx="70961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Data</a:t>
            </a:r>
          </a:p>
        </p:txBody>
      </p:sp>
      <p:sp>
        <p:nvSpPr>
          <p:cNvPr id="14345" name="Line 12"/>
          <p:cNvSpPr>
            <a:spLocks noChangeShapeType="1"/>
          </p:cNvSpPr>
          <p:nvPr/>
        </p:nvSpPr>
        <p:spPr bwMode="auto">
          <a:xfrm flipV="1">
            <a:off x="4677146" y="5349975"/>
            <a:ext cx="4572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6" name="Line 13"/>
          <p:cNvSpPr>
            <a:spLocks noChangeShapeType="1"/>
          </p:cNvSpPr>
          <p:nvPr/>
        </p:nvSpPr>
        <p:spPr bwMode="auto">
          <a:xfrm flipH="1" flipV="1">
            <a:off x="5515346" y="5349975"/>
            <a:ext cx="762000" cy="4572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808509-F1EA-4C7B-0049-595E95C126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3867" y="5197334"/>
            <a:ext cx="3423932" cy="94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763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" grpId="0"/>
      <p:bldP spid="143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9"/>
          <p:cNvSpPr txBox="1">
            <a:spLocks noChangeArrowheads="1"/>
          </p:cNvSpPr>
          <p:nvPr/>
        </p:nvSpPr>
        <p:spPr bwMode="auto">
          <a:xfrm>
            <a:off x="3889376" y="2963864"/>
            <a:ext cx="40941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/>
              <a:t>dnorm(observed, expected, sigma)</a:t>
            </a: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>
          <a:xfrm>
            <a:off x="260191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sz="3600"/>
              <a:t>Further Likelihood Considerations-II</a:t>
            </a:r>
          </a:p>
        </p:txBody>
      </p:sp>
      <p:graphicFrame>
        <p:nvGraphicFramePr>
          <p:cNvPr id="316419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3889376" y="1744663"/>
          <a:ext cx="2663825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33500" imgH="292100" progId="Equation.DSMT4">
                  <p:embed/>
                </p:oleObj>
              </mc:Choice>
              <mc:Fallback>
                <p:oleObj name="Equation" r:id="rId3" imgW="1333500" imgH="292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6" y="1744663"/>
                        <a:ext cx="2663825" cy="584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5" name="Text Box 4"/>
          <p:cNvSpPr txBox="1">
            <a:spLocks noChangeArrowheads="1"/>
          </p:cNvSpPr>
          <p:nvPr/>
        </p:nvSpPr>
        <p:spPr bwMode="auto">
          <a:xfrm>
            <a:off x="2068513" y="1211263"/>
            <a:ext cx="2201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In R, the term:</a:t>
            </a:r>
          </a:p>
        </p:txBody>
      </p:sp>
      <p:sp>
        <p:nvSpPr>
          <p:cNvPr id="15366" name="Text Box 7"/>
          <p:cNvSpPr txBox="1">
            <a:spLocks noChangeArrowheads="1"/>
          </p:cNvSpPr>
          <p:nvPr/>
        </p:nvSpPr>
        <p:spPr bwMode="auto">
          <a:xfrm>
            <a:off x="2060575" y="2430463"/>
            <a:ext cx="4648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is evaluated using the expression</a:t>
            </a:r>
          </a:p>
        </p:txBody>
      </p:sp>
      <p:sp>
        <p:nvSpPr>
          <p:cNvPr id="15367" name="Text Box 8"/>
          <p:cNvSpPr txBox="1">
            <a:spLocks noChangeArrowheads="1"/>
          </p:cNvSpPr>
          <p:nvPr/>
        </p:nvSpPr>
        <p:spPr bwMode="auto">
          <a:xfrm>
            <a:off x="2093913" y="4640263"/>
            <a:ext cx="11858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or in R:</a:t>
            </a:r>
          </a:p>
        </p:txBody>
      </p:sp>
      <p:sp>
        <p:nvSpPr>
          <p:cNvPr id="15368" name="Text Box 11"/>
          <p:cNvSpPr txBox="1">
            <a:spLocks noChangeArrowheads="1"/>
          </p:cNvSpPr>
          <p:nvPr/>
        </p:nvSpPr>
        <p:spPr bwMode="auto">
          <a:xfrm>
            <a:off x="1325143" y="3497263"/>
            <a:ext cx="810021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The full likelihood is the product over all the data points:</a:t>
            </a:r>
          </a:p>
        </p:txBody>
      </p:sp>
      <p:graphicFrame>
        <p:nvGraphicFramePr>
          <p:cNvPr id="316424" name="Object 12"/>
          <p:cNvGraphicFramePr>
            <a:graphicFrameLocks noGrp="1" noChangeAspect="1"/>
          </p:cNvGraphicFramePr>
          <p:nvPr>
            <p:ph sz="half" idx="2"/>
          </p:nvPr>
        </p:nvGraphicFramePr>
        <p:xfrm>
          <a:off x="3965575" y="3954463"/>
          <a:ext cx="3119438" cy="7413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49400" imgH="368300" progId="Equation.DSMT4">
                  <p:embed/>
                </p:oleObj>
              </mc:Choice>
              <mc:Fallback>
                <p:oleObj name="Equation" r:id="rId5" imgW="1549400" imgH="368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5575" y="3954463"/>
                        <a:ext cx="3119438" cy="7413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70" name="Text Box 14"/>
          <p:cNvSpPr txBox="1">
            <a:spLocks noChangeArrowheads="1"/>
          </p:cNvSpPr>
          <p:nvPr/>
        </p:nvSpPr>
        <p:spPr bwMode="auto">
          <a:xfrm>
            <a:off x="2706689" y="5097463"/>
            <a:ext cx="6446837" cy="400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 i="1" dirty="0"/>
              <a:t>prod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dnorm</a:t>
            </a:r>
            <a:r>
              <a:rPr lang="en-AU" altLang="en-US" sz="2000" dirty="0"/>
              <a:t>(</a:t>
            </a:r>
            <a:r>
              <a:rPr lang="en-AU" altLang="en-US" sz="2000" i="1" dirty="0" err="1"/>
              <a:t>observed_vector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expected_vector</a:t>
            </a:r>
            <a:r>
              <a:rPr lang="en-AU" altLang="en-US" sz="2000" i="1" dirty="0"/>
              <a:t>, sigma</a:t>
            </a:r>
            <a:r>
              <a:rPr lang="en-AU" altLang="en-US" sz="2000" dirty="0"/>
              <a:t>))</a:t>
            </a:r>
          </a:p>
        </p:txBody>
      </p:sp>
      <p:sp>
        <p:nvSpPr>
          <p:cNvPr id="2" name="Rectangle 1"/>
          <p:cNvSpPr/>
          <p:nvPr/>
        </p:nvSpPr>
        <p:spPr>
          <a:xfrm>
            <a:off x="892856" y="6142594"/>
            <a:ext cx="106192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Note: The function </a:t>
            </a:r>
            <a:r>
              <a:rPr lang="en-US" sz="2000" dirty="0" err="1"/>
              <a:t>dnorm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 returns the value of the normal distribution PDF given </a:t>
            </a:r>
            <a:r>
              <a:rPr lang="en-US" sz="2000" dirty="0">
                <a:solidFill>
                  <a:srgbClr val="333333"/>
                </a:solidFill>
                <a:latin typeface="STIXGeneral-Italic" charset="0"/>
              </a:rPr>
              <a:t>x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μ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, and </a:t>
            </a:r>
            <a:r>
              <a:rPr lang="en-US" sz="2000" dirty="0" err="1">
                <a:solidFill>
                  <a:srgbClr val="333333"/>
                </a:solidFill>
                <a:latin typeface="STIXGeneral-Italic" charset="0"/>
              </a:rPr>
              <a:t>σ</a:t>
            </a:r>
            <a:r>
              <a:rPr lang="en-US" sz="2000" dirty="0">
                <a:solidFill>
                  <a:srgbClr val="333333"/>
                </a:solidFill>
                <a:latin typeface="Helvetica Neue" charset="0"/>
              </a:rPr>
              <a:t>.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7414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3622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Back to our original problem</a:t>
            </a:r>
          </a:p>
        </p:txBody>
      </p:sp>
      <p:sp>
        <p:nvSpPr>
          <p:cNvPr id="16387" name="Rectangle 4"/>
          <p:cNvSpPr>
            <a:spLocks noChangeArrowheads="1"/>
          </p:cNvSpPr>
          <p:nvPr/>
        </p:nvSpPr>
        <p:spPr bwMode="auto">
          <a:xfrm>
            <a:off x="1524000" y="2169886"/>
            <a:ext cx="6400800" cy="10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 i="1" dirty="0" err="1"/>
              <a:t>pred_vec</a:t>
            </a:r>
            <a:r>
              <a:rPr lang="en-AU" altLang="en-US" sz="2000" i="1" dirty="0"/>
              <a:t> &lt;- </a:t>
            </a:r>
            <a:r>
              <a:rPr lang="en-AU" altLang="en-US" sz="2000" i="1" dirty="0" err="1"/>
              <a:t>Linfs</a:t>
            </a:r>
            <a:r>
              <a:rPr lang="en-AU" altLang="en-US" sz="2000" i="1" dirty="0"/>
              <a:t>[II]*(1-exp(-Kappa[II]*</a:t>
            </a:r>
            <a:r>
              <a:rPr lang="en-AU" altLang="en-US" sz="2000" i="1" dirty="0" err="1"/>
              <a:t>age_vec</a:t>
            </a:r>
            <a:r>
              <a:rPr lang="en-AU" altLang="en-US" sz="2000" i="1" dirty="0"/>
              <a:t>))</a:t>
            </a:r>
          </a:p>
          <a:p>
            <a:pPr eaLnBrk="1" hangingPunct="1">
              <a:defRPr/>
            </a:pPr>
            <a:r>
              <a:rPr lang="en-AU" altLang="en-US" sz="2000" i="1" dirty="0"/>
              <a:t>likelihood &lt;- prod(</a:t>
            </a:r>
            <a:r>
              <a:rPr lang="en-AU" altLang="en-US" sz="2000" i="1" dirty="0" err="1"/>
              <a:t>dnorm</a:t>
            </a:r>
            <a:r>
              <a:rPr lang="en-AU" altLang="en-US" sz="2000" i="1" dirty="0"/>
              <a:t>(</a:t>
            </a:r>
            <a:r>
              <a:rPr lang="en-AU" altLang="en-US" sz="2000" i="1" dirty="0" err="1"/>
              <a:t>len_vec</a:t>
            </a:r>
            <a:r>
              <a:rPr lang="en-AU" altLang="en-US" sz="2000" i="1" dirty="0"/>
              <a:t>, </a:t>
            </a:r>
            <a:r>
              <a:rPr lang="en-AU" altLang="en-US" sz="2000" i="1" dirty="0" err="1"/>
              <a:t>pred_vec</a:t>
            </a:r>
            <a:r>
              <a:rPr lang="en-AU" altLang="en-US" sz="2000" i="1" dirty="0"/>
              <a:t>, sigma))</a:t>
            </a:r>
          </a:p>
          <a:p>
            <a:pPr eaLnBrk="1" hangingPunct="1">
              <a:defRPr/>
            </a:pPr>
            <a:r>
              <a:rPr lang="en-AU" altLang="en-US" sz="2000" i="1" dirty="0"/>
              <a:t>print(likelihood) </a:t>
            </a:r>
          </a:p>
        </p:txBody>
      </p:sp>
      <p:sp>
        <p:nvSpPr>
          <p:cNvPr id="16388" name="Text Box 5"/>
          <p:cNvSpPr txBox="1">
            <a:spLocks noChangeArrowheads="1"/>
          </p:cNvSpPr>
          <p:nvPr/>
        </p:nvSpPr>
        <p:spPr bwMode="auto">
          <a:xfrm>
            <a:off x="-161731" y="1198110"/>
            <a:ext cx="8610600" cy="83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We can compare the four parameters choices using the following code (open R code):</a:t>
            </a:r>
          </a:p>
        </p:txBody>
      </p:sp>
      <p:sp>
        <p:nvSpPr>
          <p:cNvPr id="16389" name="Text Box 6"/>
          <p:cNvSpPr txBox="1">
            <a:spLocks noChangeArrowheads="1"/>
          </p:cNvSpPr>
          <p:nvPr/>
        </p:nvSpPr>
        <p:spPr bwMode="auto">
          <a:xfrm>
            <a:off x="1524000" y="4091733"/>
            <a:ext cx="1550988" cy="143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Results: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4.82e-149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2.74e-87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2.744-80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1600" dirty="0"/>
              <a:t>3.64e-82</a:t>
            </a:r>
          </a:p>
        </p:txBody>
      </p:sp>
      <p:sp>
        <p:nvSpPr>
          <p:cNvPr id="16390" name="Line 7"/>
          <p:cNvSpPr>
            <a:spLocks noChangeShapeType="1"/>
          </p:cNvSpPr>
          <p:nvPr/>
        </p:nvSpPr>
        <p:spPr bwMode="auto">
          <a:xfrm flipH="1">
            <a:off x="3124200" y="5082333"/>
            <a:ext cx="1524000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6391" name="Text Box 8"/>
          <p:cNvSpPr txBox="1">
            <a:spLocks noChangeArrowheads="1"/>
          </p:cNvSpPr>
          <p:nvPr/>
        </p:nvSpPr>
        <p:spPr bwMode="auto">
          <a:xfrm>
            <a:off x="4289045" y="4810871"/>
            <a:ext cx="267252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Best (so far)</a:t>
            </a:r>
          </a:p>
          <a:p>
            <a:pPr algn="ctr" eaLnBrk="1" hangingPunct="1">
              <a:defRPr/>
            </a:pPr>
            <a:r>
              <a:rPr lang="en-AU" altLang="en-US" dirty="0"/>
              <a:t>How do we know?</a:t>
            </a:r>
          </a:p>
        </p:txBody>
      </p:sp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5797" y="1634082"/>
            <a:ext cx="4356203" cy="43496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99220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Overview 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74042" y="1693251"/>
            <a:ext cx="9821496" cy="4114800"/>
          </a:xfrm>
        </p:spPr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  <a:buFont typeface="Wingdings" charset="2"/>
              <a:buNone/>
              <a:defRPr/>
            </a:pPr>
            <a:r>
              <a:rPr lang="en-AU" altLang="en-US" b="1" dirty="0"/>
              <a:t>Given a data set: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underlying process.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Select a model for the uncertainty of the data.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Write the likelihood for one data point.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Multiply the likelihoods across all data points.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Find the values for the parameters that maximize the likelihood.</a:t>
            </a:r>
          </a:p>
          <a:p>
            <a:pPr lvl="1">
              <a:defRPr/>
            </a:pPr>
            <a:r>
              <a:rPr lang="en-AU" altLang="en-US" dirty="0"/>
              <a:t>Do this by minimizing negative log likelihood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231615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1658953" y="1516063"/>
            <a:ext cx="856453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/>
              <a:t>red light. Based on </a:t>
            </a:r>
            <a:r>
              <a:rPr lang="en-AU" altLang="en-US" b="1" dirty="0"/>
              <a:t>50 days of observation</a:t>
            </a:r>
            <a:r>
              <a:rPr lang="en-AU" altLang="en-US" dirty="0"/>
              <a:t>, you detect </a:t>
            </a:r>
          </a:p>
          <a:p>
            <a:pPr eaLnBrk="1" hangingPunct="1">
              <a:defRPr/>
            </a:pPr>
            <a:r>
              <a:rPr lang="en-AU" altLang="en-US" b="1" dirty="0"/>
              <a:t>30 days on which “light running” took place</a:t>
            </a:r>
            <a:r>
              <a:rPr lang="en-AU" altLang="en-US" dirty="0"/>
              <a:t>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1507149" y="4042386"/>
            <a:ext cx="9453928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probability of “light running” before the camera was installed?</a:t>
            </a:r>
          </a:p>
          <a:p>
            <a:pPr eaLnBrk="1" hangingPunct="1">
              <a:defRPr/>
            </a:pPr>
            <a:r>
              <a:rPr lang="en-AU" altLang="en-US" sz="2000" dirty="0"/>
              <a:t>2.	Has the probability of “light running” changed significantly?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/>
          </a:p>
        </p:txBody>
      </p:sp>
      <p:sp>
        <p:nvSpPr>
          <p:cNvPr id="5" name="Rectangle 2"/>
          <p:cNvSpPr txBox="1">
            <a:spLocks noChangeArrowheads="1"/>
          </p:cNvSpPr>
          <p:nvPr/>
        </p:nvSpPr>
        <p:spPr>
          <a:xfrm>
            <a:off x="1658953" y="0"/>
            <a:ext cx="856453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AU" altLang="en-US" dirty="0"/>
              <a:t>We’ll explore numerical methods later</a:t>
            </a:r>
          </a:p>
          <a:p>
            <a:pPr algn="ctr">
              <a:defRPr/>
            </a:pPr>
            <a:r>
              <a:rPr lang="en-AU" altLang="en-US" dirty="0"/>
              <a:t>For now, let’s apply this to a simpler problem</a:t>
            </a:r>
          </a:p>
        </p:txBody>
      </p:sp>
    </p:spTree>
    <p:extLst>
      <p:ext uri="{BB962C8B-B14F-4D97-AF65-F5344CB8AC3E}">
        <p14:creationId xmlns:p14="http://schemas.microsoft.com/office/powerpoint/2010/main" val="1286996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ext Box 2"/>
          <p:cNvSpPr txBox="1">
            <a:spLocks noChangeArrowheads="1"/>
          </p:cNvSpPr>
          <p:nvPr/>
        </p:nvSpPr>
        <p:spPr bwMode="auto">
          <a:xfrm>
            <a:off x="1764476" y="361663"/>
            <a:ext cx="8994775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Let the probability of “running” be </a:t>
            </a:r>
            <a:r>
              <a:rPr lang="en-AU" altLang="en-US" i="1" dirty="0"/>
              <a:t>p</a:t>
            </a:r>
            <a:r>
              <a:rPr lang="en-AU" altLang="en-US" dirty="0"/>
              <a:t> (and hence the </a:t>
            </a:r>
          </a:p>
          <a:p>
            <a:pPr eaLnBrk="1" hangingPunct="1">
              <a:defRPr/>
            </a:pPr>
            <a:r>
              <a:rPr lang="en-AU" altLang="en-US" dirty="0"/>
              <a:t>probability of not “running” be (1-</a:t>
            </a:r>
            <a:r>
              <a:rPr lang="en-AU" altLang="en-US" i="1" dirty="0"/>
              <a:t>p</a:t>
            </a:r>
            <a:r>
              <a:rPr lang="en-AU" altLang="en-US" dirty="0"/>
              <a:t>)). The probability of</a:t>
            </a:r>
          </a:p>
          <a:p>
            <a:pPr eaLnBrk="1" hangingPunct="1">
              <a:defRPr/>
            </a:pPr>
            <a:r>
              <a:rPr lang="en-AU" altLang="en-US" dirty="0"/>
              <a:t>30 “runs” and 20 “non-runs” is then </a:t>
            </a:r>
            <a:r>
              <a:rPr lang="en-AU" altLang="en-US" i="1" dirty="0"/>
              <a:t>p</a:t>
            </a:r>
            <a:r>
              <a:rPr lang="en-AU" altLang="en-US" baseline="30000" dirty="0"/>
              <a:t>30</a:t>
            </a:r>
            <a:r>
              <a:rPr lang="en-AU" altLang="en-US" dirty="0"/>
              <a:t>(1-</a:t>
            </a:r>
            <a:r>
              <a:rPr lang="en-AU" altLang="en-US" i="1" dirty="0"/>
              <a:t>p</a:t>
            </a:r>
            <a:r>
              <a:rPr lang="en-AU" altLang="en-US" dirty="0"/>
              <a:t>)</a:t>
            </a:r>
            <a:r>
              <a:rPr lang="en-AU" altLang="en-US" baseline="30000" dirty="0"/>
              <a:t>20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(assuming “runs” and “non-runs” are independent).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This leads to the following likelihood function from the Binomial:</a:t>
            </a:r>
          </a:p>
        </p:txBody>
      </p:sp>
      <p:graphicFrame>
        <p:nvGraphicFramePr>
          <p:cNvPr id="324611" name="Object 4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52975029"/>
              </p:ext>
            </p:extLst>
          </p:nvPr>
        </p:nvGraphicFramePr>
        <p:xfrm>
          <a:off x="3136076" y="3347258"/>
          <a:ext cx="2987675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93800" imgH="228600" progId="Equation.DSMT4">
                  <p:embed/>
                </p:oleObj>
              </mc:Choice>
              <mc:Fallback>
                <p:oleObj name="Equation" r:id="rId3" imgW="11938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076" y="3347258"/>
                        <a:ext cx="2987675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461" name="Rectangle 5"/>
          <p:cNvSpPr>
            <a:spLocks noChangeArrowheads="1"/>
          </p:cNvSpPr>
          <p:nvPr/>
        </p:nvSpPr>
        <p:spPr bwMode="auto">
          <a:xfrm>
            <a:off x="1858707" y="4749349"/>
            <a:ext cx="903888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refer to the value for </a:t>
            </a:r>
            <a:r>
              <a:rPr lang="en-AU" altLang="en-US" i="1" dirty="0"/>
              <a:t>p</a:t>
            </a:r>
            <a:r>
              <a:rPr lang="en-AU" altLang="en-US" dirty="0"/>
              <a:t> that maximizes the likelihood function as the </a:t>
            </a:r>
            <a:r>
              <a:rPr lang="en-AU" altLang="en-US" b="1" dirty="0"/>
              <a:t>maximum likelihood estimate</a:t>
            </a:r>
            <a:r>
              <a:rPr lang="en-AU" altLang="en-US" dirty="0"/>
              <a:t> and denote it as     .</a:t>
            </a:r>
          </a:p>
        </p:txBody>
      </p:sp>
      <p:graphicFrame>
        <p:nvGraphicFramePr>
          <p:cNvPr id="324613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83849734"/>
              </p:ext>
            </p:extLst>
          </p:nvPr>
        </p:nvGraphicFramePr>
        <p:xfrm>
          <a:off x="9726405" y="5164847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52268" imgH="203024" progId="Equation.DSMT4">
                  <p:embed/>
                </p:oleObj>
              </mc:Choice>
              <mc:Fallback>
                <p:oleObj name="Equation" r:id="rId5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26405" y="5164847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6412676" y="3402175"/>
            <a:ext cx="3694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something missing? Why is this ok?</a:t>
            </a:r>
          </a:p>
        </p:txBody>
      </p:sp>
    </p:spTree>
    <p:extLst>
      <p:ext uri="{BB962C8B-B14F-4D97-AF65-F5344CB8AC3E}">
        <p14:creationId xmlns:p14="http://schemas.microsoft.com/office/powerpoint/2010/main" val="723267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781800" y="1058863"/>
            <a:ext cx="3733800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1508" name="Text Box 5"/>
          <p:cNvSpPr txBox="1">
            <a:spLocks noChangeArrowheads="1"/>
          </p:cNvSpPr>
          <p:nvPr/>
        </p:nvSpPr>
        <p:spPr bwMode="auto">
          <a:xfrm>
            <a:off x="1600200" y="1744663"/>
            <a:ext cx="4953000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In R</a:t>
            </a:r>
            <a:r>
              <a:rPr lang="en-AU" altLang="en-US" dirty="0"/>
              <a:t>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Prob</a:t>
            </a:r>
            <a:r>
              <a:rPr lang="en-AU" altLang="en-US" sz="2000" dirty="0">
                <a:latin typeface="Arial" charset="0"/>
              </a:rPr>
              <a:t> &lt;- </a:t>
            </a:r>
            <a:r>
              <a:rPr lang="en-AU" altLang="en-US" sz="2000" dirty="0" err="1">
                <a:latin typeface="Arial" charset="0"/>
              </a:rPr>
              <a:t>seq</a:t>
            </a:r>
            <a:r>
              <a:rPr lang="en-AU" altLang="en-US" sz="2000" dirty="0">
                <a:latin typeface="Arial" charset="0"/>
              </a:rPr>
              <a:t>(from=0.01,to=0.99,by=0.01)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Like &lt;- Probs^30*(1-Probs)^20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 plot(</a:t>
            </a:r>
            <a:r>
              <a:rPr lang="en-AU" altLang="en-US" sz="2000" dirty="0" err="1">
                <a:latin typeface="Arial" charset="0"/>
              </a:rPr>
              <a:t>Prob,Like</a:t>
            </a:r>
            <a:r>
              <a:rPr lang="en-AU" altLang="en-US" sz="2000" dirty="0">
                <a:latin typeface="Arial" charset="0"/>
              </a:rPr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21509" name="Text Box 6"/>
          <p:cNvSpPr txBox="1">
            <a:spLocks noChangeArrowheads="1"/>
          </p:cNvSpPr>
          <p:nvPr/>
        </p:nvSpPr>
        <p:spPr bwMode="auto">
          <a:xfrm>
            <a:off x="1600200" y="3954463"/>
            <a:ext cx="5128648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We can find the MLE in R: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 &lt;- which(Like==max(Like),</a:t>
            </a:r>
            <a:r>
              <a:rPr lang="en-AU" altLang="en-US" sz="2000" dirty="0" err="1">
                <a:latin typeface="Arial" charset="0"/>
              </a:rPr>
              <a:t>arr.ind</a:t>
            </a:r>
            <a:r>
              <a:rPr lang="en-AU" altLang="en-US" sz="2000" dirty="0">
                <a:latin typeface="Arial" charset="0"/>
              </a:rPr>
              <a:t>=T)</a:t>
            </a:r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 sz="2000" dirty="0">
                <a:latin typeface="Arial" charset="0"/>
              </a:rPr>
              <a:t>print(</a:t>
            </a:r>
            <a:r>
              <a:rPr lang="en-AU" altLang="en-US" sz="2000" dirty="0" err="1">
                <a:latin typeface="Arial" charset="0"/>
              </a:rPr>
              <a:t>Probs</a:t>
            </a:r>
            <a:r>
              <a:rPr lang="en-AU" altLang="en-US" sz="2000" dirty="0">
                <a:latin typeface="Arial" charset="0"/>
              </a:rPr>
              <a:t>[</a:t>
            </a:r>
            <a:r>
              <a:rPr lang="en-AU" altLang="en-US" sz="2000" dirty="0" err="1">
                <a:latin typeface="Arial" charset="0"/>
              </a:rPr>
              <a:t>Ibest</a:t>
            </a:r>
            <a:r>
              <a:rPr lang="en-AU" altLang="en-US" sz="2000" dirty="0">
                <a:latin typeface="Arial" charset="0"/>
              </a:rPr>
              <a:t>])</a:t>
            </a:r>
          </a:p>
        </p:txBody>
      </p:sp>
      <p:sp>
        <p:nvSpPr>
          <p:cNvPr id="6" name="Line 7"/>
          <p:cNvSpPr>
            <a:spLocks noChangeShapeType="1"/>
          </p:cNvSpPr>
          <p:nvPr/>
        </p:nvSpPr>
        <p:spPr bwMode="auto">
          <a:xfrm flipH="1" flipV="1">
            <a:off x="9078685" y="4773613"/>
            <a:ext cx="66949" cy="71626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7" name="Text Box 8"/>
          <p:cNvSpPr txBox="1">
            <a:spLocks noChangeArrowheads="1"/>
          </p:cNvSpPr>
          <p:nvPr/>
        </p:nvSpPr>
        <p:spPr bwMode="auto">
          <a:xfrm>
            <a:off x="7128587" y="5489873"/>
            <a:ext cx="433974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See </a:t>
            </a:r>
            <a:r>
              <a:rPr lang="en-AU" altLang="en-US"/>
              <a:t>why normalizing constant </a:t>
            </a:r>
            <a:r>
              <a:rPr lang="en-AU" altLang="en-US" dirty="0"/>
              <a:t>doesn’t matter here?</a:t>
            </a:r>
          </a:p>
        </p:txBody>
      </p:sp>
    </p:spTree>
    <p:extLst>
      <p:ext uri="{BB962C8B-B14F-4D97-AF65-F5344CB8AC3E}">
        <p14:creationId xmlns:p14="http://schemas.microsoft.com/office/powerpoint/2010/main" val="439388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77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Negative log-likelihoods</a:t>
            </a:r>
          </a:p>
        </p:txBody>
      </p:sp>
      <p:graphicFrame>
        <p:nvGraphicFramePr>
          <p:cNvPr id="328706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220316714"/>
              </p:ext>
            </p:extLst>
          </p:nvPr>
        </p:nvGraphicFramePr>
        <p:xfrm>
          <a:off x="1626825" y="3523796"/>
          <a:ext cx="3433763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714500" imgH="203200" progId="Equation.DSMT4">
                  <p:embed/>
                </p:oleObj>
              </mc:Choice>
              <mc:Fallback>
                <p:oleObj name="Equation" r:id="rId3" imgW="1714500" imgH="2032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26825" y="3523796"/>
                        <a:ext cx="3433763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1017224" y="1453267"/>
            <a:ext cx="1015755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Rather than working with likelihoods we often work with negative log-likelihoods. Therefore, rather than maximizing the likelihood, we minimize the negative log-likelihood – this leads to same point estimates.</a:t>
            </a:r>
          </a:p>
        </p:txBody>
      </p:sp>
      <p:pic>
        <p:nvPicPr>
          <p:cNvPr id="22533" name="Picture 7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677024" y="2341786"/>
            <a:ext cx="3766965" cy="37462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22534" name="Text Box 9"/>
          <p:cNvSpPr txBox="1">
            <a:spLocks noChangeArrowheads="1"/>
          </p:cNvSpPr>
          <p:nvPr/>
        </p:nvSpPr>
        <p:spPr bwMode="auto">
          <a:xfrm>
            <a:off x="1017224" y="4590596"/>
            <a:ext cx="48577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The estimate of </a:t>
            </a:r>
            <a:r>
              <a:rPr lang="en-AU" altLang="en-US" i="1"/>
              <a:t>p</a:t>
            </a:r>
            <a:r>
              <a:rPr lang="en-AU" altLang="en-US"/>
              <a:t>,    , is again 0.6.</a:t>
            </a:r>
          </a:p>
        </p:txBody>
      </p:sp>
      <p:graphicFrame>
        <p:nvGraphicFramePr>
          <p:cNvPr id="328710" name="Object 10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287000441"/>
              </p:ext>
            </p:extLst>
          </p:nvPr>
        </p:nvGraphicFramePr>
        <p:xfrm>
          <a:off x="3566993" y="4590596"/>
          <a:ext cx="381000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68" imgH="203024" progId="Equation.DSMT4">
                  <p:embed/>
                </p:oleObj>
              </mc:Choice>
              <mc:Fallback>
                <p:oleObj name="Equation" r:id="rId6" imgW="152268" imgH="203024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66993" y="4590596"/>
                        <a:ext cx="381000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4"/>
          <p:cNvSpPr txBox="1">
            <a:spLocks noChangeArrowheads="1"/>
          </p:cNvSpPr>
          <p:nvPr/>
        </p:nvSpPr>
        <p:spPr bwMode="auto">
          <a:xfrm>
            <a:off x="186612" y="6236513"/>
            <a:ext cx="1181938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Logs help with the tiny number problem, and negative works </a:t>
            </a:r>
            <a:r>
              <a:rPr lang="en-AU" altLang="en-US"/>
              <a:t>for numerical optimizers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3145702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-192857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A Poisson mixture problem</a:t>
            </a:r>
            <a:endParaRPr lang="en-AU" altLang="en-US" dirty="0"/>
          </a:p>
        </p:txBody>
      </p:sp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383324" y="1001088"/>
            <a:ext cx="956603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800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615043" y="3546450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512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610600" y="634183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A837E8F9-1ABE-2E4B-80D6-0ECEAC5AC0F7}" type="slidenum">
              <a:rPr lang="en-US" altLang="en-US" sz="1400"/>
              <a:pPr eaLnBrk="1" hangingPunct="1">
                <a:defRPr/>
              </a:pPr>
              <a:t>15</a:t>
            </a:fld>
            <a:endParaRPr lang="en-US" altLang="en-US" sz="140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3810000" y="3976662"/>
            <a:ext cx="8226361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/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/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 dirty="0"/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/>
              <a:t>Can we conclude that females and males really do differ in mean blow rate?</a:t>
            </a:r>
          </a:p>
          <a:p>
            <a:pPr eaLnBrk="1" hangingPunct="1">
              <a:defRPr/>
            </a:pPr>
            <a:endParaRPr lang="en-AU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921830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542661" y="3253275"/>
            <a:ext cx="8279126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/>
              <a:t>mean blow rate for males be </a:t>
            </a:r>
            <a:r>
              <a:rPr lang="en-AU" altLang="en-US" dirty="0">
                <a:sym typeface="Symbol" charset="2"/>
              </a:rPr>
              <a:t></a:t>
            </a:r>
            <a:r>
              <a:rPr lang="en-AU" altLang="en-US" baseline="-25000" dirty="0">
                <a:sym typeface="Symbol" charset="2"/>
              </a:rPr>
              <a:t>1</a:t>
            </a:r>
            <a:r>
              <a:rPr lang="en-AU" altLang="en-US" dirty="0"/>
              <a:t> and that for females be </a:t>
            </a:r>
            <a:r>
              <a:rPr lang="en-AU" altLang="en-US" dirty="0">
                <a:sym typeface="Symbol" charset="2"/>
              </a:rPr>
              <a:t></a:t>
            </a:r>
            <a:r>
              <a:rPr lang="en-AU" altLang="en-US" baseline="-25000" dirty="0">
                <a:sym typeface="Symbol" charset="2"/>
              </a:rPr>
              <a:t>2</a:t>
            </a:r>
            <a:r>
              <a:rPr lang="en-AU" altLang="en-US" dirty="0"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and assuming that the proportion of males is </a:t>
            </a:r>
            <a:r>
              <a:rPr lang="en-AU" altLang="en-US" i="1" dirty="0">
                <a:sym typeface="Symbol" charset="2"/>
              </a:rPr>
              <a:t>p</a:t>
            </a:r>
            <a:r>
              <a:rPr lang="en-AU" altLang="en-US" dirty="0">
                <a:sym typeface="Symbol" charset="2"/>
              </a:rPr>
              <a:t>:</a:t>
            </a:r>
          </a:p>
        </p:txBody>
      </p:sp>
      <p:graphicFrame>
        <p:nvGraphicFramePr>
          <p:cNvPr id="338947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723641395"/>
              </p:ext>
            </p:extLst>
          </p:nvPr>
        </p:nvGraphicFramePr>
        <p:xfrm>
          <a:off x="4666861" y="2415074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66861" y="2415074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1695061" y="1957874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Poisson distribution is:</a:t>
            </a:r>
          </a:p>
        </p:txBody>
      </p:sp>
      <p:graphicFrame>
        <p:nvGraphicFramePr>
          <p:cNvPr id="338949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041032804"/>
              </p:ext>
            </p:extLst>
          </p:nvPr>
        </p:nvGraphicFramePr>
        <p:xfrm>
          <a:off x="3174611" y="4701075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74611" y="4701075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151775" y="6337689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4BD01DC-579F-E447-83D4-79FB902C2F86}" type="slidenum">
              <a:rPr lang="en-US" altLang="en-US" sz="1400"/>
              <a:pPr eaLnBrk="1" hangingPunct="1">
                <a:defRPr/>
              </a:pPr>
              <a:t>16</a:t>
            </a:fld>
            <a:endParaRPr lang="en-US" altLang="en-US" sz="1400" dirty="0"/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45" b="50877"/>
          <a:stretch>
            <a:fillRect/>
          </a:stretch>
        </p:blipFill>
        <p:spPr bwMode="auto">
          <a:xfrm>
            <a:off x="8909050" y="131445"/>
            <a:ext cx="2857500" cy="2841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1" name="Line 7"/>
          <p:cNvSpPr>
            <a:spLocks noChangeShapeType="1"/>
          </p:cNvSpPr>
          <p:nvPr/>
        </p:nvSpPr>
        <p:spPr bwMode="auto">
          <a:xfrm flipH="1" flipV="1">
            <a:off x="6419461" y="5783571"/>
            <a:ext cx="166886" cy="457578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" name="Text Box 8"/>
          <p:cNvSpPr txBox="1">
            <a:spLocks noChangeArrowheads="1"/>
          </p:cNvSpPr>
          <p:nvPr/>
        </p:nvSpPr>
        <p:spPr bwMode="auto">
          <a:xfrm>
            <a:off x="2653890" y="6241149"/>
            <a:ext cx="625516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How would you do this with linear models?</a:t>
            </a:r>
          </a:p>
        </p:txBody>
      </p:sp>
    </p:spTree>
    <p:extLst>
      <p:ext uri="{BB962C8B-B14F-4D97-AF65-F5344CB8AC3E}">
        <p14:creationId xmlns:p14="http://schemas.microsoft.com/office/powerpoint/2010/main" val="3995142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AU" dirty="0"/>
              <a:t>In English: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/>
              <a:t>An animal is selected at random; the probability it is male </a:t>
            </a:r>
            <a:r>
              <a:rPr lang="en-AU" dirty="0" err="1"/>
              <a:t>is</a:t>
            </a:r>
            <a:r>
              <a:rPr lang="en-AU" dirty="0" err="1">
                <a:sym typeface="Symbol"/>
              </a:rPr>
              <a:t></a:t>
            </a:r>
            <a:r>
              <a:rPr lang="en-AU" i="1" dirty="0" err="1">
                <a:sym typeface="Symbol"/>
              </a:rPr>
              <a:t>p</a:t>
            </a:r>
            <a:r>
              <a:rPr lang="en-AU" dirty="0">
                <a:sym typeface="Symbol"/>
              </a:rPr>
              <a:t>.</a:t>
            </a: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A blow rate is generated given the appropriate Poisson distribution.</a:t>
            </a:r>
          </a:p>
          <a:p>
            <a:pPr>
              <a:buFont typeface="Wingdings" pitchFamily="2" charset="2"/>
              <a:buChar char="n"/>
              <a:defRPr/>
            </a:pPr>
            <a:endParaRPr lang="en-AU" dirty="0">
              <a:sym typeface="Symbol"/>
            </a:endParaRPr>
          </a:p>
          <a:p>
            <a:pPr>
              <a:buFont typeface="Wingdings" pitchFamily="2" charset="2"/>
              <a:buChar char="n"/>
              <a:defRPr/>
            </a:pPr>
            <a:r>
              <a:rPr lang="en-AU" dirty="0">
                <a:sym typeface="Symbol"/>
              </a:rPr>
              <a:t>This type of model is called a </a:t>
            </a:r>
            <a:r>
              <a:rPr lang="en-AU" b="1" i="1" dirty="0">
                <a:sym typeface="Symbol"/>
              </a:rPr>
              <a:t>mixture model. </a:t>
            </a:r>
            <a:r>
              <a:rPr lang="en-AU" dirty="0">
                <a:sym typeface="Symbol"/>
              </a:rPr>
              <a:t>In this case there are two mixture components.</a:t>
            </a:r>
            <a:endParaRPr lang="en-AU" b="1" dirty="0"/>
          </a:p>
        </p:txBody>
      </p:sp>
      <p:sp>
        <p:nvSpPr>
          <p:cNvPr id="819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506229FE-C80E-364E-8232-57079315A790}" type="slidenum">
              <a:rPr lang="en-US" altLang="en-US" sz="1400"/>
              <a:pPr eaLnBrk="1" hangingPunct="1">
                <a:defRPr/>
              </a:pPr>
              <a:t>17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5365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3042" name="Object 5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375761377"/>
              </p:ext>
            </p:extLst>
          </p:nvPr>
        </p:nvGraphicFramePr>
        <p:xfrm>
          <a:off x="3161717" y="2354425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61717" y="2354425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2009193" y="1744825"/>
            <a:ext cx="43338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likelihood function is then:</a:t>
            </a:r>
          </a:p>
        </p:txBody>
      </p:sp>
      <p:sp>
        <p:nvSpPr>
          <p:cNvPr id="9221" name="Text Box 7"/>
          <p:cNvSpPr txBox="1">
            <a:spLocks noChangeArrowheads="1"/>
          </p:cNvSpPr>
          <p:nvPr/>
        </p:nvSpPr>
        <p:spPr bwMode="auto">
          <a:xfrm>
            <a:off x="1780593" y="3726025"/>
            <a:ext cx="762644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This looks pretty complicated but R is there to help us: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buFont typeface="Wingdings" charset="2"/>
              <a:buChar char="Ø"/>
              <a:defRPr/>
            </a:pPr>
            <a:r>
              <a:rPr lang="en-AU" altLang="en-US"/>
              <a:t>dpois(x,lambda)  = </a:t>
            </a:r>
          </a:p>
          <a:p>
            <a:pPr eaLnBrk="1" hangingPunct="1">
              <a:buFont typeface="Wingdings" charset="2"/>
              <a:buNone/>
              <a:defRPr/>
            </a:pPr>
            <a:endParaRPr lang="en-AU" altLang="en-US"/>
          </a:p>
        </p:txBody>
      </p:sp>
      <p:graphicFrame>
        <p:nvGraphicFramePr>
          <p:cNvPr id="343045" name="Object 8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65035990"/>
              </p:ext>
            </p:extLst>
          </p:nvPr>
        </p:nvGraphicFramePr>
        <p:xfrm>
          <a:off x="4904792" y="4259425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28700" imgH="419100" progId="Equation.DSMT4">
                  <p:embed/>
                </p:oleObj>
              </mc:Choice>
              <mc:Fallback>
                <p:oleObj name="Equation" r:id="rId5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04792" y="4259425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3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6880BB-E704-3D4D-B36F-490551305F95}" type="slidenum">
              <a:rPr lang="en-US" altLang="en-US" sz="1400"/>
              <a:pPr eaLnBrk="1" hangingPunct="1">
                <a:defRPr/>
              </a:pPr>
              <a:t>18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826992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043690" y="1575217"/>
            <a:ext cx="101046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 err="1"/>
              <a:t>TheData</a:t>
            </a:r>
            <a:r>
              <a:rPr lang="en-AU" altLang="en-US" sz="1800" dirty="0"/>
              <a:t>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Blow1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(from=1,to=40,by=1)</a:t>
            </a:r>
          </a:p>
          <a:p>
            <a:pPr eaLnBrk="1" hangingPunct="1">
              <a:defRPr/>
            </a:pPr>
            <a:r>
              <a:rPr lang="en-AU" altLang="en-US" sz="1800" dirty="0"/>
              <a:t> Blow2 &lt;- </a:t>
            </a:r>
            <a:r>
              <a:rPr lang="en-AU" altLang="en-US" sz="1800" dirty="0" err="1"/>
              <a:t>seq</a:t>
            </a:r>
            <a:r>
              <a:rPr lang="en-AU" altLang="en-US" sz="1800" dirty="0"/>
              <a:t>(from=1,to=60,by=1)</a:t>
            </a:r>
          </a:p>
          <a:p>
            <a:pPr eaLnBrk="1" hangingPunct="1">
              <a:defRPr/>
            </a:pPr>
            <a:r>
              <a:rPr lang="en-AU" altLang="en-US" sz="1800" dirty="0"/>
              <a:t> Likes &lt;- matrix(0,nrow=length(Blow1),</a:t>
            </a:r>
            <a:r>
              <a:rPr lang="en-AU" altLang="en-US" sz="1800" dirty="0" err="1"/>
              <a:t>ncol</a:t>
            </a:r>
            <a:r>
              <a:rPr lang="en-AU" altLang="en-US" sz="1800" dirty="0"/>
              <a:t>=length(Blow2))</a:t>
            </a:r>
          </a:p>
          <a:p>
            <a:pPr eaLnBrk="1" hangingPunct="1">
              <a:defRPr/>
            </a:pPr>
            <a:r>
              <a:rPr lang="en-AU" altLang="en-US" sz="1800" dirty="0"/>
              <a:t> for (ii in 1:length(Blow1))</a:t>
            </a:r>
          </a:p>
          <a:p>
            <a:pPr eaLnBrk="1" hangingPunct="1">
              <a:defRPr/>
            </a:pPr>
            <a:r>
              <a:rPr lang="en-AU" altLang="en-US" sz="1800" dirty="0"/>
              <a:t>  for (</a:t>
            </a:r>
            <a:r>
              <a:rPr lang="en-AU" altLang="en-US" sz="1800" dirty="0" err="1"/>
              <a:t>jj</a:t>
            </a:r>
            <a:r>
              <a:rPr lang="en-AU" altLang="en-US" sz="1800" dirty="0"/>
              <a:t> in 1:length(Blow2))</a:t>
            </a:r>
          </a:p>
          <a:p>
            <a:pPr eaLnBrk="1" hangingPunct="1">
              <a:defRPr/>
            </a:pPr>
            <a:r>
              <a:rPr lang="en-AU" altLang="en-US" sz="1800" dirty="0"/>
              <a:t>   {</a:t>
            </a:r>
          </a:p>
          <a:p>
            <a:pPr eaLnBrk="1" hangingPunct="1">
              <a:defRPr/>
            </a:pPr>
            <a:r>
              <a:rPr lang="en-AU" altLang="en-US" sz="1800" b="1" dirty="0"/>
              <a:t>   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 &lt;- </a:t>
            </a:r>
            <a:r>
              <a:rPr lang="en-AU" altLang="en-US" sz="1800" b="1" dirty="0" err="1"/>
              <a:t>Propn</a:t>
            </a:r>
            <a:r>
              <a:rPr lang="en-AU" altLang="en-US" sz="1800" b="1" dirty="0"/>
              <a:t>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(TheData,Blow1[ii])+(1-Propn)*</a:t>
            </a:r>
            <a:r>
              <a:rPr lang="en-AU" altLang="en-US" sz="1800" b="1" dirty="0" err="1"/>
              <a:t>dpois</a:t>
            </a:r>
            <a:r>
              <a:rPr lang="en-AU" altLang="en-US" sz="1800" b="1" dirty="0"/>
              <a:t>(TheData,Blow2[</a:t>
            </a:r>
            <a:r>
              <a:rPr lang="en-AU" altLang="en-US" sz="1800" b="1" dirty="0" err="1"/>
              <a:t>jj</a:t>
            </a:r>
            <a:r>
              <a:rPr lang="en-AU" altLang="en-US" sz="1800" b="1" dirty="0"/>
              <a:t>])</a:t>
            </a:r>
          </a:p>
          <a:p>
            <a:pPr eaLnBrk="1" hangingPunct="1">
              <a:defRPr/>
            </a:pPr>
            <a:r>
              <a:rPr lang="en-AU" altLang="en-US" sz="1800" b="1" dirty="0"/>
              <a:t>   Likes[</a:t>
            </a:r>
            <a:r>
              <a:rPr lang="en-AU" altLang="en-US" sz="1800" b="1" dirty="0" err="1"/>
              <a:t>ii,jj</a:t>
            </a:r>
            <a:r>
              <a:rPr lang="en-AU" altLang="en-US" sz="1800" b="1" dirty="0"/>
              <a:t>] &lt;- -1*sum(log(</a:t>
            </a:r>
            <a:r>
              <a:rPr lang="en-AU" altLang="en-US" sz="1800" b="1" dirty="0" err="1"/>
              <a:t>LikeOut</a:t>
            </a:r>
            <a:r>
              <a:rPr lang="en-AU" altLang="en-US" sz="1800" b="1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  }</a:t>
            </a:r>
          </a:p>
          <a:p>
            <a:pPr eaLnBrk="1" hangingPunct="1">
              <a:defRPr/>
            </a:pPr>
            <a:r>
              <a:rPr lang="en-AU" altLang="en-US" sz="1800" dirty="0"/>
              <a:t> par(</a:t>
            </a:r>
            <a:r>
              <a:rPr lang="en-AU" altLang="en-US" sz="1800" dirty="0" err="1"/>
              <a:t>mfrow</a:t>
            </a:r>
            <a:r>
              <a:rPr lang="en-AU" altLang="en-US" sz="1800" dirty="0"/>
              <a:t>=c(1,2));  </a:t>
            </a:r>
            <a:r>
              <a:rPr lang="en-AU" altLang="en-US" sz="1800" dirty="0" err="1"/>
              <a:t>persp</a:t>
            </a:r>
            <a:r>
              <a:rPr lang="en-AU" altLang="en-US" sz="1800" dirty="0"/>
              <a:t>(x=Blow1,y=Blow2,z=Likes);contour(x=Blow1,y=Blow2,z=Likes,120) 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 &lt;- which(Likes==min(Likes),</a:t>
            </a:r>
            <a:r>
              <a:rPr lang="en-AU" altLang="en-US" sz="1800" dirty="0" err="1"/>
              <a:t>arr.ind</a:t>
            </a:r>
            <a:r>
              <a:rPr lang="en-AU" altLang="en-US" sz="1800" dirty="0"/>
              <a:t>=T)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cat(Propn,Blow1[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[1]],Blow2[</a:t>
            </a:r>
            <a:r>
              <a:rPr lang="en-AU" altLang="en-US" sz="1800" dirty="0" err="1"/>
              <a:t>Ibest</a:t>
            </a:r>
            <a:r>
              <a:rPr lang="en-AU" altLang="en-US" sz="1800" dirty="0"/>
              <a:t>[2]],min(Likes),"\n")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7836713" y="2362201"/>
            <a:ext cx="252408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b="1" dirty="0">
                <a:solidFill>
                  <a:schemeClr val="hlink"/>
                </a:solidFill>
              </a:rPr>
              <a:t>GIVEN </a:t>
            </a:r>
          </a:p>
          <a:p>
            <a:pPr algn="ctr" eaLnBrk="1" hangingPunct="1">
              <a:defRPr/>
            </a:pPr>
            <a:r>
              <a:rPr lang="en-AU" altLang="en-US" dirty="0">
                <a:solidFill>
                  <a:schemeClr val="hlink"/>
                </a:solidFill>
              </a:rPr>
              <a:t>a value for </a:t>
            </a:r>
            <a:r>
              <a:rPr lang="en-AU" altLang="en-US" dirty="0" err="1">
                <a:solidFill>
                  <a:schemeClr val="hlink"/>
                </a:solidFill>
              </a:rPr>
              <a:t>Propn</a:t>
            </a:r>
            <a:endParaRPr lang="en-AU" altLang="en-US" dirty="0">
              <a:solidFill>
                <a:schemeClr val="hlink"/>
              </a:solidFill>
            </a:endParaRPr>
          </a:p>
        </p:txBody>
      </p:sp>
      <p:sp>
        <p:nvSpPr>
          <p:cNvPr id="1024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8B1DEEB-B47F-5849-B4DF-3FBE13A43D28}" type="slidenum">
              <a:rPr lang="en-US" altLang="en-US" sz="1400"/>
              <a:pPr eaLnBrk="1" hangingPunct="1">
                <a:defRPr/>
              </a:pPr>
              <a:t>19</a:t>
            </a:fld>
            <a:endParaRPr lang="en-US" altLang="en-US" sz="140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>
          <a:xfrm>
            <a:off x="763554" y="-19635"/>
            <a:ext cx="10795399" cy="1325563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Start by assuming we know</a:t>
            </a:r>
            <a:r>
              <a:rPr lang="en-US" altLang="en-US" i="1" dirty="0"/>
              <a:t> </a:t>
            </a:r>
            <a:r>
              <a:rPr lang="en-US" altLang="en-US" i="1" dirty="0" err="1"/>
              <a:t>Propn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/>
              <a:t>We now have a three dimensional likelihood surface</a:t>
            </a:r>
            <a:endParaRPr lang="en-AU" altLang="en-US" dirty="0"/>
          </a:p>
        </p:txBody>
      </p:sp>
    </p:spTree>
    <p:extLst>
      <p:ext uri="{BB962C8B-B14F-4D97-AF65-F5344CB8AC3E}">
        <p14:creationId xmlns:p14="http://schemas.microsoft.com/office/powerpoint/2010/main" val="1169080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344617" y="1569936"/>
            <a:ext cx="819443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Notes on the code: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dpois</a:t>
            </a:r>
            <a:r>
              <a:rPr lang="en-AU" altLang="en-US" dirty="0"/>
              <a:t> is taking a vector and returning a vector.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persp</a:t>
            </a:r>
            <a:r>
              <a:rPr lang="en-AU" altLang="en-US" dirty="0"/>
              <a:t> is producing a 3d plot, contour is similar.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 err="1"/>
              <a:t>Ibest</a:t>
            </a:r>
            <a:r>
              <a:rPr lang="en-AU" altLang="en-US" dirty="0"/>
              <a:t> is now a vector and not a scalar.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dirty="0"/>
              <a:t>We are computing the negative log-likelihood.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dirty="0"/>
              <a:t>Function in grid search lab takes “</a:t>
            </a:r>
            <a:r>
              <a:rPr lang="en-AU" altLang="en-US" dirty="0" err="1"/>
              <a:t>propn</a:t>
            </a:r>
            <a:r>
              <a:rPr lang="en-AU" altLang="en-US" dirty="0"/>
              <a:t>” and returns the lowest value of the negative log-likelihood.</a:t>
            </a:r>
          </a:p>
        </p:txBody>
      </p:sp>
      <p:sp>
        <p:nvSpPr>
          <p:cNvPr id="1126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CBDC981-216F-1D41-9DC5-FE0919AA2EFF}" type="slidenum">
              <a:rPr lang="en-US" altLang="en-US" sz="1400"/>
              <a:pPr eaLnBrk="1" hangingPunct="1">
                <a:defRPr/>
              </a:pPr>
              <a:t>20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221570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743860"/>
            <a:ext cx="5257800" cy="5243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838201" y="5867401"/>
            <a:ext cx="97387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/>
              <a:t>This is a plot of the </a:t>
            </a:r>
            <a:r>
              <a:rPr lang="en-AU" altLang="en-US" b="1" dirty="0"/>
              <a:t>negative log-</a:t>
            </a:r>
            <a:r>
              <a:rPr lang="en-AU" altLang="en-US" dirty="0"/>
              <a:t>likelihood surface</a:t>
            </a:r>
          </a:p>
        </p:txBody>
      </p:sp>
      <p:sp>
        <p:nvSpPr>
          <p:cNvPr id="12293" name="Line 6"/>
          <p:cNvSpPr>
            <a:spLocks noChangeShapeType="1"/>
          </p:cNvSpPr>
          <p:nvPr/>
        </p:nvSpPr>
        <p:spPr bwMode="auto">
          <a:xfrm flipH="1">
            <a:off x="3886200" y="2572659"/>
            <a:ext cx="3276600" cy="1828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2294" name="Text Box 7"/>
          <p:cNvSpPr txBox="1">
            <a:spLocks noChangeArrowheads="1"/>
          </p:cNvSpPr>
          <p:nvPr/>
        </p:nvSpPr>
        <p:spPr bwMode="auto">
          <a:xfrm>
            <a:off x="6462291" y="2055135"/>
            <a:ext cx="33965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minimum negative </a:t>
            </a:r>
          </a:p>
          <a:p>
            <a:pPr algn="ctr" eaLnBrk="1" hangingPunct="1">
              <a:defRPr/>
            </a:pPr>
            <a:r>
              <a:rPr lang="en-AU" altLang="en-US"/>
              <a:t>log-likelihood</a:t>
            </a:r>
          </a:p>
        </p:txBody>
      </p:sp>
      <p:sp>
        <p:nvSpPr>
          <p:cNvPr id="1229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886372" y="6329066"/>
            <a:ext cx="2743200" cy="365125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F1637D69-4B33-C741-81A1-F029476CBAC7}" type="slidenum">
              <a:rPr lang="en-US" altLang="en-US" sz="1400"/>
              <a:pPr eaLnBrk="1" hangingPunct="1">
                <a:defRPr/>
              </a:pPr>
              <a:t>21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322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3C46DE1-99AF-2247-B8E0-E05CA57761EE}" type="slidenum">
              <a:rPr lang="en-US" altLang="en-US" sz="1400"/>
              <a:pPr eaLnBrk="1" hangingPunct="1">
                <a:defRPr/>
              </a:pPr>
              <a:t>22</a:t>
            </a:fld>
            <a:endParaRPr lang="en-US" altLang="en-US" sz="140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-325"/>
            <a:ext cx="9144000" cy="584844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694190" y="5642658"/>
            <a:ext cx="7294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Notice anything interesting about </a:t>
            </a:r>
            <a:r>
              <a:rPr lang="en-US" sz="2400"/>
              <a:t>this likelihood surface?</a:t>
            </a:r>
          </a:p>
        </p:txBody>
      </p:sp>
    </p:spTree>
    <p:extLst>
      <p:ext uri="{BB962C8B-B14F-4D97-AF65-F5344CB8AC3E}">
        <p14:creationId xmlns:p14="http://schemas.microsoft.com/office/powerpoint/2010/main" val="780143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The Optim/MLE routines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1725614" y="2209800"/>
            <a:ext cx="8048806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</a:t>
            </a:r>
            <a:r>
              <a:rPr lang="en-AU" altLang="en-US" b="1" dirty="0" err="1"/>
              <a:t>optim</a:t>
            </a:r>
            <a:r>
              <a:rPr lang="en-AU" altLang="en-US" dirty="0"/>
              <a:t> function is in the </a:t>
            </a:r>
            <a:r>
              <a:rPr lang="en-AU" altLang="en-US" b="1" dirty="0"/>
              <a:t>base</a:t>
            </a:r>
            <a:r>
              <a:rPr lang="en-AU" altLang="en-US" dirty="0"/>
              <a:t> package and the </a:t>
            </a:r>
            <a:r>
              <a:rPr lang="en-AU" altLang="en-US" b="1" dirty="0" err="1"/>
              <a:t>mle</a:t>
            </a:r>
            <a:r>
              <a:rPr lang="en-AU" altLang="en-US" dirty="0"/>
              <a:t> </a:t>
            </a:r>
          </a:p>
          <a:p>
            <a:pPr eaLnBrk="1" hangingPunct="1">
              <a:defRPr/>
            </a:pPr>
            <a:r>
              <a:rPr lang="en-AU" altLang="en-US" dirty="0"/>
              <a:t>function is in the </a:t>
            </a:r>
            <a:r>
              <a:rPr lang="en-AU" altLang="en-US" b="1" dirty="0"/>
              <a:t>stats4</a:t>
            </a:r>
            <a:r>
              <a:rPr lang="en-AU" altLang="en-US" dirty="0"/>
              <a:t> package – We will focus on </a:t>
            </a:r>
            <a:r>
              <a:rPr lang="en-AU" altLang="en-US" b="1" dirty="0" err="1"/>
              <a:t>mle</a:t>
            </a:r>
            <a:endParaRPr lang="en-AU" altLang="en-US" dirty="0"/>
          </a:p>
        </p:txBody>
      </p:sp>
      <p:sp>
        <p:nvSpPr>
          <p:cNvPr id="5124" name="Rectangle 5"/>
          <p:cNvSpPr>
            <a:spLocks noChangeArrowheads="1"/>
          </p:cNvSpPr>
          <p:nvPr/>
        </p:nvSpPr>
        <p:spPr bwMode="auto">
          <a:xfrm>
            <a:off x="1752600" y="3733800"/>
            <a:ext cx="4572000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ll1 &lt;- function(x) {</a:t>
            </a:r>
          </a:p>
          <a:p>
            <a:pPr eaLnBrk="1" hangingPunct="1">
              <a:defRPr/>
            </a:pPr>
            <a:r>
              <a:rPr lang="en-AU" altLang="en-US" sz="1800"/>
              <a:t> obj &lt;- (x-0.3)^2</a:t>
            </a:r>
          </a:p>
          <a:p>
            <a:pPr eaLnBrk="1" hangingPunct="1">
              <a:defRPr/>
            </a:pPr>
            <a:r>
              <a:rPr lang="en-AU" altLang="en-US" sz="1800"/>
              <a:t> return(obj) 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ret1 &lt;- mle(ll1,start=list(x=1))</a:t>
            </a:r>
          </a:p>
          <a:p>
            <a:pPr eaLnBrk="1" hangingPunct="1">
              <a:defRPr/>
            </a:pPr>
            <a:r>
              <a:rPr lang="en-AU" altLang="en-US" sz="1800"/>
              <a:t> print(summary(ret1))</a:t>
            </a:r>
          </a:p>
        </p:txBody>
      </p:sp>
      <p:sp>
        <p:nvSpPr>
          <p:cNvPr id="5125" name="Text Box 6"/>
          <p:cNvSpPr txBox="1">
            <a:spLocks noChangeArrowheads="1"/>
          </p:cNvSpPr>
          <p:nvPr/>
        </p:nvSpPr>
        <p:spPr bwMode="auto">
          <a:xfrm>
            <a:off x="5791201" y="3657600"/>
            <a:ext cx="35655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Function to be minimized</a:t>
            </a:r>
          </a:p>
        </p:txBody>
      </p:sp>
      <p:sp>
        <p:nvSpPr>
          <p:cNvPr id="5126" name="Text Box 7"/>
          <p:cNvSpPr txBox="1">
            <a:spLocks noChangeArrowheads="1"/>
          </p:cNvSpPr>
          <p:nvPr/>
        </p:nvSpPr>
        <p:spPr bwMode="auto">
          <a:xfrm>
            <a:off x="6019801" y="4495801"/>
            <a:ext cx="2991653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Initial values for the </a:t>
            </a:r>
          </a:p>
          <a:p>
            <a:pPr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 flipH="1">
            <a:off x="4191000" y="4724400"/>
            <a:ext cx="1752600" cy="457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8" name="Line 9"/>
          <p:cNvSpPr>
            <a:spLocks noChangeShapeType="1"/>
          </p:cNvSpPr>
          <p:nvPr/>
        </p:nvSpPr>
        <p:spPr bwMode="auto">
          <a:xfrm flipH="1">
            <a:off x="3733800" y="3886200"/>
            <a:ext cx="19812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12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7272C0B6-5034-574B-BE71-33A0FF781039}" type="slidenum">
              <a:rPr lang="en-US" altLang="en-US" sz="1400"/>
              <a:pPr eaLnBrk="1" hangingPunct="1">
                <a:defRPr/>
              </a:pPr>
              <a:t>23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30798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6814" y="-79375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Some options for MLE-I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2286001" y="1682750"/>
            <a:ext cx="773224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 err="1"/>
              <a:t>mle</a:t>
            </a:r>
            <a:r>
              <a:rPr lang="en-AU" altLang="en-US" dirty="0"/>
              <a:t>(</a:t>
            </a:r>
            <a:r>
              <a:rPr lang="en-AU" altLang="en-US" dirty="0" err="1"/>
              <a:t>Func</a:t>
            </a:r>
            <a:r>
              <a:rPr lang="en-AU" altLang="en-US" dirty="0"/>
              <a:t>, start=list(), method, lower, upper)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r>
              <a:rPr lang="en-AU" altLang="en-US" b="1" i="1" dirty="0" err="1"/>
              <a:t>Func</a:t>
            </a:r>
            <a:r>
              <a:rPr lang="en-AU" altLang="en-US" dirty="0"/>
              <a:t> – function to be minimized</a:t>
            </a:r>
          </a:p>
          <a:p>
            <a:pPr eaLnBrk="1" hangingPunct="1">
              <a:defRPr/>
            </a:pPr>
            <a:r>
              <a:rPr lang="en-AU" altLang="en-US" b="1" i="1" dirty="0"/>
              <a:t>start</a:t>
            </a:r>
            <a:r>
              <a:rPr lang="en-AU" altLang="en-US" dirty="0"/>
              <a:t> – initial values for the parameters</a:t>
            </a:r>
          </a:p>
          <a:p>
            <a:pPr eaLnBrk="1" hangingPunct="1">
              <a:defRPr/>
            </a:pPr>
            <a:r>
              <a:rPr lang="en-AU" altLang="en-US" b="1" i="1" dirty="0"/>
              <a:t>method</a:t>
            </a:r>
            <a:r>
              <a:rPr lang="en-AU" altLang="en-US" dirty="0"/>
              <a:t> – method for minimization (e.g. “L-BFGS-B”,</a:t>
            </a:r>
          </a:p>
          <a:p>
            <a:pPr eaLnBrk="1" hangingPunct="1">
              <a:defRPr/>
            </a:pPr>
            <a:r>
              <a:rPr lang="en-AU" altLang="en-US" dirty="0"/>
              <a:t>   “</a:t>
            </a:r>
            <a:r>
              <a:rPr lang="en-AU" altLang="en-US" dirty="0" err="1"/>
              <a:t>Nelder</a:t>
            </a:r>
            <a:r>
              <a:rPr lang="en-AU" altLang="en-US" dirty="0"/>
              <a:t>-Mead”, “BFGS”).</a:t>
            </a:r>
          </a:p>
          <a:p>
            <a:pPr eaLnBrk="1" hangingPunct="1">
              <a:defRPr/>
            </a:pPr>
            <a:r>
              <a:rPr lang="en-AU" altLang="en-US" b="1" i="1" dirty="0"/>
              <a:t>lower</a:t>
            </a:r>
            <a:r>
              <a:rPr lang="en-AU" altLang="en-US" dirty="0"/>
              <a:t> – lower bounds for the variables (including –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r>
              <a:rPr lang="en-AU" altLang="en-US" b="1" i="1" dirty="0"/>
              <a:t>upper</a:t>
            </a:r>
            <a:r>
              <a:rPr lang="en-AU" altLang="en-US" dirty="0"/>
              <a:t> - upper bounds for the variables (including </a:t>
            </a:r>
            <a:r>
              <a:rPr lang="en-AU" altLang="en-US" dirty="0" err="1"/>
              <a:t>Inf</a:t>
            </a:r>
            <a:r>
              <a:rPr lang="en-AU" altLang="en-US" dirty="0"/>
              <a:t>)</a:t>
            </a:r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  <a:p>
            <a:pPr eaLnBrk="1" hangingPunct="1">
              <a:defRPr/>
            </a:pPr>
            <a:endParaRPr lang="en-AU" altLang="en-US" dirty="0"/>
          </a:p>
        </p:txBody>
      </p:sp>
      <p:sp>
        <p:nvSpPr>
          <p:cNvPr id="6148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3FDDEC56-C32F-0B41-84F7-04BAE2BB2FAD}" type="slidenum">
              <a:rPr lang="en-US" altLang="en-US" sz="1400"/>
              <a:pPr eaLnBrk="1" hangingPunct="1">
                <a:defRPr/>
              </a:pPr>
              <a:t>24</a:t>
            </a:fld>
            <a:endParaRPr lang="en-US" altLang="en-US" sz="1400"/>
          </a:p>
        </p:txBody>
      </p:sp>
      <p:sp>
        <p:nvSpPr>
          <p:cNvPr id="24580" name="TextBox 1"/>
          <p:cNvSpPr txBox="1">
            <a:spLocks noChangeArrowheads="1"/>
          </p:cNvSpPr>
          <p:nvPr/>
        </p:nvSpPr>
        <p:spPr bwMode="auto">
          <a:xfrm>
            <a:off x="2363789" y="5178426"/>
            <a:ext cx="75025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Note, “</a:t>
            </a:r>
            <a:r>
              <a:rPr lang="en-AU" altLang="en-US" sz="2400"/>
              <a:t>L-BFGS-B” allows you to bound the parameters</a:t>
            </a:r>
            <a:endParaRPr lang="en-US" altLang="en-US" sz="2400"/>
          </a:p>
        </p:txBody>
      </p:sp>
    </p:spTree>
    <p:extLst>
      <p:ext uri="{BB962C8B-B14F-4D97-AF65-F5344CB8AC3E}">
        <p14:creationId xmlns:p14="http://schemas.microsoft.com/office/powerpoint/2010/main" val="1983316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570164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Question-1</a:t>
            </a:r>
          </a:p>
        </p:txBody>
      </p:sp>
      <p:sp>
        <p:nvSpPr>
          <p:cNvPr id="4099" name="Text Box 4"/>
          <p:cNvSpPr txBox="1">
            <a:spLocks noChangeArrowheads="1"/>
          </p:cNvSpPr>
          <p:nvPr/>
        </p:nvSpPr>
        <p:spPr bwMode="auto">
          <a:xfrm>
            <a:off x="2155825" y="1516064"/>
            <a:ext cx="7570788" cy="2308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You monitor an intersection for cars that run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red light. Based on 50 days of observation, you detect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30 days on which “light running” took place. You repeat the “experiment” after a red light camera is installed and now observe 10 days on which “running” occurred.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2257425" y="3725863"/>
            <a:ext cx="7450138" cy="2000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What is the probability of “light running” before the camera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was installed?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Has the probability of “light running” changed significantly?</a:t>
            </a:r>
          </a:p>
          <a:p>
            <a:pPr lvl="2" eaLnBrk="1" hangingPunct="1">
              <a:buFontTx/>
              <a:buAutoNum type="arabicPeriod" startAt="2"/>
              <a:defRPr/>
            </a:pPr>
            <a:r>
              <a:rPr lang="en-AU" altLang="en-US" sz="2000" i="1" dirty="0">
                <a:solidFill>
                  <a:srgbClr val="000000"/>
                </a:solidFill>
              </a:rPr>
              <a:t>We’ll get to this question later</a:t>
            </a:r>
          </a:p>
          <a:p>
            <a:pPr eaLnBrk="1" hangingPunct="1">
              <a:buFontTx/>
              <a:buAutoNum type="arabicPeriod"/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7399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1 - revisited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133600" y="2209801"/>
            <a:ext cx="7848600" cy="2563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LL2 &lt;- function(p) {</a:t>
            </a:r>
          </a:p>
          <a:p>
            <a:pPr eaLnBrk="1" hangingPunct="1">
              <a:defRPr/>
            </a:pPr>
            <a:r>
              <a:rPr lang="en-AU" altLang="en-US" sz="1800"/>
              <a:t> obj &lt;- -1*30*log(p)-20*log(1-p)</a:t>
            </a:r>
          </a:p>
          <a:p>
            <a:pPr eaLnBrk="1" hangingPunct="1">
              <a:defRPr/>
            </a:pPr>
            <a:r>
              <a:rPr lang="en-AU" altLang="en-US" sz="1800"/>
              <a:t> return(obj)</a:t>
            </a:r>
          </a:p>
          <a:p>
            <a:pPr eaLnBrk="1" hangingPunct="1">
              <a:defRPr/>
            </a:pPr>
            <a:r>
              <a:rPr lang="en-AU" altLang="en-US" sz="1800"/>
              <a:t>  }</a:t>
            </a:r>
          </a:p>
          <a:p>
            <a:pPr eaLnBrk="1" hangingPunct="1">
              <a:defRPr/>
            </a:pPr>
            <a:r>
              <a:rPr lang="en-AU" altLang="en-US" sz="1800"/>
              <a:t> </a:t>
            </a:r>
          </a:p>
          <a:p>
            <a:pPr eaLnBrk="1" hangingPunct="1">
              <a:defRPr/>
            </a:pPr>
            <a:r>
              <a:rPr lang="en-AU" altLang="en-US" sz="1800"/>
              <a:t> ret2 &lt;- mle(LL2,start=list(p=0.1),</a:t>
            </a:r>
          </a:p>
          <a:p>
            <a:pPr eaLnBrk="1" hangingPunct="1">
              <a:defRPr/>
            </a:pPr>
            <a:r>
              <a:rPr lang="en-AU" altLang="en-US" sz="1800"/>
              <a:t>                 lower=c(0.00001),upper=c(0.999999),</a:t>
            </a:r>
          </a:p>
          <a:p>
            <a:pPr eaLnBrk="1" hangingPunct="1">
              <a:defRPr/>
            </a:pPr>
            <a:r>
              <a:rPr lang="en-AU" altLang="en-US" sz="1800"/>
              <a:t>                 method="L-BFGS-B")</a:t>
            </a:r>
          </a:p>
          <a:p>
            <a:pPr eaLnBrk="1" hangingPunct="1">
              <a:defRPr/>
            </a:pPr>
            <a:r>
              <a:rPr lang="en-AU" altLang="en-US" sz="1800"/>
              <a:t> print(summary(ret2))</a:t>
            </a:r>
          </a:p>
        </p:txBody>
      </p:sp>
      <p:sp>
        <p:nvSpPr>
          <p:cNvPr id="8196" name="Text Box 5"/>
          <p:cNvSpPr txBox="1">
            <a:spLocks noChangeArrowheads="1"/>
          </p:cNvSpPr>
          <p:nvPr/>
        </p:nvSpPr>
        <p:spPr bwMode="auto">
          <a:xfrm>
            <a:off x="6324600" y="2057401"/>
            <a:ext cx="2725738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</a:t>
            </a:r>
          </a:p>
        </p:txBody>
      </p:sp>
      <p:sp>
        <p:nvSpPr>
          <p:cNvPr id="8197" name="Line 6"/>
          <p:cNvSpPr>
            <a:spLocks noChangeShapeType="1"/>
          </p:cNvSpPr>
          <p:nvPr/>
        </p:nvSpPr>
        <p:spPr bwMode="auto">
          <a:xfrm flipH="1">
            <a:off x="5638800" y="2286000"/>
            <a:ext cx="685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5791201" y="4724401"/>
            <a:ext cx="4041775" cy="701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2000"/>
              <a:t>“Method” must be L-BFGS-B if you</a:t>
            </a:r>
          </a:p>
          <a:p>
            <a:pPr eaLnBrk="1" hangingPunct="1">
              <a:defRPr/>
            </a:pPr>
            <a:r>
              <a:rPr lang="en-AU" altLang="en-US" sz="2000"/>
              <a:t>want to bound the parameters</a:t>
            </a:r>
          </a:p>
        </p:txBody>
      </p:sp>
      <p:sp>
        <p:nvSpPr>
          <p:cNvPr id="8199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D90B37F-26B5-434B-917F-3124A89D6F84}" type="slidenum">
              <a:rPr lang="en-US" altLang="en-US" sz="1400"/>
              <a:pPr eaLnBrk="1" hangingPunct="1">
                <a:defRPr/>
              </a:pPr>
              <a:t>26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1584563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62214" y="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 2 - revisited</a:t>
            </a:r>
            <a:endParaRPr lang="en-AU" altLang="en-US" dirty="0"/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260600" y="1676400"/>
            <a:ext cx="7570788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The blow rate for a given whale species is Poisson-distributed and it is “known” that the average number of blows in an interval for males and females is different. We monitor a population and find the following distribution of blow times.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2362200" y="3810000"/>
            <a:ext cx="7994650" cy="198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>
                <a:solidFill>
                  <a:srgbClr val="000000"/>
                </a:solidFill>
              </a:rPr>
              <a:t>What is the fraction of females in the population (females have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	higher blow rate)?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>
                <a:solidFill>
                  <a:srgbClr val="000000"/>
                </a:solidFill>
              </a:rPr>
              <a:t>Can we conclude that females and males really do differ in mean </a:t>
            </a:r>
          </a:p>
          <a:p>
            <a:pPr eaLnBrk="1" hangingPunct="1">
              <a:defRPr/>
            </a:pPr>
            <a:r>
              <a:rPr lang="en-AU" altLang="en-US" sz="2000">
                <a:solidFill>
                  <a:srgbClr val="000000"/>
                </a:solidFill>
              </a:rPr>
              <a:t>      blow rate?</a:t>
            </a:r>
          </a:p>
          <a:p>
            <a:pPr eaLnBrk="1" hangingPunct="1">
              <a:defRPr/>
            </a:pPr>
            <a:endParaRPr lang="en-AU" altLang="en-US" sz="2000">
              <a:solidFill>
                <a:srgbClr val="000000"/>
              </a:solidFill>
            </a:endParaRPr>
          </a:p>
        </p:txBody>
      </p:sp>
      <p:sp>
        <p:nvSpPr>
          <p:cNvPr id="6149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45488" y="62611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6C9EC0B-AF8B-BC4A-B2AB-99FCC222E732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27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6957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ext Box 7"/>
          <p:cNvSpPr txBox="1">
            <a:spLocks noChangeArrowheads="1"/>
          </p:cNvSpPr>
          <p:nvPr/>
        </p:nvSpPr>
        <p:spPr bwMode="auto">
          <a:xfrm>
            <a:off x="1981201" y="2590800"/>
            <a:ext cx="8278813" cy="1200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Now, an animal is either male or female and letting the 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mean blow rate for 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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1</a:t>
            </a:r>
            <a:r>
              <a:rPr lang="en-AU" altLang="en-US" dirty="0">
                <a:solidFill>
                  <a:srgbClr val="000000"/>
                </a:solidFill>
              </a:rPr>
              <a:t> and that for females be 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</a:t>
            </a:r>
            <a:r>
              <a:rPr lang="en-AU" altLang="en-US" baseline="-25000" dirty="0">
                <a:solidFill>
                  <a:srgbClr val="000000"/>
                </a:solidFill>
                <a:sym typeface="Symbol" charset="2"/>
              </a:rPr>
              <a:t>2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,</a:t>
            </a: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and assuming that the proportion of males is </a:t>
            </a:r>
            <a:r>
              <a:rPr lang="en-AU" altLang="en-US" i="1" dirty="0">
                <a:solidFill>
                  <a:srgbClr val="000000"/>
                </a:solidFill>
                <a:sym typeface="Symbol" charset="2"/>
              </a:rPr>
              <a:t>p</a:t>
            </a:r>
            <a:r>
              <a:rPr lang="en-AU" altLang="en-US" dirty="0">
                <a:solidFill>
                  <a:srgbClr val="000000"/>
                </a:solidFill>
                <a:sym typeface="Symbol" charset="2"/>
              </a:rPr>
              <a:t>:</a:t>
            </a:r>
          </a:p>
        </p:txBody>
      </p:sp>
      <p:graphicFrame>
        <p:nvGraphicFramePr>
          <p:cNvPr id="32770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5105400" y="1752600"/>
          <a:ext cx="2058988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28700" imgH="419100" progId="Equation.DSMT4">
                  <p:embed/>
                </p:oleObj>
              </mc:Choice>
              <mc:Fallback>
                <p:oleObj name="Equation" r:id="rId3" imgW="10287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752600"/>
                        <a:ext cx="2058988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3" name="Text Box 4"/>
          <p:cNvSpPr txBox="1">
            <a:spLocks noChangeArrowheads="1"/>
          </p:cNvSpPr>
          <p:nvPr/>
        </p:nvSpPr>
        <p:spPr bwMode="auto">
          <a:xfrm>
            <a:off x="2133600" y="1295400"/>
            <a:ext cx="38036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Poisson distribution is:</a:t>
            </a:r>
          </a:p>
        </p:txBody>
      </p:sp>
      <p:graphicFrame>
        <p:nvGraphicFramePr>
          <p:cNvPr id="32772" name="Object 8"/>
          <p:cNvGraphicFramePr>
            <a:graphicFrameLocks noGrp="1" noChangeAspect="1"/>
          </p:cNvGraphicFramePr>
          <p:nvPr>
            <p:ph sz="half" idx="2"/>
          </p:nvPr>
        </p:nvGraphicFramePr>
        <p:xfrm>
          <a:off x="3613150" y="4038601"/>
          <a:ext cx="4984750" cy="835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501900" imgH="419100" progId="Equation.DSMT4">
                  <p:embed/>
                </p:oleObj>
              </mc:Choice>
              <mc:Fallback>
                <p:oleObj name="Equation" r:id="rId5" imgW="25019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3150" y="4038601"/>
                        <a:ext cx="4984750" cy="835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2EFF4307-A4AA-C644-A3B5-BBE91FE091E7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28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/>
              <a:t>Example 2 - revisited</a:t>
            </a:r>
            <a:endParaRPr lang="en-AU" altLang="en-US" kern="0" dirty="0"/>
          </a:p>
        </p:txBody>
      </p:sp>
      <p:graphicFrame>
        <p:nvGraphicFramePr>
          <p:cNvPr id="32775" name="Object 5"/>
          <p:cNvGraphicFramePr>
            <a:graphicFrameLocks noChangeAspect="1"/>
          </p:cNvGraphicFramePr>
          <p:nvPr/>
        </p:nvGraphicFramePr>
        <p:xfrm>
          <a:off x="2362200" y="56594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908300" imgH="482600" progId="Equation.DSMT4">
                  <p:embed/>
                </p:oleObj>
              </mc:Choice>
              <mc:Fallback>
                <p:oleObj name="Equation" r:id="rId7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6594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1851025" y="51323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191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704263" y="6400800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F4D9E3F-775D-AC43-8211-30082E245E7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29</a:t>
            </a:fld>
            <a:endParaRPr lang="en-US" altLang="en-US" sz="1400" dirty="0">
              <a:solidFill>
                <a:srgbClr val="000000"/>
              </a:solidFill>
            </a:endParaRP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 bwMode="auto">
          <a:xfrm>
            <a:off x="2224089" y="0"/>
            <a:ext cx="779303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kern="0" dirty="0">
                <a:solidFill>
                  <a:srgbClr val="333399"/>
                </a:solidFill>
              </a:rPr>
              <a:t>Example 2 - revisited</a:t>
            </a:r>
            <a:endParaRPr lang="en-AU" altLang="en-US" kern="0" dirty="0">
              <a:solidFill>
                <a:srgbClr val="333399"/>
              </a:solidFill>
            </a:endParaRPr>
          </a:p>
        </p:txBody>
      </p:sp>
      <p:graphicFrame>
        <p:nvGraphicFramePr>
          <p:cNvPr id="34819" name="Object 5"/>
          <p:cNvGraphicFramePr>
            <a:graphicFrameLocks noChangeAspect="1"/>
          </p:cNvGraphicFramePr>
          <p:nvPr/>
        </p:nvGraphicFramePr>
        <p:xfrm>
          <a:off x="2667000" y="2090738"/>
          <a:ext cx="5816600" cy="965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300" imgH="482600" progId="Equation.DSMT4">
                  <p:embed/>
                </p:oleObj>
              </mc:Choice>
              <mc:Fallback>
                <p:oleObj name="Equation" r:id="rId3" imgW="2908300" imgH="482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0" y="2090738"/>
                        <a:ext cx="5816600" cy="965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55825" y="1563688"/>
            <a:ext cx="4368800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</a:t>
            </a:r>
            <a:r>
              <a:rPr lang="en-AU" altLang="en-US">
                <a:solidFill>
                  <a:srgbClr val="000000"/>
                </a:solidFill>
              </a:rPr>
              <a:t>likelihood function is then:</a:t>
            </a:r>
            <a:endParaRPr lang="en-AU" altLang="en-US" dirty="0">
              <a:solidFill>
                <a:srgbClr val="000000"/>
              </a:solidFill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55826" y="4005263"/>
            <a:ext cx="8086725" cy="461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Question: What </a:t>
            </a:r>
            <a:r>
              <a:rPr lang="en-AU" altLang="en-US" dirty="0">
                <a:solidFill>
                  <a:srgbClr val="000000"/>
                </a:solidFill>
              </a:rPr>
              <a:t>are we solving for here with optimization?</a:t>
            </a:r>
          </a:p>
        </p:txBody>
      </p:sp>
    </p:spTree>
    <p:extLst>
      <p:ext uri="{BB962C8B-B14F-4D97-AF65-F5344CB8AC3E}">
        <p14:creationId xmlns:p14="http://schemas.microsoft.com/office/powerpoint/2010/main" val="88697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Example 2 - revisited</a:t>
            </a:r>
          </a:p>
        </p:txBody>
      </p:sp>
      <p:sp>
        <p:nvSpPr>
          <p:cNvPr id="9219" name="Rectangle 4"/>
          <p:cNvSpPr>
            <a:spLocks noChangeArrowheads="1"/>
          </p:cNvSpPr>
          <p:nvPr/>
        </p:nvSpPr>
        <p:spPr bwMode="auto">
          <a:xfrm>
            <a:off x="1752600" y="1676400"/>
            <a:ext cx="8077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 dirty="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 dirty="0"/>
              <a:t>{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 &lt;- p*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(Blows,lam1)+(1-p)*</a:t>
            </a:r>
            <a:r>
              <a:rPr lang="en-AU" altLang="en-US" sz="1800" dirty="0" err="1"/>
              <a:t>dpois</a:t>
            </a:r>
            <a:r>
              <a:rPr lang="en-AU" altLang="en-US" sz="1800" dirty="0"/>
              <a:t>(Blows,lam2)</a:t>
            </a:r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 &lt;- -1*sum(log(</a:t>
            </a:r>
            <a:r>
              <a:rPr lang="en-AU" altLang="en-US" sz="1800" dirty="0" err="1"/>
              <a:t>LikeOut</a:t>
            </a:r>
            <a:r>
              <a:rPr lang="en-AU" altLang="en-US" sz="1800" dirty="0"/>
              <a:t>))</a:t>
            </a:r>
          </a:p>
          <a:p>
            <a:pPr eaLnBrk="1" hangingPunct="1">
              <a:defRPr/>
            </a:pPr>
            <a:r>
              <a:rPr lang="en-AU" altLang="en-US" sz="1800" dirty="0"/>
              <a:t>return(</a:t>
            </a:r>
            <a:r>
              <a:rPr lang="en-AU" altLang="en-US" sz="1800" dirty="0" err="1"/>
              <a:t>NegLogLike</a:t>
            </a:r>
            <a:r>
              <a:rPr lang="en-AU" altLang="en-US" sz="1800" dirty="0"/>
              <a:t>)</a:t>
            </a:r>
          </a:p>
          <a:p>
            <a:pPr eaLnBrk="1" hangingPunct="1">
              <a:defRPr/>
            </a:pPr>
            <a:r>
              <a:rPr lang="en-AU" altLang="en-US" sz="1800" dirty="0"/>
              <a:t>}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 &lt;- matrix(scan(”Whale.</a:t>
            </a:r>
            <a:r>
              <a:rPr lang="en-AU" altLang="en-US" sz="1800" dirty="0" err="1"/>
              <a:t>dat</a:t>
            </a:r>
            <a:r>
              <a:rPr lang="en-AU" altLang="en-US" sz="1800" dirty="0"/>
              <a:t>",skip=1),</a:t>
            </a:r>
            <a:r>
              <a:rPr lang="en-AU" altLang="en-US" sz="1800" dirty="0" err="1"/>
              <a:t>byrow</a:t>
            </a:r>
            <a:r>
              <a:rPr lang="en-AU" altLang="en-US" sz="1800" dirty="0"/>
              <a:t>=</a:t>
            </a:r>
            <a:r>
              <a:rPr lang="en-AU" altLang="en-US" sz="1800" dirty="0" err="1"/>
              <a:t>T,ncol</a:t>
            </a:r>
            <a:r>
              <a:rPr lang="en-AU" altLang="en-US" sz="1800" dirty="0"/>
              <a:t>=2)</a:t>
            </a:r>
          </a:p>
          <a:p>
            <a:pPr eaLnBrk="1" hangingPunct="1">
              <a:defRPr/>
            </a:pPr>
            <a:r>
              <a:rPr lang="en-AU" altLang="en-US" sz="1800" dirty="0"/>
              <a:t> Blows &lt;- </a:t>
            </a:r>
            <a:r>
              <a:rPr lang="en-AU" altLang="en-US" sz="1800" dirty="0" err="1"/>
              <a:t>TheData</a:t>
            </a:r>
            <a:r>
              <a:rPr lang="en-AU" altLang="en-US" sz="1800" dirty="0"/>
              <a:t>[,2]</a:t>
            </a:r>
          </a:p>
          <a:p>
            <a:pPr eaLnBrk="1" hangingPunct="1">
              <a:defRPr/>
            </a:pPr>
            <a:endParaRPr lang="en-AU" altLang="en-US" sz="1800" dirty="0"/>
          </a:p>
          <a:p>
            <a:pPr eaLnBrk="1" hangingPunct="1">
              <a:defRPr/>
            </a:pPr>
            <a:r>
              <a:rPr lang="en-AU" altLang="en-US" sz="1800" dirty="0"/>
              <a:t> ret3 &lt;- </a:t>
            </a:r>
            <a:r>
              <a:rPr lang="en-AU" altLang="en-US" sz="1800" dirty="0" err="1"/>
              <a:t>mle</a:t>
            </a:r>
            <a:r>
              <a:rPr lang="en-AU" altLang="en-US" sz="1800" dirty="0"/>
              <a:t>(LL3,start=list(lam1=10,lam2=10,p=0.4),fixed=list(Blows=Blows),lower=c(0.01,0.01,0.00001),upper=c(Inf,Inf,0.99999),method="L-BFGS-B")</a:t>
            </a:r>
          </a:p>
          <a:p>
            <a:pPr eaLnBrk="1" hangingPunct="1">
              <a:defRPr/>
            </a:pPr>
            <a:r>
              <a:rPr lang="en-AU" altLang="en-US" sz="1800" dirty="0"/>
              <a:t> print(summary(ret3))</a:t>
            </a:r>
          </a:p>
        </p:txBody>
      </p:sp>
      <p:sp>
        <p:nvSpPr>
          <p:cNvPr id="922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4A203F7A-465F-C443-A243-20BBAB72DA33}" type="slidenum">
              <a:rPr lang="en-US" altLang="en-US" sz="1400"/>
              <a:pPr eaLnBrk="1" hangingPunct="1">
                <a:defRPr/>
              </a:pPr>
              <a:t>30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1040094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5428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</a:t>
            </a:r>
          </a:p>
        </p:txBody>
      </p:sp>
      <p:sp>
        <p:nvSpPr>
          <p:cNvPr id="10243" name="Rectangle 4"/>
          <p:cNvSpPr>
            <a:spLocks noChangeArrowheads="1"/>
          </p:cNvSpPr>
          <p:nvPr/>
        </p:nvSpPr>
        <p:spPr bwMode="auto">
          <a:xfrm>
            <a:off x="1981200" y="2209800"/>
            <a:ext cx="7848600" cy="3251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sz="1800"/>
              <a:t>LL3 &lt;- function(lam1,lam2,p,Blows)</a:t>
            </a:r>
          </a:p>
          <a:p>
            <a:pPr eaLnBrk="1" hangingPunct="1">
              <a:defRPr/>
            </a:pPr>
            <a:r>
              <a:rPr lang="en-AU" altLang="en-US" sz="1800"/>
              <a:t>{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LikeOut &lt;- p*dpois(Blows,lam1)+(1-p)*dpois(Blows,lam2)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 NegLogLike &lt;- -1*sum(log(LikeOut))</a:t>
            </a:r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endParaRPr lang="en-AU" altLang="en-US" sz="1800"/>
          </a:p>
          <a:p>
            <a:pPr eaLnBrk="1" hangingPunct="1">
              <a:defRPr/>
            </a:pPr>
            <a:r>
              <a:rPr lang="en-AU" altLang="en-US" sz="1800"/>
              <a:t>return(NegLogLike)</a:t>
            </a:r>
          </a:p>
          <a:p>
            <a:pPr eaLnBrk="1" hangingPunct="1">
              <a:defRPr/>
            </a:pPr>
            <a:r>
              <a:rPr lang="en-AU" altLang="en-US" sz="1800"/>
              <a:t>}</a:t>
            </a:r>
          </a:p>
          <a:p>
            <a:pPr eaLnBrk="1" hangingPunct="1">
              <a:spcBef>
                <a:spcPct val="50000"/>
              </a:spcBef>
              <a:defRPr/>
            </a:pPr>
            <a:endParaRPr lang="en-AU" altLang="en-US" sz="1800"/>
          </a:p>
        </p:txBody>
      </p:sp>
      <p:sp>
        <p:nvSpPr>
          <p:cNvPr id="10244" name="Text Box 6"/>
          <p:cNvSpPr txBox="1">
            <a:spLocks noChangeArrowheads="1"/>
          </p:cNvSpPr>
          <p:nvPr/>
        </p:nvSpPr>
        <p:spPr bwMode="auto">
          <a:xfrm>
            <a:off x="3170238" y="1447800"/>
            <a:ext cx="17065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Parameters</a:t>
            </a:r>
          </a:p>
        </p:txBody>
      </p:sp>
      <p:sp>
        <p:nvSpPr>
          <p:cNvPr id="10245" name="Text Box 7"/>
          <p:cNvSpPr txBox="1">
            <a:spLocks noChangeArrowheads="1"/>
          </p:cNvSpPr>
          <p:nvPr/>
        </p:nvSpPr>
        <p:spPr bwMode="auto">
          <a:xfrm>
            <a:off x="6019800" y="1524000"/>
            <a:ext cx="1377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The data</a:t>
            </a:r>
          </a:p>
        </p:txBody>
      </p:sp>
      <p:sp>
        <p:nvSpPr>
          <p:cNvPr id="10246" name="Line 8"/>
          <p:cNvSpPr>
            <a:spLocks noChangeShapeType="1"/>
          </p:cNvSpPr>
          <p:nvPr/>
        </p:nvSpPr>
        <p:spPr bwMode="auto">
          <a:xfrm>
            <a:off x="35814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7" name="Line 9"/>
          <p:cNvSpPr>
            <a:spLocks noChangeShapeType="1"/>
          </p:cNvSpPr>
          <p:nvPr/>
        </p:nvSpPr>
        <p:spPr bwMode="auto">
          <a:xfrm>
            <a:off x="4191000" y="18288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8" name="Line 10"/>
          <p:cNvSpPr>
            <a:spLocks noChangeShapeType="1"/>
          </p:cNvSpPr>
          <p:nvPr/>
        </p:nvSpPr>
        <p:spPr bwMode="auto">
          <a:xfrm>
            <a:off x="4572000" y="1905000"/>
            <a:ext cx="304800" cy="457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49" name="Line 11"/>
          <p:cNvSpPr>
            <a:spLocks noChangeShapeType="1"/>
          </p:cNvSpPr>
          <p:nvPr/>
        </p:nvSpPr>
        <p:spPr bwMode="auto">
          <a:xfrm flipH="1">
            <a:off x="5486400" y="1905000"/>
            <a:ext cx="762000" cy="3810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0" name="Text Box 12"/>
          <p:cNvSpPr txBox="1">
            <a:spLocks noChangeArrowheads="1"/>
          </p:cNvSpPr>
          <p:nvPr/>
        </p:nvSpPr>
        <p:spPr bwMode="auto">
          <a:xfrm>
            <a:off x="7650965" y="3886201"/>
            <a:ext cx="279557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a vector of</a:t>
            </a:r>
          </a:p>
          <a:p>
            <a:pPr algn="ctr" eaLnBrk="1" hangingPunct="1">
              <a:defRPr/>
            </a:pPr>
            <a:r>
              <a:rPr lang="en-AU" altLang="en-US"/>
              <a:t>likelihoods for each</a:t>
            </a:r>
          </a:p>
          <a:p>
            <a:pPr algn="ctr" eaLnBrk="1" hangingPunct="1">
              <a:defRPr/>
            </a:pPr>
            <a:r>
              <a:rPr lang="en-AU" altLang="en-US"/>
              <a:t> data point</a:t>
            </a:r>
          </a:p>
        </p:txBody>
      </p:sp>
      <p:sp>
        <p:nvSpPr>
          <p:cNvPr id="10251" name="Line 13"/>
          <p:cNvSpPr>
            <a:spLocks noChangeShapeType="1"/>
          </p:cNvSpPr>
          <p:nvPr/>
        </p:nvSpPr>
        <p:spPr bwMode="auto">
          <a:xfrm flipH="1" flipV="1">
            <a:off x="6781800" y="33528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2" name="Text Box 14"/>
          <p:cNvSpPr txBox="1">
            <a:spLocks noChangeArrowheads="1"/>
          </p:cNvSpPr>
          <p:nvPr/>
        </p:nvSpPr>
        <p:spPr bwMode="auto">
          <a:xfrm>
            <a:off x="3413793" y="4876801"/>
            <a:ext cx="4786567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This is the negative </a:t>
            </a:r>
          </a:p>
          <a:p>
            <a:pPr algn="ctr" eaLnBrk="1" hangingPunct="1">
              <a:defRPr/>
            </a:pPr>
            <a:r>
              <a:rPr lang="en-AU" altLang="en-US"/>
              <a:t>log-likelihood (sum over negative </a:t>
            </a:r>
          </a:p>
          <a:p>
            <a:pPr algn="ctr" eaLnBrk="1" hangingPunct="1">
              <a:defRPr/>
            </a:pPr>
            <a:r>
              <a:rPr lang="en-AU" altLang="en-US"/>
              <a:t>log-likelihoods for each datum)</a:t>
            </a:r>
          </a:p>
        </p:txBody>
      </p:sp>
      <p:sp>
        <p:nvSpPr>
          <p:cNvPr id="10253" name="Line 15"/>
          <p:cNvSpPr>
            <a:spLocks noChangeShapeType="1"/>
          </p:cNvSpPr>
          <p:nvPr/>
        </p:nvSpPr>
        <p:spPr bwMode="auto">
          <a:xfrm flipH="1" flipV="1">
            <a:off x="4495800" y="3962400"/>
            <a:ext cx="990600" cy="8382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0255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E1539609-3420-5643-A3B6-B91D2C0E4491}" type="slidenum">
              <a:rPr lang="en-US" altLang="en-US" sz="1400"/>
              <a:pPr eaLnBrk="1" hangingPunct="1">
                <a:defRPr/>
              </a:pPr>
              <a:t>31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620286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Dissecting Example 2-II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286001" y="1820863"/>
            <a:ext cx="5186035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/>
              <a:t>ret3 &lt;- mle(LL3,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start=list(lam1=10,lam2=10,p=0.4),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fixed=list(Blows=Blows),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lower=c(0.01,0.01,0.00001),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upper=c(Inf,Inf,0.99999),</a:t>
            </a:r>
          </a:p>
          <a:p>
            <a:pPr eaLnBrk="1" hangingPunct="1">
              <a:defRPr/>
            </a:pPr>
            <a:endParaRPr lang="en-AU" altLang="en-US"/>
          </a:p>
          <a:p>
            <a:pPr eaLnBrk="1" hangingPunct="1">
              <a:defRPr/>
            </a:pPr>
            <a:r>
              <a:rPr lang="en-AU" altLang="en-US"/>
              <a:t>method="L-BFGS-B")</a:t>
            </a:r>
          </a:p>
        </p:txBody>
      </p:sp>
      <p:sp>
        <p:nvSpPr>
          <p:cNvPr id="11268" name="Text Box 5"/>
          <p:cNvSpPr txBox="1">
            <a:spLocks noChangeArrowheads="1"/>
          </p:cNvSpPr>
          <p:nvPr/>
        </p:nvSpPr>
        <p:spPr bwMode="auto">
          <a:xfrm>
            <a:off x="8077200" y="1744663"/>
            <a:ext cx="175260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Starting values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69" name="Line 6"/>
          <p:cNvSpPr>
            <a:spLocks noChangeShapeType="1"/>
          </p:cNvSpPr>
          <p:nvPr/>
        </p:nvSpPr>
        <p:spPr bwMode="auto">
          <a:xfrm flipH="1">
            <a:off x="6858000" y="2049463"/>
            <a:ext cx="1219200" cy="6096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7940675" y="3192463"/>
            <a:ext cx="17208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Data </a:t>
            </a:r>
          </a:p>
          <a:p>
            <a:pPr algn="ctr" eaLnBrk="1" hangingPunct="1">
              <a:defRPr/>
            </a:pPr>
            <a:r>
              <a:rPr lang="en-AU" altLang="en-US" sz="1800"/>
              <a:t>(must be a list)</a:t>
            </a:r>
          </a:p>
        </p:txBody>
      </p:sp>
      <p:sp>
        <p:nvSpPr>
          <p:cNvPr id="11271" name="Line 8"/>
          <p:cNvSpPr>
            <a:spLocks noChangeShapeType="1"/>
          </p:cNvSpPr>
          <p:nvPr/>
        </p:nvSpPr>
        <p:spPr bwMode="auto">
          <a:xfrm flipH="1">
            <a:off x="5791200" y="3573463"/>
            <a:ext cx="2286000" cy="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2" name="Line 9"/>
          <p:cNvSpPr>
            <a:spLocks noChangeShapeType="1"/>
          </p:cNvSpPr>
          <p:nvPr/>
        </p:nvSpPr>
        <p:spPr bwMode="auto">
          <a:xfrm flipH="1" flipV="1">
            <a:off x="6248400" y="4259263"/>
            <a:ext cx="18288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3" name="Line 10"/>
          <p:cNvSpPr>
            <a:spLocks noChangeShapeType="1"/>
          </p:cNvSpPr>
          <p:nvPr/>
        </p:nvSpPr>
        <p:spPr bwMode="auto">
          <a:xfrm flipH="1">
            <a:off x="6172200" y="4716463"/>
            <a:ext cx="1905000" cy="3048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1274" name="Text Box 11"/>
          <p:cNvSpPr txBox="1">
            <a:spLocks noChangeArrowheads="1"/>
          </p:cNvSpPr>
          <p:nvPr/>
        </p:nvSpPr>
        <p:spPr bwMode="auto">
          <a:xfrm>
            <a:off x="8016876" y="4183064"/>
            <a:ext cx="188912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Upper and</a:t>
            </a:r>
          </a:p>
          <a:p>
            <a:pPr algn="ctr" eaLnBrk="1" hangingPunct="1">
              <a:defRPr/>
            </a:pPr>
            <a:r>
              <a:rPr lang="en-AU" altLang="en-US" sz="1800"/>
              <a:t>lower bounds for</a:t>
            </a:r>
          </a:p>
          <a:p>
            <a:pPr algn="ctr" eaLnBrk="1" hangingPunct="1">
              <a:defRPr/>
            </a:pPr>
            <a:r>
              <a:rPr lang="en-AU" altLang="en-US" sz="1800"/>
              <a:t>each parameter</a:t>
            </a:r>
          </a:p>
        </p:txBody>
      </p:sp>
      <p:sp>
        <p:nvSpPr>
          <p:cNvPr id="11275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382000" y="61880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4C49FC3-C80C-5D4F-9B8D-87BB04BD97BD}" type="slidenum">
              <a:rPr lang="en-US" altLang="en-US" sz="1400"/>
              <a:pPr eaLnBrk="1" hangingPunct="1">
                <a:defRPr/>
              </a:pPr>
              <a:t>32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21219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AU" altLang="en-US"/>
              <a:t>Hints for optimization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AU" altLang="en-US" dirty="0"/>
              <a:t>Consider different parameterizations (e.g. log(</a:t>
            </a:r>
            <a:r>
              <a:rPr lang="en-AU" altLang="en-US" i="1" dirty="0"/>
              <a:t>x</a:t>
            </a:r>
            <a:r>
              <a:rPr lang="en-AU" altLang="en-US" dirty="0"/>
              <a:t>) rather than </a:t>
            </a:r>
            <a:r>
              <a:rPr lang="en-AU" altLang="en-US" i="1" dirty="0"/>
              <a:t>x</a:t>
            </a:r>
            <a:r>
              <a:rPr lang="en-AU" altLang="en-US" dirty="0"/>
              <a:t>).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Methods may work better if the variables are all scaled to approximately 1.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altLang="en-US" dirty="0"/>
              <a:t>Never trust a non-linear minimizer!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Try different starting values.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Combine different methods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altLang="en-US" dirty="0"/>
              <a:t>Test your code with data for which you know the correct answer (simulate!).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AU" altLang="en-US" dirty="0"/>
          </a:p>
        </p:txBody>
      </p:sp>
      <p:sp>
        <p:nvSpPr>
          <p:cNvPr id="14340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1FA7B7B-C797-4B41-9FD5-3646AEBDC353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33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978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ext Box 2"/>
          <p:cNvSpPr txBox="1">
            <a:spLocks noChangeArrowheads="1"/>
          </p:cNvSpPr>
          <p:nvPr/>
        </p:nvSpPr>
        <p:spPr bwMode="auto">
          <a:xfrm>
            <a:off x="1981200" y="1503363"/>
            <a:ext cx="7570788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>
                <a:solidFill>
                  <a:srgbClr val="000000"/>
                </a:solidFill>
              </a:rPr>
              <a:t>The length of a fish is related to its age according to the von Bertalanffy growth curve:</a:t>
            </a: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>
              <a:solidFill>
                <a:srgbClr val="000000"/>
              </a:solidFill>
            </a:endParaRPr>
          </a:p>
        </p:txBody>
      </p:sp>
      <p:sp>
        <p:nvSpPr>
          <p:cNvPr id="8195" name="Rectangle 4"/>
          <p:cNvSpPr>
            <a:spLocks noGrp="1" noChangeArrowheads="1"/>
          </p:cNvSpPr>
          <p:nvPr>
            <p:ph type="title"/>
          </p:nvPr>
        </p:nvSpPr>
        <p:spPr>
          <a:xfrm>
            <a:off x="23955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49155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692401" y="2354263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300" imgH="241300" progId="Equation.DSMT4">
                  <p:embed/>
                </p:oleObj>
              </mc:Choice>
              <mc:Fallback>
                <p:oleObj name="Equation" r:id="rId3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2401" y="2354263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9156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6780214" y="2354263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12447" imgH="228501" progId="Equation.DSMT4">
                  <p:embed/>
                </p:oleObj>
              </mc:Choice>
              <mc:Fallback>
                <p:oleObj name="Equation" r:id="rId5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80214" y="2354263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198" name="Text Box 7"/>
          <p:cNvSpPr txBox="1">
            <a:spLocks noChangeArrowheads="1"/>
          </p:cNvSpPr>
          <p:nvPr/>
        </p:nvSpPr>
        <p:spPr bwMode="auto">
          <a:xfrm>
            <a:off x="2082800" y="3344863"/>
            <a:ext cx="8040688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457200" indent="-457200"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b="1" dirty="0">
                <a:solidFill>
                  <a:srgbClr val="000000"/>
                </a:solidFill>
              </a:rPr>
              <a:t>Questions</a:t>
            </a:r>
          </a:p>
          <a:p>
            <a:pPr eaLnBrk="1" hangingPunct="1">
              <a:buFontTx/>
              <a:buAutoNum type="arabicPeriod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Estimate the parameters of this equation (what are they?)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males and females, 	and compute 95% confidence intervals for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      asymptotic length.</a:t>
            </a:r>
          </a:p>
          <a:p>
            <a:pPr eaLnBrk="1" hangingPunct="1">
              <a:buFontTx/>
              <a:buAutoNum type="arabicPeriod" startAt="2"/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Can we conclude that the asymptotic sizes for females and males </a:t>
            </a:r>
          </a:p>
          <a:p>
            <a:pPr eaLnBrk="1" hangingPunct="1">
              <a:defRPr/>
            </a:pPr>
            <a:r>
              <a:rPr lang="en-AU" altLang="en-US" sz="2000" dirty="0">
                <a:solidFill>
                  <a:srgbClr val="000000"/>
                </a:solidFill>
              </a:rPr>
              <a:t>	are the same?</a:t>
            </a:r>
          </a:p>
          <a:p>
            <a:pPr eaLnBrk="1" hangingPunct="1">
              <a:defRPr/>
            </a:pPr>
            <a:endParaRPr lang="en-AU" alt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5525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2260600" y="1414464"/>
            <a:ext cx="7570788" cy="1938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The length of a fish is related to its age according to the von </a:t>
            </a:r>
            <a:r>
              <a:rPr lang="en-AU" altLang="en-US" dirty="0" err="1">
                <a:solidFill>
                  <a:srgbClr val="000000"/>
                </a:solidFill>
              </a:rPr>
              <a:t>Bertalanffy</a:t>
            </a:r>
            <a:r>
              <a:rPr lang="en-AU" altLang="en-US" dirty="0">
                <a:solidFill>
                  <a:srgbClr val="000000"/>
                </a:solidFill>
              </a:rPr>
              <a:t> growth curve:</a:t>
            </a: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endParaRPr lang="en-AU" altLang="en-US" dirty="0">
              <a:solidFill>
                <a:srgbClr val="000000"/>
              </a:solidFill>
            </a:endParaRPr>
          </a:p>
          <a:p>
            <a:pPr eaLnBrk="1" hangingPunct="1">
              <a:defRPr/>
            </a:pPr>
            <a:r>
              <a:rPr lang="en-AU" altLang="en-US" dirty="0">
                <a:solidFill>
                  <a:srgbClr val="000000"/>
                </a:solidFill>
              </a:rPr>
              <a:t>Below find some data for random fish</a:t>
            </a:r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3124201"/>
            <a:ext cx="6553200" cy="6543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5364" name="Rectangle 4"/>
          <p:cNvSpPr>
            <a:spLocks noGrp="1" noChangeArrowheads="1"/>
          </p:cNvSpPr>
          <p:nvPr>
            <p:ph type="title"/>
          </p:nvPr>
        </p:nvSpPr>
        <p:spPr>
          <a:xfrm>
            <a:off x="2441575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/>
              <a:t>Question 3</a:t>
            </a:r>
          </a:p>
        </p:txBody>
      </p:sp>
      <p:graphicFrame>
        <p:nvGraphicFramePr>
          <p:cNvPr id="51204" name="Object 5"/>
          <p:cNvGraphicFramePr>
            <a:graphicFrameLocks noGrp="1" noChangeAspect="1"/>
          </p:cNvGraphicFramePr>
          <p:nvPr>
            <p:ph sz="half" idx="1"/>
          </p:nvPr>
        </p:nvGraphicFramePr>
        <p:xfrm>
          <a:off x="2898776" y="2298700"/>
          <a:ext cx="2511425" cy="48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57300" imgH="241300" progId="Equation.DSMT4">
                  <p:embed/>
                </p:oleObj>
              </mc:Choice>
              <mc:Fallback>
                <p:oleObj name="Equation" r:id="rId4" imgW="1257300" imgH="2413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98776" y="2298700"/>
                        <a:ext cx="2511425" cy="48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05" name="Object 6"/>
          <p:cNvGraphicFramePr>
            <a:graphicFrameLocks noGrp="1" noChangeAspect="1"/>
          </p:cNvGraphicFramePr>
          <p:nvPr>
            <p:ph sz="half" idx="2"/>
          </p:nvPr>
        </p:nvGraphicFramePr>
        <p:xfrm>
          <a:off x="7059614" y="2298700"/>
          <a:ext cx="16271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447" imgH="228501" progId="Equation.DSMT4">
                  <p:embed/>
                </p:oleObj>
              </mc:Choice>
              <mc:Fallback>
                <p:oleObj name="Equation" r:id="rId6" imgW="812447" imgH="228501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59614" y="2298700"/>
                        <a:ext cx="1627187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67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CCE8E203-2336-0E49-A1D0-7190259E16E8}" type="slidenum">
              <a:rPr lang="en-US" altLang="en-US" sz="1400">
                <a:solidFill>
                  <a:srgbClr val="000000"/>
                </a:solidFill>
              </a:rPr>
              <a:pPr eaLnBrk="1" hangingPunct="1">
                <a:defRPr/>
              </a:pPr>
              <a:t>35</a:t>
            </a:fld>
            <a:endParaRPr lang="en-US" altLang="en-US" sz="14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9560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19350" y="222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Example 3-I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1905001" y="1600201"/>
            <a:ext cx="8730532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AU" altLang="en-US" dirty="0"/>
              <a:t>Estimate the values for    , </a:t>
            </a:r>
            <a:r>
              <a:rPr lang="en-AU" altLang="en-US" dirty="0">
                <a:sym typeface="Symbol" charset="2"/>
              </a:rPr>
              <a:t>, and  from the age and </a:t>
            </a: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growth data.</a:t>
            </a:r>
          </a:p>
          <a:p>
            <a:pPr eaLnBrk="1" hangingPunct="1">
              <a:defRPr/>
            </a:pPr>
            <a:endParaRPr lang="en-AU" altLang="en-US" dirty="0">
              <a:sym typeface="Symbol" charset="2"/>
            </a:endParaRPr>
          </a:p>
          <a:p>
            <a:pPr eaLnBrk="1" hangingPunct="1">
              <a:defRPr/>
            </a:pPr>
            <a:r>
              <a:rPr lang="en-AU" altLang="en-US" dirty="0">
                <a:sym typeface="Symbol" charset="2"/>
              </a:rPr>
              <a:t>Create vectors with the age, sex, and length data.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Create a function that takes values for the 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parameters as well as the data, and computes the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  negative log-likelihood.</a:t>
            </a:r>
          </a:p>
          <a:p>
            <a:pPr lvl="1" eaLnBrk="1" hangingPunct="1">
              <a:defRPr/>
            </a:pPr>
            <a:endParaRPr lang="en-AU" altLang="en-US" sz="1800" i="1" dirty="0">
              <a:sym typeface="Symbol" charset="2"/>
            </a:endParaRPr>
          </a:p>
          <a:p>
            <a:pPr lvl="1" eaLnBrk="1" hangingPunct="1">
              <a:defRPr/>
            </a:pPr>
            <a:r>
              <a:rPr lang="en-AU" altLang="en-US" sz="1800" i="1" dirty="0">
                <a:sym typeface="Symbol" charset="2"/>
              </a:rPr>
              <a:t>   LL4 &lt;- function(Linf1,Kappa1,Linf2,Kappa2,Sigma,Age,Length,Sex)</a:t>
            </a:r>
          </a:p>
          <a:p>
            <a:pPr lvl="1" eaLnBrk="1" hangingPunct="1">
              <a:defRPr/>
            </a:pPr>
            <a:r>
              <a:rPr lang="en-AU" altLang="en-US" dirty="0">
                <a:sym typeface="Symbol" charset="2"/>
              </a:rPr>
              <a:t> 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 use </a:t>
            </a:r>
            <a:r>
              <a:rPr lang="en-AU" altLang="en-US" b="1" dirty="0" err="1">
                <a:sym typeface="Symbol" charset="2"/>
              </a:rPr>
              <a:t>mle</a:t>
            </a:r>
            <a:r>
              <a:rPr lang="en-AU" altLang="en-US" dirty="0">
                <a:sym typeface="Symbol" charset="2"/>
              </a:rPr>
              <a:t> to find the maximum likelihood estimates</a:t>
            </a:r>
          </a:p>
          <a:p>
            <a:pPr lvl="1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Bound the region of parameter space to reasonable values</a:t>
            </a:r>
          </a:p>
          <a:p>
            <a:pPr lvl="2" eaLnBrk="1" hangingPunct="1">
              <a:buFontTx/>
              <a:buChar char="•"/>
              <a:defRPr/>
            </a:pPr>
            <a:r>
              <a:rPr lang="en-AU" altLang="en-US" dirty="0">
                <a:sym typeface="Symbol" charset="2"/>
              </a:rPr>
              <a:t>E.g. Can the parameters be negative?</a:t>
            </a:r>
          </a:p>
        </p:txBody>
      </p:sp>
      <p:graphicFrame>
        <p:nvGraphicFramePr>
          <p:cNvPr id="53251" name="Object 5"/>
          <p:cNvGraphicFramePr>
            <a:graphicFrameLocks noGrp="1" noChangeAspect="1"/>
          </p:cNvGraphicFramePr>
          <p:nvPr>
            <p:ph idx="1"/>
          </p:nvPr>
        </p:nvGraphicFramePr>
        <p:xfrm>
          <a:off x="5105400" y="1676400"/>
          <a:ext cx="338138" cy="40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90500" imgH="228600" progId="Equation.DSMT4">
                  <p:embed/>
                </p:oleObj>
              </mc:Choice>
              <mc:Fallback>
                <p:oleObj name="Equation" r:id="rId3" imgW="190500" imgH="2286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0" y="1676400"/>
                        <a:ext cx="338138" cy="406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293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8534400" y="6327775"/>
            <a:ext cx="1905000" cy="457200"/>
          </a:xfrm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43F49F6-3F22-F546-A5D9-31B139C5DB68}" type="slidenum">
              <a:rPr lang="en-US" altLang="en-US" sz="1400"/>
              <a:pPr eaLnBrk="1" hangingPunct="1">
                <a:defRPr/>
              </a:pPr>
              <a:t>36</a:t>
            </a:fld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100075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42144" y="122236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Likelihood Profile</a:t>
            </a:r>
          </a:p>
        </p:txBody>
      </p:sp>
      <p:sp>
        <p:nvSpPr>
          <p:cNvPr id="6147" name="Line 4"/>
          <p:cNvSpPr>
            <a:spLocks noChangeShapeType="1"/>
          </p:cNvSpPr>
          <p:nvPr/>
        </p:nvSpPr>
        <p:spPr bwMode="auto">
          <a:xfrm>
            <a:off x="2971800" y="4648200"/>
            <a:ext cx="6172200" cy="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4495801" y="4724400"/>
            <a:ext cx="307657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Parameter of Interest</a:t>
            </a:r>
          </a:p>
        </p:txBody>
      </p:sp>
      <p:sp>
        <p:nvSpPr>
          <p:cNvPr id="6149" name="Line 6"/>
          <p:cNvSpPr>
            <a:spLocks noChangeShapeType="1"/>
          </p:cNvSpPr>
          <p:nvPr/>
        </p:nvSpPr>
        <p:spPr bwMode="auto">
          <a:xfrm flipV="1">
            <a:off x="2971800" y="1981200"/>
            <a:ext cx="0" cy="2667000"/>
          </a:xfrm>
          <a:prstGeom prst="line">
            <a:avLst/>
          </a:prstGeom>
          <a:noFill/>
          <a:ln w="508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0" name="Text Box 7"/>
          <p:cNvSpPr txBox="1">
            <a:spLocks noChangeArrowheads="1"/>
          </p:cNvSpPr>
          <p:nvPr/>
        </p:nvSpPr>
        <p:spPr bwMode="auto">
          <a:xfrm>
            <a:off x="1518806" y="2438401"/>
            <a:ext cx="1455014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-log</a:t>
            </a:r>
          </a:p>
          <a:p>
            <a:pPr algn="ctr" eaLnBrk="1" hangingPunct="1">
              <a:defRPr/>
            </a:pPr>
            <a:r>
              <a:rPr lang="en-AU" altLang="en-US"/>
              <a:t>likelihood</a:t>
            </a:r>
          </a:p>
        </p:txBody>
      </p:sp>
      <p:sp>
        <p:nvSpPr>
          <p:cNvPr id="63494" name="AutoShape 8"/>
          <p:cNvSpPr>
            <a:spLocks noChangeArrowheads="1"/>
          </p:cNvSpPr>
          <p:nvPr/>
        </p:nvSpPr>
        <p:spPr bwMode="auto">
          <a:xfrm>
            <a:off x="5972176" y="4191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Text Box 9"/>
          <p:cNvSpPr txBox="1">
            <a:spLocks noChangeArrowheads="1"/>
          </p:cNvSpPr>
          <p:nvPr/>
        </p:nvSpPr>
        <p:spPr bwMode="auto">
          <a:xfrm>
            <a:off x="7400925" y="4114800"/>
            <a:ext cx="7429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MLE</a:t>
            </a:r>
          </a:p>
        </p:txBody>
      </p:sp>
      <p:sp>
        <p:nvSpPr>
          <p:cNvPr id="6153" name="Line 10"/>
          <p:cNvSpPr>
            <a:spLocks noChangeShapeType="1"/>
          </p:cNvSpPr>
          <p:nvPr/>
        </p:nvSpPr>
        <p:spPr bwMode="auto">
          <a:xfrm flipH="1">
            <a:off x="6477000" y="4343400"/>
            <a:ext cx="990600" cy="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54" name="Text Box 11"/>
          <p:cNvSpPr txBox="1">
            <a:spLocks noChangeArrowheads="1"/>
          </p:cNvSpPr>
          <p:nvPr/>
        </p:nvSpPr>
        <p:spPr bwMode="auto">
          <a:xfrm>
            <a:off x="32004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5" name="Text Box 12"/>
          <p:cNvSpPr txBox="1">
            <a:spLocks noChangeArrowheads="1"/>
          </p:cNvSpPr>
          <p:nvPr/>
        </p:nvSpPr>
        <p:spPr bwMode="auto">
          <a:xfrm>
            <a:off x="38766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6" name="Text Box 13"/>
          <p:cNvSpPr txBox="1">
            <a:spLocks noChangeArrowheads="1"/>
          </p:cNvSpPr>
          <p:nvPr/>
        </p:nvSpPr>
        <p:spPr bwMode="auto">
          <a:xfrm>
            <a:off x="46482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7" name="Text Box 14"/>
          <p:cNvSpPr txBox="1">
            <a:spLocks noChangeArrowheads="1"/>
          </p:cNvSpPr>
          <p:nvPr/>
        </p:nvSpPr>
        <p:spPr bwMode="auto">
          <a:xfrm>
            <a:off x="5324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8" name="Text Box 15"/>
          <p:cNvSpPr txBox="1">
            <a:spLocks noChangeArrowheads="1"/>
          </p:cNvSpPr>
          <p:nvPr/>
        </p:nvSpPr>
        <p:spPr bwMode="auto">
          <a:xfrm>
            <a:off x="66960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59" name="Text Box 16"/>
          <p:cNvSpPr txBox="1">
            <a:spLocks noChangeArrowheads="1"/>
          </p:cNvSpPr>
          <p:nvPr/>
        </p:nvSpPr>
        <p:spPr bwMode="auto">
          <a:xfrm>
            <a:off x="7620001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160" name="Text Box 17"/>
          <p:cNvSpPr txBox="1">
            <a:spLocks noChangeArrowheads="1"/>
          </p:cNvSpPr>
          <p:nvPr/>
        </p:nvSpPr>
        <p:spPr bwMode="auto">
          <a:xfrm>
            <a:off x="8372476" y="4343400"/>
            <a:ext cx="2381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>
                <a:solidFill>
                  <a:schemeClr val="hlink"/>
                </a:solidFill>
                <a:sym typeface="Symbol" charset="2"/>
              </a:rPr>
              <a:t></a:t>
            </a:r>
          </a:p>
        </p:txBody>
      </p:sp>
      <p:sp>
        <p:nvSpPr>
          <p:cNvPr id="63504" name="AutoShape 19"/>
          <p:cNvSpPr>
            <a:spLocks noChangeArrowheads="1"/>
          </p:cNvSpPr>
          <p:nvPr/>
        </p:nvSpPr>
        <p:spPr bwMode="auto">
          <a:xfrm>
            <a:off x="5334001" y="40386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5" name="AutoShape 20"/>
          <p:cNvSpPr>
            <a:spLocks noChangeArrowheads="1"/>
          </p:cNvSpPr>
          <p:nvPr/>
        </p:nvSpPr>
        <p:spPr bwMode="auto">
          <a:xfrm>
            <a:off x="4572001" y="3810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6" name="AutoShape 21"/>
          <p:cNvSpPr>
            <a:spLocks noChangeArrowheads="1"/>
          </p:cNvSpPr>
          <p:nvPr/>
        </p:nvSpPr>
        <p:spPr bwMode="auto">
          <a:xfrm>
            <a:off x="4038601" y="30480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7" name="AutoShape 22"/>
          <p:cNvSpPr>
            <a:spLocks noChangeArrowheads="1"/>
          </p:cNvSpPr>
          <p:nvPr/>
        </p:nvSpPr>
        <p:spPr bwMode="auto">
          <a:xfrm>
            <a:off x="3200401" y="20574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8" name="AutoShape 23"/>
          <p:cNvSpPr>
            <a:spLocks noChangeArrowheads="1"/>
          </p:cNvSpPr>
          <p:nvPr/>
        </p:nvSpPr>
        <p:spPr bwMode="auto">
          <a:xfrm>
            <a:off x="6781801" y="38862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09" name="AutoShape 24"/>
          <p:cNvSpPr>
            <a:spLocks noChangeArrowheads="1"/>
          </p:cNvSpPr>
          <p:nvPr/>
        </p:nvSpPr>
        <p:spPr bwMode="auto">
          <a:xfrm>
            <a:off x="7620001" y="3352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3510" name="AutoShape 25"/>
          <p:cNvSpPr>
            <a:spLocks noChangeArrowheads="1"/>
          </p:cNvSpPr>
          <p:nvPr/>
        </p:nvSpPr>
        <p:spPr bwMode="auto">
          <a:xfrm>
            <a:off x="8334376" y="2590800"/>
            <a:ext cx="276225" cy="304800"/>
          </a:xfrm>
          <a:custGeom>
            <a:avLst/>
            <a:gdLst>
              <a:gd name="T0" fmla="*/ 0 w 276225"/>
              <a:gd name="T1" fmla="*/ 116423 h 304800"/>
              <a:gd name="T2" fmla="*/ 105509 w 276225"/>
              <a:gd name="T3" fmla="*/ 116424 h 304800"/>
              <a:gd name="T4" fmla="*/ 138113 w 276225"/>
              <a:gd name="T5" fmla="*/ 0 h 304800"/>
              <a:gd name="T6" fmla="*/ 170716 w 276225"/>
              <a:gd name="T7" fmla="*/ 116424 h 304800"/>
              <a:gd name="T8" fmla="*/ 276225 w 276225"/>
              <a:gd name="T9" fmla="*/ 116423 h 304800"/>
              <a:gd name="T10" fmla="*/ 190866 w 276225"/>
              <a:gd name="T11" fmla="*/ 188376 h 304800"/>
              <a:gd name="T12" fmla="*/ 223471 w 276225"/>
              <a:gd name="T13" fmla="*/ 304799 h 304800"/>
              <a:gd name="T14" fmla="*/ 138113 w 276225"/>
              <a:gd name="T15" fmla="*/ 232845 h 304800"/>
              <a:gd name="T16" fmla="*/ 52754 w 276225"/>
              <a:gd name="T17" fmla="*/ 304799 h 304800"/>
              <a:gd name="T18" fmla="*/ 85359 w 276225"/>
              <a:gd name="T19" fmla="*/ 188376 h 304800"/>
              <a:gd name="T20" fmla="*/ 0 w 276225"/>
              <a:gd name="T21" fmla="*/ 116423 h 304800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</a:gdLst>
            <a:ahLst/>
            <a:cxnLst>
              <a:cxn ang="T22">
                <a:pos x="T0" y="T1"/>
              </a:cxn>
              <a:cxn ang="T23">
                <a:pos x="T2" y="T3"/>
              </a:cxn>
              <a:cxn ang="T24">
                <a:pos x="T4" y="T5"/>
              </a:cxn>
              <a:cxn ang="T25">
                <a:pos x="T6" y="T7"/>
              </a:cxn>
              <a:cxn ang="T26">
                <a:pos x="T8" y="T9"/>
              </a:cxn>
              <a:cxn ang="T27">
                <a:pos x="T10" y="T11"/>
              </a:cxn>
              <a:cxn ang="T28">
                <a:pos x="T12" y="T13"/>
              </a:cxn>
              <a:cxn ang="T29">
                <a:pos x="T14" y="T15"/>
              </a:cxn>
              <a:cxn ang="T30">
                <a:pos x="T16" y="T17"/>
              </a:cxn>
              <a:cxn ang="T31">
                <a:pos x="T18" y="T19"/>
              </a:cxn>
              <a:cxn ang="T32">
                <a:pos x="T20" y="T21"/>
              </a:cxn>
            </a:cxnLst>
            <a:rect l="0" t="0" r="r" b="b"/>
            <a:pathLst>
              <a:path w="276225" h="304800">
                <a:moveTo>
                  <a:pt x="0" y="116423"/>
                </a:moveTo>
                <a:lnTo>
                  <a:pt x="105509" y="116424"/>
                </a:lnTo>
                <a:lnTo>
                  <a:pt x="138113" y="0"/>
                </a:lnTo>
                <a:lnTo>
                  <a:pt x="170716" y="116424"/>
                </a:lnTo>
                <a:lnTo>
                  <a:pt x="276225" y="116423"/>
                </a:lnTo>
                <a:lnTo>
                  <a:pt x="190866" y="188376"/>
                </a:lnTo>
                <a:lnTo>
                  <a:pt x="223471" y="304799"/>
                </a:lnTo>
                <a:lnTo>
                  <a:pt x="138113" y="232845"/>
                </a:lnTo>
                <a:lnTo>
                  <a:pt x="52754" y="304799"/>
                </a:lnTo>
                <a:lnTo>
                  <a:pt x="85359" y="188376"/>
                </a:lnTo>
                <a:lnTo>
                  <a:pt x="0" y="116423"/>
                </a:lnTo>
                <a:close/>
              </a:path>
            </a:pathLst>
          </a:custGeom>
          <a:solidFill>
            <a:srgbClr val="000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8" name="Text Box 26"/>
          <p:cNvSpPr txBox="1">
            <a:spLocks noChangeArrowheads="1"/>
          </p:cNvSpPr>
          <p:nvPr/>
        </p:nvSpPr>
        <p:spPr bwMode="auto">
          <a:xfrm>
            <a:off x="8148439" y="5334001"/>
            <a:ext cx="203716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Alternative</a:t>
            </a:r>
          </a:p>
          <a:p>
            <a:pPr algn="ctr" eaLnBrk="1" hangingPunct="1">
              <a:defRPr/>
            </a:pPr>
            <a:r>
              <a:rPr lang="en-AU" altLang="en-US"/>
              <a:t>values for the</a:t>
            </a:r>
          </a:p>
          <a:p>
            <a:pPr algn="ctr" eaLnBrk="1" hangingPunct="1">
              <a:defRPr/>
            </a:pPr>
            <a:r>
              <a:rPr lang="en-AU" altLang="en-US"/>
              <a:t>parameter</a:t>
            </a:r>
          </a:p>
        </p:txBody>
      </p:sp>
      <p:sp>
        <p:nvSpPr>
          <p:cNvPr id="6169" name="Line 27"/>
          <p:cNvSpPr>
            <a:spLocks noChangeShapeType="1"/>
          </p:cNvSpPr>
          <p:nvPr/>
        </p:nvSpPr>
        <p:spPr bwMode="auto">
          <a:xfrm flipH="1" flipV="1">
            <a:off x="7848600" y="4724400"/>
            <a:ext cx="762000" cy="6858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0" name="Line 28"/>
          <p:cNvSpPr>
            <a:spLocks noChangeShapeType="1"/>
          </p:cNvSpPr>
          <p:nvPr/>
        </p:nvSpPr>
        <p:spPr bwMode="auto">
          <a:xfrm flipH="1" flipV="1">
            <a:off x="8610600" y="4724400"/>
            <a:ext cx="533400" cy="762000"/>
          </a:xfrm>
          <a:prstGeom prst="line">
            <a:avLst/>
          </a:prstGeom>
          <a:noFill/>
          <a:ln w="254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1" name="Text Box 29"/>
          <p:cNvSpPr txBox="1">
            <a:spLocks noChangeArrowheads="1"/>
          </p:cNvSpPr>
          <p:nvPr/>
        </p:nvSpPr>
        <p:spPr bwMode="auto">
          <a:xfrm>
            <a:off x="3522663" y="1905001"/>
            <a:ext cx="4754562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2000"/>
              <a:t>Negative log-likelihood, fixing the </a:t>
            </a:r>
          </a:p>
          <a:p>
            <a:pPr algn="ctr" eaLnBrk="1" hangingPunct="1">
              <a:defRPr/>
            </a:pPr>
            <a:r>
              <a:rPr lang="en-AU" altLang="en-US" sz="2000"/>
              <a:t>parameter to each value in turn </a:t>
            </a:r>
          </a:p>
          <a:p>
            <a:pPr algn="ctr" eaLnBrk="1" hangingPunct="1">
              <a:defRPr/>
            </a:pPr>
            <a:r>
              <a:rPr lang="en-AU" altLang="en-US" sz="2000"/>
              <a:t>(minimize on the rest of the parameters)</a:t>
            </a:r>
          </a:p>
        </p:txBody>
      </p:sp>
      <p:sp>
        <p:nvSpPr>
          <p:cNvPr id="6172" name="Line 30"/>
          <p:cNvSpPr>
            <a:spLocks noChangeShapeType="1"/>
          </p:cNvSpPr>
          <p:nvPr/>
        </p:nvSpPr>
        <p:spPr bwMode="auto">
          <a:xfrm flipH="1">
            <a:off x="4495800" y="2895600"/>
            <a:ext cx="685800" cy="609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3" name="Line 31"/>
          <p:cNvSpPr>
            <a:spLocks noChangeShapeType="1"/>
          </p:cNvSpPr>
          <p:nvPr/>
        </p:nvSpPr>
        <p:spPr bwMode="auto">
          <a:xfrm flipH="1">
            <a:off x="5257800" y="2895600"/>
            <a:ext cx="304800" cy="9906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4" name="Line 32"/>
          <p:cNvSpPr>
            <a:spLocks noChangeShapeType="1"/>
          </p:cNvSpPr>
          <p:nvPr/>
        </p:nvSpPr>
        <p:spPr bwMode="auto">
          <a:xfrm>
            <a:off x="6172200" y="2895600"/>
            <a:ext cx="609600" cy="8382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5" name="Line 33"/>
          <p:cNvSpPr>
            <a:spLocks noChangeShapeType="1"/>
          </p:cNvSpPr>
          <p:nvPr/>
        </p:nvSpPr>
        <p:spPr bwMode="auto">
          <a:xfrm>
            <a:off x="6781800" y="2895600"/>
            <a:ext cx="762000" cy="5334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176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8FCA940F-1F18-A746-80EF-46821FC34CD0}" type="slidenum">
              <a:rPr lang="en-US" altLang="en-US" sz="1400"/>
              <a:pPr eaLnBrk="1" hangingPunct="1">
                <a:defRPr/>
              </a:pPr>
              <a:t>37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3324574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830" b="33919"/>
          <a:stretch>
            <a:fillRect/>
          </a:stretch>
        </p:blipFill>
        <p:spPr bwMode="auto">
          <a:xfrm>
            <a:off x="3276600" y="2133600"/>
            <a:ext cx="6019800" cy="599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AU" altLang="en-US" dirty="0"/>
              <a:t>Confidence Interval</a:t>
            </a:r>
          </a:p>
        </p:txBody>
      </p:sp>
      <p:sp>
        <p:nvSpPr>
          <p:cNvPr id="14340" name="Text Box 5"/>
          <p:cNvSpPr txBox="1">
            <a:spLocks noChangeArrowheads="1"/>
          </p:cNvSpPr>
          <p:nvPr/>
        </p:nvSpPr>
        <p:spPr bwMode="auto">
          <a:xfrm>
            <a:off x="5046664" y="3625850"/>
            <a:ext cx="1811337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 sz="1800"/>
              <a:t>95% confidence</a:t>
            </a:r>
          </a:p>
          <a:p>
            <a:pPr algn="ctr" eaLnBrk="1" hangingPunct="1">
              <a:defRPr/>
            </a:pPr>
            <a:r>
              <a:rPr lang="en-AU" altLang="en-US" sz="1800"/>
              <a:t>interval</a:t>
            </a:r>
          </a:p>
        </p:txBody>
      </p:sp>
      <p:sp>
        <p:nvSpPr>
          <p:cNvPr id="14341" name="Line 6"/>
          <p:cNvSpPr>
            <a:spLocks noChangeShapeType="1"/>
          </p:cNvSpPr>
          <p:nvPr/>
        </p:nvSpPr>
        <p:spPr bwMode="auto">
          <a:xfrm>
            <a:off x="5257800" y="4419600"/>
            <a:ext cx="1447800" cy="0"/>
          </a:xfrm>
          <a:prstGeom prst="line">
            <a:avLst/>
          </a:prstGeom>
          <a:noFill/>
          <a:ln w="50800">
            <a:solidFill>
              <a:schemeClr val="hlink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2" name="Text Box 7"/>
          <p:cNvSpPr txBox="1">
            <a:spLocks noChangeArrowheads="1"/>
          </p:cNvSpPr>
          <p:nvPr/>
        </p:nvSpPr>
        <p:spPr bwMode="auto">
          <a:xfrm>
            <a:off x="8529639" y="3995738"/>
            <a:ext cx="7762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AU" altLang="en-US"/>
              <a:t>1.92</a:t>
            </a:r>
          </a:p>
        </p:txBody>
      </p:sp>
      <p:sp>
        <p:nvSpPr>
          <p:cNvPr id="14343" name="Line 8"/>
          <p:cNvSpPr>
            <a:spLocks noChangeShapeType="1"/>
          </p:cNvSpPr>
          <p:nvPr/>
        </p:nvSpPr>
        <p:spPr bwMode="auto">
          <a:xfrm flipH="1">
            <a:off x="7696200" y="4267200"/>
            <a:ext cx="914400" cy="533400"/>
          </a:xfrm>
          <a:prstGeom prst="line">
            <a:avLst/>
          </a:prstGeom>
          <a:noFill/>
          <a:ln w="38100">
            <a:solidFill>
              <a:schemeClr val="hlink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14344" name="Slide Number Placeholder 1"/>
          <p:cNvSpPr>
            <a:spLocks noGrp="1"/>
          </p:cNvSpPr>
          <p:nvPr>
            <p:ph type="sldNum" sz="quarter" idx="12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fld id="{BC406645-9B4B-AF4A-87C6-9C1B77765ADC}" type="slidenum">
              <a:rPr lang="en-US" altLang="en-US" sz="1400"/>
              <a:pPr eaLnBrk="1" hangingPunct="1">
                <a:defRPr/>
              </a:pPr>
              <a:t>38</a:t>
            </a:fld>
            <a:endParaRPr lang="en-US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C42987-DAE7-114D-A9AD-7C302AA22915}"/>
              </a:ext>
            </a:extLst>
          </p:cNvPr>
          <p:cNvSpPr txBox="1"/>
          <p:nvPr/>
        </p:nvSpPr>
        <p:spPr>
          <a:xfrm>
            <a:off x="1841053" y="1196915"/>
            <a:ext cx="8509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The </a:t>
            </a:r>
            <a:r>
              <a:rPr lang="en-US" sz="2000" dirty="0" err="1"/>
              <a:t>mle</a:t>
            </a:r>
            <a:r>
              <a:rPr lang="en-US" sz="2000" dirty="0"/>
              <a:t>() function in R does this for you, but you can pretty easily do it by hand.</a:t>
            </a:r>
          </a:p>
        </p:txBody>
      </p:sp>
    </p:spTree>
    <p:extLst>
      <p:ext uri="{BB962C8B-B14F-4D97-AF65-F5344CB8AC3E}">
        <p14:creationId xmlns:p14="http://schemas.microsoft.com/office/powerpoint/2010/main" val="3431285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14753</TotalTime>
  <Words>2525</Words>
  <Application>Microsoft Macintosh PowerPoint</Application>
  <PresentationFormat>Widescreen</PresentationFormat>
  <Paragraphs>342</Paragraphs>
  <Slides>38</Slides>
  <Notes>38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Calibri</vt:lpstr>
      <vt:lpstr>Calibri Light</vt:lpstr>
      <vt:lpstr>Helvetica Neue</vt:lpstr>
      <vt:lpstr>STIXGeneral-Italic</vt:lpstr>
      <vt:lpstr>Symbol</vt:lpstr>
      <vt:lpstr>Times New Roman</vt:lpstr>
      <vt:lpstr>Wingdings</vt:lpstr>
      <vt:lpstr>Office Theme</vt:lpstr>
      <vt:lpstr>Equation</vt:lpstr>
      <vt:lpstr> </vt:lpstr>
      <vt:lpstr>What is Maximum Likelihood-I?</vt:lpstr>
      <vt:lpstr>What is Maximum Likelihood-II?</vt:lpstr>
      <vt:lpstr>What is Maximum Likelihood-II?</vt:lpstr>
      <vt:lpstr>What is Maximum Likelihood-III?</vt:lpstr>
      <vt:lpstr>Basics of Likelihood</vt:lpstr>
      <vt:lpstr>Further Likelihood Considerations-I</vt:lpstr>
      <vt:lpstr>Further Likelihood Considerations-II</vt:lpstr>
      <vt:lpstr>Back to our original problem</vt:lpstr>
      <vt:lpstr>Overview </vt:lpstr>
      <vt:lpstr>PowerPoint Presentation</vt:lpstr>
      <vt:lpstr>PowerPoint Presentation</vt:lpstr>
      <vt:lpstr>PowerPoint Presentation</vt:lpstr>
      <vt:lpstr>Negative log-likelihoods</vt:lpstr>
      <vt:lpstr>A Poisson mixture problem</vt:lpstr>
      <vt:lpstr>PowerPoint Presentation</vt:lpstr>
      <vt:lpstr>PowerPoint Presentation</vt:lpstr>
      <vt:lpstr>PowerPoint Presentation</vt:lpstr>
      <vt:lpstr>Start by assuming we know Propn  We now have a three dimensional likelihood surface</vt:lpstr>
      <vt:lpstr>PowerPoint Presentation</vt:lpstr>
      <vt:lpstr>PowerPoint Presentation</vt:lpstr>
      <vt:lpstr>PowerPoint Presentation</vt:lpstr>
      <vt:lpstr>The Optim/MLE routines</vt:lpstr>
      <vt:lpstr>Some options for MLE-I</vt:lpstr>
      <vt:lpstr>Question-1</vt:lpstr>
      <vt:lpstr>Example 1 - revisited</vt:lpstr>
      <vt:lpstr>Example 2 - revisited</vt:lpstr>
      <vt:lpstr>PowerPoint Presentation</vt:lpstr>
      <vt:lpstr>PowerPoint Presentation</vt:lpstr>
      <vt:lpstr>Example 2 - revisited</vt:lpstr>
      <vt:lpstr>Dissecting Example 2-I</vt:lpstr>
      <vt:lpstr>Dissecting Example 2-II</vt:lpstr>
      <vt:lpstr>Hints for optimization</vt:lpstr>
      <vt:lpstr>Question 3</vt:lpstr>
      <vt:lpstr>Question 3</vt:lpstr>
      <vt:lpstr>Example 3-I</vt:lpstr>
      <vt:lpstr>Likelihood Profile</vt:lpstr>
      <vt:lpstr>Confidence Interval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Sampling and Sampling Distributions</dc:title>
  <dc:creator>Levi, Taal</dc:creator>
  <cp:lastModifiedBy>Levi, Taal</cp:lastModifiedBy>
  <cp:revision>61</cp:revision>
  <dcterms:created xsi:type="dcterms:W3CDTF">2018-10-15T16:43:01Z</dcterms:created>
  <dcterms:modified xsi:type="dcterms:W3CDTF">2025-09-22T15:33:05Z</dcterms:modified>
</cp:coreProperties>
</file>