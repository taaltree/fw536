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5" r:id="rId36"/>
    <p:sldId id="326" r:id="rId37"/>
    <p:sldId id="339" r:id="rId38"/>
    <p:sldId id="34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91828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5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6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8.bin"/><Relationship Id="rId4" Type="http://schemas.openxmlformats.org/officeDocument/2006/relationships/image" Target="../media/image9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7" Type="http://schemas.openxmlformats.org/officeDocument/2006/relationships/image" Target="../media/image1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wmf"/><Relationship Id="rId5" Type="http://schemas.openxmlformats.org/officeDocument/2006/relationships/oleObject" Target="../embeddings/oleObject12.bin"/><Relationship Id="rId4" Type="http://schemas.openxmlformats.org/officeDocument/2006/relationships/image" Target="../media/image16.w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wmf"/><Relationship Id="rId5" Type="http://schemas.openxmlformats.org/officeDocument/2006/relationships/oleObject" Target="../embeddings/oleObject14.bin"/><Relationship Id="rId4" Type="http://schemas.openxmlformats.org/officeDocument/2006/relationships/image" Target="../media/image18.w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wmf"/><Relationship Id="rId3" Type="http://schemas.openxmlformats.org/officeDocument/2006/relationships/oleObject" Target="../embeddings/oleObject11.bin"/><Relationship Id="rId7" Type="http://schemas.openxmlformats.org/officeDocument/2006/relationships/oleObject" Target="../embeddings/oleObject13.bin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wmf"/><Relationship Id="rId5" Type="http://schemas.openxmlformats.org/officeDocument/2006/relationships/oleObject" Target="../embeddings/oleObject12.bin"/><Relationship Id="rId4" Type="http://schemas.openxmlformats.org/officeDocument/2006/relationships/image" Target="../media/image16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w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16.bin"/><Relationship Id="rId5" Type="http://schemas.openxmlformats.org/officeDocument/2006/relationships/image" Target="../media/image1.wmf"/><Relationship Id="rId4" Type="http://schemas.openxmlformats.org/officeDocument/2006/relationships/oleObject" Target="../embeddings/oleObject1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wmf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graphicFrame>
        <p:nvGraphicFramePr>
          <p:cNvPr id="304130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37149165"/>
              </p:ext>
            </p:extLst>
          </p:nvPr>
        </p:nvGraphicFramePr>
        <p:xfrm>
          <a:off x="2590800" y="2772509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2772509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graphicFrame>
        <p:nvGraphicFramePr>
          <p:cNvPr id="304132" name="Object 7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64039034"/>
              </p:ext>
            </p:extLst>
          </p:nvPr>
        </p:nvGraphicFramePr>
        <p:xfrm>
          <a:off x="7162799" y="2696309"/>
          <a:ext cx="162718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799" y="2696309"/>
                        <a:ext cx="1627188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Data</a:t>
            </a: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01109"/>
            <a:ext cx="1676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505199" y="3229709"/>
            <a:ext cx="1905000" cy="6858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267199" y="3001109"/>
            <a:ext cx="1600200" cy="914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Error</a:t>
            </a: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9"/>
            <a:ext cx="1219200" cy="685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5105399" y="3077309"/>
            <a:ext cx="33528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758" y="3286047"/>
            <a:ext cx="6366445" cy="917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4125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IMO better 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619951" y="5181711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630384" y="434574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4606637" y="4291680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522215" y="5260144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7789860" y="434574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graphicFrame>
        <p:nvGraphicFramePr>
          <p:cNvPr id="314371" name="Object 6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0454184"/>
              </p:ext>
            </p:extLst>
          </p:nvPr>
        </p:nvGraphicFramePr>
        <p:xfrm>
          <a:off x="4572001" y="3225679"/>
          <a:ext cx="2335213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68400" imgH="241300" progId="Equation.DSMT4">
                  <p:embed/>
                </p:oleObj>
              </mc:Choice>
              <mc:Fallback>
                <p:oleObj name="Equation" r:id="rId3" imgW="11684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3225679"/>
                        <a:ext cx="2335213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graphicFrame>
        <p:nvGraphicFramePr>
          <p:cNvPr id="14342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0099472"/>
              </p:ext>
            </p:extLst>
          </p:nvPr>
        </p:nvGraphicFramePr>
        <p:xfrm>
          <a:off x="3610347" y="5045175"/>
          <a:ext cx="2663825" cy="58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33500" imgH="292100" progId="Equation.DSMT4">
                  <p:embed/>
                </p:oleObj>
              </mc:Choice>
              <mc:Fallback>
                <p:oleObj name="Equation" r:id="rId5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0347" y="5045175"/>
                        <a:ext cx="2663825" cy="58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2915771" y="5730976"/>
            <a:ext cx="205113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  <a:p>
            <a:pPr algn="ctr" eaLnBrk="1" hangingPunct="1">
              <a:defRPr/>
            </a:pPr>
            <a:r>
              <a:rPr lang="en-AU" altLang="en-US" sz="2000" dirty="0"/>
              <a:t>(Q: why here?)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6048747" y="5715101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V="1">
            <a:off x="4677146" y="5349975"/>
            <a:ext cx="4572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H="1" flipV="1">
            <a:off x="5515346" y="5349975"/>
            <a:ext cx="7620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808509-F1EA-4C7B-0049-595E95C126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3867" y="5197334"/>
            <a:ext cx="3423932" cy="94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" grpId="0"/>
      <p:bldP spid="143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graphicFrame>
        <p:nvGraphicFramePr>
          <p:cNvPr id="316419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3889376" y="1744663"/>
          <a:ext cx="2663825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33500" imgH="292100" progId="Equation.DSMT4">
                  <p:embed/>
                </p:oleObj>
              </mc:Choice>
              <mc:Fallback>
                <p:oleObj name="Equation" r:id="rId3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76" y="1744663"/>
                        <a:ext cx="2663825" cy="584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graphicFrame>
        <p:nvGraphicFramePr>
          <p:cNvPr id="316424" name="Object 12"/>
          <p:cNvGraphicFramePr>
            <a:graphicFrameLocks noGrp="1" noChangeAspect="1"/>
          </p:cNvGraphicFramePr>
          <p:nvPr>
            <p:ph sz="half" idx="2"/>
          </p:nvPr>
        </p:nvGraphicFramePr>
        <p:xfrm>
          <a:off x="3965575" y="3954463"/>
          <a:ext cx="3119438" cy="74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49400" imgH="368300" progId="Equation.DSMT4">
                  <p:embed/>
                </p:oleObj>
              </mc:Choice>
              <mc:Fallback>
                <p:oleObj name="Equation" r:id="rId5" imgW="1549400" imgH="368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5575" y="3954463"/>
                        <a:ext cx="3119438" cy="74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i="1" dirty="0" err="1"/>
              <a:t>pred_vec</a:t>
            </a:r>
            <a:r>
              <a:rPr lang="en-AU" altLang="en-US" sz="2000" i="1" dirty="0"/>
              <a:t> &lt;- </a:t>
            </a:r>
            <a:r>
              <a:rPr lang="en-AU" altLang="en-US" sz="2000" i="1" dirty="0" err="1"/>
              <a:t>Linfs</a:t>
            </a:r>
            <a:r>
              <a:rPr lang="en-AU" altLang="en-US" sz="2000" i="1" dirty="0"/>
              <a:t>[II]*(1-exp(-Kappa[II]*</a:t>
            </a:r>
            <a:r>
              <a:rPr lang="en-AU" altLang="en-US" sz="2000" i="1" dirty="0" err="1"/>
              <a:t>age_vec</a:t>
            </a:r>
            <a:r>
              <a:rPr lang="en-AU" altLang="en-US" sz="2000" i="1" dirty="0"/>
              <a:t>))</a:t>
            </a:r>
          </a:p>
          <a:p>
            <a:pPr eaLnBrk="1" hangingPunct="1">
              <a:defRPr/>
            </a:pPr>
            <a:r>
              <a:rPr lang="en-AU" altLang="en-US" sz="2000" i="1" dirty="0"/>
              <a:t>likelihood &lt;- prod(</a:t>
            </a:r>
            <a:r>
              <a:rPr lang="en-AU" altLang="en-US" sz="2000" i="1" dirty="0" err="1"/>
              <a:t>dnorm</a:t>
            </a:r>
            <a:r>
              <a:rPr lang="en-AU" altLang="en-US" sz="2000" i="1" dirty="0"/>
              <a:t>(</a:t>
            </a:r>
            <a:r>
              <a:rPr lang="en-AU" altLang="en-US" sz="2000" i="1" dirty="0" err="1"/>
              <a:t>len_vec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pred_vec</a:t>
            </a:r>
            <a:r>
              <a:rPr lang="en-AU" altLang="en-US" sz="2000" i="1" dirty="0"/>
              <a:t>, sigma))</a:t>
            </a:r>
          </a:p>
          <a:p>
            <a:pPr eaLnBrk="1" hangingPunct="1">
              <a:defRPr/>
            </a:pPr>
            <a:r>
              <a:rPr lang="en-AU" altLang="en-US" sz="2000" i="1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4.82e-149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2.74e-87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2.744-80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3.64e-82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Best (so far)</a:t>
            </a:r>
          </a:p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graphicFrame>
        <p:nvGraphicFramePr>
          <p:cNvPr id="324611" name="Object 4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52975029"/>
              </p:ext>
            </p:extLst>
          </p:nvPr>
        </p:nvGraphicFramePr>
        <p:xfrm>
          <a:off x="3136076" y="3347258"/>
          <a:ext cx="298767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93800" imgH="228600" progId="Equation.DSMT4">
                  <p:embed/>
                </p:oleObj>
              </mc:Choice>
              <mc:Fallback>
                <p:oleObj name="Equation" r:id="rId3" imgW="11938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6076" y="3347258"/>
                        <a:ext cx="2987675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    .</a:t>
            </a:r>
          </a:p>
        </p:txBody>
      </p:sp>
      <p:graphicFrame>
        <p:nvGraphicFramePr>
          <p:cNvPr id="324613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683849734"/>
              </p:ext>
            </p:extLst>
          </p:nvPr>
        </p:nvGraphicFramePr>
        <p:xfrm>
          <a:off x="9726405" y="5164847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268" imgH="203024" progId="Equation.DSMT4">
                  <p:embed/>
                </p:oleObj>
              </mc:Choice>
              <mc:Fallback>
                <p:oleObj name="Equation" r:id="rId5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26405" y="5164847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Probs^30*(1-Probs)^20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</a:t>
            </a:r>
            <a:r>
              <a:rPr lang="en-AU" altLang="en-US" sz="2000" dirty="0" err="1">
                <a:latin typeface="Arial" charset="0"/>
              </a:rPr>
              <a:t>Probs</a:t>
            </a:r>
            <a:r>
              <a:rPr lang="en-AU" altLang="en-US" sz="2000" dirty="0">
                <a:latin typeface="Arial" charset="0"/>
              </a:rPr>
              <a:t>[</a:t>
            </a: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])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graphicFrame>
        <p:nvGraphicFramePr>
          <p:cNvPr id="328706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220316714"/>
              </p:ext>
            </p:extLst>
          </p:nvPr>
        </p:nvGraphicFramePr>
        <p:xfrm>
          <a:off x="1626825" y="3523796"/>
          <a:ext cx="3433763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714500" imgH="203200" progId="Equation.DSMT4">
                  <p:embed/>
                </p:oleObj>
              </mc:Choice>
              <mc:Fallback>
                <p:oleObj name="Equation" r:id="rId3" imgW="17145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6825" y="3523796"/>
                        <a:ext cx="3433763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   , is again 0.6.</a:t>
            </a:r>
          </a:p>
        </p:txBody>
      </p:sp>
      <p:graphicFrame>
        <p:nvGraphicFramePr>
          <p:cNvPr id="328710" name="Object 10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287000441"/>
              </p:ext>
            </p:extLst>
          </p:nvPr>
        </p:nvGraphicFramePr>
        <p:xfrm>
          <a:off x="3566993" y="4590596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68" imgH="203024" progId="Equation.DSMT4">
                  <p:embed/>
                </p:oleObj>
              </mc:Choice>
              <mc:Fallback>
                <p:oleObj name="Equation" r:id="rId6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66993" y="4590596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</a:t>
            </a:r>
            <a:r>
              <a:rPr lang="en-AU" altLang="en-US" dirty="0">
                <a:sym typeface="Symbol" charset="2"/>
              </a:rPr>
              <a:t>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</a:t>
            </a:r>
            <a:r>
              <a:rPr lang="en-AU" altLang="en-US" dirty="0">
                <a:sym typeface="Symbol" charset="2"/>
              </a:rPr>
              <a:t>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graphicFrame>
        <p:nvGraphicFramePr>
          <p:cNvPr id="338947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3641395"/>
              </p:ext>
            </p:extLst>
          </p:nvPr>
        </p:nvGraphicFramePr>
        <p:xfrm>
          <a:off x="4666861" y="2415074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66861" y="2415074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graphicFrame>
        <p:nvGraphicFramePr>
          <p:cNvPr id="338949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41032804"/>
              </p:ext>
            </p:extLst>
          </p:nvPr>
        </p:nvGraphicFramePr>
        <p:xfrm>
          <a:off x="3174611" y="4701075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74611" y="4701075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19461" y="5783571"/>
            <a:ext cx="166886" cy="457578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</a:t>
            </a:r>
            <a:r>
              <a:rPr lang="en-AU" dirty="0" err="1">
                <a:sym typeface="Symbol"/>
              </a:rPr>
              <a:t>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3042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375761377"/>
              </p:ext>
            </p:extLst>
          </p:nvPr>
        </p:nvGraphicFramePr>
        <p:xfrm>
          <a:off x="3161717" y="2354425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61717" y="2354425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graphicFrame>
        <p:nvGraphicFramePr>
          <p:cNvPr id="343045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65035990"/>
              </p:ext>
            </p:extLst>
          </p:nvPr>
        </p:nvGraphicFramePr>
        <p:xfrm>
          <a:off x="4904792" y="4259425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28700" imgH="419100" progId="Equation.DSMT4">
                  <p:embed/>
                </p:oleObj>
              </mc:Choice>
              <mc:Fallback>
                <p:oleObj name="Equation" r:id="rId5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04792" y="4259425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Function in grid search lab 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488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longer blow times)?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length of blow?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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graphicFrame>
        <p:nvGraphicFramePr>
          <p:cNvPr id="32770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5105400" y="1752600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752600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graphicFrame>
        <p:nvGraphicFramePr>
          <p:cNvPr id="32772" name="Object 8"/>
          <p:cNvGraphicFramePr>
            <a:graphicFrameLocks noGrp="1" noChangeAspect="1"/>
          </p:cNvGraphicFramePr>
          <p:nvPr>
            <p:ph sz="half" idx="2"/>
          </p:nvPr>
        </p:nvGraphicFramePr>
        <p:xfrm>
          <a:off x="3613150" y="4038601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3150" y="4038601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graphicFrame>
        <p:nvGraphicFramePr>
          <p:cNvPr id="32775" name="Object 5"/>
          <p:cNvGraphicFramePr>
            <a:graphicFrameLocks noChangeAspect="1"/>
          </p:cNvGraphicFramePr>
          <p:nvPr/>
        </p:nvGraphicFramePr>
        <p:xfrm>
          <a:off x="2362200" y="56594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908300" imgH="482600" progId="Equation.DSMT4">
                  <p:embed/>
                </p:oleObj>
              </mc:Choice>
              <mc:Fallback>
                <p:oleObj name="Equation" r:id="rId7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6594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graphicFrame>
        <p:nvGraphicFramePr>
          <p:cNvPr id="34819" name="Object 5"/>
          <p:cNvGraphicFramePr>
            <a:graphicFrameLocks noChangeAspect="1"/>
          </p:cNvGraphicFramePr>
          <p:nvPr/>
        </p:nvGraphicFramePr>
        <p:xfrm>
          <a:off x="2667000" y="20907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0" y="20907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 to approximately 1.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49155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692401" y="2354263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2401" y="2354263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156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6780214" y="2354263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0214" y="2354263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2260600" y="1414464"/>
            <a:ext cx="7570788" cy="1938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length of a fish is related to its age according to the von </a:t>
            </a:r>
            <a:r>
              <a:rPr lang="en-AU" altLang="en-US" dirty="0" err="1">
                <a:solidFill>
                  <a:srgbClr val="000000"/>
                </a:solidFill>
              </a:rPr>
              <a:t>Bertalanffy</a:t>
            </a:r>
            <a:r>
              <a:rPr lang="en-AU" altLang="en-US" dirty="0">
                <a:solidFill>
                  <a:srgbClr val="000000"/>
                </a:solidFill>
              </a:rPr>
              <a:t> growth curve:</a:t>
            </a: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Below find some data for random fish</a:t>
            </a:r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3124201"/>
            <a:ext cx="6553200" cy="654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5364" name="Rectangle 4"/>
          <p:cNvSpPr>
            <a:spLocks noGrp="1" noChangeArrowheads="1"/>
          </p:cNvSpPr>
          <p:nvPr>
            <p:ph type="title"/>
          </p:nvPr>
        </p:nvSpPr>
        <p:spPr>
          <a:xfrm>
            <a:off x="2441575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51204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898776" y="2298700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57300" imgH="241300" progId="Equation.DSMT4">
                  <p:embed/>
                </p:oleObj>
              </mc:Choice>
              <mc:Fallback>
                <p:oleObj name="Equation" r:id="rId4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8776" y="2298700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05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7059614" y="2298700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447" imgH="228501" progId="Equation.DSMT4">
                  <p:embed/>
                </p:oleObj>
              </mc:Choice>
              <mc:Fallback>
                <p:oleObj name="Equation" r:id="rId6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4" y="2298700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7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CE8E203-2336-0E49-A1D0-7190259E16E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35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9560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905001" y="1600201"/>
            <a:ext cx="8730532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   , </a:t>
            </a:r>
            <a:r>
              <a:rPr lang="en-AU" altLang="en-US" dirty="0">
                <a:sym typeface="Symbol" charset="2"/>
              </a:rPr>
              <a:t>, and  from the age and 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graphicFrame>
        <p:nvGraphicFramePr>
          <p:cNvPr id="53251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5105400" y="1676400"/>
          <a:ext cx="338138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0500" imgH="228600" progId="Equation.DSMT4">
                  <p:embed/>
                </p:oleObj>
              </mc:Choice>
              <mc:Fallback>
                <p:oleObj name="Equation" r:id="rId3" imgW="1905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676400"/>
                        <a:ext cx="338138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38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14753</TotalTime>
  <Words>2525</Words>
  <Application>Microsoft Macintosh PowerPoint</Application>
  <PresentationFormat>Widescreen</PresentationFormat>
  <Paragraphs>342</Paragraphs>
  <Slides>38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Calibri</vt:lpstr>
      <vt:lpstr>Calibri Light</vt:lpstr>
      <vt:lpstr>Helvetica Neue</vt:lpstr>
      <vt:lpstr>STIXGeneral-Italic</vt:lpstr>
      <vt:lpstr>Symbol</vt:lpstr>
      <vt:lpstr>Times New Roman</vt:lpstr>
      <vt:lpstr>Wingdings</vt:lpstr>
      <vt:lpstr>Office Theme</vt:lpstr>
      <vt:lpstr>Equation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61</cp:revision>
  <dcterms:created xsi:type="dcterms:W3CDTF">2018-10-15T16:43:01Z</dcterms:created>
  <dcterms:modified xsi:type="dcterms:W3CDTF">2025-09-22T15:33:05Z</dcterms:modified>
</cp:coreProperties>
</file>